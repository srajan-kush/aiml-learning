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69" r:id="rId3"/>
    <p:sldId id="265" r:id="rId4"/>
    <p:sldId id="261" r:id="rId5"/>
    <p:sldId id="257" r:id="rId6"/>
    <p:sldId id="259" r:id="rId7"/>
    <p:sldId id="260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9A0"/>
    <a:srgbClr val="009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5332" autoAdjust="0"/>
  </p:normalViewPr>
  <p:slideViewPr>
    <p:cSldViewPr snapToGrid="0">
      <p:cViewPr varScale="1">
        <p:scale>
          <a:sx n="88" d="100"/>
          <a:sy n="88" d="100"/>
        </p:scale>
        <p:origin x="2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rgbClr val="193E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80-4B01-9421-B1EA0136B3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C</c:v>
                </c:pt>
                <c:pt idx="1">
                  <c:v>Ruby</c:v>
                </c:pt>
                <c:pt idx="2">
                  <c:v>C++</c:v>
                </c:pt>
                <c:pt idx="3">
                  <c:v>Java</c:v>
                </c:pt>
                <c:pt idx="4">
                  <c:v>R</c:v>
                </c:pt>
                <c:pt idx="5">
                  <c:v>JavaScript</c:v>
                </c:pt>
                <c:pt idx="6">
                  <c:v>C#</c:v>
                </c:pt>
                <c:pt idx="7">
                  <c:v>Python</c:v>
                </c:pt>
              </c:strCache>
            </c:strRef>
          </c:cat>
          <c:val>
            <c:numRef>
              <c:f>Sheet1!$B$2:$B$9</c:f>
              <c:numCache>
                <c:formatCode>0.00%</c:formatCode>
                <c:ptCount val="8"/>
                <c:pt idx="0">
                  <c:v>0.33100000000000002</c:v>
                </c:pt>
                <c:pt idx="1">
                  <c:v>0.42899999999999999</c:v>
                </c:pt>
                <c:pt idx="2">
                  <c:v>0.434</c:v>
                </c:pt>
                <c:pt idx="3">
                  <c:v>0.441</c:v>
                </c:pt>
                <c:pt idx="4">
                  <c:v>0.44500000000000001</c:v>
                </c:pt>
                <c:pt idx="5">
                  <c:v>0.58299999999999996</c:v>
                </c:pt>
                <c:pt idx="6">
                  <c:v>0.59699999999999998</c:v>
                </c:pt>
                <c:pt idx="7">
                  <c:v>0.66700000000000004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80-4B01-9421-B1EA0136B3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646101864"/>
        <c:axId val="646107352"/>
      </c:barChart>
      <c:catAx>
        <c:axId val="646101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107352"/>
        <c:crosses val="autoZero"/>
        <c:auto val="1"/>
        <c:lblAlgn val="ctr"/>
        <c:lblOffset val="100"/>
        <c:noMultiLvlLbl val="0"/>
      </c:catAx>
      <c:valAx>
        <c:axId val="646107352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crossAx val="646101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57493-C5A9-4813-93FE-32E9D5C23709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46099-19FC-47C6-8D00-837AACA83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73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571500" y="539750"/>
            <a:ext cx="8035925" cy="4521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768" y="5376929"/>
            <a:ext cx="5438140" cy="3805211"/>
          </a:xfrm>
        </p:spPr>
        <p:txBody>
          <a:bodyPr/>
          <a:lstStyle/>
          <a:p>
            <a:pPr defTabSz="1027112"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3F0BCE-8842-48BB-B417-565C32B10224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KoPub돋움체 Medium" panose="02020603020101020101" pitchFamily="18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400" panose="020B0503030303020204" pitchFamily="34" charset="0"/>
              <a:ea typeface="KoPub돋움체 Medium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048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1. Readable code can be written in Python</a:t>
            </a:r>
          </a:p>
          <a:p>
            <a:r>
              <a:rPr lang="en-IN" dirty="0" smtClean="0"/>
              <a:t>2. The large developer base (Stack overflow)</a:t>
            </a:r>
          </a:p>
          <a:p>
            <a:r>
              <a:rPr lang="en-IN" dirty="0" smtClean="0"/>
              <a:t>3. Low development / build time : Quick and handy for a quick </a:t>
            </a:r>
            <a:r>
              <a:rPr lang="en-IN" dirty="0" err="1" smtClean="0"/>
              <a:t>PoC</a:t>
            </a:r>
            <a:r>
              <a:rPr lang="en-IN" dirty="0" smtClean="0"/>
              <a:t> development.</a:t>
            </a:r>
          </a:p>
          <a:p>
            <a:r>
              <a:rPr lang="en-IN" dirty="0" smtClean="0"/>
              <a:t>4. Application of python (5~7 different fields) (</a:t>
            </a:r>
            <a:r>
              <a:rPr lang="en-IN" dirty="0" err="1" smtClean="0"/>
              <a:t>webscraping</a:t>
            </a:r>
            <a:r>
              <a:rPr lang="en-IN" dirty="0" smtClean="0"/>
              <a:t>, ML, web backend</a:t>
            </a:r>
          </a:p>
          <a:p>
            <a:r>
              <a:rPr lang="en-IN" dirty="0" smtClean="0"/>
              <a:t>5. Career (9~12 lakhs for a fresher)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46099-19FC-47C6-8D00-837AACA8311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244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37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06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92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1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27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1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53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95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32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66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580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553369" y="6424935"/>
            <a:ext cx="1108135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10878986" y="6498001"/>
            <a:ext cx="755737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36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36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553369" y="6498001"/>
            <a:ext cx="35565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783755" y="6498001"/>
            <a:ext cx="453847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36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1200" dirty="0" smtClean="0">
                <a:solidFill>
                  <a:schemeClr val="bg1">
                    <a:lumMod val="50000"/>
                  </a:schemeClr>
                </a:solidFill>
                <a:latin typeface="Samsung Sharp Sans Medium"/>
                <a:ea typeface="SamsungOne 400" panose="020B0503030303020204" pitchFamily="34" charset="0"/>
                <a:cs typeface="Arial Unicode MS" panose="020B0604020202020204" pitchFamily="50" charset="-127"/>
              </a:rPr>
              <a:t>Chapter 1. Programing Basic Concept and Starting Python</a:t>
            </a:r>
            <a:endParaRPr kumimoji="1" lang="en-US" altLang="ko-KR" sz="900" kern="1200" dirty="0">
              <a:solidFill>
                <a:schemeClr val="bg1">
                  <a:lumMod val="50000"/>
                </a:schemeClr>
              </a:solidFill>
              <a:latin typeface="Samsung Sharp Sans Medium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3730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53369" y="450000"/>
            <a:ext cx="1578379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60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690" y="6141164"/>
            <a:ext cx="1688620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52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55C33-6E44-4EC3-BDAF-103247550D26}" type="datetimeFigureOut">
              <a:rPr lang="en-IN" smtClean="0"/>
              <a:t>16-03-2023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72B7C-7507-4D79-8412-32E35A60E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8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jpe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33">
            <a:extLst>
              <a:ext uri="{FF2B5EF4-FFF2-40B4-BE49-F238E27FC236}">
                <a16:creationId xmlns:a16="http://schemas.microsoft.com/office/drawing/2014/main" id="{215914FE-3C05-4AF1-9102-9F455194E468}"/>
              </a:ext>
            </a:extLst>
          </p:cNvPr>
          <p:cNvSpPr/>
          <p:nvPr/>
        </p:nvSpPr>
        <p:spPr>
          <a:xfrm>
            <a:off x="1863000" y="1710001"/>
            <a:ext cx="836698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latinLnBrk="1">
              <a:defRPr/>
            </a:pPr>
            <a:r>
              <a:rPr lang="en-US" altLang="ko-KR" sz="4800" dirty="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Samsung </a:t>
            </a:r>
          </a:p>
          <a:p>
            <a:pPr latinLnBrk="1">
              <a:defRPr/>
            </a:pPr>
            <a:r>
              <a:rPr lang="en-US" altLang="ko-KR" sz="4800" dirty="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Innovation </a:t>
            </a:r>
          </a:p>
          <a:p>
            <a:pPr latinLnBrk="1">
              <a:defRPr/>
            </a:pPr>
            <a:r>
              <a:rPr lang="en-US" altLang="ko-KR" sz="4800" dirty="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Campus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7A5779-EA1E-416C-8400-F0041FD3BA30}"/>
              </a:ext>
            </a:extLst>
          </p:cNvPr>
          <p:cNvGrpSpPr/>
          <p:nvPr/>
        </p:nvGrpSpPr>
        <p:grpSpPr>
          <a:xfrm>
            <a:off x="1867690" y="4320000"/>
            <a:ext cx="6097837" cy="369332"/>
            <a:chOff x="724689" y="4320000"/>
            <a:chExt cx="6097837" cy="369332"/>
          </a:xfrm>
        </p:grpSpPr>
        <p:sp>
          <p:nvSpPr>
            <p:cNvPr id="4" name="직사각형 133">
              <a:extLst>
                <a:ext uri="{FF2B5EF4-FFF2-40B4-BE49-F238E27FC236}">
                  <a16:creationId xmlns:a16="http://schemas.microsoft.com/office/drawing/2014/main" id="{7E1FFB96-4B69-4AC9-8440-53675C6399E1}"/>
                </a:ext>
              </a:extLst>
            </p:cNvPr>
            <p:cNvSpPr/>
            <p:nvPr/>
          </p:nvSpPr>
          <p:spPr>
            <a:xfrm>
              <a:off x="990000" y="4320000"/>
              <a:ext cx="5832526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defRPr/>
              </a:pPr>
              <a:r>
                <a:rPr lang="en-US" altLang="ko-KR" sz="2400" dirty="0" smtClean="0">
                  <a:solidFill>
                    <a:srgbClr val="1428A0"/>
                  </a:solidFill>
                  <a:latin typeface="Samsung Sharp Sans" pitchFamily="2" charset="0"/>
                  <a:ea typeface="Samsung Sharp Sans" pitchFamily="2" charset="0"/>
                  <a:cs typeface="Samsung Sharp Sans" pitchFamily="2" charset="0"/>
                </a:rPr>
                <a:t>Introduction – Coding </a:t>
              </a:r>
              <a:r>
                <a:rPr lang="en-US" altLang="ko-KR" sz="2400" dirty="0">
                  <a:solidFill>
                    <a:srgbClr val="1428A0"/>
                  </a:solidFill>
                  <a:latin typeface="Samsung Sharp Sans" pitchFamily="2" charset="0"/>
                  <a:ea typeface="Samsung Sharp Sans" pitchFamily="2" charset="0"/>
                  <a:cs typeface="Samsung Sharp Sans" pitchFamily="2" charset="0"/>
                </a:rPr>
                <a:t>and Programming</a:t>
              </a:r>
              <a:endParaRPr lang="ko-KR" altLang="en-US" sz="2400" dirty="0">
                <a:solidFill>
                  <a:srgbClr val="1428A0"/>
                </a:solidFill>
                <a:latin typeface="Samsung Sharp Sans" pitchFamily="2" charset="0"/>
                <a:cs typeface="Samsung Sharp Sans" pitchFamily="2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855D68E-BB7F-4367-8E21-08DA47F8AF69}"/>
                </a:ext>
              </a:extLst>
            </p:cNvPr>
            <p:cNvSpPr/>
            <p:nvPr/>
          </p:nvSpPr>
          <p:spPr>
            <a:xfrm>
              <a:off x="724689" y="4320000"/>
              <a:ext cx="54000" cy="360000"/>
            </a:xfrm>
            <a:prstGeom prst="rect">
              <a:avLst/>
            </a:prstGeom>
            <a:solidFill>
              <a:srgbClr val="1428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ko-KR" altLang="en-US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42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871BC1-EC10-49F0-95B5-44A5EE3FCE1A}"/>
              </a:ext>
            </a:extLst>
          </p:cNvPr>
          <p:cNvSpPr/>
          <p:nvPr/>
        </p:nvSpPr>
        <p:spPr>
          <a:xfrm>
            <a:off x="902241" y="115717"/>
            <a:ext cx="6728236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187">
              <a:defRPr/>
            </a:pPr>
            <a:r>
              <a:rPr lang="en-US" altLang="ko-KR" sz="3600" dirty="0" smtClean="0">
                <a:solidFill>
                  <a:prstClr val="white"/>
                </a:solidFill>
                <a:latin typeface="SamsungOne 500" panose="020B0603030303020204" pitchFamily="34" charset="0"/>
                <a:ea typeface="SamsungOne 500" panose="020B0603030303020204" pitchFamily="34" charset="0"/>
                <a:cs typeface="Samsung Sharp Sans Medium" pitchFamily="2" charset="0"/>
              </a:rPr>
              <a:t>Mr. </a:t>
            </a:r>
            <a:r>
              <a:rPr lang="en-US" altLang="ko-KR" sz="3600" dirty="0" err="1" smtClean="0">
                <a:solidFill>
                  <a:prstClr val="white"/>
                </a:solidFill>
                <a:latin typeface="SamsungOne 500" panose="020B0603030303020204" pitchFamily="34" charset="0"/>
                <a:ea typeface="SamsungOne 500" panose="020B0603030303020204" pitchFamily="34" charset="0"/>
                <a:cs typeface="Samsung Sharp Sans Medium" pitchFamily="2" charset="0"/>
              </a:rPr>
              <a:t>Sandip</a:t>
            </a:r>
            <a:r>
              <a:rPr lang="en-US" altLang="ko-KR" sz="3600" dirty="0" smtClean="0">
                <a:solidFill>
                  <a:prstClr val="white"/>
                </a:solidFill>
                <a:latin typeface="SamsungOne 500" panose="020B0603030303020204" pitchFamily="34" charset="0"/>
                <a:ea typeface="SamsungOne 500" panose="020B0603030303020204" pitchFamily="34" charset="0"/>
                <a:cs typeface="Samsung Sharp Sans Medium" pitchFamily="2" charset="0"/>
              </a:rPr>
              <a:t> </a:t>
            </a:r>
            <a:r>
              <a:rPr lang="en-US" altLang="ko-KR" sz="3600" dirty="0" err="1" smtClean="0">
                <a:solidFill>
                  <a:prstClr val="white"/>
                </a:solidFill>
                <a:latin typeface="SamsungOne 500" panose="020B0603030303020204" pitchFamily="34" charset="0"/>
                <a:ea typeface="SamsungOne 500" panose="020B0603030303020204" pitchFamily="34" charset="0"/>
                <a:cs typeface="Samsung Sharp Sans Medium" pitchFamily="2" charset="0"/>
              </a:rPr>
              <a:t>Shriram</a:t>
            </a:r>
            <a:r>
              <a:rPr lang="en-US" altLang="ko-KR" sz="3600" dirty="0" smtClean="0">
                <a:solidFill>
                  <a:prstClr val="white"/>
                </a:solidFill>
                <a:latin typeface="SamsungOne 500" panose="020B0603030303020204" pitchFamily="34" charset="0"/>
                <a:ea typeface="SamsungOne 500" panose="020B0603030303020204" pitchFamily="34" charset="0"/>
                <a:cs typeface="Samsung Sharp Sans Medium" pitchFamily="2" charset="0"/>
              </a:rPr>
              <a:t> </a:t>
            </a:r>
            <a:r>
              <a:rPr lang="en-US" altLang="ko-KR" sz="3600" dirty="0" err="1" smtClean="0">
                <a:solidFill>
                  <a:prstClr val="white"/>
                </a:solidFill>
                <a:latin typeface="SamsungOne 500" panose="020B0603030303020204" pitchFamily="34" charset="0"/>
                <a:ea typeface="SamsungOne 500" panose="020B0603030303020204" pitchFamily="34" charset="0"/>
                <a:cs typeface="Samsung Sharp Sans Medium" pitchFamily="2" charset="0"/>
              </a:rPr>
              <a:t>Bapat</a:t>
            </a:r>
            <a:r>
              <a:rPr lang="en-US" altLang="ko-KR" sz="3600" dirty="0" smtClean="0">
                <a:solidFill>
                  <a:prstClr val="white"/>
                </a:solidFill>
                <a:latin typeface="SamsungOne 500" panose="020B0603030303020204" pitchFamily="34" charset="0"/>
                <a:ea typeface="SamsungOne 500" panose="020B0603030303020204" pitchFamily="34" charset="0"/>
                <a:cs typeface="Samsung Sharp Sans Medium" pitchFamily="2" charset="0"/>
              </a:rPr>
              <a:t> </a:t>
            </a:r>
            <a:endParaRPr lang="en-US" altLang="ko-KR" sz="3600" dirty="0">
              <a:solidFill>
                <a:prstClr val="white"/>
              </a:solidFill>
              <a:latin typeface="SamsungOne 500" panose="020B0603030303020204" pitchFamily="34" charset="0"/>
              <a:ea typeface="SamsungOne 500" panose="020B0603030303020204" pitchFamily="34" charset="0"/>
              <a:cs typeface="Samsung Sharp Sans Medium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2801" y="1195407"/>
            <a:ext cx="954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SamsungOne 500" panose="020B0603030303020204" pitchFamily="34" charset="0"/>
                <a:ea typeface="SamsungOne 500" panose="020B0603030303020204" pitchFamily="34" charset="0"/>
              </a:rPr>
              <a:t>Brief about </a:t>
            </a:r>
            <a:r>
              <a:rPr lang="en-IN" dirty="0" err="1" smtClean="0">
                <a:latin typeface="SamsungOne 500" panose="020B0603030303020204" pitchFamily="34" charset="0"/>
                <a:ea typeface="SamsungOne 500" panose="020B0603030303020204" pitchFamily="34" charset="0"/>
              </a:rPr>
              <a:t>Sandip’s</a:t>
            </a:r>
            <a:r>
              <a:rPr lang="en-IN" dirty="0" smtClean="0">
                <a:latin typeface="SamsungOne 500" panose="020B0603030303020204" pitchFamily="34" charset="0"/>
                <a:ea typeface="SamsungOne 500" panose="020B0603030303020204" pitchFamily="34" charset="0"/>
              </a:rPr>
              <a:t> credentials</a:t>
            </a:r>
            <a:endParaRPr lang="en-IN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32482" y="1754370"/>
            <a:ext cx="6845253" cy="3672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867" b="1" kern="100" dirty="0">
              <a:solidFill>
                <a:srgbClr val="00B050"/>
              </a:solidFill>
              <a:latin typeface="Arial"/>
              <a:ea typeface="Malgun Gothic"/>
              <a:cs typeface="Times New Roman"/>
            </a:endParaRPr>
          </a:p>
          <a:p>
            <a:pPr algn="ctr"/>
            <a:endParaRPr lang="en-IN" sz="1600" dirty="0"/>
          </a:p>
          <a:p>
            <a:pPr algn="ctr"/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Dr.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Sandip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Bapat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has over 20 years of Academic &amp; Industrial R&amp;D experience in the areas of Embedded Systems, Wireless Sensor Networks,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IoT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&amp; Intelligent Voice Assistants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IN" dirty="0" smtClean="0">
                <a:solidFill>
                  <a:schemeClr val="accent2">
                    <a:lumMod val="50000"/>
                  </a:schemeClr>
                </a:solidFill>
              </a:rPr>
              <a:t>Education: </a:t>
            </a:r>
            <a:r>
              <a:rPr lang="en-IN" dirty="0" err="1" smtClean="0">
                <a:solidFill>
                  <a:schemeClr val="accent2">
                    <a:lumMod val="50000"/>
                  </a:schemeClr>
                </a:solidFill>
              </a:rPr>
              <a:t>Ph.D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</a:rPr>
              <a:t> in Computer Science &amp; Engineering</a:t>
            </a:r>
          </a:p>
          <a:p>
            <a:pPr algn="ctr"/>
            <a:r>
              <a:rPr lang="en-IN" dirty="0" smtClean="0">
                <a:solidFill>
                  <a:schemeClr val="accent2">
                    <a:lumMod val="50000"/>
                  </a:schemeClr>
                </a:solidFill>
              </a:rPr>
              <a:t>The Ohio State University, Columbus, OH USA (2006)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IN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Sandip’s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role in Samsung involves leading the Speech AI team to investigate State of the Art Signal Processing &amp; Deep Learning based solutions for Speech Processing, Keyword Detection, Speech Recognition (ASR) &amp; Speech Synthesis (TTS)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2801" y="5543398"/>
            <a:ext cx="38863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Part Leader, Speech AI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accent2">
                    <a:lumMod val="50000"/>
                  </a:schemeClr>
                </a:solidFill>
              </a:rPr>
              <a:t>Samsung Research India, Bangalore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754" y="2181115"/>
            <a:ext cx="2450414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6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00101" y="4013258"/>
            <a:ext cx="5389270" cy="2204347"/>
            <a:chOff x="942951" y="3240128"/>
            <a:chExt cx="5389270" cy="2204347"/>
          </a:xfrm>
        </p:grpSpPr>
        <p:sp>
          <p:nvSpPr>
            <p:cNvPr id="3" name="Rectangle 2"/>
            <p:cNvSpPr/>
            <p:nvPr/>
          </p:nvSpPr>
          <p:spPr>
            <a:xfrm>
              <a:off x="942951" y="3240128"/>
              <a:ext cx="5389270" cy="2204347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2400" dirty="0" smtClean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SIC</a:t>
              </a:r>
              <a:endParaRPr lang="en-IN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053724" y="4692841"/>
              <a:ext cx="5095616" cy="623285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 smtClean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Coding &amp; Programing (C&amp;P)</a:t>
              </a:r>
            </a:p>
            <a:p>
              <a:pPr algn="ctr"/>
              <a:r>
                <a:rPr lang="en-IN" sz="1600" b="1" dirty="0" smtClean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[~90 Hrs]</a:t>
              </a:r>
              <a:endParaRPr lang="en-IN" sz="16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773392" y="3716752"/>
              <a:ext cx="1658568" cy="85489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1600" b="1" dirty="0" smtClean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Big-Data</a:t>
              </a:r>
              <a:endParaRPr lang="en-IN" sz="16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[Theory 160 Hrs</a:t>
              </a:r>
            </a:p>
            <a:p>
              <a:pPr algn="ctr">
                <a:spcBef>
                  <a:spcPts val="600"/>
                </a:spcBef>
              </a:pP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+ </a:t>
              </a:r>
              <a:r>
                <a:rPr lang="en-IN" sz="1200" dirty="0" err="1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proj</a:t>
              </a: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 80 hrs]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490772" y="3716752"/>
              <a:ext cx="1658568" cy="85489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1600" b="1" dirty="0" smtClean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IOT</a:t>
              </a:r>
              <a:endParaRPr lang="en-IN" sz="16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[Theory 160 Hrs</a:t>
              </a:r>
            </a:p>
            <a:p>
              <a:pPr algn="ctr">
                <a:spcBef>
                  <a:spcPts val="600"/>
                </a:spcBef>
              </a:pP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+ </a:t>
              </a:r>
              <a:r>
                <a:rPr lang="en-IN" sz="1200" dirty="0" err="1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proj</a:t>
              </a: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 80 hrs]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9821" y="3716752"/>
              <a:ext cx="1658568" cy="85489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1600" b="1" dirty="0" smtClean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AI&amp;ML</a:t>
              </a:r>
            </a:p>
            <a:p>
              <a:pPr algn="ctr">
                <a:spcBef>
                  <a:spcPts val="600"/>
                </a:spcBef>
              </a:pP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[Theory 270 Hrs</a:t>
              </a:r>
            </a:p>
            <a:p>
              <a:pPr algn="ctr">
                <a:spcBef>
                  <a:spcPts val="600"/>
                </a:spcBef>
              </a:pP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+ </a:t>
              </a:r>
              <a:r>
                <a:rPr lang="en-IN" sz="1200" dirty="0" err="1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proj</a:t>
              </a:r>
              <a:r>
                <a:rPr lang="en-IN" sz="12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rPr>
                <a:t> 80 hrs]</a:t>
              </a:r>
            </a:p>
          </p:txBody>
        </p:sp>
      </p:grpSp>
      <p:sp>
        <p:nvSpPr>
          <p:cNvPr id="8" name="Chevron 7"/>
          <p:cNvSpPr/>
          <p:nvPr/>
        </p:nvSpPr>
        <p:spPr>
          <a:xfrm>
            <a:off x="751093" y="3240162"/>
            <a:ext cx="1800000" cy="569933"/>
          </a:xfrm>
          <a:prstGeom prst="chevron">
            <a:avLst>
              <a:gd name="adj" fmla="val 24648"/>
            </a:avLst>
          </a:prstGeom>
          <a:solidFill>
            <a:srgbClr val="92D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Step-1</a:t>
            </a:r>
          </a:p>
          <a:p>
            <a:pPr algn="ctr"/>
            <a:r>
              <a:rPr lang="en-IN" sz="14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Coding</a:t>
            </a:r>
            <a:r>
              <a:rPr lang="en-IN" sz="1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Test</a:t>
            </a: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532805" y="3240162"/>
            <a:ext cx="2105040" cy="569933"/>
          </a:xfrm>
          <a:prstGeom prst="chevron">
            <a:avLst>
              <a:gd name="adj" fmla="val 24648"/>
            </a:avLst>
          </a:prstGeom>
          <a:solidFill>
            <a:srgbClr val="92D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Step-2</a:t>
            </a:r>
          </a:p>
          <a:p>
            <a:pPr algn="ctr"/>
            <a:r>
              <a:rPr lang="en-IN" sz="14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Coding</a:t>
            </a:r>
            <a:r>
              <a:rPr lang="en-IN" sz="1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Interview</a:t>
            </a: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4707888" y="3240162"/>
            <a:ext cx="2088842" cy="569933"/>
          </a:xfrm>
          <a:prstGeom prst="chevron">
            <a:avLst>
              <a:gd name="adj" fmla="val 2464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Step-3</a:t>
            </a:r>
          </a:p>
          <a:p>
            <a:pPr algn="ctr"/>
            <a:r>
              <a:rPr lang="en-IN" sz="1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Tech Interview</a:t>
            </a: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741154" y="2800445"/>
            <a:ext cx="6055576" cy="401617"/>
          </a:xfrm>
          <a:prstGeom prst="chevron">
            <a:avLst>
              <a:gd name="adj" fmla="val 2464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Typical </a:t>
            </a:r>
            <a:r>
              <a:rPr lang="en-IN" sz="16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Hiring Process</a:t>
            </a:r>
            <a:r>
              <a:rPr lang="en-IN" sz="1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(Samsung, others)</a:t>
            </a:r>
            <a:endParaRPr lang="en-IN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96481" y="2524346"/>
            <a:ext cx="4309454" cy="851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C&amp;P Module: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2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Focussed on Python </a:t>
            </a:r>
            <a:r>
              <a:rPr lang="en-IN" sz="1200" dirty="0" err="1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lang</a:t>
            </a:r>
            <a:r>
              <a:rPr lang="en-IN" sz="12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and basic DS/</a:t>
            </a:r>
            <a:r>
              <a:rPr lang="en-IN" sz="1200" dirty="0" err="1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Algo</a:t>
            </a:r>
            <a:endParaRPr lang="en-IN" sz="1200" dirty="0" smtClean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12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Serves as base for AI/ML, </a:t>
            </a:r>
            <a:r>
              <a:rPr lang="en-IN" sz="1200" dirty="0" err="1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BigData</a:t>
            </a:r>
            <a:r>
              <a:rPr lang="en-IN" sz="12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IOT modules of SIC</a:t>
            </a:r>
          </a:p>
        </p:txBody>
      </p:sp>
      <p:grpSp>
        <p:nvGrpSpPr>
          <p:cNvPr id="15" name="그룹 53"/>
          <p:cNvGrpSpPr/>
          <p:nvPr/>
        </p:nvGrpSpPr>
        <p:grpSpPr>
          <a:xfrm>
            <a:off x="7396481" y="3371327"/>
            <a:ext cx="4309652" cy="3008735"/>
            <a:chOff x="3449411" y="3301709"/>
            <a:chExt cx="3106843" cy="2737865"/>
          </a:xfrm>
        </p:grpSpPr>
        <p:grpSp>
          <p:nvGrpSpPr>
            <p:cNvPr id="16" name="그룹 43"/>
            <p:cNvGrpSpPr/>
            <p:nvPr/>
          </p:nvGrpSpPr>
          <p:grpSpPr>
            <a:xfrm>
              <a:off x="3449411" y="4239883"/>
              <a:ext cx="3106700" cy="282024"/>
              <a:chOff x="3546027" y="4233835"/>
              <a:chExt cx="3433128" cy="282024"/>
            </a:xfrm>
          </p:grpSpPr>
          <p:sp>
            <p:nvSpPr>
              <p:cNvPr id="38" name="Rectangle 40"/>
              <p:cNvSpPr/>
              <p:nvPr/>
            </p:nvSpPr>
            <p:spPr>
              <a:xfrm>
                <a:off x="3546027" y="4233837"/>
                <a:ext cx="762174" cy="28202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Chapter 4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tangle 42"/>
              <p:cNvSpPr/>
              <p:nvPr/>
            </p:nvSpPr>
            <p:spPr>
              <a:xfrm>
                <a:off x="4308344" y="4233835"/>
                <a:ext cx="2670811" cy="282022"/>
              </a:xfrm>
              <a:prstGeom prst="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Ins="0" rtlCol="0" anchor="ctr"/>
              <a:lstStyle/>
              <a:p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Algorithm I: Data Structure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그룹 42"/>
            <p:cNvGrpSpPr/>
            <p:nvPr/>
          </p:nvGrpSpPr>
          <p:grpSpPr>
            <a:xfrm>
              <a:off x="3449411" y="4552132"/>
              <a:ext cx="3106700" cy="282023"/>
              <a:chOff x="3546027" y="4714167"/>
              <a:chExt cx="3433128" cy="282023"/>
            </a:xfrm>
          </p:grpSpPr>
          <p:sp>
            <p:nvSpPr>
              <p:cNvPr id="36" name="Rectangle 49"/>
              <p:cNvSpPr/>
              <p:nvPr/>
            </p:nvSpPr>
            <p:spPr>
              <a:xfrm>
                <a:off x="3546027" y="4714168"/>
                <a:ext cx="762174" cy="28202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Chapter 5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Rectangle 50"/>
              <p:cNvSpPr/>
              <p:nvPr/>
            </p:nvSpPr>
            <p:spPr>
              <a:xfrm>
                <a:off x="4308344" y="4714167"/>
                <a:ext cx="2670811" cy="282022"/>
              </a:xfrm>
              <a:prstGeom prst="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Ins="0" rtlCol="0" anchor="ctr"/>
              <a:lstStyle/>
              <a:p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Algorithm II: Sorting Algorithms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그룹 45"/>
            <p:cNvGrpSpPr/>
            <p:nvPr/>
          </p:nvGrpSpPr>
          <p:grpSpPr>
            <a:xfrm>
              <a:off x="3449411" y="5254867"/>
              <a:ext cx="3106700" cy="375713"/>
              <a:chOff x="3546027" y="5820899"/>
              <a:chExt cx="3433128" cy="375713"/>
            </a:xfrm>
          </p:grpSpPr>
          <p:sp>
            <p:nvSpPr>
              <p:cNvPr id="34" name="Rectangle 54"/>
              <p:cNvSpPr/>
              <p:nvPr/>
            </p:nvSpPr>
            <p:spPr>
              <a:xfrm>
                <a:off x="3546027" y="5820900"/>
                <a:ext cx="762174" cy="37571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spc="-80" dirty="0"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Chapter 7</a:t>
                </a:r>
                <a:endParaRPr lang="ko-KR" altLang="en-US" sz="1200" spc="-80" dirty="0"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ctangle 55"/>
              <p:cNvSpPr/>
              <p:nvPr/>
            </p:nvSpPr>
            <p:spPr>
              <a:xfrm>
                <a:off x="4308344" y="5820899"/>
                <a:ext cx="2670811" cy="37571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Ins="0" rtlCol="0" anchor="ctr"/>
              <a:lstStyle/>
              <a:p>
                <a:pPr>
                  <a:lnSpc>
                    <a:spcPts val="1300"/>
                  </a:lnSpc>
                </a:pPr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Data Processing and Descriptive Statistics, </a:t>
                </a:r>
                <a:r>
                  <a:rPr lang="en-US" altLang="ko-KR" sz="1200" spc="-8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Data </a:t>
                </a:r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Visualization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ea typeface="SamsungOne 400" panose="020B0503030303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" name="그룹 46"/>
            <p:cNvGrpSpPr/>
            <p:nvPr/>
          </p:nvGrpSpPr>
          <p:grpSpPr>
            <a:xfrm>
              <a:off x="3449411" y="5663862"/>
              <a:ext cx="3106700" cy="375712"/>
              <a:chOff x="3546027" y="6399721"/>
              <a:chExt cx="3433128" cy="375712"/>
            </a:xfrm>
          </p:grpSpPr>
          <p:sp>
            <p:nvSpPr>
              <p:cNvPr id="32" name="Rectangle 56"/>
              <p:cNvSpPr/>
              <p:nvPr/>
            </p:nvSpPr>
            <p:spPr>
              <a:xfrm>
                <a:off x="3546027" y="6399721"/>
                <a:ext cx="762174" cy="37571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spc="-80" dirty="0"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Chapter 8</a:t>
                </a:r>
                <a:endParaRPr lang="ko-KR" altLang="en-US" sz="1200" spc="-80" dirty="0"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Rectangle 57"/>
              <p:cNvSpPr/>
              <p:nvPr/>
            </p:nvSpPr>
            <p:spPr>
              <a:xfrm>
                <a:off x="4308344" y="6410824"/>
                <a:ext cx="2670811" cy="36460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Ins="0" rtlCol="0" anchor="ctr"/>
              <a:lstStyle/>
              <a:p>
                <a:pPr>
                  <a:lnSpc>
                    <a:spcPts val="1300"/>
                  </a:lnSpc>
                </a:pPr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Data Analysis </a:t>
                </a:r>
                <a:r>
                  <a:rPr lang="en-US" altLang="ko-KR" sz="1200" spc="-8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 and </a:t>
                </a:r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Visualization </a:t>
                </a:r>
                <a:endParaRPr lang="en-US" altLang="ko-KR" sz="1200" spc="-8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lnSpc>
                    <a:spcPts val="1300"/>
                  </a:lnSpc>
                </a:pPr>
                <a:r>
                  <a:rPr lang="en-US" altLang="ko-KR" sz="1200" spc="-8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(+ </a:t>
                </a:r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Mini </a:t>
                </a:r>
                <a:r>
                  <a:rPr lang="en-US" altLang="ko-KR" sz="1200" spc="-8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Project)</a:t>
                </a:r>
                <a:endParaRPr lang="en-US" altLang="ko-KR" sz="1200" spc="-8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0" name="그룹 2"/>
            <p:cNvGrpSpPr/>
            <p:nvPr/>
          </p:nvGrpSpPr>
          <p:grpSpPr>
            <a:xfrm>
              <a:off x="3449553" y="3301709"/>
              <a:ext cx="3106571" cy="288293"/>
              <a:chOff x="3546170" y="2763499"/>
              <a:chExt cx="3432985" cy="288293"/>
            </a:xfrm>
          </p:grpSpPr>
          <p:sp>
            <p:nvSpPr>
              <p:cNvPr id="30" name="Rectangle 33"/>
              <p:cNvSpPr/>
              <p:nvPr/>
            </p:nvSpPr>
            <p:spPr>
              <a:xfrm>
                <a:off x="3546170" y="2769770"/>
                <a:ext cx="762174" cy="28202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Chapter 1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Rectangle 34"/>
              <p:cNvSpPr/>
              <p:nvPr/>
            </p:nvSpPr>
            <p:spPr>
              <a:xfrm>
                <a:off x="4308344" y="2763499"/>
                <a:ext cx="2670811" cy="282022"/>
              </a:xfrm>
              <a:prstGeom prst="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Ins="0" rtlCol="0" anchor="ctr"/>
              <a:lstStyle/>
              <a:p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Programing Basic Concept </a:t>
                </a:r>
                <a:r>
                  <a:rPr lang="en-US" altLang="ko-KR" sz="1200" spc="-8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and </a:t>
                </a:r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Starting Python</a:t>
                </a:r>
                <a:endParaRPr lang="ko-KR" altLang="ko-KR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그룹 1"/>
            <p:cNvGrpSpPr/>
            <p:nvPr/>
          </p:nvGrpSpPr>
          <p:grpSpPr>
            <a:xfrm>
              <a:off x="3449554" y="3614073"/>
              <a:ext cx="3106700" cy="282022"/>
              <a:chOff x="3546170" y="3235169"/>
              <a:chExt cx="3433128" cy="282022"/>
            </a:xfrm>
          </p:grpSpPr>
          <p:sp>
            <p:nvSpPr>
              <p:cNvPr id="28" name="Rectangle 35"/>
              <p:cNvSpPr/>
              <p:nvPr/>
            </p:nvSpPr>
            <p:spPr>
              <a:xfrm>
                <a:off x="3546170" y="3235169"/>
                <a:ext cx="762174" cy="28202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Chapter 2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Rectangle 36"/>
              <p:cNvSpPr/>
              <p:nvPr/>
            </p:nvSpPr>
            <p:spPr>
              <a:xfrm>
                <a:off x="4308487" y="3235169"/>
                <a:ext cx="2670811" cy="282022"/>
              </a:xfrm>
              <a:prstGeom prst="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Ins="0" rtlCol="0" anchor="ctr"/>
              <a:lstStyle/>
              <a:p>
                <a:pPr>
                  <a:spcAft>
                    <a:spcPts val="800"/>
                  </a:spcAft>
                </a:pPr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Python Programing Basic </a:t>
                </a:r>
              </a:p>
            </p:txBody>
          </p:sp>
        </p:grpSp>
        <p:grpSp>
          <p:nvGrpSpPr>
            <p:cNvPr id="22" name="그룹 41"/>
            <p:cNvGrpSpPr/>
            <p:nvPr/>
          </p:nvGrpSpPr>
          <p:grpSpPr>
            <a:xfrm>
              <a:off x="3449411" y="3924133"/>
              <a:ext cx="3106700" cy="282022"/>
              <a:chOff x="3546170" y="3712510"/>
              <a:chExt cx="3433128" cy="282022"/>
            </a:xfrm>
          </p:grpSpPr>
          <p:sp>
            <p:nvSpPr>
              <p:cNvPr id="26" name="Rectangle 37"/>
              <p:cNvSpPr/>
              <p:nvPr/>
            </p:nvSpPr>
            <p:spPr>
              <a:xfrm>
                <a:off x="3546170" y="3712510"/>
                <a:ext cx="762174" cy="28202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Chapter 3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angle 38"/>
              <p:cNvSpPr/>
              <p:nvPr/>
            </p:nvSpPr>
            <p:spPr>
              <a:xfrm>
                <a:off x="4308487" y="3712510"/>
                <a:ext cx="2670811" cy="282022"/>
              </a:xfrm>
              <a:prstGeom prst="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Ins="0" rtlCol="0" anchor="ctr"/>
              <a:lstStyle/>
              <a:p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Effective Python Programming</a:t>
                </a:r>
              </a:p>
            </p:txBody>
          </p:sp>
        </p:grpSp>
        <p:grpSp>
          <p:nvGrpSpPr>
            <p:cNvPr id="23" name="그룹 44"/>
            <p:cNvGrpSpPr/>
            <p:nvPr/>
          </p:nvGrpSpPr>
          <p:grpSpPr>
            <a:xfrm>
              <a:off x="3449411" y="4857848"/>
              <a:ext cx="3106700" cy="375712"/>
              <a:chOff x="3546027" y="5188521"/>
              <a:chExt cx="3433128" cy="375712"/>
            </a:xfrm>
          </p:grpSpPr>
          <p:sp>
            <p:nvSpPr>
              <p:cNvPr id="24" name="Rectangle 51"/>
              <p:cNvSpPr/>
              <p:nvPr/>
            </p:nvSpPr>
            <p:spPr>
              <a:xfrm>
                <a:off x="3546027" y="5188521"/>
                <a:ext cx="762174" cy="37571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Chapter 6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Rectangle 52"/>
              <p:cNvSpPr/>
              <p:nvPr/>
            </p:nvSpPr>
            <p:spPr>
              <a:xfrm>
                <a:off x="4308344" y="5199624"/>
                <a:ext cx="2670811" cy="350380"/>
              </a:xfrm>
              <a:prstGeom prst="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Ins="0" rtlCol="0" anchor="ctr"/>
              <a:lstStyle/>
              <a:p>
                <a:r>
                  <a:rPr lang="en-US" altLang="ko-KR" sz="1200" spc="-8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Algorithm III: Problem Solving with Algorithms</a:t>
                </a:r>
                <a:endParaRPr lang="ko-KR" altLang="en-US" sz="1200" spc="-80" dirty="0">
                  <a:solidFill>
                    <a:schemeClr val="tx1"/>
                  </a:solidFill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0" name="Rectangle 39"/>
          <p:cNvSpPr/>
          <p:nvPr/>
        </p:nvSpPr>
        <p:spPr>
          <a:xfrm>
            <a:off x="328334" y="215734"/>
            <a:ext cx="95402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Samsung Innovation Campus (SIC) - Coding &amp; Programming (C&amp;P)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19935" y="1149541"/>
            <a:ext cx="4477494" cy="107696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ounded Rectangle 41"/>
          <p:cNvSpPr/>
          <p:nvPr/>
        </p:nvSpPr>
        <p:spPr>
          <a:xfrm>
            <a:off x="1067402" y="1149541"/>
            <a:ext cx="1040166" cy="1088141"/>
          </a:xfrm>
          <a:prstGeom prst="roundRect">
            <a:avLst>
              <a:gd name="adj" fmla="val 4642"/>
            </a:avLst>
          </a:prstGeom>
          <a:solidFill>
            <a:srgbClr val="1429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1066862" y="1499635"/>
            <a:ext cx="97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17070" y="1499635"/>
            <a:ext cx="3539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Higher </a:t>
            </a:r>
            <a:r>
              <a:rPr lang="en-IN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Employability</a:t>
            </a:r>
            <a:r>
              <a:rPr lang="en-IN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of Students</a:t>
            </a:r>
            <a:endParaRPr lang="en-IN" dirty="0"/>
          </a:p>
        </p:txBody>
      </p:sp>
      <p:sp>
        <p:nvSpPr>
          <p:cNvPr id="65" name="Rectangle 64"/>
          <p:cNvSpPr/>
          <p:nvPr/>
        </p:nvSpPr>
        <p:spPr>
          <a:xfrm>
            <a:off x="6796730" y="1142098"/>
            <a:ext cx="5024262" cy="108440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ounded Rectangle 65"/>
          <p:cNvSpPr/>
          <p:nvPr/>
        </p:nvSpPr>
        <p:spPr>
          <a:xfrm>
            <a:off x="6444197" y="1135610"/>
            <a:ext cx="1040166" cy="1102072"/>
          </a:xfrm>
          <a:prstGeom prst="roundRect">
            <a:avLst>
              <a:gd name="adj" fmla="val 4642"/>
            </a:avLst>
          </a:prstGeom>
          <a:solidFill>
            <a:srgbClr val="1429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/>
          <p:cNvSpPr txBox="1"/>
          <p:nvPr/>
        </p:nvSpPr>
        <p:spPr>
          <a:xfrm>
            <a:off x="6413362" y="1499635"/>
            <a:ext cx="110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Mission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84363" y="1230331"/>
            <a:ext cx="422157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Train Students in </a:t>
            </a:r>
            <a:r>
              <a:rPr lang="en-IN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Coding </a:t>
            </a:r>
            <a:r>
              <a:rPr lang="en-IN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Skills</a:t>
            </a:r>
          </a:p>
          <a:p>
            <a:pPr algn="ctr">
              <a:spcBef>
                <a:spcPts val="600"/>
              </a:spcBef>
            </a:pPr>
            <a:r>
              <a:rPr lang="en-IN"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(Cultivate </a:t>
            </a:r>
            <a:r>
              <a:rPr lang="en-IN" sz="1200" b="1" dirty="0" smtClean="0">
                <a:solidFill>
                  <a:srgbClr val="1429A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Logical </a:t>
            </a:r>
            <a:r>
              <a:rPr lang="en-IN" sz="1200" b="1" dirty="0">
                <a:solidFill>
                  <a:srgbClr val="1429A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thinking </a:t>
            </a:r>
            <a:r>
              <a:rPr lang="en-IN"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and </a:t>
            </a:r>
            <a:r>
              <a:rPr lang="en-IN" sz="1200" b="1" dirty="0" smtClean="0">
                <a:solidFill>
                  <a:srgbClr val="1429A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Problem-solving</a:t>
            </a:r>
            <a:r>
              <a:rPr lang="en-IN" sz="12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IN"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ability based on computational thinking)</a:t>
            </a:r>
            <a:r>
              <a:rPr lang="en-IN" b="1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en-IN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46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03498" y="1506752"/>
            <a:ext cx="11230513" cy="4422706"/>
            <a:chOff x="438322" y="1506752"/>
            <a:chExt cx="11230513" cy="4422706"/>
          </a:xfrm>
        </p:grpSpPr>
        <p:sp>
          <p:nvSpPr>
            <p:cNvPr id="3" name="TextBox 2"/>
            <p:cNvSpPr txBox="1"/>
            <p:nvPr/>
          </p:nvSpPr>
          <p:spPr>
            <a:xfrm>
              <a:off x="438322" y="4869025"/>
              <a:ext cx="277991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    Additional Skills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IN" sz="1200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Helps in Problem Solving skills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IN" sz="1200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Solving problems in a logical and creative manner</a:t>
              </a:r>
              <a:endParaRPr lang="en-IN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468300" y="1506752"/>
              <a:ext cx="11200535" cy="4422706"/>
              <a:chOff x="468300" y="1506752"/>
              <a:chExt cx="11200535" cy="4422706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468300" y="1506752"/>
                <a:ext cx="11200535" cy="4422706"/>
                <a:chOff x="-752886" y="1442744"/>
                <a:chExt cx="11200535" cy="4422706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4640580" y="1443980"/>
                  <a:ext cx="3904564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b="1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Technological Disruption </a:t>
                  </a:r>
                </a:p>
                <a:p>
                  <a:pPr marL="171450" indent="-1714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IN" sz="1200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Post Covid-19, many jobs are redefined</a:t>
                  </a:r>
                  <a:endParaRPr lang="en-IN" sz="1200" b="1" dirty="0" smtClean="0">
                    <a:solidFill>
                      <a:srgbClr val="0F37A8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 marL="171450" indent="-1714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IN" sz="1200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Students skilled with Coding have a competitive advantage</a:t>
                  </a:r>
                  <a:endParaRPr lang="en-IN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6435148" y="2967954"/>
                  <a:ext cx="3223818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b="1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High Income Potential</a:t>
                  </a:r>
                </a:p>
                <a:p>
                  <a:pPr marL="171450" indent="-1714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IN" sz="1200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Programmers and developers are in high demand all over the world</a:t>
                  </a:r>
                </a:p>
                <a:p>
                  <a:pPr marL="171450" indent="-1714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IN" sz="1200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Companies are willing to provide attractive benefits.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-752886" y="2941415"/>
                  <a:ext cx="2965751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b="1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Future Ready Career Skills</a:t>
                  </a:r>
                </a:p>
                <a:p>
                  <a:pPr marL="171450" indent="-1714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kumimoji="1" lang="en-US" altLang="ko-KR" sz="1200" dirty="0" smtClean="0"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Samsung Sharp Sans Bold" pitchFamily="2" charset="0"/>
                    </a:rPr>
                    <a:t>Coding skills will provide a basis of knowledge that can help strengthen their career prospects</a:t>
                  </a:r>
                </a:p>
                <a:p>
                  <a:pPr marL="171450" indent="-1714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kumimoji="1" lang="en-US" altLang="ko-KR" sz="1200" dirty="0" smtClean="0"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Samsung Sharp Sans Bold" pitchFamily="2" charset="0"/>
                    </a:rPr>
                    <a:t>Enhances </a:t>
                  </a:r>
                  <a:r>
                    <a:rPr lang="en-US" altLang="ko-KR" sz="1200" b="1" dirty="0" smtClean="0">
                      <a:solidFill>
                        <a:srgbClr val="0F37A8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Employability</a:t>
                  </a:r>
                  <a:endParaRPr lang="en-IN" sz="1200" b="1" dirty="0">
                    <a:solidFill>
                      <a:srgbClr val="0F37A8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6435148" y="4805017"/>
                  <a:ext cx="4012501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b="1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    Wide Scope</a:t>
                  </a:r>
                </a:p>
                <a:p>
                  <a:pPr marL="171450" indent="-1714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IN" sz="1200" dirty="0" smtClean="0">
                      <a:latin typeface="Cambria" panose="02040503050406030204" pitchFamily="18" charset="0"/>
                      <a:ea typeface="Cambria" panose="02040503050406030204" pitchFamily="18" charset="0"/>
                    </a:rPr>
                    <a:t>Apart from Software many job roles require Coding </a:t>
                  </a:r>
                </a:p>
                <a:p>
                  <a:pPr marL="171450" indent="-171450"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Business Analysts, Data Science </a:t>
                  </a:r>
                  <a:r>
                    <a:rPr lang="en-IN" sz="1200" dirty="0" err="1">
                      <a:latin typeface="Cambria" panose="02040503050406030204" pitchFamily="18" charset="0"/>
                      <a:ea typeface="Cambria" panose="02040503050406030204" pitchFamily="18" charset="0"/>
                    </a:rPr>
                    <a:t>etc</a:t>
                  </a:r>
                  <a:r>
                    <a:rPr lang="en-IN" sz="12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are emerging fields </a:t>
                  </a:r>
                </a:p>
              </p:txBody>
            </p:sp>
            <p:sp>
              <p:nvSpPr>
                <p:cNvPr id="16" name="Pentagon 15"/>
                <p:cNvSpPr/>
                <p:nvPr/>
              </p:nvSpPr>
              <p:spPr>
                <a:xfrm rot="16200000">
                  <a:off x="2221992" y="1909088"/>
                  <a:ext cx="3703320" cy="3403576"/>
                </a:xfrm>
                <a:prstGeom prst="homePlat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" name="Flowchart: Connector 16"/>
                <p:cNvSpPr/>
                <p:nvPr/>
              </p:nvSpPr>
              <p:spPr>
                <a:xfrm>
                  <a:off x="3579876" y="1442744"/>
                  <a:ext cx="987552" cy="932688"/>
                </a:xfrm>
                <a:prstGeom prst="flowChartConnector">
                  <a:avLst/>
                </a:prstGeom>
                <a:solidFill>
                  <a:srgbClr val="0F37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" name="Flowchart: Connector 17"/>
                <p:cNvSpPr/>
                <p:nvPr/>
              </p:nvSpPr>
              <p:spPr>
                <a:xfrm>
                  <a:off x="5248656" y="3041428"/>
                  <a:ext cx="987552" cy="932688"/>
                </a:xfrm>
                <a:prstGeom prst="flowChartConnector">
                  <a:avLst/>
                </a:prstGeom>
                <a:solidFill>
                  <a:srgbClr val="0F37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" name="Flowchart: Connector 18"/>
                <p:cNvSpPr/>
                <p:nvPr/>
              </p:nvSpPr>
              <p:spPr>
                <a:xfrm>
                  <a:off x="5248656" y="4932762"/>
                  <a:ext cx="987552" cy="932688"/>
                </a:xfrm>
                <a:prstGeom prst="flowChartConnector">
                  <a:avLst/>
                </a:prstGeom>
                <a:solidFill>
                  <a:srgbClr val="0F37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" name="Flowchart: Connector 19"/>
                <p:cNvSpPr/>
                <p:nvPr/>
              </p:nvSpPr>
              <p:spPr>
                <a:xfrm>
                  <a:off x="1878087" y="3036332"/>
                  <a:ext cx="987552" cy="932688"/>
                </a:xfrm>
                <a:prstGeom prst="flowChartConnector">
                  <a:avLst/>
                </a:prstGeom>
                <a:solidFill>
                  <a:srgbClr val="0F37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" name="Flowchart: Connector 20"/>
                <p:cNvSpPr/>
                <p:nvPr/>
              </p:nvSpPr>
              <p:spPr>
                <a:xfrm>
                  <a:off x="1878088" y="4930689"/>
                  <a:ext cx="987552" cy="932688"/>
                </a:xfrm>
                <a:prstGeom prst="flowChartConnector">
                  <a:avLst/>
                </a:prstGeom>
                <a:solidFill>
                  <a:srgbClr val="0F37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2">
                <a:lum bright="70000" contrast="-70000"/>
              </a:blip>
              <a:stretch>
                <a:fillRect/>
              </a:stretch>
            </p:blipFill>
            <p:spPr>
              <a:xfrm flipH="1">
                <a:off x="5114837" y="1779536"/>
                <a:ext cx="360000" cy="340688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</a:blip>
              <a:stretch>
                <a:fillRect/>
              </a:stretch>
            </p:blipFill>
            <p:spPr>
              <a:xfrm flipH="1">
                <a:off x="6783618" y="5281041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</a:blip>
              <a:stretch>
                <a:fillRect/>
              </a:stretch>
            </p:blipFill>
            <p:spPr>
              <a:xfrm flipH="1">
                <a:off x="3417178" y="5244465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5">
                <a:lum bright="70000" contrast="-70000"/>
              </a:blip>
              <a:stretch>
                <a:fillRect/>
              </a:stretch>
            </p:blipFill>
            <p:spPr>
              <a:xfrm>
                <a:off x="3408571" y="3348884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6">
                <a:lum bright="70000" contrast="-70000"/>
              </a:blip>
              <a:stretch>
                <a:fillRect/>
              </a:stretch>
            </p:blipFill>
            <p:spPr>
              <a:xfrm flipH="1">
                <a:off x="6795624" y="3376273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4843553" y="3385460"/>
                <a:ext cx="1018213" cy="1018213"/>
              </a:xfrm>
              <a:prstGeom prst="rect">
                <a:avLst/>
              </a:prstGeom>
            </p:spPr>
          </p:pic>
        </p:grpSp>
      </p:grpSp>
      <p:sp>
        <p:nvSpPr>
          <p:cNvPr id="42" name="직사각형 16">
            <a:extLst>
              <a:ext uri="{FF2B5EF4-FFF2-40B4-BE49-F238E27FC236}">
                <a16:creationId xmlns:a16="http://schemas.microsoft.com/office/drawing/2014/main" id="{47871BC1-EC10-49F0-95B5-44A5EE3FCE1A}"/>
              </a:ext>
            </a:extLst>
          </p:cNvPr>
          <p:cNvSpPr/>
          <p:nvPr/>
        </p:nvSpPr>
        <p:spPr>
          <a:xfrm>
            <a:off x="603361" y="275611"/>
            <a:ext cx="552217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187">
              <a:defRPr/>
            </a:pPr>
            <a:r>
              <a:rPr lang="en-US" altLang="ko-KR" sz="2400" b="1" dirty="0" smtClean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Benefits of Coding &amp; Programming</a:t>
            </a:r>
            <a:endParaRPr lang="en-US" altLang="ko-KR" sz="240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Samsung Sharp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59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871BC1-EC10-49F0-95B5-44A5EE3FCE1A}"/>
              </a:ext>
            </a:extLst>
          </p:cNvPr>
          <p:cNvSpPr/>
          <p:nvPr/>
        </p:nvSpPr>
        <p:spPr>
          <a:xfrm>
            <a:off x="571958" y="234557"/>
            <a:ext cx="672823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187">
              <a:defRPr/>
            </a:pPr>
            <a:r>
              <a:rPr lang="en-US" altLang="ko-KR" sz="2400" b="1" dirty="0" smtClean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Python Language – A Glimpse</a:t>
            </a:r>
            <a:endParaRPr lang="en-US" altLang="ko-KR" sz="240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Samsung Sharp Sans Medium" pitchFamily="2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063176C-FCDA-4777-8E90-5921D55D5EF0}"/>
              </a:ext>
            </a:extLst>
          </p:cNvPr>
          <p:cNvGrpSpPr/>
          <p:nvPr/>
        </p:nvGrpSpPr>
        <p:grpSpPr>
          <a:xfrm>
            <a:off x="421005" y="1211617"/>
            <a:ext cx="5377160" cy="2583189"/>
            <a:chOff x="558800" y="3558012"/>
            <a:chExt cx="5377160" cy="2583189"/>
          </a:xfrm>
        </p:grpSpPr>
        <p:sp>
          <p:nvSpPr>
            <p:cNvPr id="33" name="모서리가 둥근 직사각형 4">
              <a:extLst>
                <a:ext uri="{FF2B5EF4-FFF2-40B4-BE49-F238E27FC236}">
                  <a16:creationId xmlns:a16="http://schemas.microsoft.com/office/drawing/2014/main" id="{2E90C470-0C1F-433F-AAE2-C5810D0482EE}"/>
                </a:ext>
              </a:extLst>
            </p:cNvPr>
            <p:cNvSpPr/>
            <p:nvPr/>
          </p:nvSpPr>
          <p:spPr>
            <a:xfrm>
              <a:off x="558800" y="3558012"/>
              <a:ext cx="5262578" cy="251481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95302" y="3845744"/>
              <a:ext cx="5340658" cy="2295457"/>
              <a:chOff x="456433" y="3397341"/>
              <a:chExt cx="4764630" cy="3146673"/>
            </a:xfrm>
          </p:grpSpPr>
          <p:graphicFrame>
            <p:nvGraphicFramePr>
              <p:cNvPr id="13" name="Chart 12"/>
              <p:cNvGraphicFramePr/>
              <p:nvPr/>
            </p:nvGraphicFramePr>
            <p:xfrm>
              <a:off x="529102" y="3397341"/>
              <a:ext cx="4691961" cy="3146673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4" name="TextBox 13"/>
              <p:cNvSpPr txBox="1"/>
              <p:nvPr/>
            </p:nvSpPr>
            <p:spPr>
              <a:xfrm>
                <a:off x="456433" y="3529942"/>
                <a:ext cx="793533" cy="4008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300" b="1" dirty="0">
                    <a:solidFill>
                      <a:srgbClr val="193EB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amsung Sharp Sans" pitchFamily="2" charset="0"/>
                  </a:rPr>
                  <a:t>Python</a:t>
                </a:r>
                <a:endParaRPr lang="ko-KR" altLang="en-US" sz="1300" b="1" dirty="0">
                  <a:solidFill>
                    <a:srgbClr val="193EB0"/>
                  </a:solidFill>
                  <a:latin typeface="Cambria" panose="02040503050406030204" pitchFamily="18" charset="0"/>
                  <a:cs typeface="Samsung Sharp Sans" pitchFamily="2" charset="0"/>
                </a:endParaRPr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1356995" y="3623817"/>
              <a:ext cx="394698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amsung Sharp Sans" pitchFamily="2" charset="0"/>
                </a:rPr>
                <a:t>&lt;Most loved languages in 2020&gt; </a:t>
              </a:r>
            </a:p>
          </p:txBody>
        </p:sp>
      </p:grpSp>
      <p:grpSp>
        <p:nvGrpSpPr>
          <p:cNvPr id="21" name="그룹 4">
            <a:extLst>
              <a:ext uri="{FF2B5EF4-FFF2-40B4-BE49-F238E27FC236}">
                <a16:creationId xmlns:a16="http://schemas.microsoft.com/office/drawing/2014/main" id="{52E51F03-B5AD-4BBC-ADD2-107850A3088A}"/>
              </a:ext>
            </a:extLst>
          </p:cNvPr>
          <p:cNvGrpSpPr/>
          <p:nvPr/>
        </p:nvGrpSpPr>
        <p:grpSpPr>
          <a:xfrm>
            <a:off x="466635" y="4823699"/>
            <a:ext cx="8699564" cy="1352242"/>
            <a:chOff x="449998" y="2727456"/>
            <a:chExt cx="8986954" cy="1114871"/>
          </a:xfrm>
        </p:grpSpPr>
        <p:sp>
          <p:nvSpPr>
            <p:cNvPr id="22" name="모서리가 둥근 직사각형 4">
              <a:extLst>
                <a:ext uri="{FF2B5EF4-FFF2-40B4-BE49-F238E27FC236}">
                  <a16:creationId xmlns:a16="http://schemas.microsoft.com/office/drawing/2014/main" id="{84BD5223-00C1-4B87-8B38-CE1A69887F75}"/>
                </a:ext>
              </a:extLst>
            </p:cNvPr>
            <p:cNvSpPr/>
            <p:nvPr/>
          </p:nvSpPr>
          <p:spPr>
            <a:xfrm>
              <a:off x="558800" y="2727456"/>
              <a:ext cx="8878152" cy="11148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34" name="그룹 2">
              <a:extLst>
                <a:ext uri="{FF2B5EF4-FFF2-40B4-BE49-F238E27FC236}">
                  <a16:creationId xmlns:a16="http://schemas.microsoft.com/office/drawing/2014/main" id="{9A4E8B6E-2D01-4072-B90F-9E649544EC5E}"/>
                </a:ext>
              </a:extLst>
            </p:cNvPr>
            <p:cNvGrpSpPr/>
            <p:nvPr/>
          </p:nvGrpSpPr>
          <p:grpSpPr>
            <a:xfrm>
              <a:off x="449998" y="2832720"/>
              <a:ext cx="8986954" cy="860685"/>
              <a:chOff x="449998" y="2851192"/>
              <a:chExt cx="8986954" cy="860685"/>
            </a:xfrm>
          </p:grpSpPr>
          <p:sp>
            <p:nvSpPr>
              <p:cNvPr id="35" name="Rectangle 20">
                <a:extLst>
                  <a:ext uri="{FF2B5EF4-FFF2-40B4-BE49-F238E27FC236}">
                    <a16:creationId xmlns:a16="http://schemas.microsoft.com/office/drawing/2014/main" id="{91FE4779-D477-4838-BFE9-29176E3E41FD}"/>
                  </a:ext>
                </a:extLst>
              </p:cNvPr>
              <p:cNvSpPr/>
              <p:nvPr/>
            </p:nvSpPr>
            <p:spPr>
              <a:xfrm>
                <a:off x="636349" y="2912633"/>
                <a:ext cx="1278091" cy="228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1200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amsung Sharp Sans" pitchFamily="2" charset="0"/>
                  </a:rPr>
                  <a:t>Python syntax</a:t>
                </a:r>
                <a:endParaRPr lang="ko-KR" altLang="en-US" sz="1200" dirty="0">
                  <a:solidFill>
                    <a:prstClr val="black"/>
                  </a:solidFill>
                  <a:latin typeface="Cambria" panose="02040503050406030204" pitchFamily="18" charset="0"/>
                  <a:cs typeface="Samsung Sharp Sans" pitchFamily="2" charset="0"/>
                </a:endParaRPr>
              </a:p>
            </p:txBody>
          </p:sp>
          <p:sp>
            <p:nvSpPr>
              <p:cNvPr id="36" name="Rectangle 22">
                <a:extLst>
                  <a:ext uri="{FF2B5EF4-FFF2-40B4-BE49-F238E27FC236}">
                    <a16:creationId xmlns:a16="http://schemas.microsoft.com/office/drawing/2014/main" id="{95491DF1-5613-4A76-91F4-F21BF3BEF6B1}"/>
                  </a:ext>
                </a:extLst>
              </p:cNvPr>
              <p:cNvSpPr/>
              <p:nvPr/>
            </p:nvSpPr>
            <p:spPr>
              <a:xfrm>
                <a:off x="449998" y="3401017"/>
                <a:ext cx="1464442" cy="228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ko-KR" sz="1200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amsung Sharp Sans" pitchFamily="2" charset="0"/>
                  </a:rPr>
                  <a:t>Interpreted</a:t>
                </a:r>
              </a:p>
            </p:txBody>
          </p:sp>
          <p:pic>
            <p:nvPicPr>
              <p:cNvPr id="37" name="Picture 3">
                <a:extLst>
                  <a:ext uri="{FF2B5EF4-FFF2-40B4-BE49-F238E27FC236}">
                    <a16:creationId xmlns:a16="http://schemas.microsoft.com/office/drawing/2014/main" id="{2F69E839-E6EB-4FB3-A292-859490F0DE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" r="15742" b="64915"/>
              <a:stretch/>
            </p:blipFill>
            <p:spPr>
              <a:xfrm>
                <a:off x="1883596" y="2851192"/>
                <a:ext cx="7553356" cy="381537"/>
              </a:xfrm>
              <a:prstGeom prst="rect">
                <a:avLst/>
              </a:prstGeom>
            </p:spPr>
          </p:pic>
          <p:pic>
            <p:nvPicPr>
              <p:cNvPr id="38" name="Picture 15">
                <a:extLst>
                  <a:ext uri="{FF2B5EF4-FFF2-40B4-BE49-F238E27FC236}">
                    <a16:creationId xmlns:a16="http://schemas.microsoft.com/office/drawing/2014/main" id="{18B4ACF0-017F-4AD8-82F3-EC832D1B3C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4112" r="15742" b="803"/>
              <a:stretch/>
            </p:blipFill>
            <p:spPr>
              <a:xfrm>
                <a:off x="1883596" y="3330340"/>
                <a:ext cx="7553356" cy="381537"/>
              </a:xfrm>
              <a:prstGeom prst="rect">
                <a:avLst/>
              </a:prstGeom>
            </p:spPr>
          </p:pic>
        </p:grpSp>
      </p:grpSp>
      <p:sp>
        <p:nvSpPr>
          <p:cNvPr id="39" name="Rectangle 2">
            <a:extLst>
              <a:ext uri="{FF2B5EF4-FFF2-40B4-BE49-F238E27FC236}">
                <a16:creationId xmlns:a16="http://schemas.microsoft.com/office/drawing/2014/main" id="{BFECFAE1-6EA3-4E50-AEE2-3866BFF77B4A}"/>
              </a:ext>
            </a:extLst>
          </p:cNvPr>
          <p:cNvSpPr/>
          <p:nvPr/>
        </p:nvSpPr>
        <p:spPr>
          <a:xfrm>
            <a:off x="538961" y="4402156"/>
            <a:ext cx="7745263" cy="30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800"/>
              </a:spcAft>
              <a:buClr>
                <a:srgbClr val="193EB0"/>
              </a:buClr>
            </a:pPr>
            <a:r>
              <a:rPr lang="en-US" altLang="ko-KR" sz="20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altLang="ko-KR" sz="2000" b="1" dirty="0" smtClean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ritten </a:t>
            </a:r>
            <a:r>
              <a:rPr lang="en-US" altLang="ko-KR" sz="20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 interpreted similarly as human’s everyday </a:t>
            </a:r>
            <a:r>
              <a:rPr lang="en-US" altLang="ko-KR" sz="2000" b="1" dirty="0" smtClean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language</a:t>
            </a:r>
            <a:endParaRPr lang="en-US" altLang="ko-KR" sz="1300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직사각형 22">
            <a:extLst>
              <a:ext uri="{FF2B5EF4-FFF2-40B4-BE49-F238E27FC236}">
                <a16:creationId xmlns:a16="http://schemas.microsoft.com/office/drawing/2014/main" id="{3CFBD0A3-C8DE-4A89-B830-36CA84D6A493}"/>
              </a:ext>
            </a:extLst>
          </p:cNvPr>
          <p:cNvSpPr/>
          <p:nvPr/>
        </p:nvSpPr>
        <p:spPr>
          <a:xfrm>
            <a:off x="7630477" y="1372942"/>
            <a:ext cx="4304348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altLang="ko-KR" sz="2400" b="1" dirty="0">
                <a:solidFill>
                  <a:prstClr val="black">
                    <a:lumMod val="95000"/>
                    <a:lumOff val="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" panose="020B0604020202020204" charset="0"/>
              </a:rPr>
              <a:t>What is Python used for?</a:t>
            </a:r>
          </a:p>
        </p:txBody>
      </p:sp>
      <p:grpSp>
        <p:nvGrpSpPr>
          <p:cNvPr id="46" name="그룹 2">
            <a:extLst>
              <a:ext uri="{FF2B5EF4-FFF2-40B4-BE49-F238E27FC236}">
                <a16:creationId xmlns:a16="http://schemas.microsoft.com/office/drawing/2014/main" id="{58287BC7-E06F-4219-AEF6-F2868A435F0E}"/>
              </a:ext>
            </a:extLst>
          </p:cNvPr>
          <p:cNvGrpSpPr/>
          <p:nvPr/>
        </p:nvGrpSpPr>
        <p:grpSpPr>
          <a:xfrm>
            <a:off x="6504485" y="1847538"/>
            <a:ext cx="5430340" cy="2259217"/>
            <a:chOff x="702478" y="2250897"/>
            <a:chExt cx="8656723" cy="3154926"/>
          </a:xfrm>
        </p:grpSpPr>
        <p:sp>
          <p:nvSpPr>
            <p:cNvPr id="47" name="Rectangle 7">
              <a:extLst>
                <a:ext uri="{FF2B5EF4-FFF2-40B4-BE49-F238E27FC236}">
                  <a16:creationId xmlns:a16="http://schemas.microsoft.com/office/drawing/2014/main" id="{792449E4-0FC1-4180-9344-5ABBBA84B0AE}"/>
                </a:ext>
              </a:extLst>
            </p:cNvPr>
            <p:cNvSpPr/>
            <p:nvPr/>
          </p:nvSpPr>
          <p:spPr>
            <a:xfrm>
              <a:off x="702478" y="4026771"/>
              <a:ext cx="2041744" cy="137905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93E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Automation</a:t>
              </a:r>
              <a:endParaRPr lang="en-US" altLang="ko-KR" sz="1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8" name="Rectangle 1">
              <a:extLst>
                <a:ext uri="{FF2B5EF4-FFF2-40B4-BE49-F238E27FC236}">
                  <a16:creationId xmlns:a16="http://schemas.microsoft.com/office/drawing/2014/main" id="{7CAE0057-D13B-4AE2-A11D-364A22DD3A56}"/>
                </a:ext>
              </a:extLst>
            </p:cNvPr>
            <p:cNvSpPr/>
            <p:nvPr/>
          </p:nvSpPr>
          <p:spPr>
            <a:xfrm>
              <a:off x="706454" y="2250900"/>
              <a:ext cx="2041746" cy="16288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93E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Artificial Intelligence 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&amp; 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Machine Learning</a:t>
              </a:r>
              <a:endParaRPr lang="ko-KR" altLang="en-US" sz="1400" dirty="0">
                <a:solidFill>
                  <a:prstClr val="black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49" name="Rectangle 6">
              <a:extLst>
                <a:ext uri="{FF2B5EF4-FFF2-40B4-BE49-F238E27FC236}">
                  <a16:creationId xmlns:a16="http://schemas.microsoft.com/office/drawing/2014/main" id="{9E36E816-B929-4EEC-BA49-E1C6ABABE41B}"/>
                </a:ext>
              </a:extLst>
            </p:cNvPr>
            <p:cNvSpPr/>
            <p:nvPr/>
          </p:nvSpPr>
          <p:spPr>
            <a:xfrm>
              <a:off x="2907851" y="2250900"/>
              <a:ext cx="2041746" cy="16288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93E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Data Science 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&amp; 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Data Visualization</a:t>
              </a:r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C10B2E2C-EFCE-48CB-9D95-090E66C96678}"/>
                </a:ext>
              </a:extLst>
            </p:cNvPr>
            <p:cNvSpPr/>
            <p:nvPr/>
          </p:nvSpPr>
          <p:spPr>
            <a:xfrm>
              <a:off x="5116057" y="2250897"/>
              <a:ext cx="2041746" cy="16288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93E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Web Development</a:t>
              </a:r>
            </a:p>
          </p:txBody>
        </p:sp>
        <p:sp>
          <p:nvSpPr>
            <p:cNvPr id="51" name="Rectangle 9">
              <a:extLst>
                <a:ext uri="{FF2B5EF4-FFF2-40B4-BE49-F238E27FC236}">
                  <a16:creationId xmlns:a16="http://schemas.microsoft.com/office/drawing/2014/main" id="{95D1B6B2-41EF-45AC-8A48-0010F622295B}"/>
                </a:ext>
              </a:extLst>
            </p:cNvPr>
            <p:cNvSpPr/>
            <p:nvPr/>
          </p:nvSpPr>
          <p:spPr>
            <a:xfrm>
              <a:off x="7317455" y="2250897"/>
              <a:ext cx="2041746" cy="16288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93E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Game Development</a:t>
              </a:r>
            </a:p>
          </p:txBody>
        </p:sp>
        <p:sp>
          <p:nvSpPr>
            <p:cNvPr id="52" name="Rectangle 11">
              <a:extLst>
                <a:ext uri="{FF2B5EF4-FFF2-40B4-BE49-F238E27FC236}">
                  <a16:creationId xmlns:a16="http://schemas.microsoft.com/office/drawing/2014/main" id="{7D226E2A-7D67-41D6-AEED-6181CFE85C5C}"/>
                </a:ext>
              </a:extLst>
            </p:cNvPr>
            <p:cNvSpPr/>
            <p:nvPr/>
          </p:nvSpPr>
          <p:spPr>
            <a:xfrm>
              <a:off x="2903879" y="4026770"/>
              <a:ext cx="2041744" cy="137905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93E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Software Testing and Prototyping</a:t>
              </a:r>
            </a:p>
          </p:txBody>
        </p:sp>
        <p:sp>
          <p:nvSpPr>
            <p:cNvPr id="53" name="Rectangle 12">
              <a:extLst>
                <a:ext uri="{FF2B5EF4-FFF2-40B4-BE49-F238E27FC236}">
                  <a16:creationId xmlns:a16="http://schemas.microsoft.com/office/drawing/2014/main" id="{B0B818D4-59AF-42EA-B6B4-250D2EDE8B22}"/>
                </a:ext>
              </a:extLst>
            </p:cNvPr>
            <p:cNvSpPr/>
            <p:nvPr/>
          </p:nvSpPr>
          <p:spPr>
            <a:xfrm>
              <a:off x="5112083" y="4026770"/>
              <a:ext cx="4243144" cy="137905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193E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Simplifying everyday tasks 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through </a:t>
              </a:r>
              <a:r>
                <a:rPr lang="en-US" altLang="ko-KR" sz="1400" dirty="0" smtClean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automation</a:t>
              </a:r>
              <a:endParaRPr lang="en-US" altLang="ko-KR" sz="1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54" name="Rectangle 53"/>
          <p:cNvSpPr/>
          <p:nvPr/>
        </p:nvSpPr>
        <p:spPr>
          <a:xfrm>
            <a:off x="530686" y="3779431"/>
            <a:ext cx="4635500" cy="316765"/>
          </a:xfrm>
          <a:prstGeom prst="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>
                <a:latin typeface="Cambria" panose="02040503050406030204" pitchFamily="18" charset="0"/>
                <a:ea typeface="Cambria" panose="02040503050406030204" pitchFamily="18" charset="0"/>
              </a:rPr>
              <a:t>https://insights.stackoverflow.com/survey/2020</a:t>
            </a:r>
          </a:p>
        </p:txBody>
      </p:sp>
    </p:spTree>
    <p:extLst>
      <p:ext uri="{BB962C8B-B14F-4D97-AF65-F5344CB8AC3E}">
        <p14:creationId xmlns:p14="http://schemas.microsoft.com/office/powerpoint/2010/main" val="363317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871BC1-EC10-49F0-95B5-44A5EE3FCE1A}"/>
              </a:ext>
            </a:extLst>
          </p:cNvPr>
          <p:cNvSpPr/>
          <p:nvPr/>
        </p:nvSpPr>
        <p:spPr>
          <a:xfrm>
            <a:off x="663324" y="254699"/>
            <a:ext cx="552217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187">
              <a:defRPr/>
            </a:pPr>
            <a:r>
              <a:rPr lang="en-US" altLang="ko-KR" sz="2400" b="1" dirty="0" smtClean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Why is Python so popular?</a:t>
            </a:r>
            <a:endParaRPr lang="en-US" altLang="ko-KR" sz="240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Samsung Sharp Sans Medium" pitchFamily="2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FBD0A3-C8DE-4A89-B830-36CA84D6A493}"/>
              </a:ext>
            </a:extLst>
          </p:cNvPr>
          <p:cNvSpPr/>
          <p:nvPr/>
        </p:nvSpPr>
        <p:spPr>
          <a:xfrm>
            <a:off x="1592998" y="1375101"/>
            <a:ext cx="9004986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altLang="ko-KR" sz="2800" b="1" dirty="0">
                <a:solidFill>
                  <a:prstClr val="black">
                    <a:lumMod val="95000"/>
                    <a:lumOff val="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" panose="020B0604020202020204" charset="0"/>
              </a:rPr>
              <a:t>Why is Python so popular?</a:t>
            </a:r>
          </a:p>
        </p:txBody>
      </p:sp>
      <p:sp>
        <p:nvSpPr>
          <p:cNvPr id="31" name="모서리가 둥근 직사각형 4">
            <a:extLst>
              <a:ext uri="{FF2B5EF4-FFF2-40B4-BE49-F238E27FC236}">
                <a16:creationId xmlns:a16="http://schemas.microsoft.com/office/drawing/2014/main" id="{9D50C790-3331-4472-94BA-1421F82E3B1F}"/>
              </a:ext>
            </a:extLst>
          </p:cNvPr>
          <p:cNvSpPr/>
          <p:nvPr/>
        </p:nvSpPr>
        <p:spPr>
          <a:xfrm>
            <a:off x="1701800" y="2941479"/>
            <a:ext cx="4635500" cy="23504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" pitchFamily="2" charset="0"/>
              </a:rPr>
              <a:t>Major companies that use Python</a:t>
            </a:r>
            <a:endParaRPr lang="ko-KR" altLang="en-US" sz="2000" dirty="0">
              <a:solidFill>
                <a:prstClr val="white"/>
              </a:solidFill>
              <a:latin typeface="Cambria" panose="02040503050406030204" pitchFamily="18" charset="0"/>
              <a:cs typeface="Samsung Sharp Sans" pitchFamily="2" charset="0"/>
            </a:endParaRPr>
          </a:p>
        </p:txBody>
      </p:sp>
      <p:pic>
        <p:nvPicPr>
          <p:cNvPr id="32" name="Picture 11">
            <a:extLst>
              <a:ext uri="{FF2B5EF4-FFF2-40B4-BE49-F238E27FC236}">
                <a16:creationId xmlns:a16="http://schemas.microsoft.com/office/drawing/2014/main" id="{6995C9D0-3F5C-4E80-9944-4E7037352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92"/>
          <a:stretch/>
        </p:blipFill>
        <p:spPr>
          <a:xfrm>
            <a:off x="1955302" y="3603976"/>
            <a:ext cx="4126358" cy="14728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1ABE18E-431B-4ECF-8688-9659B193F293}"/>
              </a:ext>
            </a:extLst>
          </p:cNvPr>
          <p:cNvSpPr txBox="1"/>
          <p:nvPr/>
        </p:nvSpPr>
        <p:spPr>
          <a:xfrm>
            <a:off x="1701799" y="3188689"/>
            <a:ext cx="4635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" pitchFamily="2" charset="0"/>
              </a:rPr>
              <a:t>&lt;Major companies that use Python&gt;</a:t>
            </a:r>
            <a:endParaRPr lang="ko-KR" altLang="en-US" sz="1600" dirty="0">
              <a:solidFill>
                <a:prstClr val="black"/>
              </a:solidFill>
              <a:latin typeface="Cambria" panose="02040503050406030204" pitchFamily="18" charset="0"/>
              <a:cs typeface="Samsung Sharp Sans" pitchFamily="2" charset="0"/>
            </a:endParaRP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79015BB6-0D07-454C-B1F8-5BBCEEB867C0}"/>
              </a:ext>
            </a:extLst>
          </p:cNvPr>
          <p:cNvSpPr/>
          <p:nvPr/>
        </p:nvSpPr>
        <p:spPr>
          <a:xfrm>
            <a:off x="6994713" y="2922152"/>
            <a:ext cx="4172102" cy="183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4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Google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altLang="ko-KR" sz="1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enhance its search engine capabilities.</a:t>
            </a:r>
          </a:p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4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Netflix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ko-KR" sz="1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 movies, TV </a:t>
            </a:r>
            <a:r>
              <a:rPr lang="en-US" altLang="ko-KR" sz="1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shows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4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Instagram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ko-KR" sz="1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personalize the explore section for users.</a:t>
            </a:r>
          </a:p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4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Spotify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ko-KR" sz="1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personalized music </a:t>
            </a:r>
            <a:r>
              <a:rPr lang="en-US" altLang="ko-KR" sz="1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recommendation</a:t>
            </a:r>
          </a:p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400" b="1" dirty="0" err="1" smtClean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Reddit</a:t>
            </a:r>
            <a:r>
              <a:rPr lang="en-US" altLang="ko-KR" sz="1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for web development to simplify the Q&amp;A sections.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FECFAE1-6EA3-4E50-AEE2-3866BFF77B4A}"/>
              </a:ext>
            </a:extLst>
          </p:cNvPr>
          <p:cNvSpPr/>
          <p:nvPr/>
        </p:nvSpPr>
        <p:spPr>
          <a:xfrm>
            <a:off x="1701799" y="2019420"/>
            <a:ext cx="8818635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26" indent="-182526">
              <a:lnSpc>
                <a:spcPts val="1600"/>
              </a:lnSpc>
              <a:spcAft>
                <a:spcPts val="8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6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Educational fields</a:t>
            </a:r>
          </a:p>
          <a:p>
            <a:pPr marL="182526" indent="-182526">
              <a:lnSpc>
                <a:spcPts val="1600"/>
              </a:lnSpc>
              <a:spcAft>
                <a:spcPts val="8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600" b="1" dirty="0" smtClean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Professional </a:t>
            </a:r>
            <a:r>
              <a:rPr lang="en-US" altLang="ko-KR" sz="16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workplaces</a:t>
            </a:r>
            <a:r>
              <a:rPr lang="en-US" altLang="ko-KR" sz="1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altLang="ko-KR" sz="1600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01800" y="5365140"/>
            <a:ext cx="4635500" cy="316765"/>
          </a:xfrm>
          <a:prstGeom prst="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>
                <a:latin typeface="Cambria" panose="02040503050406030204" pitchFamily="18" charset="0"/>
                <a:ea typeface="Cambria" panose="02040503050406030204" pitchFamily="18" charset="0"/>
              </a:rPr>
              <a:t>https://www.botreetechnologies.com/blog/pros-and-cons-of-python/</a:t>
            </a:r>
          </a:p>
        </p:txBody>
      </p:sp>
    </p:spTree>
    <p:extLst>
      <p:ext uri="{BB962C8B-B14F-4D97-AF65-F5344CB8AC3E}">
        <p14:creationId xmlns:p14="http://schemas.microsoft.com/office/powerpoint/2010/main" val="133802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FBD0A3-C8DE-4A89-B830-36CA84D6A493}"/>
              </a:ext>
            </a:extLst>
          </p:cNvPr>
          <p:cNvSpPr/>
          <p:nvPr/>
        </p:nvSpPr>
        <p:spPr>
          <a:xfrm>
            <a:off x="1592998" y="1375101"/>
            <a:ext cx="900498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altLang="ko-KR" sz="2400" b="1" dirty="0">
                <a:solidFill>
                  <a:prstClr val="black">
                    <a:lumMod val="95000"/>
                    <a:lumOff val="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" panose="020B0604020202020204" charset="0"/>
              </a:rPr>
              <a:t>Why is Python so popular?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4C75EA-27F2-4333-962B-967D2002AACD}"/>
              </a:ext>
            </a:extLst>
          </p:cNvPr>
          <p:cNvGrpSpPr/>
          <p:nvPr/>
        </p:nvGrpSpPr>
        <p:grpSpPr>
          <a:xfrm>
            <a:off x="1702818" y="1898240"/>
            <a:ext cx="8895167" cy="838910"/>
            <a:chOff x="559817" y="1898240"/>
            <a:chExt cx="8895167" cy="83891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CDA6AF52-5450-41B2-80BD-0EE4D7B078B2}"/>
                </a:ext>
              </a:extLst>
            </p:cNvPr>
            <p:cNvGrpSpPr/>
            <p:nvPr/>
          </p:nvGrpSpPr>
          <p:grpSpPr>
            <a:xfrm>
              <a:off x="559817" y="1898240"/>
              <a:ext cx="8786365" cy="205184"/>
              <a:chOff x="1027113" y="2045621"/>
              <a:chExt cx="8788399" cy="205231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13C249E6-76FF-4833-BC41-AE8C0C8F9375}"/>
                  </a:ext>
                </a:extLst>
              </p:cNvPr>
              <p:cNvSpPr/>
              <p:nvPr/>
            </p:nvSpPr>
            <p:spPr>
              <a:xfrm>
                <a:off x="1027113" y="2056995"/>
                <a:ext cx="36000" cy="180000"/>
              </a:xfrm>
              <a:prstGeom prst="rect">
                <a:avLst/>
              </a:prstGeom>
              <a:solidFill>
                <a:srgbClr val="193E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0BE9A337-B0E8-4F70-8B64-02EB3EFF0785}"/>
                  </a:ext>
                </a:extLst>
              </p:cNvPr>
              <p:cNvSpPr/>
              <p:nvPr/>
            </p:nvSpPr>
            <p:spPr>
              <a:xfrm>
                <a:off x="1179512" y="2045621"/>
                <a:ext cx="8636000" cy="2052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spAutoFit/>
                <a:scene3d>
                  <a:camera prst="orthographicFront"/>
                  <a:lightRig rig="threePt" dir="t"/>
                </a:scene3d>
                <a:sp3d>
                  <a:bevelT w="0" h="6350"/>
                </a:sp3d>
              </a:bodyPr>
              <a:lstStyle/>
              <a:p>
                <a:pPr>
                  <a:lnSpc>
                    <a:spcPts val="1600"/>
                  </a:lnSpc>
                  <a:buClr>
                    <a:srgbClr val="193EB0"/>
                  </a:buClr>
                </a:pPr>
                <a:r>
                  <a:rPr lang="en-US" altLang="ko-KR" sz="1300" b="1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Many industries use Python as it offers open-source libraries that contain built-in modules.</a:t>
                </a:r>
              </a:p>
            </p:txBody>
          </p:sp>
        </p:grpSp>
        <p:sp>
          <p:nvSpPr>
            <p:cNvPr id="21" name="Rectangle 2">
              <a:extLst>
                <a:ext uri="{FF2B5EF4-FFF2-40B4-BE49-F238E27FC236}">
                  <a16:creationId xmlns:a16="http://schemas.microsoft.com/office/drawing/2014/main" id="{BFECFAE1-6EA3-4E50-AEE2-3866BFF77B4A}"/>
                </a:ext>
              </a:extLst>
            </p:cNvPr>
            <p:cNvSpPr/>
            <p:nvPr/>
          </p:nvSpPr>
          <p:spPr>
            <a:xfrm>
              <a:off x="636349" y="2157504"/>
              <a:ext cx="8818635" cy="5796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2526" indent="-182526">
                <a:lnSpc>
                  <a:spcPts val="1600"/>
                </a:lnSpc>
                <a:spcAft>
                  <a:spcPts val="600"/>
                </a:spcAft>
                <a:buClr>
                  <a:srgbClr val="193EB0"/>
                </a:buClr>
                <a:buFont typeface="SamsungOne 400" panose="020B0503030303020204" pitchFamily="34" charset="0"/>
                <a:buChar char="‣"/>
              </a:pP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Python includes </a:t>
              </a:r>
              <a:r>
                <a:rPr lang="en-US" altLang="ko-KR" sz="1300" b="1" dirty="0">
                  <a:solidFill>
                    <a:srgbClr val="245DCA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various </a:t>
              </a:r>
              <a:r>
                <a:rPr lang="en-US" altLang="ko-KR" sz="1300" b="1" dirty="0" smtClean="0">
                  <a:solidFill>
                    <a:srgbClr val="245DCA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libraries</a:t>
              </a: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altLang="ko-KR" sz="13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such </a:t>
              </a: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as pandas, </a:t>
              </a:r>
              <a:r>
                <a:rPr lang="en-US" altLang="ko-KR" sz="1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NumPy</a:t>
              </a: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</a:t>
              </a:r>
              <a:r>
                <a:rPr lang="en-US" altLang="ko-KR" sz="1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SciPy</a:t>
              </a: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</a:t>
              </a:r>
              <a:r>
                <a:rPr lang="en-US" altLang="ko-KR" sz="1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Matplotlib</a:t>
              </a: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</a:t>
              </a:r>
              <a:r>
                <a:rPr lang="en-US" altLang="ko-KR" sz="1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TensorFlow</a:t>
              </a: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and </a:t>
              </a:r>
              <a:r>
                <a:rPr lang="en-US" altLang="ko-KR" sz="1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Keras</a:t>
              </a: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</a:t>
              </a:r>
              <a:endPara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182526" indent="-182526">
                <a:lnSpc>
                  <a:spcPts val="1600"/>
                </a:lnSpc>
                <a:spcAft>
                  <a:spcPts val="600"/>
                </a:spcAft>
                <a:buClr>
                  <a:srgbClr val="193EB0"/>
                </a:buClr>
                <a:buFont typeface="SamsungOne 400" panose="020B0503030303020204" pitchFamily="34" charset="0"/>
                <a:buChar char="‣"/>
              </a:pP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</a:t>
              </a:r>
              <a:r>
                <a:rPr lang="en-US" altLang="ko-KR" sz="13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xtensively </a:t>
              </a:r>
              <a:r>
                <a:rPr lang="en-US" altLang="ko-KR" sz="1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used in different fields like web development, data analytics, and artificial intelligence.</a:t>
              </a:r>
            </a:p>
          </p:txBody>
        </p:sp>
      </p:grpSp>
      <p:sp>
        <p:nvSpPr>
          <p:cNvPr id="31" name="모서리가 둥근 직사각형 4">
            <a:extLst>
              <a:ext uri="{FF2B5EF4-FFF2-40B4-BE49-F238E27FC236}">
                <a16:creationId xmlns:a16="http://schemas.microsoft.com/office/drawing/2014/main" id="{9D50C790-3331-4472-94BA-1421F82E3B1F}"/>
              </a:ext>
            </a:extLst>
          </p:cNvPr>
          <p:cNvSpPr/>
          <p:nvPr/>
        </p:nvSpPr>
        <p:spPr>
          <a:xfrm>
            <a:off x="1701800" y="2742579"/>
            <a:ext cx="4132056" cy="31186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" pitchFamily="2" charset="0"/>
              </a:rPr>
              <a:t>Major companies that use Python</a:t>
            </a:r>
            <a:endParaRPr lang="ko-KR" altLang="en-US" dirty="0">
              <a:solidFill>
                <a:prstClr val="white"/>
              </a:solidFill>
              <a:latin typeface="Cambria" panose="02040503050406030204" pitchFamily="18" charset="0"/>
              <a:cs typeface="Samsung Sharp Sans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ABE18E-431B-4ECF-8688-9659B193F293}"/>
              </a:ext>
            </a:extLst>
          </p:cNvPr>
          <p:cNvSpPr txBox="1"/>
          <p:nvPr/>
        </p:nvSpPr>
        <p:spPr>
          <a:xfrm>
            <a:off x="1701800" y="2989789"/>
            <a:ext cx="41320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" pitchFamily="2" charset="0"/>
              </a:rPr>
              <a:t>&lt;Python libraries&gt;</a:t>
            </a:r>
            <a:endParaRPr lang="ko-KR" altLang="en-US" sz="1400" dirty="0">
              <a:solidFill>
                <a:prstClr val="black"/>
              </a:solidFill>
              <a:latin typeface="Cambria" panose="02040503050406030204" pitchFamily="18" charset="0"/>
              <a:cs typeface="Samsung Sharp Sans" pitchFamily="2" charset="0"/>
            </a:endParaRP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79015BB6-0D07-454C-B1F8-5BBCEEB867C0}"/>
              </a:ext>
            </a:extLst>
          </p:cNvPr>
          <p:cNvSpPr/>
          <p:nvPr/>
        </p:nvSpPr>
        <p:spPr>
          <a:xfrm>
            <a:off x="6483722" y="2939802"/>
            <a:ext cx="5708278" cy="340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300" b="1" dirty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US" altLang="ko-KR" sz="1300" b="1" dirty="0" smtClean="0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andas</a:t>
            </a: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742950" lvl="1" indent="-285750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Used 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data manipulation and </a:t>
            </a: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</a:p>
          <a:p>
            <a:pPr marL="742950" lvl="1" indent="-285750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Particularly 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featuring numerical tables and time series operation.</a:t>
            </a:r>
          </a:p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300" b="1" dirty="0" err="1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altLang="ko-KR" sz="1300" dirty="0" smtClean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upports 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large, multi-dimensional arrays and matrices, </a:t>
            </a:r>
            <a:endParaRPr lang="en-US" altLang="ko-KR" sz="1300" dirty="0" smtClean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Collection 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high-level mathematical functions.</a:t>
            </a:r>
          </a:p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300" b="1" dirty="0" err="1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TensorFlow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altLang="ko-KR" sz="1300" dirty="0" smtClean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Based 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 dataflow and differential programming, </a:t>
            </a:r>
            <a:endParaRPr lang="en-US" altLang="ko-KR" sz="1300" dirty="0" smtClean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Focuses 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 deep neural networks for machine learning.</a:t>
            </a:r>
          </a:p>
          <a:p>
            <a:pPr marL="182526" indent="-182526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SamsungOne 400" panose="020B0503030303020204" pitchFamily="34" charset="0"/>
              <a:buChar char="‣"/>
            </a:pPr>
            <a:r>
              <a:rPr lang="en-US" altLang="ko-KR" sz="1300" b="1" dirty="0" err="1">
                <a:solidFill>
                  <a:srgbClr val="245DC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Keras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altLang="ko-KR" sz="1300" dirty="0" smtClean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Provides 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interface for artificial neural networks </a:t>
            </a:r>
            <a:endParaRPr lang="en-US" altLang="ko-KR" sz="1300" dirty="0" smtClean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lnSpc>
                <a:spcPts val="1600"/>
              </a:lnSpc>
              <a:spcAft>
                <a:spcPts val="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r>
              <a:rPr lang="en-US" altLang="ko-KR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Focus </a:t>
            </a:r>
            <a:r>
              <a:rPr lang="en-US" altLang="ko-KR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 enabling fast experimentation.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8044" t="711" r="11648" b="876"/>
          <a:stretch/>
        </p:blipFill>
        <p:spPr>
          <a:xfrm>
            <a:off x="2072340" y="3269545"/>
            <a:ext cx="3390974" cy="258235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92998" y="5874060"/>
            <a:ext cx="4480142" cy="316765"/>
          </a:xfrm>
          <a:prstGeom prst="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>
                <a:latin typeface="Cambria" panose="02040503050406030204" pitchFamily="18" charset="0"/>
                <a:ea typeface="Cambria" panose="02040503050406030204" pitchFamily="18" charset="0"/>
              </a:rPr>
              <a:t>https://light-it.net/blog/top-10-python-libraries-for-machine-learning/</a:t>
            </a:r>
          </a:p>
        </p:txBody>
      </p:sp>
      <p:sp>
        <p:nvSpPr>
          <p:cNvPr id="18" name="직사각형 16">
            <a:extLst>
              <a:ext uri="{FF2B5EF4-FFF2-40B4-BE49-F238E27FC236}">
                <a16:creationId xmlns:a16="http://schemas.microsoft.com/office/drawing/2014/main" id="{47871BC1-EC10-49F0-95B5-44A5EE3FCE1A}"/>
              </a:ext>
            </a:extLst>
          </p:cNvPr>
          <p:cNvSpPr/>
          <p:nvPr/>
        </p:nvSpPr>
        <p:spPr>
          <a:xfrm>
            <a:off x="666492" y="250787"/>
            <a:ext cx="552217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187">
              <a:defRPr/>
            </a:pPr>
            <a:r>
              <a:rPr lang="en-US" altLang="ko-KR" sz="2400" b="1" dirty="0" smtClean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Why is Python so popular?</a:t>
            </a:r>
            <a:endParaRPr lang="en-US" altLang="ko-KR" sz="240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Samsung Sharp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51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-2260336" y="77994"/>
            <a:ext cx="10515600" cy="1463040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                     </a:t>
            </a:r>
            <a:r>
              <a:rPr lang="en-IN" sz="24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Python Career Opportunities</a:t>
            </a:r>
            <a:r>
              <a:rPr lang="en-IN" b="1" dirty="0" smtClean="0"/>
              <a:t/>
            </a:r>
            <a:br>
              <a:rPr lang="en-IN" b="1" dirty="0" smtClean="0"/>
            </a:br>
            <a:endParaRPr lang="en-IN" dirty="0"/>
          </a:p>
        </p:txBody>
      </p:sp>
      <p:pic>
        <p:nvPicPr>
          <p:cNvPr id="3" name="Content Placeholder 2" descr="PythonApplications -Python Career Opurtunity-Edureka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62"/>
          <a:stretch/>
        </p:blipFill>
        <p:spPr>
          <a:xfrm>
            <a:off x="825764" y="4163292"/>
            <a:ext cx="4641676" cy="2097347"/>
          </a:xfrm>
          <a:prstGeom prst="rect">
            <a:avLst/>
          </a:prstGeom>
        </p:spPr>
      </p:pic>
      <p:sp>
        <p:nvSpPr>
          <p:cNvPr id="4" name="Rectangle 6"/>
          <p:cNvSpPr/>
          <p:nvPr/>
        </p:nvSpPr>
        <p:spPr>
          <a:xfrm>
            <a:off x="139336" y="1175653"/>
            <a:ext cx="10490564" cy="26776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 dirty="0" smtClean="0">
                <a:solidFill>
                  <a:srgbClr val="4A4A4A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         Python </a:t>
            </a:r>
            <a:r>
              <a:rPr lang="en-IN" sz="1800" b="1" i="0" u="none" strike="noStrike" kern="1200" cap="none" spc="0" baseline="0" dirty="0">
                <a:solidFill>
                  <a:srgbClr val="4A4A4A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Job Profiles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Software Engineer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Python Developer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Research Analyst 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Data Analyst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Data Scientist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Software Developer</a:t>
            </a: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kern="0" dirty="0">
              <a:solidFill>
                <a:srgbClr val="ED7D31"/>
              </a:solidFill>
              <a:latin typeface="Open Sans"/>
            </a:endParaRP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ED7D31"/>
              </a:solidFill>
              <a:uFillTx/>
              <a:latin typeface="Open Sans"/>
            </a:endParaRPr>
          </a:p>
        </p:txBody>
      </p:sp>
      <p:pic>
        <p:nvPicPr>
          <p:cNvPr id="5" name="Picture 4" descr="Why Python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8861" y="1096523"/>
            <a:ext cx="5274044" cy="24414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angle 7"/>
          <p:cNvSpPr/>
          <p:nvPr/>
        </p:nvSpPr>
        <p:spPr>
          <a:xfrm>
            <a:off x="243252" y="3626857"/>
            <a:ext cx="78192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Python is finding its application in diverse domains, as illustrated below</a:t>
            </a:r>
            <a:endParaRPr lang="en-IN" sz="1400" dirty="0">
              <a:solidFill>
                <a:srgbClr val="ED7D3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10" descr="https://data-flair.training/blogs/wp-content/uploads/sites/2/2018/02/Top-Companies-using-Python-01.jp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02758" y="3590839"/>
            <a:ext cx="3827142" cy="272025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1214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955434" y="2678523"/>
            <a:ext cx="3698086" cy="113832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7351" y="1277185"/>
            <a:ext cx="2962275" cy="15430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56635" y="1753427"/>
            <a:ext cx="668070" cy="6193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40010" y="1581434"/>
            <a:ext cx="945639" cy="945639"/>
          </a:xfrm>
          <a:prstGeom prst="rect">
            <a:avLst/>
          </a:prstGeom>
        </p:spPr>
      </p:pic>
      <p:sp>
        <p:nvSpPr>
          <p:cNvPr id="4" name="Rectangle 6"/>
          <p:cNvSpPr/>
          <p:nvPr/>
        </p:nvSpPr>
        <p:spPr>
          <a:xfrm>
            <a:off x="139336" y="1175653"/>
            <a:ext cx="10490564" cy="23852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 dirty="0" smtClean="0">
                <a:solidFill>
                  <a:srgbClr val="4A4A4A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         Python Websites</a:t>
            </a:r>
            <a:endParaRPr lang="en-IN" sz="1800" b="1" i="0" u="none" strike="noStrike" kern="1200" cap="none" spc="0" baseline="0" dirty="0">
              <a:solidFill>
                <a:srgbClr val="4A4A4A"/>
              </a:solidFill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IN" sz="1400" b="0" i="0" u="none" strike="noStrike" kern="1200" cap="none" spc="0" baseline="0" dirty="0" err="1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Youtube</a:t>
            </a:r>
            <a:endParaRPr lang="en-IN" sz="1400" b="0" i="0" u="none" strike="noStrike" kern="1200" cap="none" spc="0" baseline="0" dirty="0" smtClean="0">
              <a:solidFill>
                <a:srgbClr val="4472C4"/>
              </a:solidFill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Instagram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Spotify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Dropbox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IN" sz="1400" b="0" i="0" u="none" strike="noStrike" kern="1200" cap="none" spc="0" baseline="0" dirty="0" err="1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Pintrest</a:t>
            </a:r>
            <a:endParaRPr lang="en-IN" sz="1400" b="0" i="0" u="none" strike="noStrike" kern="1200" cap="none" spc="0" baseline="0" dirty="0" smtClean="0">
              <a:solidFill>
                <a:srgbClr val="4472C4"/>
              </a:solidFill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kern="0" dirty="0">
              <a:solidFill>
                <a:srgbClr val="ED7D31"/>
              </a:solidFill>
              <a:latin typeface="Open Sans"/>
            </a:endParaRP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ED7D31"/>
              </a:solidFill>
              <a:uFillTx/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7704" y="3848363"/>
            <a:ext cx="78192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Python </a:t>
            </a:r>
            <a:r>
              <a:rPr lang="en-IN" sz="14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frameworks for web development</a:t>
            </a:r>
            <a:endParaRPr lang="en-IN" sz="1400" dirty="0">
              <a:solidFill>
                <a:srgbClr val="ED7D3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13150" y="1599109"/>
            <a:ext cx="1855928" cy="92796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559" y="1611102"/>
            <a:ext cx="1017732" cy="1017732"/>
          </a:xfrm>
          <a:prstGeom prst="rect">
            <a:avLst/>
          </a:prstGeom>
        </p:spPr>
      </p:pic>
      <p:sp>
        <p:nvSpPr>
          <p:cNvPr id="19" name="AutoShape 14" descr="Backend Icons - Free SVG &amp; PNG Backend Images - Noun Project"/>
          <p:cNvSpPr>
            <a:spLocks noChangeAspect="1" noChangeArrowheads="1"/>
          </p:cNvSpPr>
          <p:nvPr/>
        </p:nvSpPr>
        <p:spPr bwMode="auto">
          <a:xfrm>
            <a:off x="8590691" y="4393303"/>
            <a:ext cx="140827" cy="14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40" name="Picture 16" descr="Page 2 | Backend Icon Images - Free Download on Freepik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626" y="1638645"/>
            <a:ext cx="990189" cy="99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8376874" y="2678523"/>
            <a:ext cx="104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Frontend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9894789" y="2678523"/>
            <a:ext cx="97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Backend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366559" y="2987376"/>
            <a:ext cx="111921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 smtClean="0"/>
              <a:t>React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 smtClean="0"/>
              <a:t>Angular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 smtClean="0"/>
              <a:t>VUE</a:t>
            </a:r>
            <a:endParaRPr lang="en-IN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9859626" y="3131175"/>
            <a:ext cx="15872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 smtClean="0"/>
              <a:t>DJANGO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 smtClean="0"/>
              <a:t>ASP.NET Core</a:t>
            </a:r>
            <a:endParaRPr lang="en-IN" sz="16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547" y="4568547"/>
            <a:ext cx="2301534" cy="131765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7092" y="4565650"/>
            <a:ext cx="2801708" cy="160401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3811" y="4565650"/>
            <a:ext cx="2927707" cy="1676147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6529" y="4550725"/>
            <a:ext cx="2697798" cy="1544521"/>
          </a:xfrm>
          <a:prstGeom prst="rect">
            <a:avLst/>
          </a:prstGeom>
        </p:spPr>
      </p:pic>
      <p:sp>
        <p:nvSpPr>
          <p:cNvPr id="35" name="Title 1"/>
          <p:cNvSpPr txBox="1">
            <a:spLocks/>
          </p:cNvSpPr>
          <p:nvPr/>
        </p:nvSpPr>
        <p:spPr>
          <a:xfrm>
            <a:off x="-2260336" y="77994"/>
            <a:ext cx="10515600" cy="1463040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                     </a:t>
            </a:r>
            <a:r>
              <a:rPr lang="en-IN" sz="24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Python </a:t>
            </a:r>
            <a:r>
              <a:rPr lang="en-IN" sz="2400" b="1" dirty="0" smtClean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For Web Development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76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139336" y="1175653"/>
            <a:ext cx="4320904" cy="23852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 dirty="0" smtClean="0">
                <a:solidFill>
                  <a:srgbClr val="4A4A4A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         Companies using</a:t>
            </a:r>
            <a:r>
              <a:rPr lang="en-IN" sz="1800" b="1" i="0" u="none" strike="noStrike" kern="1200" cap="none" spc="0" dirty="0" smtClean="0">
                <a:solidFill>
                  <a:srgbClr val="4A4A4A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800" b="1" i="0" u="none" strike="noStrike" kern="1200" cap="none" spc="0" baseline="0" dirty="0" smtClean="0">
                <a:solidFill>
                  <a:srgbClr val="4A4A4A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Python for ML</a:t>
            </a:r>
            <a:endParaRPr lang="en-IN" sz="1800" b="1" i="0" u="none" strike="noStrike" kern="1200" cap="none" spc="0" baseline="0" dirty="0">
              <a:solidFill>
                <a:srgbClr val="4A4A4A"/>
              </a:solidFill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Google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Meta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Netflix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Amazon</a:t>
            </a:r>
          </a:p>
          <a:p>
            <a:pPr marL="536575" marR="0" lvl="0" algn="just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b="0" i="0" u="none" strike="noStrike" kern="1200" cap="none" spc="0" baseline="0" dirty="0" smtClean="0">
                <a:solidFill>
                  <a:srgbClr val="4472C4"/>
                </a:solidFill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 Uber</a:t>
            </a: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kern="0" dirty="0">
              <a:solidFill>
                <a:srgbClr val="ED7D31"/>
              </a:solidFill>
              <a:latin typeface="Open Sans"/>
            </a:endParaRP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ED7D31"/>
              </a:solidFill>
              <a:uFillTx/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7704" y="3848363"/>
            <a:ext cx="78192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Python </a:t>
            </a:r>
            <a:r>
              <a:rPr lang="en-IN" sz="14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libraries used for ML </a:t>
            </a:r>
            <a:endParaRPr lang="en-IN" sz="1400" dirty="0">
              <a:solidFill>
                <a:srgbClr val="ED7D3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AutoShape 14" descr="Backend Icons - Free SVG &amp; PNG Backend Images - Noun Project"/>
          <p:cNvSpPr>
            <a:spLocks noChangeAspect="1" noChangeArrowheads="1"/>
          </p:cNvSpPr>
          <p:nvPr/>
        </p:nvSpPr>
        <p:spPr bwMode="auto">
          <a:xfrm>
            <a:off x="8590691" y="4393303"/>
            <a:ext cx="140827" cy="14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-2260336" y="77994"/>
            <a:ext cx="10515600" cy="1463040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/>
              <a:t>                     </a:t>
            </a:r>
            <a:r>
              <a:rPr lang="en-IN" sz="24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Python </a:t>
            </a:r>
            <a:r>
              <a:rPr lang="en-IN" sz="2400" b="1" dirty="0" smtClean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Samsung Sharp Sans Medium" pitchFamily="2" charset="0"/>
              </a:rPr>
              <a:t>For Machine Learning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73219" y="1899311"/>
            <a:ext cx="773738" cy="7737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05941" y="1989789"/>
            <a:ext cx="1022334" cy="5725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69001" y="1684438"/>
            <a:ext cx="1198135" cy="12034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31644" y="2165435"/>
            <a:ext cx="1319644" cy="39686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47027" y="1989789"/>
            <a:ext cx="1265607" cy="742950"/>
          </a:xfrm>
          <a:prstGeom prst="rect">
            <a:avLst/>
          </a:prstGeom>
        </p:spPr>
      </p:pic>
      <p:pic>
        <p:nvPicPr>
          <p:cNvPr id="2062" name="Picture 14" descr="https://media.geeksforgeeks.org/wp-content/uploads/image5-1.jpe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04" y="4200202"/>
            <a:ext cx="2587576" cy="145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https://media.geeksforgeeks.org/wp-content/uploads/image7-1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128" y="4766107"/>
            <a:ext cx="14287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4227" y="4818494"/>
            <a:ext cx="2000250" cy="666750"/>
          </a:xfrm>
          <a:prstGeom prst="rect">
            <a:avLst/>
          </a:prstGeom>
        </p:spPr>
      </p:pic>
      <p:pic>
        <p:nvPicPr>
          <p:cNvPr id="2066" name="Picture 18" descr="https://media.geeksforgeeks.org/wp-content/uploads/image10-2-300x181.jpg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826" y="4534130"/>
            <a:ext cx="1844309" cy="111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https://media.geeksforgeeks.org/wp-content/uploads/image6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665" y="4708958"/>
            <a:ext cx="25527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42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3581</TotalTime>
  <Words>826</Words>
  <Application>Microsoft Office PowerPoint</Application>
  <PresentationFormat>Widescreen</PresentationFormat>
  <Paragraphs>168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7" baseType="lpstr">
      <vt:lpstr>Malgun Gothic</vt:lpstr>
      <vt:lpstr>Malgun Gothic</vt:lpstr>
      <vt:lpstr>Arial</vt:lpstr>
      <vt:lpstr>Arial Unicode MS</vt:lpstr>
      <vt:lpstr>Calibri</vt:lpstr>
      <vt:lpstr>Calibri Light</vt:lpstr>
      <vt:lpstr>Cambria</vt:lpstr>
      <vt:lpstr>KoPub돋움체 Medium</vt:lpstr>
      <vt:lpstr>Open Sans</vt:lpstr>
      <vt:lpstr>Samsung Sharp Sans</vt:lpstr>
      <vt:lpstr>Samsung Sharp Sans Bold</vt:lpstr>
      <vt:lpstr>Samsung Sharp Sans Medium</vt:lpstr>
      <vt:lpstr>SamsungOne 400</vt:lpstr>
      <vt:lpstr>SamsungOne 500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CHANDRA SEKHAR REDDY/Talent Development &amp; Acquisition Group /SRI-Bangalore/Senior Professional/Samsung Electronics</dc:creator>
  <cp:lastModifiedBy>Akil Bashir Wani/Data Sourcing /SRI-Bangalore/Associate/Samsung Electronics</cp:lastModifiedBy>
  <cp:revision>258</cp:revision>
  <dcterms:created xsi:type="dcterms:W3CDTF">2023-01-11T16:46:57Z</dcterms:created>
  <dcterms:modified xsi:type="dcterms:W3CDTF">2023-03-16T10:48:04Z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