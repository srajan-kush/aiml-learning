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2951" cy="142535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82471" y="3120917"/>
            <a:ext cx="6882130" cy="139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jpg"/><Relationship Id="rId8" Type="http://schemas.openxmlformats.org/officeDocument/2006/relationships/image" Target="../media/image3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6.jpg"/><Relationship Id="rId8" Type="http://schemas.openxmlformats.org/officeDocument/2006/relationships/image" Target="../media/image3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8.jpg"/><Relationship Id="rId8" Type="http://schemas.openxmlformats.org/officeDocument/2006/relationships/image" Target="../media/image34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2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5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jpg"/><Relationship Id="rId10" Type="http://schemas.openxmlformats.org/officeDocument/2006/relationships/hyperlink" Target="http://www.quora.com/Is-there-any-diagram-or-tree-of-all-fields-of-mathematics-or-mathematics-evolution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image" Target="../media/image75.pn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png"/><Relationship Id="rId25" Type="http://schemas.openxmlformats.org/officeDocument/2006/relationships/image" Target="../media/image80.png"/><Relationship Id="rId26" Type="http://schemas.openxmlformats.org/officeDocument/2006/relationships/image" Target="../media/image81.png"/><Relationship Id="rId27" Type="http://schemas.openxmlformats.org/officeDocument/2006/relationships/image" Target="../media/image82.png"/><Relationship Id="rId28" Type="http://schemas.openxmlformats.org/officeDocument/2006/relationships/image" Target="../media/image83.png"/><Relationship Id="rId29" Type="http://schemas.openxmlformats.org/officeDocument/2006/relationships/image" Target="../media/image84.png"/><Relationship Id="rId30" Type="http://schemas.openxmlformats.org/officeDocument/2006/relationships/image" Target="../media/image85.png"/><Relationship Id="rId31" Type="http://schemas.openxmlformats.org/officeDocument/2006/relationships/image" Target="../media/image86.png"/><Relationship Id="rId32" Type="http://schemas.openxmlformats.org/officeDocument/2006/relationships/image" Target="../media/image87.png"/><Relationship Id="rId33" Type="http://schemas.openxmlformats.org/officeDocument/2006/relationships/image" Target="../media/image8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8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9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Relationship Id="rId14" Type="http://schemas.openxmlformats.org/officeDocument/2006/relationships/image" Target="../media/image101.png"/><Relationship Id="rId15" Type="http://schemas.openxmlformats.org/officeDocument/2006/relationships/image" Target="../media/image102.png"/><Relationship Id="rId16" Type="http://schemas.openxmlformats.org/officeDocument/2006/relationships/image" Target="../media/image103.png"/><Relationship Id="rId17" Type="http://schemas.openxmlformats.org/officeDocument/2006/relationships/image" Target="../media/image104.png"/><Relationship Id="rId18" Type="http://schemas.openxmlformats.org/officeDocument/2006/relationships/image" Target="../media/image105.png"/><Relationship Id="rId19" Type="http://schemas.openxmlformats.org/officeDocument/2006/relationships/image" Target="../media/image106.png"/><Relationship Id="rId20" Type="http://schemas.openxmlformats.org/officeDocument/2006/relationships/image" Target="../media/image107.png"/><Relationship Id="rId21" Type="http://schemas.openxmlformats.org/officeDocument/2006/relationships/image" Target="../media/image108.png"/><Relationship Id="rId22" Type="http://schemas.openxmlformats.org/officeDocument/2006/relationships/image" Target="../media/image109.png"/><Relationship Id="rId23" Type="http://schemas.openxmlformats.org/officeDocument/2006/relationships/image" Target="../media/image110.png"/><Relationship Id="rId24" Type="http://schemas.openxmlformats.org/officeDocument/2006/relationships/image" Target="../media/image111.png"/><Relationship Id="rId25" Type="http://schemas.openxmlformats.org/officeDocument/2006/relationships/image" Target="../media/image112.png"/><Relationship Id="rId26" Type="http://schemas.openxmlformats.org/officeDocument/2006/relationships/image" Target="../media/image113.png"/><Relationship Id="rId27" Type="http://schemas.openxmlformats.org/officeDocument/2006/relationships/image" Target="../media/image114.png"/><Relationship Id="rId28" Type="http://schemas.openxmlformats.org/officeDocument/2006/relationships/image" Target="../media/image115.png"/><Relationship Id="rId29" Type="http://schemas.openxmlformats.org/officeDocument/2006/relationships/image" Target="../media/image116.png"/><Relationship Id="rId30" Type="http://schemas.openxmlformats.org/officeDocument/2006/relationships/image" Target="../media/image117.png"/><Relationship Id="rId31" Type="http://schemas.openxmlformats.org/officeDocument/2006/relationships/image" Target="../media/image118.png"/><Relationship Id="rId32" Type="http://schemas.openxmlformats.org/officeDocument/2006/relationships/image" Target="../media/image119.png"/><Relationship Id="rId33" Type="http://schemas.openxmlformats.org/officeDocument/2006/relationships/image" Target="../media/image120.png"/><Relationship Id="rId34" Type="http://schemas.openxmlformats.org/officeDocument/2006/relationships/image" Target="../media/image121.png"/><Relationship Id="rId35" Type="http://schemas.openxmlformats.org/officeDocument/2006/relationships/image" Target="../media/image122.png"/><Relationship Id="rId36" Type="http://schemas.openxmlformats.org/officeDocument/2006/relationships/image" Target="../media/image123.png"/><Relationship Id="rId37" Type="http://schemas.openxmlformats.org/officeDocument/2006/relationships/image" Target="../media/image124.png"/><Relationship Id="rId38" Type="http://schemas.openxmlformats.org/officeDocument/2006/relationships/image" Target="../media/image125.png"/><Relationship Id="rId39" Type="http://schemas.openxmlformats.org/officeDocument/2006/relationships/image" Target="../media/image126.png"/><Relationship Id="rId40" Type="http://schemas.openxmlformats.org/officeDocument/2006/relationships/image" Target="../media/image127.png"/><Relationship Id="rId41" Type="http://schemas.openxmlformats.org/officeDocument/2006/relationships/image" Target="../media/image128.png"/><Relationship Id="rId42" Type="http://schemas.openxmlformats.org/officeDocument/2006/relationships/image" Target="../media/image129.png"/><Relationship Id="rId43" Type="http://schemas.openxmlformats.org/officeDocument/2006/relationships/image" Target="../media/image130.png"/><Relationship Id="rId44" Type="http://schemas.openxmlformats.org/officeDocument/2006/relationships/image" Target="../media/image131.png"/><Relationship Id="rId45" Type="http://schemas.openxmlformats.org/officeDocument/2006/relationships/image" Target="../media/image132.png"/><Relationship Id="rId46" Type="http://schemas.openxmlformats.org/officeDocument/2006/relationships/image" Target="../media/image133.png"/><Relationship Id="rId47" Type="http://schemas.openxmlformats.org/officeDocument/2006/relationships/image" Target="../media/image134.png"/><Relationship Id="rId48" Type="http://schemas.openxmlformats.org/officeDocument/2006/relationships/image" Target="../media/image135.png"/><Relationship Id="rId49" Type="http://schemas.openxmlformats.org/officeDocument/2006/relationships/image" Target="../media/image136.png"/><Relationship Id="rId50" Type="http://schemas.openxmlformats.org/officeDocument/2006/relationships/image" Target="../media/image137.png"/><Relationship Id="rId51" Type="http://schemas.openxmlformats.org/officeDocument/2006/relationships/image" Target="../media/image138.png"/><Relationship Id="rId52" Type="http://schemas.openxmlformats.org/officeDocument/2006/relationships/image" Target="../media/image139.png"/><Relationship Id="rId53" Type="http://schemas.openxmlformats.org/officeDocument/2006/relationships/image" Target="../media/image140.png"/><Relationship Id="rId54" Type="http://schemas.openxmlformats.org/officeDocument/2006/relationships/image" Target="../media/image141.png"/><Relationship Id="rId55" Type="http://schemas.openxmlformats.org/officeDocument/2006/relationships/image" Target="../media/image142.png"/><Relationship Id="rId56" Type="http://schemas.openxmlformats.org/officeDocument/2006/relationships/image" Target="../media/image143.png"/><Relationship Id="rId57" Type="http://schemas.openxmlformats.org/officeDocument/2006/relationships/image" Target="../media/image144.png"/><Relationship Id="rId58" Type="http://schemas.openxmlformats.org/officeDocument/2006/relationships/image" Target="../media/image145.png"/><Relationship Id="rId59" Type="http://schemas.openxmlformats.org/officeDocument/2006/relationships/image" Target="../media/image146.png"/><Relationship Id="rId60" Type="http://schemas.openxmlformats.org/officeDocument/2006/relationships/image" Target="../media/image147.png"/><Relationship Id="rId61" Type="http://schemas.openxmlformats.org/officeDocument/2006/relationships/image" Target="../media/image148.png"/><Relationship Id="rId62" Type="http://schemas.openxmlformats.org/officeDocument/2006/relationships/image" Target="../media/image149.png"/><Relationship Id="rId63" Type="http://schemas.openxmlformats.org/officeDocument/2006/relationships/image" Target="../media/image150.png"/><Relationship Id="rId64" Type="http://schemas.openxmlformats.org/officeDocument/2006/relationships/image" Target="../media/image151.png"/><Relationship Id="rId65" Type="http://schemas.openxmlformats.org/officeDocument/2006/relationships/image" Target="../media/image152.png"/><Relationship Id="rId66" Type="http://schemas.openxmlformats.org/officeDocument/2006/relationships/image" Target="../media/image153.png"/><Relationship Id="rId67" Type="http://schemas.openxmlformats.org/officeDocument/2006/relationships/image" Target="../media/image154.png"/><Relationship Id="rId68" Type="http://schemas.openxmlformats.org/officeDocument/2006/relationships/image" Target="../media/image155.png"/><Relationship Id="rId69" Type="http://schemas.openxmlformats.org/officeDocument/2006/relationships/image" Target="../media/image156.png"/><Relationship Id="rId70" Type="http://schemas.openxmlformats.org/officeDocument/2006/relationships/image" Target="../media/image157.png"/><Relationship Id="rId71" Type="http://schemas.openxmlformats.org/officeDocument/2006/relationships/image" Target="../media/image158.png"/><Relationship Id="rId72" Type="http://schemas.openxmlformats.org/officeDocument/2006/relationships/image" Target="../media/image159.png"/><Relationship Id="rId73" Type="http://schemas.openxmlformats.org/officeDocument/2006/relationships/image" Target="../media/image160.png"/><Relationship Id="rId74" Type="http://schemas.openxmlformats.org/officeDocument/2006/relationships/image" Target="../media/image161.png"/><Relationship Id="rId75" Type="http://schemas.openxmlformats.org/officeDocument/2006/relationships/image" Target="../media/image162.png"/><Relationship Id="rId76" Type="http://schemas.openxmlformats.org/officeDocument/2006/relationships/image" Target="../media/image163.png"/><Relationship Id="rId77" Type="http://schemas.openxmlformats.org/officeDocument/2006/relationships/image" Target="../media/image164.png"/><Relationship Id="rId78" Type="http://schemas.openxmlformats.org/officeDocument/2006/relationships/image" Target="../media/image165.png"/><Relationship Id="rId79" Type="http://schemas.openxmlformats.org/officeDocument/2006/relationships/image" Target="../media/image166.png"/><Relationship Id="rId80" Type="http://schemas.openxmlformats.org/officeDocument/2006/relationships/image" Target="../media/image167.png"/><Relationship Id="rId81" Type="http://schemas.openxmlformats.org/officeDocument/2006/relationships/image" Target="../media/image168.png"/><Relationship Id="rId82" Type="http://schemas.openxmlformats.org/officeDocument/2006/relationships/image" Target="../media/image169.png"/><Relationship Id="rId83" Type="http://schemas.openxmlformats.org/officeDocument/2006/relationships/image" Target="../media/image170.png"/><Relationship Id="rId84" Type="http://schemas.openxmlformats.org/officeDocument/2006/relationships/image" Target="../media/image171.png"/><Relationship Id="rId85" Type="http://schemas.openxmlformats.org/officeDocument/2006/relationships/image" Target="../media/image172.png"/><Relationship Id="rId86" Type="http://schemas.openxmlformats.org/officeDocument/2006/relationships/image" Target="../media/image173.png"/><Relationship Id="rId87" Type="http://schemas.openxmlformats.org/officeDocument/2006/relationships/image" Target="../media/image17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17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178.png"/><Relationship Id="rId9" Type="http://schemas.openxmlformats.org/officeDocument/2006/relationships/image" Target="../media/image179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81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Relationship Id="rId8" Type="http://schemas.openxmlformats.org/officeDocument/2006/relationships/image" Target="../media/image184.png"/><Relationship Id="rId9" Type="http://schemas.openxmlformats.org/officeDocument/2006/relationships/image" Target="../media/image185.png"/><Relationship Id="rId10" Type="http://schemas.openxmlformats.org/officeDocument/2006/relationships/image" Target="../media/image186.png"/><Relationship Id="rId11" Type="http://schemas.openxmlformats.org/officeDocument/2006/relationships/image" Target="../media/image18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89.png"/><Relationship Id="rId6" Type="http://schemas.openxmlformats.org/officeDocument/2006/relationships/image" Target="../media/image190.png"/><Relationship Id="rId7" Type="http://schemas.openxmlformats.org/officeDocument/2006/relationships/image" Target="../media/image191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Relationship Id="rId7" Type="http://schemas.openxmlformats.org/officeDocument/2006/relationships/image" Target="../media/image19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00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204.png"/><Relationship Id="rId8" Type="http://schemas.openxmlformats.org/officeDocument/2006/relationships/image" Target="../media/image205.png"/><Relationship Id="rId9" Type="http://schemas.openxmlformats.org/officeDocument/2006/relationships/image" Target="../media/image206.png"/><Relationship Id="rId10" Type="http://schemas.openxmlformats.org/officeDocument/2006/relationships/image" Target="../media/image207.png"/><Relationship Id="rId11" Type="http://schemas.openxmlformats.org/officeDocument/2006/relationships/image" Target="../media/image208.png"/><Relationship Id="rId12" Type="http://schemas.openxmlformats.org/officeDocument/2006/relationships/image" Target="../media/image209.png"/><Relationship Id="rId13" Type="http://schemas.openxmlformats.org/officeDocument/2006/relationships/image" Target="../media/image210.png"/><Relationship Id="rId14" Type="http://schemas.openxmlformats.org/officeDocument/2006/relationships/image" Target="../media/image211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13.png"/><Relationship Id="rId6" Type="http://schemas.openxmlformats.org/officeDocument/2006/relationships/image" Target="../media/image214.png"/><Relationship Id="rId7" Type="http://schemas.openxmlformats.org/officeDocument/2006/relationships/image" Target="../media/image21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220.png"/><Relationship Id="rId9" Type="http://schemas.openxmlformats.org/officeDocument/2006/relationships/image" Target="../media/image179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Relationship Id="rId7" Type="http://schemas.openxmlformats.org/officeDocument/2006/relationships/image" Target="../media/image224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26.png"/><Relationship Id="rId6" Type="http://schemas.openxmlformats.org/officeDocument/2006/relationships/image" Target="../media/image227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29.png"/><Relationship Id="rId6" Type="http://schemas.openxmlformats.org/officeDocument/2006/relationships/image" Target="../media/image230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35.png"/><Relationship Id="rId6" Type="http://schemas.openxmlformats.org/officeDocument/2006/relationships/image" Target="../media/image236.png"/><Relationship Id="rId7" Type="http://schemas.openxmlformats.org/officeDocument/2006/relationships/image" Target="../media/image237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39.png"/><Relationship Id="rId6" Type="http://schemas.openxmlformats.org/officeDocument/2006/relationships/image" Target="../media/image240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42.png"/><Relationship Id="rId6" Type="http://schemas.openxmlformats.org/officeDocument/2006/relationships/image" Target="../media/image243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45.png"/><Relationship Id="rId6" Type="http://schemas.openxmlformats.org/officeDocument/2006/relationships/image" Target="../media/image24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5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254.png"/><Relationship Id="rId9" Type="http://schemas.openxmlformats.org/officeDocument/2006/relationships/image" Target="../media/image179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64.png"/><Relationship Id="rId6" Type="http://schemas.openxmlformats.org/officeDocument/2006/relationships/image" Target="../media/image265.png"/><Relationship Id="rId7" Type="http://schemas.openxmlformats.org/officeDocument/2006/relationships/image" Target="../media/image266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6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268.png"/><Relationship Id="rId9" Type="http://schemas.openxmlformats.org/officeDocument/2006/relationships/image" Target="../media/image179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78.png"/><Relationship Id="rId6" Type="http://schemas.openxmlformats.org/officeDocument/2006/relationships/image" Target="../media/image279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81.png"/><Relationship Id="rId6" Type="http://schemas.openxmlformats.org/officeDocument/2006/relationships/image" Target="../media/image282.png"/><Relationship Id="rId7" Type="http://schemas.openxmlformats.org/officeDocument/2006/relationships/image" Target="../media/image283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85.png"/><Relationship Id="rId6" Type="http://schemas.openxmlformats.org/officeDocument/2006/relationships/image" Target="../media/image286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8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288.png"/><Relationship Id="rId8" Type="http://schemas.openxmlformats.org/officeDocument/2006/relationships/image" Target="../media/image289.png"/><Relationship Id="rId9" Type="http://schemas.openxmlformats.org/officeDocument/2006/relationships/image" Target="../media/image179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91.png"/><Relationship Id="rId6" Type="http://schemas.openxmlformats.org/officeDocument/2006/relationships/image" Target="../media/image292.png"/><Relationship Id="rId7" Type="http://schemas.openxmlformats.org/officeDocument/2006/relationships/image" Target="../media/image293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95.png"/><Relationship Id="rId6" Type="http://schemas.openxmlformats.org/officeDocument/2006/relationships/image" Target="../media/image296.png"/><Relationship Id="rId7" Type="http://schemas.openxmlformats.org/officeDocument/2006/relationships/image" Target="../media/image297.png"/><Relationship Id="rId8" Type="http://schemas.openxmlformats.org/officeDocument/2006/relationships/image" Target="../media/image298.png"/><Relationship Id="rId9" Type="http://schemas.openxmlformats.org/officeDocument/2006/relationships/image" Target="../media/image299.png"/><Relationship Id="rId10" Type="http://schemas.openxmlformats.org/officeDocument/2006/relationships/image" Target="../media/image300.png"/><Relationship Id="rId11" Type="http://schemas.openxmlformats.org/officeDocument/2006/relationships/image" Target="../media/image301.png"/><Relationship Id="rId12" Type="http://schemas.openxmlformats.org/officeDocument/2006/relationships/image" Target="../media/image302.png"/><Relationship Id="rId13" Type="http://schemas.openxmlformats.org/officeDocument/2006/relationships/image" Target="../media/image303.png"/><Relationship Id="rId14" Type="http://schemas.openxmlformats.org/officeDocument/2006/relationships/image" Target="../media/image304.png"/><Relationship Id="rId15" Type="http://schemas.openxmlformats.org/officeDocument/2006/relationships/image" Target="../media/image305.png"/><Relationship Id="rId16" Type="http://schemas.openxmlformats.org/officeDocument/2006/relationships/image" Target="../media/image306.png"/><Relationship Id="rId17" Type="http://schemas.openxmlformats.org/officeDocument/2006/relationships/image" Target="../media/image307.png"/><Relationship Id="rId18" Type="http://schemas.openxmlformats.org/officeDocument/2006/relationships/image" Target="../media/image308.png"/><Relationship Id="rId19" Type="http://schemas.openxmlformats.org/officeDocument/2006/relationships/image" Target="../media/image309.png"/><Relationship Id="rId20" Type="http://schemas.openxmlformats.org/officeDocument/2006/relationships/image" Target="../media/image310.png"/><Relationship Id="rId21" Type="http://schemas.openxmlformats.org/officeDocument/2006/relationships/image" Target="../media/image311.png"/><Relationship Id="rId22" Type="http://schemas.openxmlformats.org/officeDocument/2006/relationships/image" Target="../media/image312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14.png"/><Relationship Id="rId6" Type="http://schemas.openxmlformats.org/officeDocument/2006/relationships/image" Target="../media/image315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Relationship Id="rId7" Type="http://schemas.openxmlformats.org/officeDocument/2006/relationships/image" Target="../media/image319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21.png"/><Relationship Id="rId6" Type="http://schemas.openxmlformats.org/officeDocument/2006/relationships/image" Target="../media/image322.png"/><Relationship Id="rId7" Type="http://schemas.openxmlformats.org/officeDocument/2006/relationships/image" Target="../media/image323.png"/><Relationship Id="rId8" Type="http://schemas.openxmlformats.org/officeDocument/2006/relationships/image" Target="../media/image324.png"/><Relationship Id="rId9" Type="http://schemas.openxmlformats.org/officeDocument/2006/relationships/image" Target="../media/image325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27.png"/><Relationship Id="rId6" Type="http://schemas.openxmlformats.org/officeDocument/2006/relationships/image" Target="../media/image328.png"/><Relationship Id="rId7" Type="http://schemas.openxmlformats.org/officeDocument/2006/relationships/image" Target="../media/image329.png"/><Relationship Id="rId8" Type="http://schemas.openxmlformats.org/officeDocument/2006/relationships/image" Target="../media/image330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32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34.png"/><Relationship Id="rId6" Type="http://schemas.openxmlformats.org/officeDocument/2006/relationships/image" Target="../media/image335.png"/><Relationship Id="rId7" Type="http://schemas.openxmlformats.org/officeDocument/2006/relationships/image" Target="../media/image336.png"/><Relationship Id="rId8" Type="http://schemas.openxmlformats.org/officeDocument/2006/relationships/image" Target="../media/image337.png"/><Relationship Id="rId9" Type="http://schemas.openxmlformats.org/officeDocument/2006/relationships/image" Target="../media/image338.png"/><Relationship Id="rId10" Type="http://schemas.openxmlformats.org/officeDocument/2006/relationships/image" Target="../media/image339.png"/><Relationship Id="rId11" Type="http://schemas.openxmlformats.org/officeDocument/2006/relationships/image" Target="../media/image340.png"/><Relationship Id="rId12" Type="http://schemas.openxmlformats.org/officeDocument/2006/relationships/image" Target="../media/image341.png"/><Relationship Id="rId13" Type="http://schemas.openxmlformats.org/officeDocument/2006/relationships/image" Target="../media/image342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34.png"/><Relationship Id="rId6" Type="http://schemas.openxmlformats.org/officeDocument/2006/relationships/image" Target="../media/image344.png"/><Relationship Id="rId7" Type="http://schemas.openxmlformats.org/officeDocument/2006/relationships/image" Target="../media/image345.png"/><Relationship Id="rId8" Type="http://schemas.openxmlformats.org/officeDocument/2006/relationships/image" Target="../media/image346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48.png"/><Relationship Id="rId6" Type="http://schemas.openxmlformats.org/officeDocument/2006/relationships/image" Target="../media/image349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51.png"/><Relationship Id="rId6" Type="http://schemas.openxmlformats.org/officeDocument/2006/relationships/image" Target="../media/image352.png"/><Relationship Id="rId7" Type="http://schemas.openxmlformats.org/officeDocument/2006/relationships/image" Target="../media/image353.png"/><Relationship Id="rId8" Type="http://schemas.openxmlformats.org/officeDocument/2006/relationships/image" Target="../media/image354.png"/><Relationship Id="rId9" Type="http://schemas.openxmlformats.org/officeDocument/2006/relationships/image" Target="../media/image355.png"/><Relationship Id="rId10" Type="http://schemas.openxmlformats.org/officeDocument/2006/relationships/image" Target="../media/image356.png"/><Relationship Id="rId11" Type="http://schemas.openxmlformats.org/officeDocument/2006/relationships/image" Target="../media/image357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358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359.png"/><Relationship Id="rId8" Type="http://schemas.openxmlformats.org/officeDocument/2006/relationships/image" Target="../media/image360.png"/><Relationship Id="rId9" Type="http://schemas.openxmlformats.org/officeDocument/2006/relationships/image" Target="../media/image361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63.png"/><Relationship Id="rId6" Type="http://schemas.openxmlformats.org/officeDocument/2006/relationships/image" Target="../media/image364.png"/><Relationship Id="rId7" Type="http://schemas.openxmlformats.org/officeDocument/2006/relationships/image" Target="../media/image365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67.png"/><Relationship Id="rId6" Type="http://schemas.openxmlformats.org/officeDocument/2006/relationships/image" Target="../media/image368.png"/><Relationship Id="rId7" Type="http://schemas.openxmlformats.org/officeDocument/2006/relationships/image" Target="../media/image369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71.png"/><Relationship Id="rId6" Type="http://schemas.openxmlformats.org/officeDocument/2006/relationships/image" Target="../media/image372.png"/><Relationship Id="rId7" Type="http://schemas.openxmlformats.org/officeDocument/2006/relationships/image" Target="../media/image373.png"/><Relationship Id="rId8" Type="http://schemas.openxmlformats.org/officeDocument/2006/relationships/image" Target="../media/image374.png"/><Relationship Id="rId9" Type="http://schemas.openxmlformats.org/officeDocument/2006/relationships/image" Target="../media/image375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Relationship Id="rId7" Type="http://schemas.openxmlformats.org/officeDocument/2006/relationships/image" Target="../media/image379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82.png"/><Relationship Id="rId6" Type="http://schemas.openxmlformats.org/officeDocument/2006/relationships/image" Target="../media/image383.png"/><Relationship Id="rId7" Type="http://schemas.openxmlformats.org/officeDocument/2006/relationships/image" Target="../media/image384.png"/><Relationship Id="rId8" Type="http://schemas.openxmlformats.org/officeDocument/2006/relationships/image" Target="../media/image385.png"/><Relationship Id="rId9" Type="http://schemas.openxmlformats.org/officeDocument/2006/relationships/image" Target="../media/image386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Relationship Id="rId7" Type="http://schemas.openxmlformats.org/officeDocument/2006/relationships/image" Target="../media/image390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39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359.png"/><Relationship Id="rId8" Type="http://schemas.openxmlformats.org/officeDocument/2006/relationships/image" Target="../media/image360.png"/><Relationship Id="rId9" Type="http://schemas.openxmlformats.org/officeDocument/2006/relationships/image" Target="../media/image393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95.png"/><Relationship Id="rId6" Type="http://schemas.openxmlformats.org/officeDocument/2006/relationships/image" Target="../media/image396.png"/><Relationship Id="rId7" Type="http://schemas.openxmlformats.org/officeDocument/2006/relationships/image" Target="../media/image397.png"/><Relationship Id="rId8" Type="http://schemas.openxmlformats.org/officeDocument/2006/relationships/image" Target="../media/image398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00.png"/><Relationship Id="rId6" Type="http://schemas.openxmlformats.org/officeDocument/2006/relationships/image" Target="../media/image401.png"/><Relationship Id="rId7" Type="http://schemas.openxmlformats.org/officeDocument/2006/relationships/image" Target="../media/image402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04.png"/><Relationship Id="rId6" Type="http://schemas.openxmlformats.org/officeDocument/2006/relationships/image" Target="../media/image405.png"/><Relationship Id="rId7" Type="http://schemas.openxmlformats.org/officeDocument/2006/relationships/image" Target="../media/image406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08.png"/><Relationship Id="rId6" Type="http://schemas.openxmlformats.org/officeDocument/2006/relationships/image" Target="../media/image409.png"/><Relationship Id="rId7" Type="http://schemas.openxmlformats.org/officeDocument/2006/relationships/image" Target="../media/image410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41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359.png"/><Relationship Id="rId8" Type="http://schemas.openxmlformats.org/officeDocument/2006/relationships/image" Target="../media/image360.png"/><Relationship Id="rId9" Type="http://schemas.openxmlformats.org/officeDocument/2006/relationships/image" Target="../media/image412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14.png"/><Relationship Id="rId6" Type="http://schemas.openxmlformats.org/officeDocument/2006/relationships/image" Target="../media/image415.png"/><Relationship Id="rId7" Type="http://schemas.openxmlformats.org/officeDocument/2006/relationships/image" Target="../media/image416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18.png"/><Relationship Id="rId6" Type="http://schemas.openxmlformats.org/officeDocument/2006/relationships/image" Target="../media/image419.png"/><Relationship Id="rId7" Type="http://schemas.openxmlformats.org/officeDocument/2006/relationships/image" Target="../media/image420.png"/><Relationship Id="rId8" Type="http://schemas.openxmlformats.org/officeDocument/2006/relationships/image" Target="../media/image421.png"/><Relationship Id="rId9" Type="http://schemas.openxmlformats.org/officeDocument/2006/relationships/image" Target="../media/image422.png"/><Relationship Id="rId10" Type="http://schemas.openxmlformats.org/officeDocument/2006/relationships/image" Target="../media/image423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42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76.png"/><Relationship Id="rId7" Type="http://schemas.openxmlformats.org/officeDocument/2006/relationships/image" Target="../media/image359.png"/><Relationship Id="rId8" Type="http://schemas.openxmlformats.org/officeDocument/2006/relationships/image" Target="../media/image360.png"/><Relationship Id="rId9" Type="http://schemas.openxmlformats.org/officeDocument/2006/relationships/image" Target="../media/image425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27.png"/><Relationship Id="rId6" Type="http://schemas.openxmlformats.org/officeDocument/2006/relationships/image" Target="../media/image428.png"/><Relationship Id="rId7" Type="http://schemas.openxmlformats.org/officeDocument/2006/relationships/image" Target="../media/image429.png"/><Relationship Id="rId8" Type="http://schemas.openxmlformats.org/officeDocument/2006/relationships/image" Target="../media/image430.png"/><Relationship Id="rId9" Type="http://schemas.openxmlformats.org/officeDocument/2006/relationships/image" Target="../media/image431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33.png"/><Relationship Id="rId6" Type="http://schemas.openxmlformats.org/officeDocument/2006/relationships/image" Target="../media/image434.png"/><Relationship Id="rId7" Type="http://schemas.openxmlformats.org/officeDocument/2006/relationships/image" Target="../media/image435.png"/><Relationship Id="rId8" Type="http://schemas.openxmlformats.org/officeDocument/2006/relationships/image" Target="../media/image436.png"/><Relationship Id="rId9" Type="http://schemas.openxmlformats.org/officeDocument/2006/relationships/image" Target="../media/image437.png"/><Relationship Id="rId10" Type="http://schemas.openxmlformats.org/officeDocument/2006/relationships/image" Target="../media/image438.png"/><Relationship Id="rId11" Type="http://schemas.openxmlformats.org/officeDocument/2006/relationships/image" Target="../media/image439.png"/><Relationship Id="rId12" Type="http://schemas.openxmlformats.org/officeDocument/2006/relationships/image" Target="../media/image440.png"/><Relationship Id="rId13" Type="http://schemas.openxmlformats.org/officeDocument/2006/relationships/image" Target="../media/image441.png"/><Relationship Id="rId14" Type="http://schemas.openxmlformats.org/officeDocument/2006/relationships/image" Target="../media/image442.png"/><Relationship Id="rId15" Type="http://schemas.openxmlformats.org/officeDocument/2006/relationships/image" Target="../media/image443.png"/><Relationship Id="rId16" Type="http://schemas.openxmlformats.org/officeDocument/2006/relationships/image" Target="../media/image444.png"/><Relationship Id="rId17" Type="http://schemas.openxmlformats.org/officeDocument/2006/relationships/image" Target="../media/image445.png"/><Relationship Id="rId18" Type="http://schemas.openxmlformats.org/officeDocument/2006/relationships/image" Target="../media/image446.png"/><Relationship Id="rId19" Type="http://schemas.openxmlformats.org/officeDocument/2006/relationships/image" Target="../media/image447.png"/><Relationship Id="rId20" Type="http://schemas.openxmlformats.org/officeDocument/2006/relationships/image" Target="../media/image448.png"/><Relationship Id="rId21" Type="http://schemas.openxmlformats.org/officeDocument/2006/relationships/image" Target="../media/image449.png"/><Relationship Id="rId22" Type="http://schemas.openxmlformats.org/officeDocument/2006/relationships/image" Target="../media/image450.png"/><Relationship Id="rId23" Type="http://schemas.openxmlformats.org/officeDocument/2006/relationships/image" Target="../media/image451.png"/><Relationship Id="rId24" Type="http://schemas.openxmlformats.org/officeDocument/2006/relationships/image" Target="../media/image452.png"/><Relationship Id="rId25" Type="http://schemas.openxmlformats.org/officeDocument/2006/relationships/image" Target="../media/image453.png"/><Relationship Id="rId26" Type="http://schemas.openxmlformats.org/officeDocument/2006/relationships/image" Target="../media/image454.png"/><Relationship Id="rId27" Type="http://schemas.openxmlformats.org/officeDocument/2006/relationships/image" Target="../media/image455.png"/><Relationship Id="rId28" Type="http://schemas.openxmlformats.org/officeDocument/2006/relationships/image" Target="../media/image456.png"/><Relationship Id="rId29" Type="http://schemas.openxmlformats.org/officeDocument/2006/relationships/image" Target="../media/image457.png"/><Relationship Id="rId30" Type="http://schemas.openxmlformats.org/officeDocument/2006/relationships/image" Target="../media/image458.png"/><Relationship Id="rId31" Type="http://schemas.openxmlformats.org/officeDocument/2006/relationships/image" Target="../media/image459.png"/><Relationship Id="rId32" Type="http://schemas.openxmlformats.org/officeDocument/2006/relationships/image" Target="../media/image460.png"/><Relationship Id="rId33" Type="http://schemas.openxmlformats.org/officeDocument/2006/relationships/image" Target="../media/image461.png"/><Relationship Id="rId34" Type="http://schemas.openxmlformats.org/officeDocument/2006/relationships/image" Target="../media/image462.png"/><Relationship Id="rId35" Type="http://schemas.openxmlformats.org/officeDocument/2006/relationships/image" Target="../media/image463.png"/><Relationship Id="rId36" Type="http://schemas.openxmlformats.org/officeDocument/2006/relationships/image" Target="../media/image464.png"/><Relationship Id="rId37" Type="http://schemas.openxmlformats.org/officeDocument/2006/relationships/image" Target="../media/image465.png"/><Relationship Id="rId38" Type="http://schemas.openxmlformats.org/officeDocument/2006/relationships/image" Target="../media/image466.png"/><Relationship Id="rId39" Type="http://schemas.openxmlformats.org/officeDocument/2006/relationships/image" Target="../media/image467.png"/><Relationship Id="rId40" Type="http://schemas.openxmlformats.org/officeDocument/2006/relationships/image" Target="../media/image468.png"/><Relationship Id="rId41" Type="http://schemas.openxmlformats.org/officeDocument/2006/relationships/image" Target="../media/image469.png"/><Relationship Id="rId42" Type="http://schemas.openxmlformats.org/officeDocument/2006/relationships/image" Target="../media/image470.png"/><Relationship Id="rId43" Type="http://schemas.openxmlformats.org/officeDocument/2006/relationships/image" Target="../media/image471.png"/><Relationship Id="rId44" Type="http://schemas.openxmlformats.org/officeDocument/2006/relationships/image" Target="../media/image472.png"/><Relationship Id="rId45" Type="http://schemas.openxmlformats.org/officeDocument/2006/relationships/image" Target="../media/image473.png"/><Relationship Id="rId46" Type="http://schemas.openxmlformats.org/officeDocument/2006/relationships/image" Target="../media/image474.png"/><Relationship Id="rId47" Type="http://schemas.openxmlformats.org/officeDocument/2006/relationships/image" Target="../media/image475.png"/><Relationship Id="rId48" Type="http://schemas.openxmlformats.org/officeDocument/2006/relationships/image" Target="../media/image476.png"/><Relationship Id="rId49" Type="http://schemas.openxmlformats.org/officeDocument/2006/relationships/image" Target="../media/image477.png"/><Relationship Id="rId50" Type="http://schemas.openxmlformats.org/officeDocument/2006/relationships/image" Target="../media/image478.png"/><Relationship Id="rId51" Type="http://schemas.openxmlformats.org/officeDocument/2006/relationships/image" Target="../media/image479.png"/><Relationship Id="rId52" Type="http://schemas.openxmlformats.org/officeDocument/2006/relationships/image" Target="../media/image480.png"/><Relationship Id="rId53" Type="http://schemas.openxmlformats.org/officeDocument/2006/relationships/image" Target="../media/image481.png"/><Relationship Id="rId54" Type="http://schemas.openxmlformats.org/officeDocument/2006/relationships/image" Target="../media/image482.png"/><Relationship Id="rId55" Type="http://schemas.openxmlformats.org/officeDocument/2006/relationships/image" Target="../media/image483.png"/><Relationship Id="rId56" Type="http://schemas.openxmlformats.org/officeDocument/2006/relationships/image" Target="../media/image484.png"/><Relationship Id="rId57" Type="http://schemas.openxmlformats.org/officeDocument/2006/relationships/image" Target="../media/image485.png"/><Relationship Id="rId58" Type="http://schemas.openxmlformats.org/officeDocument/2006/relationships/image" Target="../media/image486.png"/><Relationship Id="rId59" Type="http://schemas.openxmlformats.org/officeDocument/2006/relationships/image" Target="../media/image487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488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89.png"/><Relationship Id="rId7" Type="http://schemas.openxmlformats.org/officeDocument/2006/relationships/image" Target="../media/image490.png"/><Relationship Id="rId8" Type="http://schemas.openxmlformats.org/officeDocument/2006/relationships/image" Target="../media/image491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93.png"/><Relationship Id="rId6" Type="http://schemas.openxmlformats.org/officeDocument/2006/relationships/image" Target="../media/image494.png"/><Relationship Id="rId7" Type="http://schemas.openxmlformats.org/officeDocument/2006/relationships/image" Target="../media/image495.png"/><Relationship Id="rId8" Type="http://schemas.openxmlformats.org/officeDocument/2006/relationships/image" Target="../media/image496.png"/><Relationship Id="rId9" Type="http://schemas.openxmlformats.org/officeDocument/2006/relationships/image" Target="../media/image497.png"/><Relationship Id="rId10" Type="http://schemas.openxmlformats.org/officeDocument/2006/relationships/image" Target="../media/image498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00.png"/><Relationship Id="rId6" Type="http://schemas.openxmlformats.org/officeDocument/2006/relationships/image" Target="../media/image501.png"/><Relationship Id="rId7" Type="http://schemas.openxmlformats.org/officeDocument/2006/relationships/image" Target="../media/image502.png"/><Relationship Id="rId8" Type="http://schemas.openxmlformats.org/officeDocument/2006/relationships/image" Target="../media/image503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05.png"/><Relationship Id="rId6" Type="http://schemas.openxmlformats.org/officeDocument/2006/relationships/image" Target="../media/image506.png"/><Relationship Id="rId7" Type="http://schemas.openxmlformats.org/officeDocument/2006/relationships/image" Target="../media/image507.png"/><Relationship Id="rId8" Type="http://schemas.openxmlformats.org/officeDocument/2006/relationships/image" Target="../media/image215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09.png"/><Relationship Id="rId6" Type="http://schemas.openxmlformats.org/officeDocument/2006/relationships/image" Target="../media/image510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1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89.png"/><Relationship Id="rId7" Type="http://schemas.openxmlformats.org/officeDocument/2006/relationships/image" Target="../media/image490.png"/><Relationship Id="rId8" Type="http://schemas.openxmlformats.org/officeDocument/2006/relationships/image" Target="../media/image512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14.png"/><Relationship Id="rId6" Type="http://schemas.openxmlformats.org/officeDocument/2006/relationships/image" Target="../media/image515.png"/><Relationship Id="rId7" Type="http://schemas.openxmlformats.org/officeDocument/2006/relationships/image" Target="../media/image516.pn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1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89.png"/><Relationship Id="rId7" Type="http://schemas.openxmlformats.org/officeDocument/2006/relationships/image" Target="../media/image490.png"/><Relationship Id="rId8" Type="http://schemas.openxmlformats.org/officeDocument/2006/relationships/image" Target="../media/image518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20.png"/><Relationship Id="rId6" Type="http://schemas.openxmlformats.org/officeDocument/2006/relationships/image" Target="../media/image521.png"/><Relationship Id="rId7" Type="http://schemas.openxmlformats.org/officeDocument/2006/relationships/image" Target="../media/image522.pn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2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89.png"/><Relationship Id="rId7" Type="http://schemas.openxmlformats.org/officeDocument/2006/relationships/image" Target="../media/image490.png"/><Relationship Id="rId8" Type="http://schemas.openxmlformats.org/officeDocument/2006/relationships/image" Target="../media/image527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29.png"/><Relationship Id="rId6" Type="http://schemas.openxmlformats.org/officeDocument/2006/relationships/image" Target="../media/image530.png"/><Relationship Id="rId7" Type="http://schemas.openxmlformats.org/officeDocument/2006/relationships/image" Target="../media/image531.png"/><Relationship Id="rId8" Type="http://schemas.openxmlformats.org/officeDocument/2006/relationships/image" Target="../media/image532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3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89.png"/><Relationship Id="rId7" Type="http://schemas.openxmlformats.org/officeDocument/2006/relationships/image" Target="../media/image490.png"/><Relationship Id="rId8" Type="http://schemas.openxmlformats.org/officeDocument/2006/relationships/image" Target="../media/image534.pn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36.png"/><Relationship Id="rId6" Type="http://schemas.openxmlformats.org/officeDocument/2006/relationships/image" Target="../media/image537.png"/><Relationship Id="rId7" Type="http://schemas.openxmlformats.org/officeDocument/2006/relationships/image" Target="../media/image538.pn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3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89.png"/><Relationship Id="rId7" Type="http://schemas.openxmlformats.org/officeDocument/2006/relationships/image" Target="../media/image490.png"/><Relationship Id="rId8" Type="http://schemas.openxmlformats.org/officeDocument/2006/relationships/image" Target="../media/image540.pn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42.png"/><Relationship Id="rId6" Type="http://schemas.openxmlformats.org/officeDocument/2006/relationships/image" Target="../media/image543.png"/><Relationship Id="rId7" Type="http://schemas.openxmlformats.org/officeDocument/2006/relationships/image" Target="../media/image544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4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546.png"/><Relationship Id="rId7" Type="http://schemas.openxmlformats.org/officeDocument/2006/relationships/image" Target="../media/image547.png"/><Relationship Id="rId8" Type="http://schemas.openxmlformats.org/officeDocument/2006/relationships/image" Target="../media/image548.pn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50.png"/><Relationship Id="rId6" Type="http://schemas.openxmlformats.org/officeDocument/2006/relationships/image" Target="../media/image551.png"/><Relationship Id="rId7" Type="http://schemas.openxmlformats.org/officeDocument/2006/relationships/image" Target="../media/image552.pn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57.png"/><Relationship Id="rId6" Type="http://schemas.openxmlformats.org/officeDocument/2006/relationships/image" Target="../media/image558.png"/><Relationship Id="rId7" Type="http://schemas.openxmlformats.org/officeDocument/2006/relationships/image" Target="../media/image559.png"/><Relationship Id="rId8" Type="http://schemas.openxmlformats.org/officeDocument/2006/relationships/image" Target="../media/image560.pn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62.png"/><Relationship Id="rId6" Type="http://schemas.openxmlformats.org/officeDocument/2006/relationships/image" Target="../media/image563.pn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65.png"/><Relationship Id="rId6" Type="http://schemas.openxmlformats.org/officeDocument/2006/relationships/image" Target="../media/image566.png"/><Relationship Id="rId7" Type="http://schemas.openxmlformats.org/officeDocument/2006/relationships/image" Target="../media/image567.pn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69.png"/><Relationship Id="rId6" Type="http://schemas.openxmlformats.org/officeDocument/2006/relationships/image" Target="../media/image570.png"/><Relationship Id="rId7" Type="http://schemas.openxmlformats.org/officeDocument/2006/relationships/image" Target="../media/image571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73.png"/><Relationship Id="rId6" Type="http://schemas.openxmlformats.org/officeDocument/2006/relationships/image" Target="../media/image574.pn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7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576.png"/><Relationship Id="rId7" Type="http://schemas.openxmlformats.org/officeDocument/2006/relationships/image" Target="../media/image547.png"/><Relationship Id="rId8" Type="http://schemas.openxmlformats.org/officeDocument/2006/relationships/image" Target="../media/image577.pn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79.png"/><Relationship Id="rId6" Type="http://schemas.openxmlformats.org/officeDocument/2006/relationships/image" Target="../media/image580.png"/><Relationship Id="rId7" Type="http://schemas.openxmlformats.org/officeDocument/2006/relationships/image" Target="../media/image581.png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92.png"/><Relationship Id="rId6" Type="http://schemas.openxmlformats.org/officeDocument/2006/relationships/image" Target="../media/image593.pn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92.png"/><Relationship Id="rId6" Type="http://schemas.openxmlformats.org/officeDocument/2006/relationships/image" Target="../media/image595.png"/><Relationship Id="rId7" Type="http://schemas.openxmlformats.org/officeDocument/2006/relationships/image" Target="../media/image596.png"/><Relationship Id="rId8" Type="http://schemas.openxmlformats.org/officeDocument/2006/relationships/image" Target="../media/image597.pn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99.png"/><Relationship Id="rId6" Type="http://schemas.openxmlformats.org/officeDocument/2006/relationships/image" Target="../media/image600.png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0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576.png"/><Relationship Id="rId7" Type="http://schemas.openxmlformats.org/officeDocument/2006/relationships/image" Target="../media/image547.png"/><Relationship Id="rId8" Type="http://schemas.openxmlformats.org/officeDocument/2006/relationships/image" Target="../media/image602.png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04.png"/><Relationship Id="rId6" Type="http://schemas.openxmlformats.org/officeDocument/2006/relationships/image" Target="../media/image605.png"/><Relationship Id="rId7" Type="http://schemas.openxmlformats.org/officeDocument/2006/relationships/image" Target="../media/image606.png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1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576.png"/><Relationship Id="rId7" Type="http://schemas.openxmlformats.org/officeDocument/2006/relationships/image" Target="../media/image547.png"/><Relationship Id="rId8" Type="http://schemas.openxmlformats.org/officeDocument/2006/relationships/image" Target="../media/image612.pn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14.png"/><Relationship Id="rId6" Type="http://schemas.openxmlformats.org/officeDocument/2006/relationships/image" Target="../media/image615.png"/><Relationship Id="rId7" Type="http://schemas.openxmlformats.org/officeDocument/2006/relationships/image" Target="../media/image616.png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18.png"/><Relationship Id="rId6" Type="http://schemas.openxmlformats.org/officeDocument/2006/relationships/image" Target="../media/image608.png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20.png"/><Relationship Id="rId6" Type="http://schemas.openxmlformats.org/officeDocument/2006/relationships/image" Target="../media/image621.png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23.png"/><Relationship Id="rId6" Type="http://schemas.openxmlformats.org/officeDocument/2006/relationships/image" Target="../media/image624.png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26.png"/><Relationship Id="rId6" Type="http://schemas.openxmlformats.org/officeDocument/2006/relationships/image" Target="../media/image627.pn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32.png"/><Relationship Id="rId6" Type="http://schemas.openxmlformats.org/officeDocument/2006/relationships/image" Target="../media/image633.pn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35.png"/><Relationship Id="rId6" Type="http://schemas.openxmlformats.org/officeDocument/2006/relationships/image" Target="../media/image636.png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38.png"/><Relationship Id="rId6" Type="http://schemas.openxmlformats.org/officeDocument/2006/relationships/image" Target="../media/image639.png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41.png"/><Relationship Id="rId6" Type="http://schemas.openxmlformats.org/officeDocument/2006/relationships/image" Target="../media/image642.png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4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44.png"/><Relationship Id="rId7" Type="http://schemas.openxmlformats.org/officeDocument/2006/relationships/image" Target="../media/image645.png"/><Relationship Id="rId8" Type="http://schemas.openxmlformats.org/officeDocument/2006/relationships/image" Target="../media/image646.png"/><Relationship Id="rId9" Type="http://schemas.openxmlformats.org/officeDocument/2006/relationships/image" Target="../media/image647.png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49.png"/><Relationship Id="rId6" Type="http://schemas.openxmlformats.org/officeDocument/2006/relationships/image" Target="../media/image650.png"/><Relationship Id="rId7" Type="http://schemas.openxmlformats.org/officeDocument/2006/relationships/image" Target="../media/image651.png"/><Relationship Id="rId8" Type="http://schemas.openxmlformats.org/officeDocument/2006/relationships/image" Target="../media/image652.png"/><Relationship Id="rId9" Type="http://schemas.openxmlformats.org/officeDocument/2006/relationships/image" Target="../media/image653.png"/><Relationship Id="rId10" Type="http://schemas.openxmlformats.org/officeDocument/2006/relationships/image" Target="../media/image654.png"/><Relationship Id="rId11" Type="http://schemas.openxmlformats.org/officeDocument/2006/relationships/image" Target="../media/image655.png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5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45.png"/><Relationship Id="rId7" Type="http://schemas.openxmlformats.org/officeDocument/2006/relationships/image" Target="../media/image657.png"/><Relationship Id="rId8" Type="http://schemas.openxmlformats.org/officeDocument/2006/relationships/image" Target="../media/image647.png"/><Relationship Id="rId9" Type="http://schemas.openxmlformats.org/officeDocument/2006/relationships/image" Target="../media/image644.png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59.png"/><Relationship Id="rId6" Type="http://schemas.openxmlformats.org/officeDocument/2006/relationships/image" Target="../media/image660.png"/><Relationship Id="rId7" Type="http://schemas.openxmlformats.org/officeDocument/2006/relationships/image" Target="../media/image661.png"/><Relationship Id="rId8" Type="http://schemas.openxmlformats.org/officeDocument/2006/relationships/image" Target="../media/image662.jpg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64.png"/><Relationship Id="rId6" Type="http://schemas.openxmlformats.org/officeDocument/2006/relationships/image" Target="../media/image665.png"/><Relationship Id="rId7" Type="http://schemas.openxmlformats.org/officeDocument/2006/relationships/image" Target="../media/image666.png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68.png"/><Relationship Id="rId6" Type="http://schemas.openxmlformats.org/officeDocument/2006/relationships/image" Target="../media/image666.png"/><Relationship Id="rId7" Type="http://schemas.openxmlformats.org/officeDocument/2006/relationships/image" Target="../media/image669.png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71.png"/><Relationship Id="rId6" Type="http://schemas.openxmlformats.org/officeDocument/2006/relationships/image" Target="../media/image666.png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7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45.png"/><Relationship Id="rId7" Type="http://schemas.openxmlformats.org/officeDocument/2006/relationships/image" Target="../media/image673.png"/><Relationship Id="rId8" Type="http://schemas.openxmlformats.org/officeDocument/2006/relationships/image" Target="../media/image647.png"/><Relationship Id="rId9" Type="http://schemas.openxmlformats.org/officeDocument/2006/relationships/image" Target="../media/image644.png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75.png"/><Relationship Id="rId6" Type="http://schemas.openxmlformats.org/officeDocument/2006/relationships/image" Target="../media/image676.png"/><Relationship Id="rId7" Type="http://schemas.openxmlformats.org/officeDocument/2006/relationships/image" Target="../media/image677.png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79.png"/><Relationship Id="rId6" Type="http://schemas.openxmlformats.org/officeDocument/2006/relationships/image" Target="../media/image680.png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82.png"/><Relationship Id="rId6" Type="http://schemas.openxmlformats.org/officeDocument/2006/relationships/image" Target="../media/image683.png"/><Relationship Id="rId7" Type="http://schemas.openxmlformats.org/officeDocument/2006/relationships/image" Target="../media/image684.png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86.png"/><Relationship Id="rId6" Type="http://schemas.openxmlformats.org/officeDocument/2006/relationships/image" Target="../media/image687.png"/><Relationship Id="rId7" Type="http://schemas.openxmlformats.org/officeDocument/2006/relationships/image" Target="../media/image688.png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8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45.png"/><Relationship Id="rId7" Type="http://schemas.openxmlformats.org/officeDocument/2006/relationships/image" Target="../media/image690.png"/><Relationship Id="rId8" Type="http://schemas.openxmlformats.org/officeDocument/2006/relationships/image" Target="../media/image647.png"/><Relationship Id="rId9" Type="http://schemas.openxmlformats.org/officeDocument/2006/relationships/image" Target="../media/image644.png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92.png"/><Relationship Id="rId6" Type="http://schemas.openxmlformats.org/officeDocument/2006/relationships/image" Target="../media/image693.png"/><Relationship Id="rId7" Type="http://schemas.openxmlformats.org/officeDocument/2006/relationships/image" Target="../media/image694.png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96.png"/><Relationship Id="rId6" Type="http://schemas.openxmlformats.org/officeDocument/2006/relationships/image" Target="../media/image697.png"/><Relationship Id="rId7" Type="http://schemas.openxmlformats.org/officeDocument/2006/relationships/image" Target="../media/image698.png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00.png"/><Relationship Id="rId6" Type="http://schemas.openxmlformats.org/officeDocument/2006/relationships/image" Target="../media/image701.png"/><Relationship Id="rId7" Type="http://schemas.openxmlformats.org/officeDocument/2006/relationships/image" Target="../media/image698.png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70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45.png"/><Relationship Id="rId7" Type="http://schemas.openxmlformats.org/officeDocument/2006/relationships/image" Target="../media/image703.png"/><Relationship Id="rId8" Type="http://schemas.openxmlformats.org/officeDocument/2006/relationships/image" Target="../media/image704.png"/><Relationship Id="rId9" Type="http://schemas.openxmlformats.org/officeDocument/2006/relationships/image" Target="../media/image644.png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06.png"/><Relationship Id="rId6" Type="http://schemas.openxmlformats.org/officeDocument/2006/relationships/image" Target="../media/image707.png"/><Relationship Id="rId7" Type="http://schemas.openxmlformats.org/officeDocument/2006/relationships/image" Target="../media/image708.png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10.png"/><Relationship Id="rId6" Type="http://schemas.openxmlformats.org/officeDocument/2006/relationships/image" Target="../media/image711.png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13.png"/><Relationship Id="rId6" Type="http://schemas.openxmlformats.org/officeDocument/2006/relationships/image" Target="../media/image714.png"/><Relationship Id="rId7" Type="http://schemas.openxmlformats.org/officeDocument/2006/relationships/image" Target="../media/image715.png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17.png"/><Relationship Id="rId6" Type="http://schemas.openxmlformats.org/officeDocument/2006/relationships/image" Target="../media/image718.png"/><Relationship Id="rId7" Type="http://schemas.openxmlformats.org/officeDocument/2006/relationships/image" Target="../media/image719.png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21.png"/><Relationship Id="rId6" Type="http://schemas.openxmlformats.org/officeDocument/2006/relationships/image" Target="../media/image722.png"/><Relationship Id="rId7" Type="http://schemas.openxmlformats.org/officeDocument/2006/relationships/image" Target="../media/image723.png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72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45.png"/><Relationship Id="rId7" Type="http://schemas.openxmlformats.org/officeDocument/2006/relationships/image" Target="../media/image703.png"/><Relationship Id="rId8" Type="http://schemas.openxmlformats.org/officeDocument/2006/relationships/image" Target="../media/image725.png"/><Relationship Id="rId9" Type="http://schemas.openxmlformats.org/officeDocument/2006/relationships/image" Target="../media/image644.png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27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730.png"/><Relationship Id="rId9" Type="http://schemas.openxmlformats.org/officeDocument/2006/relationships/image" Target="../media/image731.png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33.png"/><Relationship Id="rId6" Type="http://schemas.openxmlformats.org/officeDocument/2006/relationships/image" Target="../media/image734.png"/><Relationship Id="rId7" Type="http://schemas.openxmlformats.org/officeDocument/2006/relationships/image" Target="../media/image735.png"/><Relationship Id="rId8" Type="http://schemas.openxmlformats.org/officeDocument/2006/relationships/image" Target="../media/image736.png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73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45.png"/><Relationship Id="rId7" Type="http://schemas.openxmlformats.org/officeDocument/2006/relationships/image" Target="../media/image703.png"/><Relationship Id="rId8" Type="http://schemas.openxmlformats.org/officeDocument/2006/relationships/image" Target="../media/image738.png"/><Relationship Id="rId9" Type="http://schemas.openxmlformats.org/officeDocument/2006/relationships/image" Target="../media/image644.png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40.png"/><Relationship Id="rId6" Type="http://schemas.openxmlformats.org/officeDocument/2006/relationships/image" Target="../media/image741.png"/><Relationship Id="rId7" Type="http://schemas.openxmlformats.org/officeDocument/2006/relationships/image" Target="../media/image742.png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6.png"/><Relationship Id="rId3" Type="http://schemas.openxmlformats.org/officeDocument/2006/relationships/image" Target="../media/image747.png"/><Relationship Id="rId4" Type="http://schemas.openxmlformats.org/officeDocument/2006/relationships/image" Target="../media/image748.jpg"/><Relationship Id="rId5" Type="http://schemas.openxmlformats.org/officeDocument/2006/relationships/image" Target="../media/image749.png"/><Relationship Id="rId6" Type="http://schemas.openxmlformats.org/officeDocument/2006/relationships/image" Target="../media/image750.png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1.png"/><Relationship Id="rId3" Type="http://schemas.openxmlformats.org/officeDocument/2006/relationships/image" Target="../media/image75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2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9580" y="449580"/>
              <a:ext cx="1282065" cy="198120"/>
            </a:xfrm>
            <a:custGeom>
              <a:avLst/>
              <a:gdLst/>
              <a:ahLst/>
              <a:cxnLst/>
              <a:rect l="l" t="t" r="r" b="b"/>
              <a:pathLst>
                <a:path w="1282064" h="198120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w="1282064" h="198120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w="1282064" h="198120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w="1282064" h="198120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w="1282064" h="198120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w="1282064" h="198120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w="1282064" h="198120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w="1282064" h="198120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w="1282064" h="198120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w="1282064" h="198120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w="1282064" h="198120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w="1282064" h="198120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w="1282064" h="198120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w="1282064" h="198120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w="1282064" h="198120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w="1282064" h="198120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w="1282064" h="198120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w="1282064" h="198120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w="1282064" h="198120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w="1282064" h="198120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676" y="6141720"/>
              <a:ext cx="1371600" cy="4495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995" y="1865376"/>
              <a:ext cx="2815590" cy="20429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9075" y="4386046"/>
              <a:ext cx="3729990" cy="305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4319015"/>
              <a:ext cx="55244" cy="361315"/>
            </a:xfrm>
            <a:custGeom>
              <a:avLst/>
              <a:gdLst/>
              <a:ahLst/>
              <a:cxnLst/>
              <a:rect l="l" t="t" r="r" b="b"/>
              <a:pathLst>
                <a:path w="55245" h="361314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2603" y="2670035"/>
            <a:ext cx="3915917" cy="3162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9075" y="4213834"/>
            <a:ext cx="3271266" cy="2690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8219" y="2125967"/>
            <a:ext cx="1128521" cy="25223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19327" y="2095500"/>
            <a:ext cx="60960" cy="1577340"/>
          </a:xfrm>
          <a:custGeom>
            <a:avLst/>
            <a:gdLst/>
            <a:ahLst/>
            <a:cxnLst/>
            <a:rect l="l" t="t" r="r" b="b"/>
            <a:pathLst>
              <a:path w="60959" h="1577339">
                <a:moveTo>
                  <a:pt x="60959" y="0"/>
                </a:moveTo>
                <a:lnTo>
                  <a:pt x="0" y="0"/>
                </a:lnTo>
                <a:lnTo>
                  <a:pt x="0" y="1577339"/>
                </a:lnTo>
                <a:lnTo>
                  <a:pt x="60959" y="1577339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9327" y="4157471"/>
            <a:ext cx="60960" cy="323215"/>
          </a:xfrm>
          <a:custGeom>
            <a:avLst/>
            <a:gdLst/>
            <a:ahLst/>
            <a:cxnLst/>
            <a:rect l="l" t="t" r="r" b="b"/>
            <a:pathLst>
              <a:path w="60959" h="323214">
                <a:moveTo>
                  <a:pt x="60959" y="0"/>
                </a:moveTo>
                <a:lnTo>
                  <a:pt x="0" y="0"/>
                </a:lnTo>
                <a:lnTo>
                  <a:pt x="0" y="323088"/>
                </a:lnTo>
                <a:lnTo>
                  <a:pt x="60959" y="323088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2563" y="1609344"/>
            <a:ext cx="8648700" cy="1620520"/>
            <a:chOff x="702563" y="1609344"/>
            <a:chExt cx="8648700" cy="1620520"/>
          </a:xfrm>
        </p:grpSpPr>
        <p:sp>
          <p:nvSpPr>
            <p:cNvPr id="7" name="object 7"/>
            <p:cNvSpPr/>
            <p:nvPr/>
          </p:nvSpPr>
          <p:spPr>
            <a:xfrm>
              <a:off x="712469" y="1619250"/>
              <a:ext cx="8629015" cy="1600200"/>
            </a:xfrm>
            <a:custGeom>
              <a:avLst/>
              <a:gdLst/>
              <a:ahLst/>
              <a:cxnLst/>
              <a:rect l="l" t="t" r="r" b="b"/>
              <a:pathLst>
                <a:path w="8629015" h="1600200">
                  <a:moveTo>
                    <a:pt x="0" y="1600200"/>
                  </a:moveTo>
                  <a:lnTo>
                    <a:pt x="8628888" y="1600200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1981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584" y="1796796"/>
              <a:ext cx="8274558" cy="125806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1335024"/>
            <a:ext cx="1448562" cy="18059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03859" y="1249680"/>
            <a:ext cx="291465" cy="311150"/>
            <a:chOff x="403859" y="1249680"/>
            <a:chExt cx="291465" cy="31115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959" y="1287780"/>
              <a:ext cx="214884" cy="23466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1959" y="1287780"/>
              <a:ext cx="215265" cy="234950"/>
            </a:xfrm>
            <a:custGeom>
              <a:avLst/>
              <a:gdLst/>
              <a:ahLst/>
              <a:cxnLst/>
              <a:rect l="l" t="t" r="r" b="b"/>
              <a:pathLst>
                <a:path w="215265" h="234950">
                  <a:moveTo>
                    <a:pt x="0" y="82550"/>
                  </a:moveTo>
                  <a:lnTo>
                    <a:pt x="23990" y="40512"/>
                  </a:lnTo>
                  <a:lnTo>
                    <a:pt x="83451" y="5715"/>
                  </a:lnTo>
                  <a:lnTo>
                    <a:pt x="107442" y="0"/>
                  </a:lnTo>
                  <a:lnTo>
                    <a:pt x="120224" y="1428"/>
                  </a:lnTo>
                  <a:lnTo>
                    <a:pt x="190893" y="40512"/>
                  </a:lnTo>
                  <a:lnTo>
                    <a:pt x="214884" y="82550"/>
                  </a:lnTo>
                  <a:lnTo>
                    <a:pt x="214884" y="152146"/>
                  </a:lnTo>
                  <a:lnTo>
                    <a:pt x="190893" y="194183"/>
                  </a:lnTo>
                  <a:lnTo>
                    <a:pt x="131432" y="228854"/>
                  </a:lnTo>
                  <a:lnTo>
                    <a:pt x="107442" y="234664"/>
                  </a:lnTo>
                  <a:lnTo>
                    <a:pt x="94659" y="233211"/>
                  </a:lnTo>
                  <a:lnTo>
                    <a:pt x="23990" y="194183"/>
                  </a:lnTo>
                  <a:lnTo>
                    <a:pt x="0" y="152146"/>
                  </a:lnTo>
                  <a:lnTo>
                    <a:pt x="0" y="8255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3900" y="3486911"/>
            <a:ext cx="1340358" cy="17906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1480" y="3401567"/>
            <a:ext cx="8940165" cy="2054860"/>
            <a:chOff x="411480" y="3401567"/>
            <a:chExt cx="8940165" cy="205486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580" y="3439667"/>
              <a:ext cx="216408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9580" y="3439667"/>
              <a:ext cx="216535" cy="233679"/>
            </a:xfrm>
            <a:custGeom>
              <a:avLst/>
              <a:gdLst/>
              <a:ahLst/>
              <a:cxnLst/>
              <a:rect l="l" t="t" r="r" b="b"/>
              <a:pathLst>
                <a:path w="216534" h="233679">
                  <a:moveTo>
                    <a:pt x="0" y="82042"/>
                  </a:moveTo>
                  <a:lnTo>
                    <a:pt x="24168" y="40259"/>
                  </a:lnTo>
                  <a:lnTo>
                    <a:pt x="84048" y="5715"/>
                  </a:lnTo>
                  <a:lnTo>
                    <a:pt x="108204" y="0"/>
                  </a:lnTo>
                  <a:lnTo>
                    <a:pt x="121074" y="1428"/>
                  </a:lnTo>
                  <a:lnTo>
                    <a:pt x="192239" y="40259"/>
                  </a:lnTo>
                  <a:lnTo>
                    <a:pt x="216408" y="82042"/>
                  </a:lnTo>
                  <a:lnTo>
                    <a:pt x="216408" y="151130"/>
                  </a:lnTo>
                  <a:lnTo>
                    <a:pt x="192239" y="192913"/>
                  </a:lnTo>
                  <a:lnTo>
                    <a:pt x="132359" y="227457"/>
                  </a:lnTo>
                  <a:lnTo>
                    <a:pt x="108204" y="233172"/>
                  </a:lnTo>
                  <a:lnTo>
                    <a:pt x="95333" y="231743"/>
                  </a:lnTo>
                  <a:lnTo>
                    <a:pt x="24168" y="192913"/>
                  </a:lnTo>
                  <a:lnTo>
                    <a:pt x="0" y="151130"/>
                  </a:lnTo>
                  <a:lnTo>
                    <a:pt x="0" y="82042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12470" y="3745229"/>
              <a:ext cx="8629015" cy="1701164"/>
            </a:xfrm>
            <a:custGeom>
              <a:avLst/>
              <a:gdLst/>
              <a:ahLst/>
              <a:cxnLst/>
              <a:rect l="l" t="t" r="r" b="b"/>
              <a:pathLst>
                <a:path w="8629015" h="1701164">
                  <a:moveTo>
                    <a:pt x="0" y="1700784"/>
                  </a:moveTo>
                  <a:lnTo>
                    <a:pt x="8628888" y="1700784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1700784"/>
                  </a:lnTo>
                  <a:close/>
                </a:path>
              </a:pathLst>
            </a:custGeom>
            <a:ln w="1981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147" y="3921251"/>
              <a:ext cx="2797310" cy="135864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37184" y="430784"/>
            <a:ext cx="27038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2E8E"/>
                </a:solidFill>
              </a:rPr>
              <a:t>Chapter</a:t>
            </a:r>
            <a:r>
              <a:rPr dirty="0" sz="2400" spc="-70">
                <a:solidFill>
                  <a:srgbClr val="002E8E"/>
                </a:solidFill>
              </a:rPr>
              <a:t> </a:t>
            </a:r>
            <a:r>
              <a:rPr dirty="0" sz="2400" spc="-5">
                <a:solidFill>
                  <a:srgbClr val="002E8E"/>
                </a:solidFill>
              </a:rPr>
              <a:t>Description</a:t>
            </a:r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616452" y="630936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 h="0">
                <a:moveTo>
                  <a:pt x="0" y="0"/>
                </a:moveTo>
                <a:lnTo>
                  <a:pt x="5832602" y="0"/>
                </a:lnTo>
              </a:path>
            </a:pathLst>
          </a:custGeom>
          <a:ln w="12192">
            <a:solidFill>
              <a:srgbClr val="13289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7728" y="6524434"/>
            <a:ext cx="4183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5172" y="3224771"/>
            <a:ext cx="2183129" cy="3116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01440"/>
            <a:ext cx="3260598" cy="10386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604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532504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1.1.</a:t>
            </a:r>
            <a:r>
              <a:rPr dirty="0" spc="-15"/>
              <a:t> </a:t>
            </a:r>
            <a:r>
              <a:rPr dirty="0" spc="-5"/>
              <a:t>Installing</a:t>
            </a:r>
            <a:r>
              <a:rPr dirty="0" spc="-20"/>
              <a:t> </a:t>
            </a:r>
            <a:r>
              <a:rPr dirty="0" spc="-5"/>
              <a:t>Anaconda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5"/>
              <a:t>Python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2627" y="1443177"/>
            <a:ext cx="5154932" cy="30256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937004"/>
            <a:ext cx="2102358" cy="17602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614929" y="2645410"/>
            <a:ext cx="4909820" cy="3059430"/>
            <a:chOff x="2614929" y="2645410"/>
            <a:chExt cx="4909820" cy="3059430"/>
          </a:xfrm>
        </p:grpSpPr>
        <p:sp>
          <p:nvSpPr>
            <p:cNvPr id="11" name="object 11"/>
            <p:cNvSpPr/>
            <p:nvPr/>
          </p:nvSpPr>
          <p:spPr>
            <a:xfrm>
              <a:off x="2621279" y="2796540"/>
              <a:ext cx="4897120" cy="2901950"/>
            </a:xfrm>
            <a:custGeom>
              <a:avLst/>
              <a:gdLst/>
              <a:ahLst/>
              <a:cxnLst/>
              <a:rect l="l" t="t" r="r" b="b"/>
              <a:pathLst>
                <a:path w="4897120" h="2901950">
                  <a:moveTo>
                    <a:pt x="0" y="2901695"/>
                  </a:moveTo>
                  <a:lnTo>
                    <a:pt x="4896612" y="2901695"/>
                  </a:lnTo>
                  <a:lnTo>
                    <a:pt x="4896612" y="0"/>
                  </a:lnTo>
                  <a:lnTo>
                    <a:pt x="0" y="0"/>
                  </a:lnTo>
                  <a:lnTo>
                    <a:pt x="0" y="2901695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21123" y="2651760"/>
              <a:ext cx="1513840" cy="288290"/>
            </a:xfrm>
            <a:custGeom>
              <a:avLst/>
              <a:gdLst/>
              <a:ahLst/>
              <a:cxnLst/>
              <a:rect l="l" t="t" r="r" b="b"/>
              <a:pathLst>
                <a:path w="1513839" h="288289">
                  <a:moveTo>
                    <a:pt x="1513331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513331" y="288036"/>
                  </a:lnTo>
                  <a:lnTo>
                    <a:pt x="1513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57471" y="265176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7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57471" y="265176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7" y="288036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68851" y="2676270"/>
            <a:ext cx="14179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0845" algn="l"/>
              </a:tabLst>
            </a:pPr>
            <a:r>
              <a:rPr dirty="0" sz="1400" spc="-565" b="1">
                <a:solidFill>
                  <a:srgbClr val="F7F7F7"/>
                </a:solidFill>
                <a:latin typeface="Tahoma"/>
                <a:cs typeface="Tahoma"/>
              </a:rPr>
              <a:t>1</a:t>
            </a:r>
            <a:r>
              <a:rPr dirty="0" sz="1400" spc="-565" b="1">
                <a:solidFill>
                  <a:srgbClr val="F7F7F7"/>
                </a:solidFill>
                <a:latin typeface="Tahoma"/>
                <a:cs typeface="Tahoma"/>
              </a:rPr>
              <a:t>	</a:t>
            </a:r>
            <a:r>
              <a:rPr dirty="0" sz="1400" spc="-40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400" spc="-28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400" spc="-19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4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4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150" b="1">
                <a:solidFill>
                  <a:srgbClr val="252525"/>
                </a:solidFill>
                <a:latin typeface="Tahoma"/>
                <a:cs typeface="Tahoma"/>
              </a:rPr>
              <a:t>ll</a:t>
            </a:r>
            <a:r>
              <a:rPr dirty="0" sz="1400" spc="-16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35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32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400" spc="-28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17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4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400" spc="-32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400" spc="-315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400" spc="-28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00755" y="3108960"/>
            <a:ext cx="1877695" cy="497205"/>
          </a:xfrm>
          <a:prstGeom prst="rect">
            <a:avLst/>
          </a:prstGeom>
          <a:ln w="12192">
            <a:solidFill>
              <a:srgbClr val="4471C4"/>
            </a:solidFill>
          </a:ln>
        </p:spPr>
        <p:txBody>
          <a:bodyPr wrap="square" lIns="0" tIns="140970" rIns="0" bIns="0" rtlCol="0" vert="horz">
            <a:spAutoFit/>
          </a:bodyPr>
          <a:lstStyle/>
          <a:p>
            <a:pPr marL="603250">
              <a:lnSpc>
                <a:spcPct val="100000"/>
              </a:lnSpc>
              <a:spcBef>
                <a:spcPts val="1110"/>
              </a:spcBef>
            </a:pPr>
            <a:r>
              <a:rPr dirty="0" sz="1400" spc="-260" b="1">
                <a:solidFill>
                  <a:srgbClr val="252525"/>
                </a:solidFill>
                <a:latin typeface="Tahoma"/>
                <a:cs typeface="Tahoma"/>
              </a:rPr>
              <a:t>Tensorflow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7800" y="3108960"/>
            <a:ext cx="1842770" cy="497205"/>
          </a:xfrm>
          <a:prstGeom prst="rect">
            <a:avLst/>
          </a:prstGeom>
          <a:ln w="12192">
            <a:solidFill>
              <a:srgbClr val="4471C4"/>
            </a:solidFill>
          </a:ln>
        </p:spPr>
        <p:txBody>
          <a:bodyPr wrap="square" lIns="0" tIns="1409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10"/>
              </a:spcBef>
            </a:pPr>
            <a:r>
              <a:rPr dirty="0" sz="1400" spc="-235" b="1">
                <a:solidFill>
                  <a:srgbClr val="252525"/>
                </a:solidFill>
                <a:latin typeface="Tahoma"/>
                <a:cs typeface="Tahoma"/>
              </a:rPr>
              <a:t>Keras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53384" y="3777996"/>
            <a:ext cx="1424940" cy="497205"/>
          </a:xfrm>
          <a:prstGeom prst="rect">
            <a:avLst/>
          </a:prstGeom>
          <a:solidFill>
            <a:srgbClr val="F7F7F7"/>
          </a:solidFill>
          <a:ln w="12192">
            <a:solidFill>
              <a:srgbClr val="5B9BD4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15"/>
              </a:spcBef>
            </a:pPr>
            <a:r>
              <a:rPr dirty="0" sz="1400" spc="-280" b="1">
                <a:solidFill>
                  <a:srgbClr val="252525"/>
                </a:solidFill>
                <a:latin typeface="Tahoma"/>
                <a:cs typeface="Tahoma"/>
              </a:rPr>
              <a:t>Pandas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8467" y="3777996"/>
            <a:ext cx="1424940" cy="497205"/>
          </a:xfrm>
          <a:prstGeom prst="rect">
            <a:avLst/>
          </a:prstGeom>
          <a:solidFill>
            <a:srgbClr val="F7F7F7"/>
          </a:solidFill>
          <a:ln w="12192">
            <a:solidFill>
              <a:srgbClr val="5B9BD4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115"/>
              </a:spcBef>
            </a:pPr>
            <a:r>
              <a:rPr dirty="0" sz="1400" spc="-229" b="1">
                <a:solidFill>
                  <a:srgbClr val="252525"/>
                </a:solidFill>
                <a:latin typeface="Tahoma"/>
                <a:cs typeface="Tahoma"/>
              </a:rPr>
              <a:t>Scipy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53384" y="4396740"/>
            <a:ext cx="1424940" cy="495300"/>
          </a:xfrm>
          <a:prstGeom prst="rect">
            <a:avLst/>
          </a:prstGeom>
          <a:solidFill>
            <a:srgbClr val="F7F7F7"/>
          </a:solidFill>
          <a:ln w="12192">
            <a:solidFill>
              <a:srgbClr val="5B9BD4"/>
            </a:solidFill>
          </a:ln>
        </p:spPr>
        <p:txBody>
          <a:bodyPr wrap="square" lIns="0" tIns="140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dirty="0" sz="1400" spc="-254" b="1">
                <a:solidFill>
                  <a:srgbClr val="252525"/>
                </a:solidFill>
                <a:latin typeface="Tahoma"/>
                <a:cs typeface="Tahoma"/>
              </a:rPr>
              <a:t>Jupyto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68467" y="4396740"/>
            <a:ext cx="1424940" cy="495300"/>
          </a:xfrm>
          <a:prstGeom prst="rect">
            <a:avLst/>
          </a:prstGeom>
          <a:solidFill>
            <a:srgbClr val="F7F7F7"/>
          </a:solidFill>
          <a:ln w="12192">
            <a:solidFill>
              <a:srgbClr val="5B9BD4"/>
            </a:solidFill>
          </a:ln>
        </p:spPr>
        <p:txBody>
          <a:bodyPr wrap="square" lIns="0" tIns="14097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110"/>
              </a:spcBef>
            </a:pPr>
            <a:r>
              <a:rPr dirty="0" sz="1400" spc="-360" b="1">
                <a:solidFill>
                  <a:srgbClr val="252525"/>
                </a:solidFill>
                <a:latin typeface="Tahoma"/>
                <a:cs typeface="Tahoma"/>
              </a:rPr>
              <a:t>Numpy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30295" y="5021579"/>
            <a:ext cx="3886200" cy="497205"/>
          </a:xfrm>
          <a:prstGeom prst="rect">
            <a:avLst/>
          </a:prstGeom>
          <a:solidFill>
            <a:srgbClr val="F7F7F7"/>
          </a:solidFill>
          <a:ln w="12192">
            <a:solidFill>
              <a:srgbClr val="5B9BD4"/>
            </a:solidFill>
          </a:ln>
        </p:spPr>
        <p:txBody>
          <a:bodyPr wrap="square" lIns="0" tIns="14224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20"/>
              </a:spcBef>
            </a:pPr>
            <a:r>
              <a:rPr dirty="0" sz="1400" spc="-290" b="1">
                <a:solidFill>
                  <a:srgbClr val="252525"/>
                </a:solidFill>
                <a:latin typeface="Tahoma"/>
                <a:cs typeface="Tahoma"/>
              </a:rPr>
              <a:t>Python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74038" y="3129737"/>
            <a:ext cx="699770" cy="454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35" b="1">
                <a:solidFill>
                  <a:srgbClr val="252525"/>
                </a:solidFill>
                <a:latin typeface="Tahoma"/>
                <a:cs typeface="Tahoma"/>
              </a:rPr>
              <a:t>Install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260" b="1">
                <a:solidFill>
                  <a:srgbClr val="252525"/>
                </a:solidFill>
                <a:latin typeface="Tahoma"/>
                <a:cs typeface="Tahoma"/>
              </a:rPr>
              <a:t>Tensorflow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76527" y="3122676"/>
            <a:ext cx="327660" cy="300355"/>
            <a:chOff x="1176527" y="3122676"/>
            <a:chExt cx="327660" cy="300355"/>
          </a:xfrm>
        </p:grpSpPr>
        <p:sp>
          <p:nvSpPr>
            <p:cNvPr id="25" name="object 25"/>
            <p:cNvSpPr/>
            <p:nvPr/>
          </p:nvSpPr>
          <p:spPr>
            <a:xfrm>
              <a:off x="1182623" y="3128772"/>
              <a:ext cx="315595" cy="288290"/>
            </a:xfrm>
            <a:custGeom>
              <a:avLst/>
              <a:gdLst/>
              <a:ahLst/>
              <a:cxnLst/>
              <a:rect l="l" t="t" r="r" b="b"/>
              <a:pathLst>
                <a:path w="315594" h="288289">
                  <a:moveTo>
                    <a:pt x="157734" y="0"/>
                  </a:moveTo>
                  <a:lnTo>
                    <a:pt x="107879" y="7345"/>
                  </a:lnTo>
                  <a:lnTo>
                    <a:pt x="64580" y="27797"/>
                  </a:lnTo>
                  <a:lnTo>
                    <a:pt x="30434" y="58978"/>
                  </a:lnTo>
                  <a:lnTo>
                    <a:pt x="8041" y="98511"/>
                  </a:lnTo>
                  <a:lnTo>
                    <a:pt x="0" y="144017"/>
                  </a:lnTo>
                  <a:lnTo>
                    <a:pt x="8041" y="189524"/>
                  </a:lnTo>
                  <a:lnTo>
                    <a:pt x="30434" y="229057"/>
                  </a:lnTo>
                  <a:lnTo>
                    <a:pt x="64580" y="260238"/>
                  </a:lnTo>
                  <a:lnTo>
                    <a:pt x="107879" y="280690"/>
                  </a:lnTo>
                  <a:lnTo>
                    <a:pt x="157734" y="288036"/>
                  </a:lnTo>
                  <a:lnTo>
                    <a:pt x="207593" y="280690"/>
                  </a:lnTo>
                  <a:lnTo>
                    <a:pt x="250893" y="260238"/>
                  </a:lnTo>
                  <a:lnTo>
                    <a:pt x="285036" y="229057"/>
                  </a:lnTo>
                  <a:lnTo>
                    <a:pt x="307427" y="189524"/>
                  </a:lnTo>
                  <a:lnTo>
                    <a:pt x="315467" y="144017"/>
                  </a:lnTo>
                  <a:lnTo>
                    <a:pt x="307427" y="98511"/>
                  </a:lnTo>
                  <a:lnTo>
                    <a:pt x="285036" y="58978"/>
                  </a:lnTo>
                  <a:lnTo>
                    <a:pt x="250893" y="27797"/>
                  </a:lnTo>
                  <a:lnTo>
                    <a:pt x="207593" y="7345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82623" y="3128772"/>
              <a:ext cx="315595" cy="288290"/>
            </a:xfrm>
            <a:custGeom>
              <a:avLst/>
              <a:gdLst/>
              <a:ahLst/>
              <a:cxnLst/>
              <a:rect l="l" t="t" r="r" b="b"/>
              <a:pathLst>
                <a:path w="315594" h="288289">
                  <a:moveTo>
                    <a:pt x="0" y="144017"/>
                  </a:moveTo>
                  <a:lnTo>
                    <a:pt x="8041" y="98511"/>
                  </a:lnTo>
                  <a:lnTo>
                    <a:pt x="30434" y="58978"/>
                  </a:lnTo>
                  <a:lnTo>
                    <a:pt x="64580" y="27797"/>
                  </a:lnTo>
                  <a:lnTo>
                    <a:pt x="107879" y="7345"/>
                  </a:lnTo>
                  <a:lnTo>
                    <a:pt x="157734" y="0"/>
                  </a:lnTo>
                  <a:lnTo>
                    <a:pt x="207593" y="7345"/>
                  </a:lnTo>
                  <a:lnTo>
                    <a:pt x="250893" y="27797"/>
                  </a:lnTo>
                  <a:lnTo>
                    <a:pt x="285036" y="58978"/>
                  </a:lnTo>
                  <a:lnTo>
                    <a:pt x="307427" y="98511"/>
                  </a:lnTo>
                  <a:lnTo>
                    <a:pt x="315467" y="144017"/>
                  </a:lnTo>
                  <a:lnTo>
                    <a:pt x="307427" y="189524"/>
                  </a:lnTo>
                  <a:lnTo>
                    <a:pt x="285036" y="229057"/>
                  </a:lnTo>
                  <a:lnTo>
                    <a:pt x="250893" y="260238"/>
                  </a:lnTo>
                  <a:lnTo>
                    <a:pt x="207593" y="280690"/>
                  </a:lnTo>
                  <a:lnTo>
                    <a:pt x="157734" y="288036"/>
                  </a:lnTo>
                  <a:lnTo>
                    <a:pt x="107879" y="280690"/>
                  </a:lnTo>
                  <a:lnTo>
                    <a:pt x="64580" y="260238"/>
                  </a:lnTo>
                  <a:lnTo>
                    <a:pt x="30434" y="229057"/>
                  </a:lnTo>
                  <a:lnTo>
                    <a:pt x="8041" y="189524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88796" y="3153282"/>
            <a:ext cx="10413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75" b="1">
                <a:solidFill>
                  <a:srgbClr val="F7F7F7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20888" y="3197732"/>
            <a:ext cx="40005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5"/>
              </a:spcBef>
            </a:pPr>
            <a:r>
              <a:rPr dirty="0" sz="1400" spc="-40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400" spc="-28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400" spc="-19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4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4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150" b="1">
                <a:solidFill>
                  <a:srgbClr val="252525"/>
                </a:solidFill>
                <a:latin typeface="Tahoma"/>
                <a:cs typeface="Tahoma"/>
              </a:rPr>
              <a:t>ll  </a:t>
            </a:r>
            <a:r>
              <a:rPr dirty="0" sz="1400" spc="-380" b="1">
                <a:solidFill>
                  <a:srgbClr val="252525"/>
                </a:solidFill>
                <a:latin typeface="Tahoma"/>
                <a:cs typeface="Tahoma"/>
              </a:rPr>
              <a:t>K</a:t>
            </a:r>
            <a:r>
              <a:rPr dirty="0" sz="1400" spc="-26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4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400" spc="-204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18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648956" y="3206495"/>
            <a:ext cx="327660" cy="300355"/>
            <a:chOff x="7648956" y="3206495"/>
            <a:chExt cx="327660" cy="300355"/>
          </a:xfrm>
        </p:grpSpPr>
        <p:sp>
          <p:nvSpPr>
            <p:cNvPr id="30" name="object 30"/>
            <p:cNvSpPr/>
            <p:nvPr/>
          </p:nvSpPr>
          <p:spPr>
            <a:xfrm>
              <a:off x="7655052" y="3212591"/>
              <a:ext cx="315595" cy="288290"/>
            </a:xfrm>
            <a:custGeom>
              <a:avLst/>
              <a:gdLst/>
              <a:ahLst/>
              <a:cxnLst/>
              <a:rect l="l" t="t" r="r" b="b"/>
              <a:pathLst>
                <a:path w="315595" h="288289">
                  <a:moveTo>
                    <a:pt x="157733" y="0"/>
                  </a:moveTo>
                  <a:lnTo>
                    <a:pt x="107874" y="7345"/>
                  </a:lnTo>
                  <a:lnTo>
                    <a:pt x="64574" y="27797"/>
                  </a:lnTo>
                  <a:lnTo>
                    <a:pt x="30431" y="58978"/>
                  </a:lnTo>
                  <a:lnTo>
                    <a:pt x="8040" y="98511"/>
                  </a:lnTo>
                  <a:lnTo>
                    <a:pt x="0" y="144018"/>
                  </a:lnTo>
                  <a:lnTo>
                    <a:pt x="8040" y="189524"/>
                  </a:lnTo>
                  <a:lnTo>
                    <a:pt x="30431" y="229057"/>
                  </a:lnTo>
                  <a:lnTo>
                    <a:pt x="64574" y="260238"/>
                  </a:lnTo>
                  <a:lnTo>
                    <a:pt x="107874" y="280690"/>
                  </a:lnTo>
                  <a:lnTo>
                    <a:pt x="157733" y="288036"/>
                  </a:lnTo>
                  <a:lnTo>
                    <a:pt x="207593" y="280690"/>
                  </a:lnTo>
                  <a:lnTo>
                    <a:pt x="250893" y="260238"/>
                  </a:lnTo>
                  <a:lnTo>
                    <a:pt x="285036" y="229057"/>
                  </a:lnTo>
                  <a:lnTo>
                    <a:pt x="307427" y="189524"/>
                  </a:lnTo>
                  <a:lnTo>
                    <a:pt x="315468" y="144018"/>
                  </a:lnTo>
                  <a:lnTo>
                    <a:pt x="307427" y="98511"/>
                  </a:lnTo>
                  <a:lnTo>
                    <a:pt x="285036" y="58978"/>
                  </a:lnTo>
                  <a:lnTo>
                    <a:pt x="250893" y="27797"/>
                  </a:lnTo>
                  <a:lnTo>
                    <a:pt x="207593" y="7345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655052" y="3212591"/>
              <a:ext cx="315595" cy="288290"/>
            </a:xfrm>
            <a:custGeom>
              <a:avLst/>
              <a:gdLst/>
              <a:ahLst/>
              <a:cxnLst/>
              <a:rect l="l" t="t" r="r" b="b"/>
              <a:pathLst>
                <a:path w="315595" h="288289">
                  <a:moveTo>
                    <a:pt x="0" y="144018"/>
                  </a:moveTo>
                  <a:lnTo>
                    <a:pt x="8040" y="98511"/>
                  </a:lnTo>
                  <a:lnTo>
                    <a:pt x="30431" y="58978"/>
                  </a:lnTo>
                  <a:lnTo>
                    <a:pt x="64574" y="27797"/>
                  </a:lnTo>
                  <a:lnTo>
                    <a:pt x="107874" y="7345"/>
                  </a:lnTo>
                  <a:lnTo>
                    <a:pt x="157733" y="0"/>
                  </a:lnTo>
                  <a:lnTo>
                    <a:pt x="207593" y="7345"/>
                  </a:lnTo>
                  <a:lnTo>
                    <a:pt x="250893" y="27797"/>
                  </a:lnTo>
                  <a:lnTo>
                    <a:pt x="285036" y="58978"/>
                  </a:lnTo>
                  <a:lnTo>
                    <a:pt x="307427" y="98511"/>
                  </a:lnTo>
                  <a:lnTo>
                    <a:pt x="315468" y="144018"/>
                  </a:lnTo>
                  <a:lnTo>
                    <a:pt x="307427" y="189524"/>
                  </a:lnTo>
                  <a:lnTo>
                    <a:pt x="285036" y="229057"/>
                  </a:lnTo>
                  <a:lnTo>
                    <a:pt x="250893" y="260238"/>
                  </a:lnTo>
                  <a:lnTo>
                    <a:pt x="207593" y="280690"/>
                  </a:lnTo>
                  <a:lnTo>
                    <a:pt x="157733" y="288036"/>
                  </a:lnTo>
                  <a:lnTo>
                    <a:pt x="107874" y="280690"/>
                  </a:lnTo>
                  <a:lnTo>
                    <a:pt x="64574" y="260238"/>
                  </a:lnTo>
                  <a:lnTo>
                    <a:pt x="30431" y="229057"/>
                  </a:lnTo>
                  <a:lnTo>
                    <a:pt x="8040" y="189524"/>
                  </a:lnTo>
                  <a:lnTo>
                    <a:pt x="0" y="14401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759700" y="3237102"/>
            <a:ext cx="1079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0" b="1">
                <a:solidFill>
                  <a:srgbClr val="F7F7F7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4550" y="2482519"/>
            <a:ext cx="850849" cy="85084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73951" y="2491790"/>
            <a:ext cx="850849" cy="850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066037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192530" cy="1333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5325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Installing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Anaconda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Python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3312" y="2165924"/>
            <a:ext cx="7602855" cy="2144395"/>
            <a:chOff x="733312" y="2165924"/>
            <a:chExt cx="7602855" cy="214439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312" y="2165924"/>
              <a:ext cx="7602498" cy="214388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33487" y="2310383"/>
              <a:ext cx="432816" cy="4312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383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066037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192530" cy="1333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5325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Installing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Anaconda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Python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6029" y="2164764"/>
            <a:ext cx="5982335" cy="3614420"/>
            <a:chOff x="736029" y="2164764"/>
            <a:chExt cx="5982335" cy="361442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029" y="2164764"/>
              <a:ext cx="5981888" cy="36143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3616" y="5027675"/>
              <a:ext cx="431292" cy="4312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066037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192530" cy="1333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5325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Installing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Anaconda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Python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7514" y="2095643"/>
            <a:ext cx="4439285" cy="3547745"/>
            <a:chOff x="737514" y="2095643"/>
            <a:chExt cx="4439285" cy="354774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7514" y="2095643"/>
              <a:ext cx="4438720" cy="34237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1460" y="5210555"/>
              <a:ext cx="431291" cy="4328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192" y="3145536"/>
              <a:ext cx="432815" cy="432815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6176" y="6140196"/>
            <a:ext cx="4074414" cy="151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21713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075682" cy="40919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5325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Installing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Anaconda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Python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2563" y="2287523"/>
            <a:ext cx="3952240" cy="3496310"/>
            <a:chOff x="702563" y="2287523"/>
            <a:chExt cx="3952240" cy="349631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563" y="2287523"/>
              <a:ext cx="3951732" cy="34960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13175" y="243077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8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8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13175" y="243077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8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8" y="288036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405632" y="2455291"/>
            <a:ext cx="10413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75" b="1">
                <a:solidFill>
                  <a:srgbClr val="F7F7F7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59909" y="3235198"/>
            <a:ext cx="300990" cy="300990"/>
            <a:chOff x="4359909" y="3235198"/>
            <a:chExt cx="300990" cy="300990"/>
          </a:xfrm>
        </p:grpSpPr>
        <p:sp>
          <p:nvSpPr>
            <p:cNvPr id="16" name="object 16"/>
            <p:cNvSpPr/>
            <p:nvPr/>
          </p:nvSpPr>
          <p:spPr>
            <a:xfrm>
              <a:off x="4366259" y="324154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7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66259" y="324154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7" y="288036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457191" y="3265170"/>
            <a:ext cx="1079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0" b="1">
                <a:solidFill>
                  <a:srgbClr val="F7F7F7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30452" y="5369052"/>
            <a:ext cx="300355" cy="300355"/>
            <a:chOff x="1330452" y="5369052"/>
            <a:chExt cx="300355" cy="300355"/>
          </a:xfrm>
        </p:grpSpPr>
        <p:sp>
          <p:nvSpPr>
            <p:cNvPr id="20" name="object 20"/>
            <p:cNvSpPr/>
            <p:nvPr/>
          </p:nvSpPr>
          <p:spPr>
            <a:xfrm>
              <a:off x="1336548" y="537514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018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39"/>
                  </a:lnTo>
                  <a:lnTo>
                    <a:pt x="27797" y="229073"/>
                  </a:lnTo>
                  <a:lnTo>
                    <a:pt x="58978" y="260249"/>
                  </a:lnTo>
                  <a:lnTo>
                    <a:pt x="98511" y="280693"/>
                  </a:lnTo>
                  <a:lnTo>
                    <a:pt x="144018" y="288035"/>
                  </a:lnTo>
                  <a:lnTo>
                    <a:pt x="189524" y="280693"/>
                  </a:lnTo>
                  <a:lnTo>
                    <a:pt x="229057" y="260249"/>
                  </a:lnTo>
                  <a:lnTo>
                    <a:pt x="260238" y="229073"/>
                  </a:lnTo>
                  <a:lnTo>
                    <a:pt x="280690" y="189539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336548" y="537514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39"/>
                  </a:lnTo>
                  <a:lnTo>
                    <a:pt x="260238" y="229073"/>
                  </a:lnTo>
                  <a:lnTo>
                    <a:pt x="229057" y="260249"/>
                  </a:lnTo>
                  <a:lnTo>
                    <a:pt x="189524" y="280693"/>
                  </a:lnTo>
                  <a:lnTo>
                    <a:pt x="144018" y="288035"/>
                  </a:lnTo>
                  <a:lnTo>
                    <a:pt x="98511" y="280693"/>
                  </a:lnTo>
                  <a:lnTo>
                    <a:pt x="58978" y="260249"/>
                  </a:lnTo>
                  <a:lnTo>
                    <a:pt x="27797" y="229073"/>
                  </a:lnTo>
                  <a:lnTo>
                    <a:pt x="7345" y="189539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447038" y="5399023"/>
            <a:ext cx="679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65" b="1">
                <a:solidFill>
                  <a:srgbClr val="F7F7F7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2016" y="6524434"/>
            <a:ext cx="6297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21713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458717" cy="1623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5325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Installing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Anaconda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Python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2791" y="2171368"/>
            <a:ext cx="4700905" cy="808355"/>
            <a:chOff x="732791" y="2171368"/>
            <a:chExt cx="4700905" cy="80835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791" y="2171368"/>
              <a:ext cx="4700456" cy="808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25852" y="2586227"/>
              <a:ext cx="1630680" cy="247015"/>
            </a:xfrm>
            <a:custGeom>
              <a:avLst/>
              <a:gdLst/>
              <a:ahLst/>
              <a:cxnLst/>
              <a:rect l="l" t="t" r="r" b="b"/>
              <a:pathLst>
                <a:path w="1630679" h="247014">
                  <a:moveTo>
                    <a:pt x="1630679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1630679" y="246887"/>
                  </a:lnTo>
                  <a:lnTo>
                    <a:pt x="1630679" y="0"/>
                  </a:lnTo>
                  <a:close/>
                </a:path>
              </a:pathLst>
            </a:custGeom>
            <a:solidFill>
              <a:srgbClr val="F15E3C">
                <a:alpha val="3097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9652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21713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708910" cy="1623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5325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Installing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Anaconda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Python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2563" y="2124455"/>
            <a:ext cx="8822690" cy="1899285"/>
            <a:chOff x="702563" y="2124455"/>
            <a:chExt cx="8822690" cy="189928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707" y="2144135"/>
              <a:ext cx="8791956" cy="18700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7135" y="2129027"/>
              <a:ext cx="8813800" cy="1889760"/>
            </a:xfrm>
            <a:custGeom>
              <a:avLst/>
              <a:gdLst/>
              <a:ahLst/>
              <a:cxnLst/>
              <a:rect l="l" t="t" r="r" b="b"/>
              <a:pathLst>
                <a:path w="8813800" h="1889760">
                  <a:moveTo>
                    <a:pt x="0" y="1889760"/>
                  </a:moveTo>
                  <a:lnTo>
                    <a:pt x="8813292" y="1889760"/>
                  </a:lnTo>
                  <a:lnTo>
                    <a:pt x="8813292" y="0"/>
                  </a:lnTo>
                  <a:lnTo>
                    <a:pt x="0" y="0"/>
                  </a:lnTo>
                  <a:lnTo>
                    <a:pt x="0" y="1889760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5172" y="3224771"/>
            <a:ext cx="2183129" cy="3116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2571750" cy="10431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54254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1.2.</a:t>
            </a:r>
            <a:r>
              <a:rPr dirty="0" spc="-20"/>
              <a:t> </a:t>
            </a:r>
            <a:r>
              <a:rPr dirty="0" spc="-5"/>
              <a:t>Intro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 spc="-5"/>
              <a:t>Mathematics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918716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1941576"/>
            <a:ext cx="7386066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458199"/>
            <a:ext cx="8010906" cy="5798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0248" y="1440154"/>
            <a:ext cx="3899154" cy="2370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66715" y="3290315"/>
            <a:ext cx="3800855" cy="267766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18388" y="3281171"/>
            <a:ext cx="4072254" cy="2696210"/>
            <a:chOff x="818388" y="3281171"/>
            <a:chExt cx="4072254" cy="269621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991" y="3290315"/>
              <a:ext cx="3978100" cy="26596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22960" y="3285743"/>
              <a:ext cx="4063365" cy="2687320"/>
            </a:xfrm>
            <a:custGeom>
              <a:avLst/>
              <a:gdLst/>
              <a:ahLst/>
              <a:cxnLst/>
              <a:rect l="l" t="t" r="r" b="b"/>
              <a:pathLst>
                <a:path w="4063365" h="2687320">
                  <a:moveTo>
                    <a:pt x="0" y="2686811"/>
                  </a:moveTo>
                  <a:lnTo>
                    <a:pt x="4062984" y="2686811"/>
                  </a:lnTo>
                  <a:lnTo>
                    <a:pt x="4062984" y="0"/>
                  </a:lnTo>
                  <a:lnTo>
                    <a:pt x="0" y="0"/>
                  </a:lnTo>
                  <a:lnTo>
                    <a:pt x="0" y="2686811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827532" y="6050279"/>
            <a:ext cx="6551930" cy="195580"/>
          </a:xfrm>
          <a:custGeom>
            <a:avLst/>
            <a:gdLst/>
            <a:ahLst/>
            <a:cxnLst/>
            <a:rect l="l" t="t" r="r" b="b"/>
            <a:pathLst>
              <a:path w="6551930" h="195579">
                <a:moveTo>
                  <a:pt x="6454140" y="0"/>
                </a:moveTo>
                <a:lnTo>
                  <a:pt x="97536" y="0"/>
                </a:lnTo>
                <a:lnTo>
                  <a:pt x="59568" y="7665"/>
                </a:lnTo>
                <a:lnTo>
                  <a:pt x="28565" y="28570"/>
                </a:lnTo>
                <a:lnTo>
                  <a:pt x="7664" y="59573"/>
                </a:lnTo>
                <a:lnTo>
                  <a:pt x="0" y="97536"/>
                </a:lnTo>
                <a:lnTo>
                  <a:pt x="7669" y="135505"/>
                </a:lnTo>
                <a:lnTo>
                  <a:pt x="28581" y="166512"/>
                </a:lnTo>
                <a:lnTo>
                  <a:pt x="59568" y="187406"/>
                </a:lnTo>
                <a:lnTo>
                  <a:pt x="97536" y="195072"/>
                </a:lnTo>
                <a:lnTo>
                  <a:pt x="6454140" y="195084"/>
                </a:lnTo>
                <a:lnTo>
                  <a:pt x="6492115" y="187406"/>
                </a:lnTo>
                <a:lnTo>
                  <a:pt x="6523108" y="166501"/>
                </a:lnTo>
                <a:lnTo>
                  <a:pt x="6544009" y="135498"/>
                </a:lnTo>
                <a:lnTo>
                  <a:pt x="6551676" y="97536"/>
                </a:lnTo>
                <a:lnTo>
                  <a:pt x="6544008" y="59573"/>
                </a:lnTo>
                <a:lnTo>
                  <a:pt x="6523101" y="28570"/>
                </a:lnTo>
                <a:lnTo>
                  <a:pt x="6492097" y="7665"/>
                </a:lnTo>
                <a:lnTo>
                  <a:pt x="6454140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2676" y="6058611"/>
            <a:ext cx="45027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FFFFFF"/>
                </a:solidFill>
                <a:latin typeface="Trebuchet MS"/>
                <a:cs typeface="Trebuchet MS"/>
              </a:rPr>
              <a:t>https://</a:t>
            </a:r>
            <a:r>
              <a:rPr dirty="0" sz="1000" spc="-140">
                <a:solidFill>
                  <a:srgbClr val="FFFFFF"/>
                </a:solidFill>
                <a:latin typeface="Trebuchet MS"/>
                <a:cs typeface="Trebuchet MS"/>
                <a:hlinkClick r:id="rId10"/>
              </a:rPr>
              <a:t>www.quora.com/Is-there-any-diagram-or-tree-of-all-fields-of-mathematics-or-mathematics-evolution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8002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205990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54254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1.2.</a:t>
            </a:r>
            <a:r>
              <a:rPr dirty="0" spc="-20"/>
              <a:t> </a:t>
            </a:r>
            <a:r>
              <a:rPr dirty="0" spc="-5"/>
              <a:t>Intro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 spc="-5"/>
              <a:t>Mathematics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2958" y="1767713"/>
            <a:ext cx="4404995" cy="4511675"/>
            <a:chOff x="552958" y="1767713"/>
            <a:chExt cx="4404995" cy="4511675"/>
          </a:xfrm>
        </p:grpSpPr>
        <p:sp>
          <p:nvSpPr>
            <p:cNvPr id="10" name="object 10"/>
            <p:cNvSpPr/>
            <p:nvPr/>
          </p:nvSpPr>
          <p:spPr>
            <a:xfrm>
              <a:off x="559308" y="1988820"/>
              <a:ext cx="4392295" cy="4284345"/>
            </a:xfrm>
            <a:custGeom>
              <a:avLst/>
              <a:gdLst/>
              <a:ahLst/>
              <a:cxnLst/>
              <a:rect l="l" t="t" r="r" b="b"/>
              <a:pathLst>
                <a:path w="4392295" h="4284345">
                  <a:moveTo>
                    <a:pt x="4316476" y="0"/>
                  </a:moveTo>
                  <a:lnTo>
                    <a:pt x="75692" y="0"/>
                  </a:lnTo>
                  <a:lnTo>
                    <a:pt x="46232" y="5951"/>
                  </a:lnTo>
                  <a:lnTo>
                    <a:pt x="22172" y="22177"/>
                  </a:lnTo>
                  <a:lnTo>
                    <a:pt x="5949" y="46237"/>
                  </a:lnTo>
                  <a:lnTo>
                    <a:pt x="0" y="75691"/>
                  </a:lnTo>
                  <a:lnTo>
                    <a:pt x="0" y="4208271"/>
                  </a:lnTo>
                  <a:lnTo>
                    <a:pt x="5949" y="4237731"/>
                  </a:lnTo>
                  <a:lnTo>
                    <a:pt x="22172" y="4261791"/>
                  </a:lnTo>
                  <a:lnTo>
                    <a:pt x="46232" y="4278014"/>
                  </a:lnTo>
                  <a:lnTo>
                    <a:pt x="75692" y="4283964"/>
                  </a:lnTo>
                  <a:lnTo>
                    <a:pt x="4316476" y="4283964"/>
                  </a:lnTo>
                  <a:lnTo>
                    <a:pt x="4345930" y="4278014"/>
                  </a:lnTo>
                  <a:lnTo>
                    <a:pt x="4369990" y="4261791"/>
                  </a:lnTo>
                  <a:lnTo>
                    <a:pt x="4386216" y="4237731"/>
                  </a:lnTo>
                  <a:lnTo>
                    <a:pt x="4392168" y="4208271"/>
                  </a:lnTo>
                  <a:lnTo>
                    <a:pt x="4392168" y="75691"/>
                  </a:lnTo>
                  <a:lnTo>
                    <a:pt x="4386216" y="46237"/>
                  </a:lnTo>
                  <a:lnTo>
                    <a:pt x="4369990" y="22177"/>
                  </a:lnTo>
                  <a:lnTo>
                    <a:pt x="4345930" y="5951"/>
                  </a:lnTo>
                  <a:lnTo>
                    <a:pt x="4316476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9308" y="1988820"/>
              <a:ext cx="4392295" cy="4284345"/>
            </a:xfrm>
            <a:custGeom>
              <a:avLst/>
              <a:gdLst/>
              <a:ahLst/>
              <a:cxnLst/>
              <a:rect l="l" t="t" r="r" b="b"/>
              <a:pathLst>
                <a:path w="4392295" h="4284345">
                  <a:moveTo>
                    <a:pt x="0" y="75691"/>
                  </a:moveTo>
                  <a:lnTo>
                    <a:pt x="5949" y="46237"/>
                  </a:lnTo>
                  <a:lnTo>
                    <a:pt x="22172" y="22177"/>
                  </a:lnTo>
                  <a:lnTo>
                    <a:pt x="46232" y="5951"/>
                  </a:lnTo>
                  <a:lnTo>
                    <a:pt x="75692" y="0"/>
                  </a:lnTo>
                  <a:lnTo>
                    <a:pt x="4316476" y="0"/>
                  </a:lnTo>
                  <a:lnTo>
                    <a:pt x="4345930" y="5951"/>
                  </a:lnTo>
                  <a:lnTo>
                    <a:pt x="4369990" y="22177"/>
                  </a:lnTo>
                  <a:lnTo>
                    <a:pt x="4386216" y="46237"/>
                  </a:lnTo>
                  <a:lnTo>
                    <a:pt x="4392168" y="75691"/>
                  </a:lnTo>
                  <a:lnTo>
                    <a:pt x="4392168" y="4208271"/>
                  </a:lnTo>
                  <a:lnTo>
                    <a:pt x="4386216" y="4237731"/>
                  </a:lnTo>
                  <a:lnTo>
                    <a:pt x="4369990" y="4261791"/>
                  </a:lnTo>
                  <a:lnTo>
                    <a:pt x="4345930" y="4278014"/>
                  </a:lnTo>
                  <a:lnTo>
                    <a:pt x="4316476" y="4283964"/>
                  </a:lnTo>
                  <a:lnTo>
                    <a:pt x="75692" y="4283964"/>
                  </a:lnTo>
                  <a:lnTo>
                    <a:pt x="46232" y="4278014"/>
                  </a:lnTo>
                  <a:lnTo>
                    <a:pt x="22172" y="4261791"/>
                  </a:lnTo>
                  <a:lnTo>
                    <a:pt x="5949" y="4237731"/>
                  </a:lnTo>
                  <a:lnTo>
                    <a:pt x="0" y="4208271"/>
                  </a:lnTo>
                  <a:lnTo>
                    <a:pt x="0" y="75691"/>
                  </a:lnTo>
                  <a:close/>
                </a:path>
              </a:pathLst>
            </a:custGeom>
            <a:ln w="1219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03326" y="1782318"/>
              <a:ext cx="1420495" cy="1000125"/>
            </a:xfrm>
            <a:custGeom>
              <a:avLst/>
              <a:gdLst/>
              <a:ahLst/>
              <a:cxnLst/>
              <a:rect l="l" t="t" r="r" b="b"/>
              <a:pathLst>
                <a:path w="1420495" h="1000125">
                  <a:moveTo>
                    <a:pt x="1253744" y="0"/>
                  </a:moveTo>
                  <a:lnTo>
                    <a:pt x="166623" y="0"/>
                  </a:lnTo>
                  <a:lnTo>
                    <a:pt x="122328" y="5948"/>
                  </a:lnTo>
                  <a:lnTo>
                    <a:pt x="82525" y="22737"/>
                  </a:lnTo>
                  <a:lnTo>
                    <a:pt x="48802" y="48783"/>
                  </a:lnTo>
                  <a:lnTo>
                    <a:pt x="22748" y="82502"/>
                  </a:lnTo>
                  <a:lnTo>
                    <a:pt x="5951" y="122310"/>
                  </a:lnTo>
                  <a:lnTo>
                    <a:pt x="0" y="166624"/>
                  </a:lnTo>
                  <a:lnTo>
                    <a:pt x="0" y="833120"/>
                  </a:lnTo>
                  <a:lnTo>
                    <a:pt x="5951" y="877433"/>
                  </a:lnTo>
                  <a:lnTo>
                    <a:pt x="22748" y="917241"/>
                  </a:lnTo>
                  <a:lnTo>
                    <a:pt x="48802" y="950960"/>
                  </a:lnTo>
                  <a:lnTo>
                    <a:pt x="82525" y="977006"/>
                  </a:lnTo>
                  <a:lnTo>
                    <a:pt x="122328" y="993795"/>
                  </a:lnTo>
                  <a:lnTo>
                    <a:pt x="166623" y="999744"/>
                  </a:lnTo>
                  <a:lnTo>
                    <a:pt x="1253744" y="999744"/>
                  </a:lnTo>
                  <a:lnTo>
                    <a:pt x="1298057" y="993795"/>
                  </a:lnTo>
                  <a:lnTo>
                    <a:pt x="1337865" y="977006"/>
                  </a:lnTo>
                  <a:lnTo>
                    <a:pt x="1371584" y="950960"/>
                  </a:lnTo>
                  <a:lnTo>
                    <a:pt x="1397630" y="917241"/>
                  </a:lnTo>
                  <a:lnTo>
                    <a:pt x="1414419" y="877433"/>
                  </a:lnTo>
                  <a:lnTo>
                    <a:pt x="1420368" y="833120"/>
                  </a:lnTo>
                  <a:lnTo>
                    <a:pt x="1420368" y="166624"/>
                  </a:lnTo>
                  <a:lnTo>
                    <a:pt x="1414419" y="122310"/>
                  </a:lnTo>
                  <a:lnTo>
                    <a:pt x="1397630" y="82502"/>
                  </a:lnTo>
                  <a:lnTo>
                    <a:pt x="1371584" y="48783"/>
                  </a:lnTo>
                  <a:lnTo>
                    <a:pt x="1337865" y="22737"/>
                  </a:lnTo>
                  <a:lnTo>
                    <a:pt x="1298057" y="5948"/>
                  </a:lnTo>
                  <a:lnTo>
                    <a:pt x="1253744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3326" y="1782318"/>
              <a:ext cx="1420495" cy="1000125"/>
            </a:xfrm>
            <a:custGeom>
              <a:avLst/>
              <a:gdLst/>
              <a:ahLst/>
              <a:cxnLst/>
              <a:rect l="l" t="t" r="r" b="b"/>
              <a:pathLst>
                <a:path w="1420495" h="1000125">
                  <a:moveTo>
                    <a:pt x="0" y="166624"/>
                  </a:moveTo>
                  <a:lnTo>
                    <a:pt x="5951" y="122310"/>
                  </a:lnTo>
                  <a:lnTo>
                    <a:pt x="22748" y="82502"/>
                  </a:lnTo>
                  <a:lnTo>
                    <a:pt x="48802" y="48783"/>
                  </a:lnTo>
                  <a:lnTo>
                    <a:pt x="82525" y="22737"/>
                  </a:lnTo>
                  <a:lnTo>
                    <a:pt x="122328" y="5948"/>
                  </a:lnTo>
                  <a:lnTo>
                    <a:pt x="166623" y="0"/>
                  </a:lnTo>
                  <a:lnTo>
                    <a:pt x="1253744" y="0"/>
                  </a:lnTo>
                  <a:lnTo>
                    <a:pt x="1298057" y="5948"/>
                  </a:lnTo>
                  <a:lnTo>
                    <a:pt x="1337865" y="22737"/>
                  </a:lnTo>
                  <a:lnTo>
                    <a:pt x="1371584" y="48783"/>
                  </a:lnTo>
                  <a:lnTo>
                    <a:pt x="1397630" y="82502"/>
                  </a:lnTo>
                  <a:lnTo>
                    <a:pt x="1414419" y="122310"/>
                  </a:lnTo>
                  <a:lnTo>
                    <a:pt x="1420368" y="166624"/>
                  </a:lnTo>
                  <a:lnTo>
                    <a:pt x="1420368" y="833120"/>
                  </a:lnTo>
                  <a:lnTo>
                    <a:pt x="1414419" y="877433"/>
                  </a:lnTo>
                  <a:lnTo>
                    <a:pt x="1397630" y="917241"/>
                  </a:lnTo>
                  <a:lnTo>
                    <a:pt x="1371584" y="950960"/>
                  </a:lnTo>
                  <a:lnTo>
                    <a:pt x="1337865" y="977006"/>
                  </a:lnTo>
                  <a:lnTo>
                    <a:pt x="1298057" y="993795"/>
                  </a:lnTo>
                  <a:lnTo>
                    <a:pt x="1253744" y="999744"/>
                  </a:lnTo>
                  <a:lnTo>
                    <a:pt x="166623" y="999744"/>
                  </a:lnTo>
                  <a:lnTo>
                    <a:pt x="122328" y="993795"/>
                  </a:lnTo>
                  <a:lnTo>
                    <a:pt x="82525" y="977006"/>
                  </a:lnTo>
                  <a:lnTo>
                    <a:pt x="48802" y="950960"/>
                  </a:lnTo>
                  <a:lnTo>
                    <a:pt x="22748" y="917241"/>
                  </a:lnTo>
                  <a:lnTo>
                    <a:pt x="5951" y="877433"/>
                  </a:lnTo>
                  <a:lnTo>
                    <a:pt x="0" y="833120"/>
                  </a:lnTo>
                  <a:lnTo>
                    <a:pt x="0" y="166624"/>
                  </a:lnTo>
                  <a:close/>
                </a:path>
              </a:pathLst>
            </a:custGeom>
            <a:ln w="2895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48055" y="1971801"/>
            <a:ext cx="1128395" cy="617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810">
              <a:lnSpc>
                <a:spcPts val="1555"/>
              </a:lnSpc>
              <a:spcBef>
                <a:spcPts val="95"/>
              </a:spcBef>
            </a:pPr>
            <a:r>
              <a:rPr dirty="0" sz="1300" spc="-250" b="1">
                <a:solidFill>
                  <a:srgbClr val="252525"/>
                </a:solidFill>
                <a:latin typeface="Tahoma"/>
                <a:cs typeface="Tahoma"/>
              </a:rPr>
              <a:t>Real</a:t>
            </a:r>
            <a:endParaRPr sz="1300">
              <a:latin typeface="Tahoma"/>
              <a:cs typeface="Tahoma"/>
            </a:endParaRPr>
          </a:p>
          <a:p>
            <a:pPr algn="ctr" marL="12065" marR="5080" indent="-635">
              <a:lnSpc>
                <a:spcPts val="1560"/>
              </a:lnSpc>
              <a:spcBef>
                <a:spcPts val="45"/>
              </a:spcBef>
            </a:pP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r 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on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ne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7865" y="2974720"/>
            <a:ext cx="1449705" cy="925830"/>
            <a:chOff x="697865" y="2974720"/>
            <a:chExt cx="1449705" cy="925830"/>
          </a:xfrm>
        </p:grpSpPr>
        <p:sp>
          <p:nvSpPr>
            <p:cNvPr id="16" name="object 16"/>
            <p:cNvSpPr/>
            <p:nvPr/>
          </p:nvSpPr>
          <p:spPr>
            <a:xfrm>
              <a:off x="712470" y="2989325"/>
              <a:ext cx="1420495" cy="896619"/>
            </a:xfrm>
            <a:custGeom>
              <a:avLst/>
              <a:gdLst/>
              <a:ahLst/>
              <a:cxnLst/>
              <a:rect l="l" t="t" r="r" b="b"/>
              <a:pathLst>
                <a:path w="1420495" h="896620">
                  <a:moveTo>
                    <a:pt x="1271016" y="0"/>
                  </a:moveTo>
                  <a:lnTo>
                    <a:pt x="149351" y="0"/>
                  </a:lnTo>
                  <a:lnTo>
                    <a:pt x="102144" y="7620"/>
                  </a:lnTo>
                  <a:lnTo>
                    <a:pt x="61145" y="28834"/>
                  </a:lnTo>
                  <a:lnTo>
                    <a:pt x="28815" y="61173"/>
                  </a:lnTo>
                  <a:lnTo>
                    <a:pt x="7613" y="102168"/>
                  </a:lnTo>
                  <a:lnTo>
                    <a:pt x="0" y="149351"/>
                  </a:lnTo>
                  <a:lnTo>
                    <a:pt x="0" y="746760"/>
                  </a:lnTo>
                  <a:lnTo>
                    <a:pt x="7613" y="793943"/>
                  </a:lnTo>
                  <a:lnTo>
                    <a:pt x="28815" y="834938"/>
                  </a:lnTo>
                  <a:lnTo>
                    <a:pt x="61145" y="867277"/>
                  </a:lnTo>
                  <a:lnTo>
                    <a:pt x="102144" y="888492"/>
                  </a:lnTo>
                  <a:lnTo>
                    <a:pt x="149351" y="896112"/>
                  </a:lnTo>
                  <a:lnTo>
                    <a:pt x="1271016" y="896112"/>
                  </a:lnTo>
                  <a:lnTo>
                    <a:pt x="1318199" y="888492"/>
                  </a:lnTo>
                  <a:lnTo>
                    <a:pt x="1359194" y="867277"/>
                  </a:lnTo>
                  <a:lnTo>
                    <a:pt x="1391533" y="834938"/>
                  </a:lnTo>
                  <a:lnTo>
                    <a:pt x="1412748" y="793943"/>
                  </a:lnTo>
                  <a:lnTo>
                    <a:pt x="1420368" y="746760"/>
                  </a:lnTo>
                  <a:lnTo>
                    <a:pt x="1420368" y="149351"/>
                  </a:lnTo>
                  <a:lnTo>
                    <a:pt x="1412748" y="102168"/>
                  </a:lnTo>
                  <a:lnTo>
                    <a:pt x="1391533" y="61173"/>
                  </a:lnTo>
                  <a:lnTo>
                    <a:pt x="1359194" y="28834"/>
                  </a:lnTo>
                  <a:lnTo>
                    <a:pt x="1318199" y="7620"/>
                  </a:lnTo>
                  <a:lnTo>
                    <a:pt x="1271016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12470" y="2989325"/>
              <a:ext cx="1420495" cy="896619"/>
            </a:xfrm>
            <a:custGeom>
              <a:avLst/>
              <a:gdLst/>
              <a:ahLst/>
              <a:cxnLst/>
              <a:rect l="l" t="t" r="r" b="b"/>
              <a:pathLst>
                <a:path w="1420495" h="896620">
                  <a:moveTo>
                    <a:pt x="0" y="149351"/>
                  </a:moveTo>
                  <a:lnTo>
                    <a:pt x="7613" y="102168"/>
                  </a:lnTo>
                  <a:lnTo>
                    <a:pt x="28815" y="61173"/>
                  </a:lnTo>
                  <a:lnTo>
                    <a:pt x="61145" y="28834"/>
                  </a:lnTo>
                  <a:lnTo>
                    <a:pt x="102144" y="7620"/>
                  </a:lnTo>
                  <a:lnTo>
                    <a:pt x="149351" y="0"/>
                  </a:lnTo>
                  <a:lnTo>
                    <a:pt x="1271016" y="0"/>
                  </a:lnTo>
                  <a:lnTo>
                    <a:pt x="1318199" y="7620"/>
                  </a:lnTo>
                  <a:lnTo>
                    <a:pt x="1359194" y="28834"/>
                  </a:lnTo>
                  <a:lnTo>
                    <a:pt x="1391533" y="61173"/>
                  </a:lnTo>
                  <a:lnTo>
                    <a:pt x="1412748" y="102168"/>
                  </a:lnTo>
                  <a:lnTo>
                    <a:pt x="1420368" y="149351"/>
                  </a:lnTo>
                  <a:lnTo>
                    <a:pt x="1420368" y="746760"/>
                  </a:lnTo>
                  <a:lnTo>
                    <a:pt x="1412748" y="793943"/>
                  </a:lnTo>
                  <a:lnTo>
                    <a:pt x="1391533" y="834938"/>
                  </a:lnTo>
                  <a:lnTo>
                    <a:pt x="1359194" y="867277"/>
                  </a:lnTo>
                  <a:lnTo>
                    <a:pt x="1318199" y="888492"/>
                  </a:lnTo>
                  <a:lnTo>
                    <a:pt x="1271016" y="896112"/>
                  </a:lnTo>
                  <a:lnTo>
                    <a:pt x="149351" y="896112"/>
                  </a:lnTo>
                  <a:lnTo>
                    <a:pt x="102144" y="888492"/>
                  </a:lnTo>
                  <a:lnTo>
                    <a:pt x="61145" y="867277"/>
                  </a:lnTo>
                  <a:lnTo>
                    <a:pt x="28815" y="834938"/>
                  </a:lnTo>
                  <a:lnTo>
                    <a:pt x="7613" y="793943"/>
                  </a:lnTo>
                  <a:lnTo>
                    <a:pt x="0" y="746760"/>
                  </a:lnTo>
                  <a:lnTo>
                    <a:pt x="0" y="149351"/>
                  </a:lnTo>
                  <a:close/>
                </a:path>
              </a:pathLst>
            </a:custGeom>
            <a:ln w="2895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59942" y="3127374"/>
            <a:ext cx="1118870" cy="617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985">
              <a:lnSpc>
                <a:spcPts val="1555"/>
              </a:lnSpc>
              <a:spcBef>
                <a:spcPts val="95"/>
              </a:spcBef>
            </a:pPr>
            <a:r>
              <a:rPr dirty="0" sz="1300" spc="-215" b="1">
                <a:solidFill>
                  <a:srgbClr val="252525"/>
                </a:solidFill>
                <a:latin typeface="Tahoma"/>
                <a:cs typeface="Tahoma"/>
              </a:rPr>
              <a:t>Irrational</a:t>
            </a:r>
            <a:endParaRPr sz="1300">
              <a:latin typeface="Tahoma"/>
              <a:cs typeface="Tahoma"/>
            </a:endParaRPr>
          </a:p>
          <a:p>
            <a:pPr algn="ctr" marL="12065" marR="5080">
              <a:lnSpc>
                <a:spcPts val="1560"/>
              </a:lnSpc>
              <a:spcBef>
                <a:spcPts val="45"/>
              </a:spcBef>
            </a:pP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0">
                <a:solidFill>
                  <a:srgbClr val="252525"/>
                </a:solidFill>
                <a:latin typeface="Trebuchet MS"/>
                <a:cs typeface="Trebuchet MS"/>
              </a:rPr>
              <a:t>is 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not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ion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049" y="4508119"/>
            <a:ext cx="213372" cy="17195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53846" y="4028694"/>
            <a:ext cx="1191895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𝜋</a:t>
            </a:r>
            <a:r>
              <a:rPr dirty="0" sz="1400" spc="10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3.1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15</a:t>
            </a:r>
            <a:r>
              <a:rPr dirty="0" sz="1400" spc="-9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⋯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𝑒</a:t>
            </a:r>
            <a:r>
              <a:rPr dirty="0" sz="1400" spc="-1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2.71828</a:t>
            </a:r>
            <a:endParaRPr sz="1400">
              <a:latin typeface="Cambria Math"/>
              <a:cs typeface="Cambria Math"/>
            </a:endParaRPr>
          </a:p>
          <a:p>
            <a:pPr marL="13716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400" spc="7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1.4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42</a:t>
            </a:r>
            <a:r>
              <a:rPr dirty="0" sz="1400" spc="-9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⋯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78126" y="2046604"/>
            <a:ext cx="2515235" cy="4124325"/>
            <a:chOff x="2278126" y="2046604"/>
            <a:chExt cx="2515235" cy="4124325"/>
          </a:xfrm>
        </p:grpSpPr>
        <p:sp>
          <p:nvSpPr>
            <p:cNvPr id="22" name="object 22"/>
            <p:cNvSpPr/>
            <p:nvPr/>
          </p:nvSpPr>
          <p:spPr>
            <a:xfrm>
              <a:off x="2284476" y="2781299"/>
              <a:ext cx="2502535" cy="3383279"/>
            </a:xfrm>
            <a:custGeom>
              <a:avLst/>
              <a:gdLst/>
              <a:ahLst/>
              <a:cxnLst/>
              <a:rect l="l" t="t" r="r" b="b"/>
              <a:pathLst>
                <a:path w="2502535" h="3383279">
                  <a:moveTo>
                    <a:pt x="2438908" y="0"/>
                  </a:moveTo>
                  <a:lnTo>
                    <a:pt x="63500" y="0"/>
                  </a:lnTo>
                  <a:lnTo>
                    <a:pt x="38790" y="4990"/>
                  </a:lnTo>
                  <a:lnTo>
                    <a:pt x="18605" y="18589"/>
                  </a:lnTo>
                  <a:lnTo>
                    <a:pt x="4992" y="38736"/>
                  </a:lnTo>
                  <a:lnTo>
                    <a:pt x="0" y="63373"/>
                  </a:lnTo>
                  <a:lnTo>
                    <a:pt x="0" y="3319843"/>
                  </a:lnTo>
                  <a:lnTo>
                    <a:pt x="4992" y="3344537"/>
                  </a:lnTo>
                  <a:lnTo>
                    <a:pt x="18605" y="3364701"/>
                  </a:lnTo>
                  <a:lnTo>
                    <a:pt x="38790" y="3378295"/>
                  </a:lnTo>
                  <a:lnTo>
                    <a:pt x="63500" y="3383279"/>
                  </a:lnTo>
                  <a:lnTo>
                    <a:pt x="2438908" y="3383279"/>
                  </a:lnTo>
                  <a:lnTo>
                    <a:pt x="2463617" y="3378295"/>
                  </a:lnTo>
                  <a:lnTo>
                    <a:pt x="2483802" y="3364701"/>
                  </a:lnTo>
                  <a:lnTo>
                    <a:pt x="2497415" y="3344537"/>
                  </a:lnTo>
                  <a:lnTo>
                    <a:pt x="2502408" y="3319843"/>
                  </a:lnTo>
                  <a:lnTo>
                    <a:pt x="2502408" y="63373"/>
                  </a:lnTo>
                  <a:lnTo>
                    <a:pt x="2497415" y="38736"/>
                  </a:lnTo>
                  <a:lnTo>
                    <a:pt x="2483802" y="18589"/>
                  </a:lnTo>
                  <a:lnTo>
                    <a:pt x="2463617" y="4990"/>
                  </a:lnTo>
                  <a:lnTo>
                    <a:pt x="243890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4476" y="2781299"/>
              <a:ext cx="2502535" cy="3383279"/>
            </a:xfrm>
            <a:custGeom>
              <a:avLst/>
              <a:gdLst/>
              <a:ahLst/>
              <a:cxnLst/>
              <a:rect l="l" t="t" r="r" b="b"/>
              <a:pathLst>
                <a:path w="2502535" h="3383279">
                  <a:moveTo>
                    <a:pt x="0" y="63373"/>
                  </a:moveTo>
                  <a:lnTo>
                    <a:pt x="4992" y="38736"/>
                  </a:lnTo>
                  <a:lnTo>
                    <a:pt x="18605" y="18589"/>
                  </a:lnTo>
                  <a:lnTo>
                    <a:pt x="38790" y="4990"/>
                  </a:lnTo>
                  <a:lnTo>
                    <a:pt x="63500" y="0"/>
                  </a:lnTo>
                  <a:lnTo>
                    <a:pt x="2438908" y="0"/>
                  </a:lnTo>
                  <a:lnTo>
                    <a:pt x="2463617" y="4990"/>
                  </a:lnTo>
                  <a:lnTo>
                    <a:pt x="2483802" y="18589"/>
                  </a:lnTo>
                  <a:lnTo>
                    <a:pt x="2497415" y="38736"/>
                  </a:lnTo>
                  <a:lnTo>
                    <a:pt x="2502408" y="63373"/>
                  </a:lnTo>
                  <a:lnTo>
                    <a:pt x="2502408" y="3319843"/>
                  </a:lnTo>
                  <a:lnTo>
                    <a:pt x="2497415" y="3344537"/>
                  </a:lnTo>
                  <a:lnTo>
                    <a:pt x="2483802" y="3364701"/>
                  </a:lnTo>
                  <a:lnTo>
                    <a:pt x="2463617" y="3378295"/>
                  </a:lnTo>
                  <a:lnTo>
                    <a:pt x="2438908" y="3383279"/>
                  </a:lnTo>
                  <a:lnTo>
                    <a:pt x="63500" y="3383279"/>
                  </a:lnTo>
                  <a:lnTo>
                    <a:pt x="38790" y="3378295"/>
                  </a:lnTo>
                  <a:lnTo>
                    <a:pt x="18605" y="3364701"/>
                  </a:lnTo>
                  <a:lnTo>
                    <a:pt x="4992" y="3344537"/>
                  </a:lnTo>
                  <a:lnTo>
                    <a:pt x="0" y="3319843"/>
                  </a:lnTo>
                  <a:lnTo>
                    <a:pt x="0" y="63373"/>
                  </a:lnTo>
                  <a:close/>
                </a:path>
              </a:pathLst>
            </a:custGeom>
            <a:ln w="1219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81250" y="2061209"/>
              <a:ext cx="1419225" cy="1080770"/>
            </a:xfrm>
            <a:custGeom>
              <a:avLst/>
              <a:gdLst/>
              <a:ahLst/>
              <a:cxnLst/>
              <a:rect l="l" t="t" r="r" b="b"/>
              <a:pathLst>
                <a:path w="1419225" h="1080770">
                  <a:moveTo>
                    <a:pt x="1238758" y="0"/>
                  </a:moveTo>
                  <a:lnTo>
                    <a:pt x="180086" y="0"/>
                  </a:ln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0" y="900429"/>
                  </a:lnTo>
                  <a:lnTo>
                    <a:pt x="6434" y="948297"/>
                  </a:lnTo>
                  <a:lnTo>
                    <a:pt x="24590" y="991314"/>
                  </a:lnTo>
                  <a:lnTo>
                    <a:pt x="52752" y="1027763"/>
                  </a:lnTo>
                  <a:lnTo>
                    <a:pt x="89201" y="1055925"/>
                  </a:lnTo>
                  <a:lnTo>
                    <a:pt x="132218" y="1074081"/>
                  </a:lnTo>
                  <a:lnTo>
                    <a:pt x="180086" y="1080515"/>
                  </a:lnTo>
                  <a:lnTo>
                    <a:pt x="1238758" y="1080515"/>
                  </a:lnTo>
                  <a:lnTo>
                    <a:pt x="1286625" y="1074081"/>
                  </a:lnTo>
                  <a:lnTo>
                    <a:pt x="1329642" y="1055925"/>
                  </a:lnTo>
                  <a:lnTo>
                    <a:pt x="1366091" y="1027763"/>
                  </a:lnTo>
                  <a:lnTo>
                    <a:pt x="1394253" y="991314"/>
                  </a:lnTo>
                  <a:lnTo>
                    <a:pt x="1412409" y="948297"/>
                  </a:lnTo>
                  <a:lnTo>
                    <a:pt x="1418844" y="900429"/>
                  </a:lnTo>
                  <a:lnTo>
                    <a:pt x="1418844" y="180086"/>
                  </a:lnTo>
                  <a:lnTo>
                    <a:pt x="1412409" y="132218"/>
                  </a:lnTo>
                  <a:lnTo>
                    <a:pt x="1394253" y="89201"/>
                  </a:lnTo>
                  <a:lnTo>
                    <a:pt x="1366091" y="52752"/>
                  </a:lnTo>
                  <a:lnTo>
                    <a:pt x="1329642" y="24590"/>
                  </a:lnTo>
                  <a:lnTo>
                    <a:pt x="1286625" y="6434"/>
                  </a:lnTo>
                  <a:lnTo>
                    <a:pt x="123875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81250" y="2061209"/>
              <a:ext cx="1419225" cy="1080770"/>
            </a:xfrm>
            <a:custGeom>
              <a:avLst/>
              <a:gdLst/>
              <a:ahLst/>
              <a:cxnLst/>
              <a:rect l="l" t="t" r="r" b="b"/>
              <a:pathLst>
                <a:path w="1419225" h="1080770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1238758" y="0"/>
                  </a:lnTo>
                  <a:lnTo>
                    <a:pt x="1286625" y="6434"/>
                  </a:lnTo>
                  <a:lnTo>
                    <a:pt x="1329642" y="24590"/>
                  </a:lnTo>
                  <a:lnTo>
                    <a:pt x="1366091" y="52752"/>
                  </a:lnTo>
                  <a:lnTo>
                    <a:pt x="1394253" y="89201"/>
                  </a:lnTo>
                  <a:lnTo>
                    <a:pt x="1412409" y="132218"/>
                  </a:lnTo>
                  <a:lnTo>
                    <a:pt x="1418844" y="180086"/>
                  </a:lnTo>
                  <a:lnTo>
                    <a:pt x="1418844" y="900429"/>
                  </a:lnTo>
                  <a:lnTo>
                    <a:pt x="1412409" y="948297"/>
                  </a:lnTo>
                  <a:lnTo>
                    <a:pt x="1394253" y="991314"/>
                  </a:lnTo>
                  <a:lnTo>
                    <a:pt x="1366091" y="1027763"/>
                  </a:lnTo>
                  <a:lnTo>
                    <a:pt x="1329642" y="1055925"/>
                  </a:lnTo>
                  <a:lnTo>
                    <a:pt x="1286625" y="1074081"/>
                  </a:lnTo>
                  <a:lnTo>
                    <a:pt x="1238758" y="1080515"/>
                  </a:lnTo>
                  <a:lnTo>
                    <a:pt x="180086" y="1080515"/>
                  </a:lnTo>
                  <a:lnTo>
                    <a:pt x="132218" y="1074081"/>
                  </a:lnTo>
                  <a:lnTo>
                    <a:pt x="89201" y="1055925"/>
                  </a:lnTo>
                  <a:lnTo>
                    <a:pt x="52752" y="1027763"/>
                  </a:lnTo>
                  <a:lnTo>
                    <a:pt x="24590" y="991314"/>
                  </a:lnTo>
                  <a:lnTo>
                    <a:pt x="6434" y="948297"/>
                  </a:lnTo>
                  <a:lnTo>
                    <a:pt x="0" y="900429"/>
                  </a:lnTo>
                  <a:lnTo>
                    <a:pt x="0" y="180086"/>
                  </a:lnTo>
                  <a:close/>
                </a:path>
              </a:pathLst>
            </a:custGeom>
            <a:ln w="2895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590038" y="2192527"/>
            <a:ext cx="1000760" cy="617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ts val="1555"/>
              </a:lnSpc>
              <a:spcBef>
                <a:spcPts val="95"/>
              </a:spcBef>
            </a:pPr>
            <a:r>
              <a:rPr dirty="0" sz="1300" spc="-245" b="1">
                <a:solidFill>
                  <a:srgbClr val="252525"/>
                </a:solidFill>
                <a:latin typeface="Tahoma"/>
                <a:cs typeface="Tahoma"/>
              </a:rPr>
              <a:t>Rational</a:t>
            </a:r>
            <a:endParaRPr sz="1300">
              <a:latin typeface="Tahoma"/>
              <a:cs typeface="Tahoma"/>
            </a:endParaRPr>
          </a:p>
          <a:p>
            <a:pPr algn="ctr" marL="12700" marR="5080">
              <a:lnSpc>
                <a:spcPts val="1560"/>
              </a:lnSpc>
              <a:spcBef>
                <a:spcPts val="45"/>
              </a:spcBef>
            </a:pP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t 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be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ri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9973" y="2785363"/>
            <a:ext cx="4972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fractions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45766" y="3442589"/>
            <a:ext cx="2161540" cy="2656840"/>
            <a:chOff x="2445766" y="3442589"/>
            <a:chExt cx="2161540" cy="2656840"/>
          </a:xfrm>
        </p:grpSpPr>
        <p:sp>
          <p:nvSpPr>
            <p:cNvPr id="29" name="object 29"/>
            <p:cNvSpPr/>
            <p:nvPr/>
          </p:nvSpPr>
          <p:spPr>
            <a:xfrm>
              <a:off x="2452116" y="4046220"/>
              <a:ext cx="2148840" cy="2047239"/>
            </a:xfrm>
            <a:custGeom>
              <a:avLst/>
              <a:gdLst/>
              <a:ahLst/>
              <a:cxnLst/>
              <a:rect l="l" t="t" r="r" b="b"/>
              <a:pathLst>
                <a:path w="2148840" h="2047239">
                  <a:moveTo>
                    <a:pt x="2057781" y="0"/>
                  </a:moveTo>
                  <a:lnTo>
                    <a:pt x="91058" y="0"/>
                  </a:lnTo>
                  <a:lnTo>
                    <a:pt x="55614" y="7155"/>
                  </a:lnTo>
                  <a:lnTo>
                    <a:pt x="26669" y="26669"/>
                  </a:lnTo>
                  <a:lnTo>
                    <a:pt x="7155" y="55614"/>
                  </a:lnTo>
                  <a:lnTo>
                    <a:pt x="0" y="91058"/>
                  </a:lnTo>
                  <a:lnTo>
                    <a:pt x="0" y="1955698"/>
                  </a:lnTo>
                  <a:lnTo>
                    <a:pt x="7155" y="1991133"/>
                  </a:lnTo>
                  <a:lnTo>
                    <a:pt x="26669" y="2020069"/>
                  </a:lnTo>
                  <a:lnTo>
                    <a:pt x="55614" y="2039578"/>
                  </a:lnTo>
                  <a:lnTo>
                    <a:pt x="91058" y="2046731"/>
                  </a:lnTo>
                  <a:lnTo>
                    <a:pt x="2057781" y="2046731"/>
                  </a:lnTo>
                  <a:lnTo>
                    <a:pt x="2093225" y="2039578"/>
                  </a:lnTo>
                  <a:lnTo>
                    <a:pt x="2122169" y="2020069"/>
                  </a:lnTo>
                  <a:lnTo>
                    <a:pt x="2141684" y="1991133"/>
                  </a:lnTo>
                  <a:lnTo>
                    <a:pt x="2148839" y="1955698"/>
                  </a:lnTo>
                  <a:lnTo>
                    <a:pt x="2148839" y="91058"/>
                  </a:lnTo>
                  <a:lnTo>
                    <a:pt x="2141684" y="55614"/>
                  </a:lnTo>
                  <a:lnTo>
                    <a:pt x="2122170" y="26669"/>
                  </a:lnTo>
                  <a:lnTo>
                    <a:pt x="2093225" y="7155"/>
                  </a:lnTo>
                  <a:lnTo>
                    <a:pt x="2057781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52116" y="4046220"/>
              <a:ext cx="2148840" cy="2047239"/>
            </a:xfrm>
            <a:custGeom>
              <a:avLst/>
              <a:gdLst/>
              <a:ahLst/>
              <a:cxnLst/>
              <a:rect l="l" t="t" r="r" b="b"/>
              <a:pathLst>
                <a:path w="2148840" h="2047239">
                  <a:moveTo>
                    <a:pt x="0" y="91058"/>
                  </a:moveTo>
                  <a:lnTo>
                    <a:pt x="7155" y="55614"/>
                  </a:lnTo>
                  <a:lnTo>
                    <a:pt x="26669" y="26669"/>
                  </a:lnTo>
                  <a:lnTo>
                    <a:pt x="55614" y="7155"/>
                  </a:lnTo>
                  <a:lnTo>
                    <a:pt x="91058" y="0"/>
                  </a:lnTo>
                  <a:lnTo>
                    <a:pt x="2057781" y="0"/>
                  </a:lnTo>
                  <a:lnTo>
                    <a:pt x="2093225" y="7155"/>
                  </a:lnTo>
                  <a:lnTo>
                    <a:pt x="2122170" y="26669"/>
                  </a:lnTo>
                  <a:lnTo>
                    <a:pt x="2141684" y="55614"/>
                  </a:lnTo>
                  <a:lnTo>
                    <a:pt x="2148839" y="91058"/>
                  </a:lnTo>
                  <a:lnTo>
                    <a:pt x="2148839" y="1955698"/>
                  </a:lnTo>
                  <a:lnTo>
                    <a:pt x="2141684" y="1991133"/>
                  </a:lnTo>
                  <a:lnTo>
                    <a:pt x="2122169" y="2020069"/>
                  </a:lnTo>
                  <a:lnTo>
                    <a:pt x="2093225" y="2039578"/>
                  </a:lnTo>
                  <a:lnTo>
                    <a:pt x="2057781" y="2046731"/>
                  </a:lnTo>
                  <a:lnTo>
                    <a:pt x="91058" y="2046731"/>
                  </a:lnTo>
                  <a:lnTo>
                    <a:pt x="55614" y="2039578"/>
                  </a:lnTo>
                  <a:lnTo>
                    <a:pt x="26669" y="2020069"/>
                  </a:lnTo>
                  <a:lnTo>
                    <a:pt x="7155" y="1991133"/>
                  </a:lnTo>
                  <a:lnTo>
                    <a:pt x="0" y="1955698"/>
                  </a:lnTo>
                  <a:lnTo>
                    <a:pt x="0" y="91058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538222" y="3457194"/>
              <a:ext cx="1976755" cy="940435"/>
            </a:xfrm>
            <a:custGeom>
              <a:avLst/>
              <a:gdLst/>
              <a:ahLst/>
              <a:cxnLst/>
              <a:rect l="l" t="t" r="r" b="b"/>
              <a:pathLst>
                <a:path w="1976754" h="940435">
                  <a:moveTo>
                    <a:pt x="1819910" y="0"/>
                  </a:moveTo>
                  <a:lnTo>
                    <a:pt x="156717" y="0"/>
                  </a:lnTo>
                  <a:lnTo>
                    <a:pt x="107159" y="7983"/>
                  </a:lnTo>
                  <a:lnTo>
                    <a:pt x="64136" y="30219"/>
                  </a:lnTo>
                  <a:lnTo>
                    <a:pt x="30219" y="64136"/>
                  </a:lnTo>
                  <a:lnTo>
                    <a:pt x="7983" y="107159"/>
                  </a:lnTo>
                  <a:lnTo>
                    <a:pt x="0" y="156717"/>
                  </a:lnTo>
                  <a:lnTo>
                    <a:pt x="0" y="783589"/>
                  </a:lnTo>
                  <a:lnTo>
                    <a:pt x="7983" y="833148"/>
                  </a:lnTo>
                  <a:lnTo>
                    <a:pt x="30219" y="876171"/>
                  </a:lnTo>
                  <a:lnTo>
                    <a:pt x="64136" y="910088"/>
                  </a:lnTo>
                  <a:lnTo>
                    <a:pt x="107159" y="932324"/>
                  </a:lnTo>
                  <a:lnTo>
                    <a:pt x="156717" y="940307"/>
                  </a:lnTo>
                  <a:lnTo>
                    <a:pt x="1819910" y="940307"/>
                  </a:lnTo>
                  <a:lnTo>
                    <a:pt x="1869468" y="932324"/>
                  </a:lnTo>
                  <a:lnTo>
                    <a:pt x="1912491" y="910088"/>
                  </a:lnTo>
                  <a:lnTo>
                    <a:pt x="1946408" y="876171"/>
                  </a:lnTo>
                  <a:lnTo>
                    <a:pt x="1968644" y="833148"/>
                  </a:lnTo>
                  <a:lnTo>
                    <a:pt x="1976627" y="783589"/>
                  </a:lnTo>
                  <a:lnTo>
                    <a:pt x="1976627" y="156717"/>
                  </a:lnTo>
                  <a:lnTo>
                    <a:pt x="1968644" y="107159"/>
                  </a:lnTo>
                  <a:lnTo>
                    <a:pt x="1946408" y="64136"/>
                  </a:lnTo>
                  <a:lnTo>
                    <a:pt x="1912491" y="30219"/>
                  </a:lnTo>
                  <a:lnTo>
                    <a:pt x="1869468" y="7983"/>
                  </a:lnTo>
                  <a:lnTo>
                    <a:pt x="181991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538222" y="3457194"/>
              <a:ext cx="1976755" cy="940435"/>
            </a:xfrm>
            <a:custGeom>
              <a:avLst/>
              <a:gdLst/>
              <a:ahLst/>
              <a:cxnLst/>
              <a:rect l="l" t="t" r="r" b="b"/>
              <a:pathLst>
                <a:path w="1976754" h="940435">
                  <a:moveTo>
                    <a:pt x="0" y="156717"/>
                  </a:moveTo>
                  <a:lnTo>
                    <a:pt x="7983" y="107159"/>
                  </a:lnTo>
                  <a:lnTo>
                    <a:pt x="30219" y="64136"/>
                  </a:lnTo>
                  <a:lnTo>
                    <a:pt x="64136" y="30219"/>
                  </a:lnTo>
                  <a:lnTo>
                    <a:pt x="107159" y="7983"/>
                  </a:lnTo>
                  <a:lnTo>
                    <a:pt x="156717" y="0"/>
                  </a:lnTo>
                  <a:lnTo>
                    <a:pt x="1819910" y="0"/>
                  </a:lnTo>
                  <a:lnTo>
                    <a:pt x="1869468" y="7983"/>
                  </a:lnTo>
                  <a:lnTo>
                    <a:pt x="1912491" y="30219"/>
                  </a:lnTo>
                  <a:lnTo>
                    <a:pt x="1946408" y="64136"/>
                  </a:lnTo>
                  <a:lnTo>
                    <a:pt x="1968644" y="107159"/>
                  </a:lnTo>
                  <a:lnTo>
                    <a:pt x="1976627" y="156717"/>
                  </a:lnTo>
                  <a:lnTo>
                    <a:pt x="1976627" y="783589"/>
                  </a:lnTo>
                  <a:lnTo>
                    <a:pt x="1968644" y="833148"/>
                  </a:lnTo>
                  <a:lnTo>
                    <a:pt x="1946408" y="876171"/>
                  </a:lnTo>
                  <a:lnTo>
                    <a:pt x="1912491" y="910088"/>
                  </a:lnTo>
                  <a:lnTo>
                    <a:pt x="1869468" y="932324"/>
                  </a:lnTo>
                  <a:lnTo>
                    <a:pt x="1819910" y="940307"/>
                  </a:lnTo>
                  <a:lnTo>
                    <a:pt x="156717" y="940307"/>
                  </a:lnTo>
                  <a:lnTo>
                    <a:pt x="107159" y="932324"/>
                  </a:lnTo>
                  <a:lnTo>
                    <a:pt x="64136" y="910088"/>
                  </a:lnTo>
                  <a:lnTo>
                    <a:pt x="30219" y="876171"/>
                  </a:lnTo>
                  <a:lnTo>
                    <a:pt x="7983" y="833148"/>
                  </a:lnTo>
                  <a:lnTo>
                    <a:pt x="0" y="783589"/>
                  </a:lnTo>
                  <a:lnTo>
                    <a:pt x="0" y="156717"/>
                  </a:lnTo>
                  <a:close/>
                </a:path>
              </a:pathLst>
            </a:custGeom>
            <a:ln w="2895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692654" y="3518661"/>
            <a:ext cx="1666875" cy="815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555"/>
              </a:lnSpc>
              <a:spcBef>
                <a:spcPts val="95"/>
              </a:spcBef>
            </a:pPr>
            <a:r>
              <a:rPr dirty="0" sz="1300" spc="-245" b="1">
                <a:solidFill>
                  <a:srgbClr val="252525"/>
                </a:solidFill>
                <a:latin typeface="Tahoma"/>
                <a:cs typeface="Tahoma"/>
              </a:rPr>
              <a:t>Integers</a:t>
            </a:r>
            <a:endParaRPr sz="1300">
              <a:latin typeface="Tahoma"/>
              <a:cs typeface="Tahoma"/>
            </a:endParaRPr>
          </a:p>
          <a:p>
            <a:pPr algn="ctr" marL="12065" marR="5080">
              <a:lnSpc>
                <a:spcPts val="1560"/>
              </a:lnSpc>
              <a:spcBef>
                <a:spcPts val="45"/>
              </a:spcBef>
            </a:pP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hole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e  </a:t>
            </a:r>
            <a:r>
              <a:rPr dirty="0" sz="1300" spc="-4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ur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7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7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(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no 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fractions)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986785" y="4850765"/>
            <a:ext cx="1543050" cy="1180465"/>
            <a:chOff x="2986785" y="4850765"/>
            <a:chExt cx="1543050" cy="1180465"/>
          </a:xfrm>
        </p:grpSpPr>
        <p:sp>
          <p:nvSpPr>
            <p:cNvPr id="35" name="object 35"/>
            <p:cNvSpPr/>
            <p:nvPr/>
          </p:nvSpPr>
          <p:spPr>
            <a:xfrm>
              <a:off x="2993135" y="5210556"/>
              <a:ext cx="1530350" cy="814069"/>
            </a:xfrm>
            <a:custGeom>
              <a:avLst/>
              <a:gdLst/>
              <a:ahLst/>
              <a:cxnLst/>
              <a:rect l="l" t="t" r="r" b="b"/>
              <a:pathLst>
                <a:path w="1530350" h="814070">
                  <a:moveTo>
                    <a:pt x="1394460" y="0"/>
                  </a:moveTo>
                  <a:lnTo>
                    <a:pt x="135636" y="0"/>
                  </a:lnTo>
                  <a:lnTo>
                    <a:pt x="92756" y="6912"/>
                  </a:lnTo>
                  <a:lnTo>
                    <a:pt x="55522" y="26164"/>
                  </a:lnTo>
                  <a:lnTo>
                    <a:pt x="26164" y="55522"/>
                  </a:lnTo>
                  <a:lnTo>
                    <a:pt x="6912" y="92756"/>
                  </a:lnTo>
                  <a:lnTo>
                    <a:pt x="0" y="135636"/>
                  </a:lnTo>
                  <a:lnTo>
                    <a:pt x="0" y="678180"/>
                  </a:lnTo>
                  <a:lnTo>
                    <a:pt x="6912" y="721049"/>
                  </a:lnTo>
                  <a:lnTo>
                    <a:pt x="26164" y="758282"/>
                  </a:lnTo>
                  <a:lnTo>
                    <a:pt x="55522" y="787644"/>
                  </a:lnTo>
                  <a:lnTo>
                    <a:pt x="92756" y="806900"/>
                  </a:lnTo>
                  <a:lnTo>
                    <a:pt x="135636" y="813816"/>
                  </a:lnTo>
                  <a:lnTo>
                    <a:pt x="1394460" y="813816"/>
                  </a:lnTo>
                  <a:lnTo>
                    <a:pt x="1437339" y="806900"/>
                  </a:lnTo>
                  <a:lnTo>
                    <a:pt x="1474573" y="787644"/>
                  </a:lnTo>
                  <a:lnTo>
                    <a:pt x="1503931" y="758282"/>
                  </a:lnTo>
                  <a:lnTo>
                    <a:pt x="1523183" y="721049"/>
                  </a:lnTo>
                  <a:lnTo>
                    <a:pt x="1530096" y="678180"/>
                  </a:lnTo>
                  <a:lnTo>
                    <a:pt x="1530096" y="135636"/>
                  </a:lnTo>
                  <a:lnTo>
                    <a:pt x="1523183" y="92756"/>
                  </a:lnTo>
                  <a:lnTo>
                    <a:pt x="1503931" y="55522"/>
                  </a:lnTo>
                  <a:lnTo>
                    <a:pt x="1474573" y="26164"/>
                  </a:lnTo>
                  <a:lnTo>
                    <a:pt x="1437339" y="6912"/>
                  </a:lnTo>
                  <a:lnTo>
                    <a:pt x="1394460" y="0"/>
                  </a:lnTo>
                  <a:close/>
                </a:path>
              </a:pathLst>
            </a:custGeom>
            <a:solidFill>
              <a:srgbClr val="F0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993135" y="5210556"/>
              <a:ext cx="1530350" cy="814069"/>
            </a:xfrm>
            <a:custGeom>
              <a:avLst/>
              <a:gdLst/>
              <a:ahLst/>
              <a:cxnLst/>
              <a:rect l="l" t="t" r="r" b="b"/>
              <a:pathLst>
                <a:path w="1530350" h="814070">
                  <a:moveTo>
                    <a:pt x="0" y="135636"/>
                  </a:moveTo>
                  <a:lnTo>
                    <a:pt x="6912" y="92756"/>
                  </a:lnTo>
                  <a:lnTo>
                    <a:pt x="26164" y="55522"/>
                  </a:lnTo>
                  <a:lnTo>
                    <a:pt x="55522" y="26164"/>
                  </a:lnTo>
                  <a:lnTo>
                    <a:pt x="92756" y="6912"/>
                  </a:lnTo>
                  <a:lnTo>
                    <a:pt x="135636" y="0"/>
                  </a:lnTo>
                  <a:lnTo>
                    <a:pt x="1394460" y="0"/>
                  </a:lnTo>
                  <a:lnTo>
                    <a:pt x="1437339" y="6912"/>
                  </a:lnTo>
                  <a:lnTo>
                    <a:pt x="1474573" y="26164"/>
                  </a:lnTo>
                  <a:lnTo>
                    <a:pt x="1503931" y="55522"/>
                  </a:lnTo>
                  <a:lnTo>
                    <a:pt x="1523183" y="92756"/>
                  </a:lnTo>
                  <a:lnTo>
                    <a:pt x="1530096" y="135636"/>
                  </a:lnTo>
                  <a:lnTo>
                    <a:pt x="1530096" y="678180"/>
                  </a:lnTo>
                  <a:lnTo>
                    <a:pt x="1523183" y="721049"/>
                  </a:lnTo>
                  <a:lnTo>
                    <a:pt x="1503931" y="758282"/>
                  </a:lnTo>
                  <a:lnTo>
                    <a:pt x="1474573" y="787644"/>
                  </a:lnTo>
                  <a:lnTo>
                    <a:pt x="1437339" y="806900"/>
                  </a:lnTo>
                  <a:lnTo>
                    <a:pt x="1394460" y="813816"/>
                  </a:lnTo>
                  <a:lnTo>
                    <a:pt x="135636" y="813816"/>
                  </a:lnTo>
                  <a:lnTo>
                    <a:pt x="92756" y="806900"/>
                  </a:lnTo>
                  <a:lnTo>
                    <a:pt x="55522" y="787644"/>
                  </a:lnTo>
                  <a:lnTo>
                    <a:pt x="26164" y="758282"/>
                  </a:lnTo>
                  <a:lnTo>
                    <a:pt x="6912" y="721049"/>
                  </a:lnTo>
                  <a:lnTo>
                    <a:pt x="0" y="678180"/>
                  </a:lnTo>
                  <a:lnTo>
                    <a:pt x="0" y="135636"/>
                  </a:lnTo>
                  <a:close/>
                </a:path>
              </a:pathLst>
            </a:custGeom>
            <a:ln w="12192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082289" y="4865370"/>
              <a:ext cx="1350645" cy="690880"/>
            </a:xfrm>
            <a:custGeom>
              <a:avLst/>
              <a:gdLst/>
              <a:ahLst/>
              <a:cxnLst/>
              <a:rect l="l" t="t" r="r" b="b"/>
              <a:pathLst>
                <a:path w="1350645" h="690879">
                  <a:moveTo>
                    <a:pt x="1235202" y="0"/>
                  </a:moveTo>
                  <a:lnTo>
                    <a:pt x="115062" y="0"/>
                  </a:lnTo>
                  <a:lnTo>
                    <a:pt x="70294" y="9048"/>
                  </a:lnTo>
                  <a:lnTo>
                    <a:pt x="33718" y="33718"/>
                  </a:lnTo>
                  <a:lnTo>
                    <a:pt x="9048" y="70294"/>
                  </a:lnTo>
                  <a:lnTo>
                    <a:pt x="0" y="115061"/>
                  </a:lnTo>
                  <a:lnTo>
                    <a:pt x="0" y="575309"/>
                  </a:lnTo>
                  <a:lnTo>
                    <a:pt x="9048" y="620077"/>
                  </a:lnTo>
                  <a:lnTo>
                    <a:pt x="33718" y="656653"/>
                  </a:lnTo>
                  <a:lnTo>
                    <a:pt x="70294" y="681323"/>
                  </a:lnTo>
                  <a:lnTo>
                    <a:pt x="115062" y="690371"/>
                  </a:lnTo>
                  <a:lnTo>
                    <a:pt x="1235202" y="690371"/>
                  </a:lnTo>
                  <a:lnTo>
                    <a:pt x="1279969" y="681323"/>
                  </a:lnTo>
                  <a:lnTo>
                    <a:pt x="1316545" y="656653"/>
                  </a:lnTo>
                  <a:lnTo>
                    <a:pt x="1341215" y="620077"/>
                  </a:lnTo>
                  <a:lnTo>
                    <a:pt x="1350264" y="575309"/>
                  </a:lnTo>
                  <a:lnTo>
                    <a:pt x="1350264" y="115061"/>
                  </a:lnTo>
                  <a:lnTo>
                    <a:pt x="1341215" y="70294"/>
                  </a:lnTo>
                  <a:lnTo>
                    <a:pt x="1316545" y="33718"/>
                  </a:lnTo>
                  <a:lnTo>
                    <a:pt x="1279969" y="9048"/>
                  </a:lnTo>
                  <a:lnTo>
                    <a:pt x="1235202" y="0"/>
                  </a:lnTo>
                  <a:close/>
                </a:path>
              </a:pathLst>
            </a:custGeom>
            <a:solidFill>
              <a:srgbClr val="F0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082289" y="4865370"/>
              <a:ext cx="1350645" cy="690880"/>
            </a:xfrm>
            <a:custGeom>
              <a:avLst/>
              <a:gdLst/>
              <a:ahLst/>
              <a:cxnLst/>
              <a:rect l="l" t="t" r="r" b="b"/>
              <a:pathLst>
                <a:path w="1350645" h="690879">
                  <a:moveTo>
                    <a:pt x="0" y="115061"/>
                  </a:moveTo>
                  <a:lnTo>
                    <a:pt x="9048" y="70294"/>
                  </a:lnTo>
                  <a:lnTo>
                    <a:pt x="33718" y="33718"/>
                  </a:lnTo>
                  <a:lnTo>
                    <a:pt x="70294" y="9048"/>
                  </a:lnTo>
                  <a:lnTo>
                    <a:pt x="115062" y="0"/>
                  </a:lnTo>
                  <a:lnTo>
                    <a:pt x="1235202" y="0"/>
                  </a:lnTo>
                  <a:lnTo>
                    <a:pt x="1279969" y="9048"/>
                  </a:lnTo>
                  <a:lnTo>
                    <a:pt x="1316545" y="33718"/>
                  </a:lnTo>
                  <a:lnTo>
                    <a:pt x="1341215" y="70294"/>
                  </a:lnTo>
                  <a:lnTo>
                    <a:pt x="1350264" y="115061"/>
                  </a:lnTo>
                  <a:lnTo>
                    <a:pt x="1350264" y="575309"/>
                  </a:lnTo>
                  <a:lnTo>
                    <a:pt x="1341215" y="620077"/>
                  </a:lnTo>
                  <a:lnTo>
                    <a:pt x="1316545" y="656653"/>
                  </a:lnTo>
                  <a:lnTo>
                    <a:pt x="1279969" y="681323"/>
                  </a:lnTo>
                  <a:lnTo>
                    <a:pt x="1235202" y="690371"/>
                  </a:lnTo>
                  <a:lnTo>
                    <a:pt x="115062" y="690371"/>
                  </a:lnTo>
                  <a:lnTo>
                    <a:pt x="70294" y="681323"/>
                  </a:lnTo>
                  <a:lnTo>
                    <a:pt x="33718" y="656653"/>
                  </a:lnTo>
                  <a:lnTo>
                    <a:pt x="9048" y="620077"/>
                  </a:lnTo>
                  <a:lnTo>
                    <a:pt x="0" y="575309"/>
                  </a:lnTo>
                  <a:lnTo>
                    <a:pt x="0" y="115061"/>
                  </a:lnTo>
                  <a:close/>
                </a:path>
              </a:pathLst>
            </a:custGeom>
            <a:ln w="28956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3336416" y="4901565"/>
            <a:ext cx="842010" cy="984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635">
              <a:lnSpc>
                <a:spcPct val="99600"/>
              </a:lnSpc>
              <a:spcBef>
                <a:spcPts val="100"/>
              </a:spcBef>
            </a:pPr>
            <a:r>
              <a:rPr dirty="0" sz="1300" spc="-240" b="1">
                <a:solidFill>
                  <a:srgbClr val="252525"/>
                </a:solidFill>
                <a:latin typeface="Tahoma"/>
                <a:cs typeface="Tahoma"/>
              </a:rPr>
              <a:t>Natural </a:t>
            </a:r>
            <a:r>
              <a:rPr dirty="0" sz="1300" spc="-23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Po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r 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(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0)</a:t>
            </a:r>
            <a:endParaRPr sz="130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 spc="-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926205" y="3134740"/>
            <a:ext cx="699135" cy="13970"/>
          </a:xfrm>
          <a:custGeom>
            <a:avLst/>
            <a:gdLst/>
            <a:ahLst/>
            <a:cxnLst/>
            <a:rect l="l" t="t" r="r" b="b"/>
            <a:pathLst>
              <a:path w="699135" h="13969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  <a:path w="699135" h="13969">
                <a:moveTo>
                  <a:pt x="698754" y="1397"/>
                </a:moveTo>
                <a:lnTo>
                  <a:pt x="403098" y="1397"/>
                </a:lnTo>
                <a:lnTo>
                  <a:pt x="403098" y="13589"/>
                </a:lnTo>
                <a:lnTo>
                  <a:pt x="698754" y="13589"/>
                </a:lnTo>
                <a:lnTo>
                  <a:pt x="698754" y="139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875913" y="2826232"/>
            <a:ext cx="802005" cy="5346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  <a:tabLst>
                <a:tab pos="551180" algn="l"/>
              </a:tabLst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5	1</a:t>
            </a:r>
            <a:endParaRPr sz="1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  <a:tabLst>
                <a:tab pos="290830" algn="l"/>
              </a:tabLst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baseline="37698" sz="21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baseline="37698" sz="2100" spc="-11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128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08579" y="4474845"/>
            <a:ext cx="183768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−5</a:t>
            </a:r>
            <a:r>
              <a:rPr dirty="0" sz="1400" spc="30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4  −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400" spc="29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400" spc="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400" spc="2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400" spc="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1  0</a:t>
            </a:r>
            <a:endParaRPr sz="1400">
              <a:latin typeface="Cambria Math"/>
              <a:cs typeface="Cambria Math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5094859" y="1982470"/>
          <a:ext cx="4249420" cy="3682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644"/>
                <a:gridCol w="3279775"/>
              </a:tblGrid>
              <a:tr h="4591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9089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76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76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53760" y="2150617"/>
            <a:ext cx="243966" cy="168402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92669" y="2150617"/>
            <a:ext cx="624839" cy="16840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36285" y="2941320"/>
            <a:ext cx="486155" cy="13677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82005" y="2727960"/>
            <a:ext cx="396240" cy="13677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66739" y="2727960"/>
            <a:ext cx="3011678" cy="16840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65341" y="2941320"/>
            <a:ext cx="1150492" cy="168401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63714" y="2941320"/>
            <a:ext cx="523112" cy="15379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355335" y="3577209"/>
            <a:ext cx="450341" cy="16840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22614" y="3470528"/>
            <a:ext cx="476884" cy="13677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161151" y="3470528"/>
            <a:ext cx="2511044" cy="168402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6164960" y="3683889"/>
            <a:ext cx="754380" cy="153670"/>
            <a:chOff x="6164960" y="3683889"/>
            <a:chExt cx="754380" cy="153670"/>
          </a:xfrm>
        </p:grpSpPr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64960" y="3683889"/>
              <a:ext cx="96265" cy="15366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81165" y="3683889"/>
              <a:ext cx="637920" cy="153669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363717" y="4046601"/>
            <a:ext cx="434340" cy="13677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336285" y="4259960"/>
            <a:ext cx="486155" cy="13677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161278" y="4152900"/>
            <a:ext cx="2009521" cy="13716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217154" y="4153280"/>
            <a:ext cx="497713" cy="13677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326379" y="4622672"/>
            <a:ext cx="509905" cy="136778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336285" y="4836033"/>
            <a:ext cx="486283" cy="13677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161278" y="4729098"/>
            <a:ext cx="2187829" cy="13703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95461" y="4729353"/>
            <a:ext cx="496189" cy="13677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99126" y="5305552"/>
            <a:ext cx="762000" cy="136778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161278" y="5198490"/>
            <a:ext cx="1675765" cy="13715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887461" y="5198871"/>
            <a:ext cx="476885" cy="13677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769857" y="5249798"/>
            <a:ext cx="185800" cy="85851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410067" y="5198871"/>
            <a:ext cx="312419" cy="13639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004554" y="5198871"/>
            <a:ext cx="115950" cy="136270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165341" y="5412232"/>
            <a:ext cx="942466" cy="168402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162672" y="5412232"/>
            <a:ext cx="176275" cy="1362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5172" y="3224771"/>
            <a:ext cx="2183129" cy="3116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55"/>
            <a:ext cx="2571750" cy="10416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71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1.3.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Mathematical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Symbols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3177"/>
            <a:ext cx="4744974" cy="30256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937004"/>
            <a:ext cx="6134862" cy="176022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58800" y="2280666"/>
          <a:ext cx="8784590" cy="3232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/>
                <a:gridCol w="975994"/>
                <a:gridCol w="975994"/>
                <a:gridCol w="975994"/>
                <a:gridCol w="975995"/>
                <a:gridCol w="975995"/>
                <a:gridCol w="975995"/>
                <a:gridCol w="975995"/>
                <a:gridCol w="975995"/>
              </a:tblGrid>
              <a:tr h="357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3333F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57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577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57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57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577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57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57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5853" y="2405633"/>
            <a:ext cx="583361" cy="1554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8851" y="2405633"/>
            <a:ext cx="587882" cy="12611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17977" y="2405633"/>
            <a:ext cx="761873" cy="1263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83889" y="2405633"/>
            <a:ext cx="583438" cy="15544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56835" y="2405633"/>
            <a:ext cx="588010" cy="12611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12001" y="2405633"/>
            <a:ext cx="583438" cy="1554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45963" y="2405633"/>
            <a:ext cx="761873" cy="12636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74075" y="2405633"/>
            <a:ext cx="761873" cy="1263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84947" y="2405633"/>
            <a:ext cx="588009" cy="12611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3670" y="2751454"/>
            <a:ext cx="108915" cy="12026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958339" y="2787014"/>
            <a:ext cx="94742" cy="8610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50514" y="2755645"/>
            <a:ext cx="292735" cy="16878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39159" y="2752851"/>
            <a:ext cx="36829" cy="11887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16804" y="2788411"/>
            <a:ext cx="36575" cy="8470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845934" y="2752851"/>
            <a:ext cx="83439" cy="11887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30442" y="2756026"/>
            <a:ext cx="193675" cy="13677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759443" y="2756026"/>
            <a:ext cx="192024" cy="13627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811134" y="2787014"/>
            <a:ext cx="90097" cy="1223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85215" y="3110610"/>
            <a:ext cx="87845" cy="11887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50466" y="3104895"/>
            <a:ext cx="98932" cy="16205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880360" y="3113785"/>
            <a:ext cx="236981" cy="13677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911727" y="3110610"/>
            <a:ext cx="101726" cy="11887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891404" y="3144773"/>
            <a:ext cx="85344" cy="8610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767323" y="3113785"/>
            <a:ext cx="319277" cy="16840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841108" y="3110610"/>
            <a:ext cx="84455" cy="11887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814691" y="3146170"/>
            <a:ext cx="95123" cy="8470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691753" y="3113785"/>
            <a:ext cx="327532" cy="16840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92835" y="3467989"/>
            <a:ext cx="79311" cy="11925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958085" y="3502533"/>
            <a:ext cx="91058" cy="11963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799588" y="3471545"/>
            <a:ext cx="400050" cy="13677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903217" y="3466972"/>
            <a:ext cx="105791" cy="12026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887721" y="3462654"/>
            <a:ext cx="89662" cy="12598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720079" y="3471545"/>
            <a:ext cx="415290" cy="13677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839584" y="3468370"/>
            <a:ext cx="94234" cy="11887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822056" y="3503929"/>
            <a:ext cx="77343" cy="8470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759570" y="3471545"/>
            <a:ext cx="184023" cy="13677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80605" y="3824732"/>
            <a:ext cx="95161" cy="12026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962404" y="3819905"/>
            <a:ext cx="85851" cy="126492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865120" y="3829303"/>
            <a:ext cx="267462" cy="136778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3896105" y="3826128"/>
            <a:ext cx="124714" cy="118871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884673" y="3861815"/>
            <a:ext cx="94361" cy="11810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858764" y="3829303"/>
            <a:ext cx="137033" cy="136778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829552" y="3824732"/>
            <a:ext cx="105918" cy="120268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816468" y="3860419"/>
            <a:ext cx="79882" cy="8597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8660256" y="3829303"/>
            <a:ext cx="390271" cy="16840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989787" y="4183888"/>
            <a:ext cx="82270" cy="11887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969261" y="4218051"/>
            <a:ext cx="70612" cy="86106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811779" y="4187063"/>
            <a:ext cx="374903" cy="168401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906773" y="4183888"/>
            <a:ext cx="101600" cy="11938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887595" y="4218178"/>
            <a:ext cx="86487" cy="8534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863335" y="4187063"/>
            <a:ext cx="126364" cy="13677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825615" y="4183888"/>
            <a:ext cx="119887" cy="118872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807452" y="4217923"/>
            <a:ext cx="103758" cy="12242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8779256" y="4187063"/>
            <a:ext cx="152526" cy="136270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990472" y="4541646"/>
            <a:ext cx="80454" cy="118871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967738" y="4540250"/>
            <a:ext cx="75437" cy="156972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2881376" y="4544821"/>
            <a:ext cx="226822" cy="13677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3933190" y="4560696"/>
            <a:ext cx="82042" cy="118871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4894453" y="4536059"/>
            <a:ext cx="78105" cy="16116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5880480" y="4544821"/>
            <a:ext cx="86614" cy="136270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837171" y="4541646"/>
            <a:ext cx="98298" cy="118871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804404" y="4575936"/>
            <a:ext cx="106299" cy="11874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8777731" y="4544821"/>
            <a:ext cx="155575" cy="136270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979081" y="4899405"/>
            <a:ext cx="101257" cy="118871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957323" y="4933696"/>
            <a:ext cx="82676" cy="122174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919983" y="4902580"/>
            <a:ext cx="156210" cy="13677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910105" y="4898009"/>
            <a:ext cx="95728" cy="121666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4893013" y="4933696"/>
            <a:ext cx="75714" cy="8610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5706490" y="4902580"/>
            <a:ext cx="440309" cy="136270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7799831" y="4896230"/>
            <a:ext cx="115062" cy="15951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6819900" y="4899405"/>
            <a:ext cx="130428" cy="118871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8779256" y="4902580"/>
            <a:ext cx="152526" cy="13627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982013" y="5255767"/>
            <a:ext cx="95708" cy="121665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962150" y="5253990"/>
            <a:ext cx="80263" cy="12344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907154" y="5257165"/>
            <a:ext cx="99060" cy="118872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2854832" y="5260340"/>
            <a:ext cx="280797" cy="136778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4881753" y="5292852"/>
            <a:ext cx="101346" cy="84581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5868034" y="5278754"/>
            <a:ext cx="118872" cy="117856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6830186" y="5255767"/>
            <a:ext cx="110109" cy="120268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7802880" y="5291328"/>
            <a:ext cx="112395" cy="86106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8677147" y="5311394"/>
            <a:ext cx="355726" cy="1173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2704" y="6524434"/>
            <a:ext cx="5838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01440"/>
            <a:ext cx="3222498" cy="18417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06011"/>
            <a:ext cx="3230117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219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dirty="0" sz="1800" spc="-6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Algebra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77"/>
            <a:ext cx="1032522" cy="30256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6978"/>
            <a:ext cx="8576310" cy="3558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450592"/>
            <a:ext cx="7428738" cy="65608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772155" y="4111752"/>
            <a:ext cx="1463040" cy="1181100"/>
            <a:chOff x="2772155" y="4111752"/>
            <a:chExt cx="1463040" cy="11811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72155" y="4111752"/>
              <a:ext cx="1062228" cy="11811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03141" y="4792218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 h="0">
                  <a:moveTo>
                    <a:pt x="0" y="0"/>
                  </a:moveTo>
                  <a:lnTo>
                    <a:pt x="432054" y="0"/>
                  </a:lnTo>
                </a:path>
              </a:pathLst>
            </a:custGeom>
            <a:ln w="28956">
              <a:solidFill>
                <a:srgbClr val="5B9BD4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79575" y="4288535"/>
            <a:ext cx="943356" cy="9403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34255" y="4224528"/>
            <a:ext cx="903731" cy="1011936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187701" y="4792217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 h="0">
                <a:moveTo>
                  <a:pt x="0" y="0"/>
                </a:moveTo>
                <a:lnTo>
                  <a:pt x="432054" y="0"/>
                </a:lnTo>
              </a:path>
            </a:pathLst>
          </a:custGeom>
          <a:ln w="28956">
            <a:solidFill>
              <a:srgbClr val="5B9B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5742432" y="4338828"/>
            <a:ext cx="2981325" cy="1035050"/>
            <a:chOff x="5742432" y="4338828"/>
            <a:chExt cx="2981325" cy="1035050"/>
          </a:xfrm>
        </p:grpSpPr>
        <p:sp>
          <p:nvSpPr>
            <p:cNvPr id="18" name="object 18"/>
            <p:cNvSpPr/>
            <p:nvPr/>
          </p:nvSpPr>
          <p:spPr>
            <a:xfrm>
              <a:off x="5742432" y="4338828"/>
              <a:ext cx="2981325" cy="1035050"/>
            </a:xfrm>
            <a:custGeom>
              <a:avLst/>
              <a:gdLst/>
              <a:ahLst/>
              <a:cxnLst/>
              <a:rect l="l" t="t" r="r" b="b"/>
              <a:pathLst>
                <a:path w="2981325" h="1035050">
                  <a:moveTo>
                    <a:pt x="2980943" y="0"/>
                  </a:moveTo>
                  <a:lnTo>
                    <a:pt x="0" y="0"/>
                  </a:lnTo>
                  <a:lnTo>
                    <a:pt x="0" y="1034796"/>
                  </a:lnTo>
                  <a:lnTo>
                    <a:pt x="2980943" y="1034796"/>
                  </a:lnTo>
                  <a:lnTo>
                    <a:pt x="29809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1052" y="4572000"/>
              <a:ext cx="2188463" cy="58369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817367" y="5480405"/>
            <a:ext cx="5181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29">
                <a:solidFill>
                  <a:srgbClr val="252525"/>
                </a:solidFill>
                <a:latin typeface="Trebuchet MS"/>
                <a:cs typeface="Trebuchet MS"/>
              </a:rPr>
              <a:t>Algebra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4563"/>
            <a:ext cx="1992630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913126" cy="1623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2198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2.1.</a:t>
            </a:r>
            <a:r>
              <a:rPr dirty="0" spc="-60"/>
              <a:t> </a:t>
            </a:r>
            <a:r>
              <a:rPr dirty="0" spc="-5"/>
              <a:t>Algebra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9533" y="4629657"/>
            <a:ext cx="1683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</a:t>
            </a:r>
            <a:r>
              <a:rPr dirty="0" sz="1200">
                <a:latin typeface="Calibri"/>
                <a:cs typeface="Calibri"/>
              </a:rPr>
              <a:t>quali</a:t>
            </a:r>
            <a:r>
              <a:rPr dirty="0" sz="1200" spc="5">
                <a:latin typeface="Calibri"/>
                <a:cs typeface="Calibri"/>
              </a:rPr>
              <a:t>t</a:t>
            </a:r>
            <a:r>
              <a:rPr dirty="0" sz="1200" spc="-100">
                <a:latin typeface="Calibri"/>
                <a:cs typeface="Calibri"/>
              </a:rPr>
              <a:t>y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</a:t>
            </a:r>
            <a:r>
              <a:rPr dirty="0" sz="1200">
                <a:latin typeface="Calibri"/>
                <a:cs typeface="Calibri"/>
              </a:rPr>
              <a:t>qu</a:t>
            </a:r>
            <a:r>
              <a:rPr dirty="0" sz="1200" spc="-15">
                <a:latin typeface="Calibri"/>
                <a:cs typeface="Calibri"/>
              </a:rPr>
              <a:t>a</a:t>
            </a:r>
            <a:r>
              <a:rPr dirty="0" sz="1200">
                <a:latin typeface="Calibri"/>
                <a:cs typeface="Calibri"/>
              </a:rPr>
              <a:t>tion,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</a:t>
            </a:r>
            <a:r>
              <a:rPr dirty="0" sz="1200" spc="-5">
                <a:latin typeface="Calibri"/>
                <a:cs typeface="Calibri"/>
              </a:rPr>
              <a:t>n</a:t>
            </a:r>
            <a:r>
              <a:rPr dirty="0" sz="1200">
                <a:latin typeface="Calibri"/>
                <a:cs typeface="Calibri"/>
              </a:rPr>
              <a:t>ti</a:t>
            </a:r>
            <a:r>
              <a:rPr dirty="0" sz="1200" spc="5">
                <a:latin typeface="Calibri"/>
                <a:cs typeface="Calibri"/>
              </a:rPr>
              <a:t>t</a:t>
            </a:r>
            <a:r>
              <a:rPr dirty="0" sz="1200"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655" y="2997707"/>
            <a:ext cx="1922145" cy="15697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ts val="1950"/>
              </a:lnSpc>
              <a:spcBef>
                <a:spcPts val="280"/>
              </a:spcBef>
            </a:pP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y</a:t>
            </a:r>
            <a:endParaRPr sz="1650">
              <a:latin typeface="Cambria Math"/>
              <a:cs typeface="Cambria Math"/>
            </a:endParaRPr>
          </a:p>
          <a:p>
            <a:pPr marL="90805">
              <a:lnSpc>
                <a:spcPts val="1920"/>
              </a:lnSpc>
            </a:pP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7</a:t>
            </a:r>
            <a:endParaRPr sz="1650">
              <a:latin typeface="Cambria Math"/>
              <a:cs typeface="Cambria Math"/>
            </a:endParaRPr>
          </a:p>
          <a:p>
            <a:pPr marL="90805">
              <a:lnSpc>
                <a:spcPts val="1920"/>
              </a:lnSpc>
            </a:pP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9-5</a:t>
            </a:r>
            <a:endParaRPr sz="1650">
              <a:latin typeface="Cambria Math"/>
              <a:cs typeface="Cambria Math"/>
            </a:endParaRPr>
          </a:p>
          <a:p>
            <a:pPr marL="90805">
              <a:lnSpc>
                <a:spcPts val="1920"/>
              </a:lnSpc>
            </a:pP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5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×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600" spc="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9</a:t>
            </a:r>
            <a:endParaRPr sz="1600">
              <a:latin typeface="Cambria Math"/>
              <a:cs typeface="Cambria Math"/>
            </a:endParaRPr>
          </a:p>
          <a:p>
            <a:pPr marL="90805">
              <a:lnSpc>
                <a:spcPts val="1920"/>
              </a:lnSpc>
            </a:pP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4 </a:t>
            </a:r>
            <a:r>
              <a:rPr dirty="0" sz="1650" spc="-45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650" spc="-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8</a:t>
            </a:r>
            <a:r>
              <a:rPr dirty="0" sz="1650" spc="-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×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(5 –</a:t>
            </a:r>
            <a:r>
              <a:rPr dirty="0" sz="1650" spc="-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4)</a:t>
            </a:r>
            <a:endParaRPr sz="1650">
              <a:latin typeface="Cambria Math"/>
              <a:cs typeface="Cambria Math"/>
            </a:endParaRPr>
          </a:p>
          <a:p>
            <a:pPr marL="90805">
              <a:lnSpc>
                <a:spcPts val="1950"/>
              </a:lnSpc>
            </a:pP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X </a:t>
            </a:r>
            <a:r>
              <a:rPr dirty="0" sz="1650" spc="-40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 5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× </a:t>
            </a: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(7</a:t>
            </a:r>
            <a:r>
              <a:rPr dirty="0" sz="1650" spc="-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– </a:t>
            </a:r>
            <a:r>
              <a:rPr dirty="0" sz="1600" spc="1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650" spc="10">
                <a:solidFill>
                  <a:srgbClr val="252525"/>
                </a:solidFill>
                <a:latin typeface="Cambria Math"/>
                <a:cs typeface="Cambria Math"/>
              </a:rPr>
              <a:t>)</a:t>
            </a:r>
            <a:endParaRPr sz="1650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54451" y="2394204"/>
            <a:ext cx="4633214" cy="27843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468115" y="3010916"/>
            <a:ext cx="4889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𝐴</a:t>
            </a:r>
            <a:r>
              <a:rPr dirty="0" sz="1400" spc="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𝐵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0171" y="3715139"/>
            <a:ext cx="59055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35">
                <a:solidFill>
                  <a:srgbClr val="252525"/>
                </a:solidFill>
                <a:latin typeface="Cambria Math"/>
                <a:cs typeface="Cambria Math"/>
              </a:rPr>
              <a:t>X+1</a:t>
            </a:r>
            <a:r>
              <a:rPr dirty="0" sz="1450" spc="-4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50" spc="-3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28413" y="4258318"/>
            <a:ext cx="65087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35">
                <a:solidFill>
                  <a:srgbClr val="252525"/>
                </a:solidFill>
                <a:latin typeface="Cambria Math"/>
                <a:cs typeface="Cambria Math"/>
              </a:rPr>
              <a:t>a+a=2a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86168" y="2390012"/>
            <a:ext cx="15468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sion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“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“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4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ign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40854" y="2938017"/>
            <a:ext cx="13252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qu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ion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U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nkno</a:t>
            </a:r>
            <a:r>
              <a:rPr dirty="0" sz="1300" spc="-28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ns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82916" y="3689096"/>
            <a:ext cx="156527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qu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io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9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4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no  </a:t>
            </a:r>
            <a:r>
              <a:rPr dirty="0" sz="1300" spc="-320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lu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o 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unkno</a:t>
            </a:r>
            <a:r>
              <a:rPr dirty="0" sz="1300" spc="-28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n.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86071" y="2651887"/>
            <a:ext cx="4616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q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u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ty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6259" y="3203194"/>
            <a:ext cx="5035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q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u</a:t>
            </a:r>
            <a:r>
              <a:rPr dirty="0" sz="1400" spc="-23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3690" y="3772280"/>
            <a:ext cx="446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Identity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4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4563"/>
            <a:ext cx="1146809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1818119"/>
            <a:ext cx="4382262" cy="6576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219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dirty="0" sz="1800" spc="-6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Algebra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7344" y="2628900"/>
            <a:ext cx="3023870" cy="132461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4925" rIns="0" bIns="0" rtlCol="0" vert="horz">
            <a:spAutoFit/>
          </a:bodyPr>
          <a:lstStyle/>
          <a:p>
            <a:pPr marL="90805">
              <a:lnSpc>
                <a:spcPts val="1950"/>
              </a:lnSpc>
              <a:spcBef>
                <a:spcPts val="275"/>
              </a:spcBef>
            </a:pPr>
            <a:r>
              <a:rPr dirty="0" sz="1650" spc="-35">
                <a:solidFill>
                  <a:srgbClr val="252525"/>
                </a:solidFill>
                <a:latin typeface="Cambria Math"/>
                <a:cs typeface="Cambria Math"/>
              </a:rPr>
              <a:t>7=7</a:t>
            </a:r>
            <a:endParaRPr sz="1650">
              <a:latin typeface="Cambria Math"/>
              <a:cs typeface="Cambria Math"/>
            </a:endParaRPr>
          </a:p>
          <a:p>
            <a:pPr marL="90805" marR="2183130">
              <a:lnSpc>
                <a:spcPts val="1920"/>
              </a:lnSpc>
              <a:spcBef>
                <a:spcPts val="85"/>
              </a:spcBef>
            </a:pPr>
            <a:r>
              <a:rPr dirty="0" sz="1650" spc="-40">
                <a:solidFill>
                  <a:srgbClr val="252525"/>
                </a:solidFill>
                <a:latin typeface="Cambria Math"/>
                <a:cs typeface="Cambria Math"/>
              </a:rPr>
              <a:t>x=9 </a:t>
            </a:r>
            <a:r>
              <a:rPr dirty="0" sz="1650" spc="-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50" spc="-35">
                <a:solidFill>
                  <a:srgbClr val="252525"/>
                </a:solidFill>
                <a:latin typeface="Cambria Math"/>
                <a:cs typeface="Cambria Math"/>
              </a:rPr>
              <a:t>y+9</a:t>
            </a:r>
            <a:r>
              <a:rPr dirty="0" sz="1650" spc="-5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50" spc="-30">
                <a:solidFill>
                  <a:srgbClr val="252525"/>
                </a:solidFill>
                <a:latin typeface="Cambria Math"/>
                <a:cs typeface="Cambria Math"/>
              </a:rPr>
              <a:t>14</a:t>
            </a:r>
            <a:endParaRPr sz="1650">
              <a:latin typeface="Cambria Math"/>
              <a:cs typeface="Cambria Math"/>
            </a:endParaRPr>
          </a:p>
          <a:p>
            <a:pPr marL="90805">
              <a:lnSpc>
                <a:spcPts val="1860"/>
              </a:lnSpc>
            </a:pPr>
            <a:r>
              <a:rPr dirty="0" sz="1650" spc="-25">
                <a:solidFill>
                  <a:srgbClr val="252525"/>
                </a:solidFill>
                <a:latin typeface="Cambria Math"/>
                <a:cs typeface="Cambria Math"/>
              </a:rPr>
              <a:t>x-4=15</a:t>
            </a:r>
            <a:r>
              <a:rPr dirty="0" sz="1600" spc="-25">
                <a:solidFill>
                  <a:srgbClr val="252525"/>
                </a:solidFill>
                <a:latin typeface="Cambria Math"/>
                <a:cs typeface="Cambria Math"/>
              </a:rPr>
              <a:t>−𝑥</a:t>
            </a:r>
            <a:endParaRPr sz="1600">
              <a:latin typeface="Cambria Math"/>
              <a:cs typeface="Cambria Math"/>
            </a:endParaRPr>
          </a:p>
          <a:p>
            <a:pPr marL="90805">
              <a:lnSpc>
                <a:spcPts val="1914"/>
              </a:lnSpc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5𝑥𝑦</a:t>
            </a:r>
            <a:r>
              <a:rPr dirty="0" sz="1600" spc="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25">
                <a:solidFill>
                  <a:srgbClr val="252525"/>
                </a:solidFill>
                <a:latin typeface="Cambria Math"/>
                <a:cs typeface="Cambria Math"/>
              </a:rPr>
              <a:t>8𝑥𝑦</a:t>
            </a:r>
            <a:r>
              <a:rPr dirty="0" baseline="28985" sz="1725" spc="37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28985" sz="1725" spc="2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2198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2.1.</a:t>
            </a:r>
            <a:r>
              <a:rPr dirty="0" spc="-60"/>
              <a:t> </a:t>
            </a:r>
            <a:r>
              <a:rPr dirty="0" spc="-5"/>
              <a:t>Algebra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030986" cy="1760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14958" y="3018281"/>
            <a:ext cx="36366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y=f(x),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300" spc="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an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independent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variable,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r>
              <a:rPr dirty="0" sz="1300" spc="-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dependent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variable.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3732" y="3037332"/>
            <a:ext cx="329565" cy="169545"/>
          </a:xfrm>
          <a:custGeom>
            <a:avLst/>
            <a:gdLst/>
            <a:ahLst/>
            <a:cxnLst/>
            <a:rect l="l" t="t" r="r" b="b"/>
            <a:pathLst>
              <a:path w="329565" h="169544">
                <a:moveTo>
                  <a:pt x="300990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140969"/>
                </a:lnTo>
                <a:lnTo>
                  <a:pt x="2215" y="151965"/>
                </a:lnTo>
                <a:lnTo>
                  <a:pt x="8258" y="160924"/>
                </a:lnTo>
                <a:lnTo>
                  <a:pt x="17220" y="166955"/>
                </a:lnTo>
                <a:lnTo>
                  <a:pt x="28193" y="169163"/>
                </a:lnTo>
                <a:lnTo>
                  <a:pt x="300990" y="169163"/>
                </a:lnTo>
                <a:lnTo>
                  <a:pt x="311963" y="166955"/>
                </a:lnTo>
                <a:lnTo>
                  <a:pt x="320925" y="160924"/>
                </a:lnTo>
                <a:lnTo>
                  <a:pt x="326968" y="151965"/>
                </a:lnTo>
                <a:lnTo>
                  <a:pt x="329184" y="140969"/>
                </a:lnTo>
                <a:lnTo>
                  <a:pt x="329184" y="28193"/>
                </a:lnTo>
                <a:lnTo>
                  <a:pt x="326968" y="17198"/>
                </a:lnTo>
                <a:lnTo>
                  <a:pt x="320925" y="8239"/>
                </a:lnTo>
                <a:lnTo>
                  <a:pt x="311963" y="2208"/>
                </a:lnTo>
                <a:lnTo>
                  <a:pt x="300990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86129" y="3030981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1818119"/>
            <a:ext cx="8321802" cy="68352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3435070"/>
            <a:ext cx="8064246" cy="3589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12875" y="3977640"/>
            <a:ext cx="3755390" cy="963294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28905" rIns="0" bIns="0" rtlCol="0" vert="horz">
            <a:spAutoFit/>
          </a:bodyPr>
          <a:lstStyle/>
          <a:p>
            <a:pPr marL="349250" indent="-182245">
              <a:lnSpc>
                <a:spcPct val="100000"/>
              </a:lnSpc>
              <a:spcBef>
                <a:spcPts val="1015"/>
              </a:spcBef>
              <a:buClr>
                <a:srgbClr val="183DAF"/>
              </a:buClr>
              <a:buFont typeface="Arial MT"/>
              <a:buChar char="•"/>
              <a:tabLst>
                <a:tab pos="349885" algn="l"/>
              </a:tabLst>
            </a:pP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ur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r.</a:t>
            </a:r>
            <a:endParaRPr sz="1300">
              <a:latin typeface="Trebuchet MS"/>
              <a:cs typeface="Trebuchet MS"/>
            </a:endParaRPr>
          </a:p>
          <a:p>
            <a:pPr marL="349250" indent="-182245">
              <a:lnSpc>
                <a:spcPct val="100000"/>
              </a:lnSpc>
              <a:spcBef>
                <a:spcPts val="395"/>
              </a:spcBef>
              <a:buClr>
                <a:srgbClr val="183DAF"/>
              </a:buClr>
              <a:buFont typeface="Arial MT"/>
              <a:buChar char="•"/>
              <a:tabLst>
                <a:tab pos="349885" algn="l"/>
              </a:tabLst>
            </a:pP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r.</a:t>
            </a:r>
            <a:endParaRPr sz="1300">
              <a:latin typeface="Trebuchet MS"/>
              <a:cs typeface="Trebuchet MS"/>
            </a:endParaRPr>
          </a:p>
          <a:p>
            <a:pPr marL="349250" indent="-182245">
              <a:lnSpc>
                <a:spcPct val="100000"/>
              </a:lnSpc>
              <a:spcBef>
                <a:spcPts val="395"/>
              </a:spcBef>
              <a:buClr>
                <a:srgbClr val="183DAF"/>
              </a:buClr>
              <a:buFont typeface="Arial MT"/>
              <a:buChar char="•"/>
              <a:tabLst>
                <a:tab pos="349885" algn="l"/>
              </a:tabLst>
            </a:pP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z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omp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nu</a:t>
            </a:r>
            <a:r>
              <a:rPr dirty="0" sz="1300" spc="-285">
                <a:solidFill>
                  <a:srgbClr val="252525"/>
                </a:solidFill>
                <a:latin typeface="Trebuchet MS"/>
                <a:cs typeface="Trebuchet MS"/>
              </a:rPr>
              <a:t>mb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r.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2052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4563"/>
            <a:ext cx="896874" cy="14249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2198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2.1.</a:t>
            </a:r>
            <a:r>
              <a:rPr dirty="0" spc="-60"/>
              <a:t> </a:t>
            </a:r>
            <a:r>
              <a:rPr dirty="0" spc="-5"/>
              <a:t>Algebra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7595" y="1772411"/>
            <a:ext cx="8854440" cy="2059305"/>
          </a:xfrm>
          <a:custGeom>
            <a:avLst/>
            <a:gdLst/>
            <a:ahLst/>
            <a:cxnLst/>
            <a:rect l="l" t="t" r="r" b="b"/>
            <a:pathLst>
              <a:path w="8854440" h="2059304">
                <a:moveTo>
                  <a:pt x="8854440" y="0"/>
                </a:moveTo>
                <a:lnTo>
                  <a:pt x="0" y="0"/>
                </a:lnTo>
                <a:lnTo>
                  <a:pt x="0" y="2058924"/>
                </a:lnTo>
                <a:lnTo>
                  <a:pt x="8854440" y="2058924"/>
                </a:lnTo>
                <a:lnTo>
                  <a:pt x="88544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855722" y="2091308"/>
            <a:ext cx="43573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It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14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0">
                <a:solidFill>
                  <a:srgbClr val="252525"/>
                </a:solidFill>
                <a:latin typeface="Trebuchet MS"/>
                <a:cs typeface="Trebuchet MS"/>
              </a:rPr>
              <a:t>an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expression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number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letter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product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50">
                <a:solidFill>
                  <a:srgbClr val="252525"/>
                </a:solidFill>
                <a:latin typeface="Trebuchet MS"/>
                <a:cs typeface="Trebuchet MS"/>
              </a:rPr>
              <a:t>two.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 For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example: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47665" y="2692654"/>
            <a:ext cx="85725" cy="13970"/>
          </a:xfrm>
          <a:custGeom>
            <a:avLst/>
            <a:gdLst/>
            <a:ahLst/>
            <a:cxnLst/>
            <a:rect l="l" t="t" r="r" b="b"/>
            <a:pathLst>
              <a:path w="85725" h="13969">
                <a:moveTo>
                  <a:pt x="85344" y="0"/>
                </a:moveTo>
                <a:lnTo>
                  <a:pt x="0" y="0"/>
                </a:lnTo>
                <a:lnTo>
                  <a:pt x="0" y="13715"/>
                </a:lnTo>
                <a:lnTo>
                  <a:pt x="85344" y="13715"/>
                </a:lnTo>
                <a:lnTo>
                  <a:pt x="8534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48300" y="2698445"/>
            <a:ext cx="98425" cy="203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150" spc="35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7415" y="2541473"/>
            <a:ext cx="16249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3,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a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a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-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4ab</a:t>
            </a:r>
            <a:r>
              <a:rPr dirty="0" sz="1600" spc="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cap="small" baseline="45893" sz="1725" spc="209">
                <a:solidFill>
                  <a:srgbClr val="252525"/>
                </a:solidFill>
                <a:latin typeface="Cambria Math"/>
                <a:cs typeface="Cambria Math"/>
              </a:rPr>
              <a:t>x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a</a:t>
            </a:r>
            <a:r>
              <a:rPr dirty="0" baseline="28985" sz="1725" spc="52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baseline="28985" sz="1725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8877" y="2920339"/>
            <a:ext cx="5667375" cy="65659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900"/>
              </a:spcBef>
            </a:pPr>
            <a:r>
              <a:rPr dirty="0" sz="1400" spc="-27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number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times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each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term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14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0">
                <a:solidFill>
                  <a:srgbClr val="252525"/>
                </a:solidFill>
                <a:latin typeface="Trebuchet MS"/>
                <a:cs typeface="Trebuchet MS"/>
              </a:rPr>
              <a:t>multiplied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by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14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4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called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degree.</a:t>
            </a:r>
            <a:endParaRPr sz="1400">
              <a:latin typeface="Trebuchet MS"/>
              <a:cs typeface="Trebuchet MS"/>
            </a:endParaRPr>
          </a:p>
          <a:p>
            <a:pPr algn="ctr" marR="5080">
              <a:lnSpc>
                <a:spcPct val="100000"/>
              </a:lnSpc>
              <a:spcBef>
                <a:spcPts val="805"/>
              </a:spcBef>
            </a:pP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4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each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term,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part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excluding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characters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corresponding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variables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14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called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coefficient.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8657" y="4063695"/>
            <a:ext cx="53905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order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terms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multiplied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by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two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more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variables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can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be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added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indices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each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variable.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8569" y="4391914"/>
            <a:ext cx="43300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If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term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x2y3,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order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for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variables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0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3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300" spc="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300" spc="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3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r>
              <a:rPr dirty="0" sz="1300" spc="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which</a:t>
            </a:r>
            <a:r>
              <a:rPr dirty="0" sz="1300" spc="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is</a:t>
            </a:r>
            <a:r>
              <a:rPr dirty="0" sz="1300" spc="-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5.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7344" y="4410455"/>
            <a:ext cx="330835" cy="170815"/>
          </a:xfrm>
          <a:custGeom>
            <a:avLst/>
            <a:gdLst/>
            <a:ahLst/>
            <a:cxnLst/>
            <a:rect l="l" t="t" r="r" b="b"/>
            <a:pathLst>
              <a:path w="330834" h="170814">
                <a:moveTo>
                  <a:pt x="302259" y="0"/>
                </a:moveTo>
                <a:lnTo>
                  <a:pt x="28447" y="0"/>
                </a:lnTo>
                <a:lnTo>
                  <a:pt x="17375" y="2230"/>
                </a:lnTo>
                <a:lnTo>
                  <a:pt x="8332" y="8318"/>
                </a:lnTo>
                <a:lnTo>
                  <a:pt x="2235" y="17359"/>
                </a:lnTo>
                <a:lnTo>
                  <a:pt x="0" y="28448"/>
                </a:lnTo>
                <a:lnTo>
                  <a:pt x="0" y="142240"/>
                </a:lnTo>
                <a:lnTo>
                  <a:pt x="2235" y="153328"/>
                </a:lnTo>
                <a:lnTo>
                  <a:pt x="8332" y="162369"/>
                </a:lnTo>
                <a:lnTo>
                  <a:pt x="17375" y="168457"/>
                </a:lnTo>
                <a:lnTo>
                  <a:pt x="28447" y="170688"/>
                </a:lnTo>
                <a:lnTo>
                  <a:pt x="302259" y="170688"/>
                </a:lnTo>
                <a:lnTo>
                  <a:pt x="313332" y="168457"/>
                </a:lnTo>
                <a:lnTo>
                  <a:pt x="322375" y="162369"/>
                </a:lnTo>
                <a:lnTo>
                  <a:pt x="328472" y="153328"/>
                </a:lnTo>
                <a:lnTo>
                  <a:pt x="330708" y="142240"/>
                </a:lnTo>
                <a:lnTo>
                  <a:pt x="330708" y="28448"/>
                </a:lnTo>
                <a:lnTo>
                  <a:pt x="328472" y="17359"/>
                </a:lnTo>
                <a:lnTo>
                  <a:pt x="322375" y="8318"/>
                </a:lnTo>
                <a:lnTo>
                  <a:pt x="313332" y="2230"/>
                </a:lnTo>
                <a:lnTo>
                  <a:pt x="302259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30046" y="4404740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1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311652" y="2726435"/>
            <a:ext cx="3164205" cy="317500"/>
          </a:xfrm>
          <a:custGeom>
            <a:avLst/>
            <a:gdLst/>
            <a:ahLst/>
            <a:cxnLst/>
            <a:rect l="l" t="t" r="r" b="b"/>
            <a:pathLst>
              <a:path w="3164204" h="317500">
                <a:moveTo>
                  <a:pt x="3163824" y="0"/>
                </a:moveTo>
                <a:lnTo>
                  <a:pt x="0" y="0"/>
                </a:lnTo>
                <a:lnTo>
                  <a:pt x="0" y="316991"/>
                </a:lnTo>
                <a:lnTo>
                  <a:pt x="3163824" y="316991"/>
                </a:lnTo>
                <a:lnTo>
                  <a:pt x="316382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4563"/>
            <a:ext cx="1715262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4918710" cy="178536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003547" y="4027932"/>
            <a:ext cx="2748915" cy="160020"/>
          </a:xfrm>
          <a:custGeom>
            <a:avLst/>
            <a:gdLst/>
            <a:ahLst/>
            <a:cxnLst/>
            <a:rect l="l" t="t" r="r" b="b"/>
            <a:pathLst>
              <a:path w="2748915" h="160020">
                <a:moveTo>
                  <a:pt x="0" y="0"/>
                </a:moveTo>
                <a:lnTo>
                  <a:pt x="2748533" y="0"/>
                </a:lnTo>
              </a:path>
              <a:path w="2748915" h="160020">
                <a:moveTo>
                  <a:pt x="0" y="0"/>
                </a:moveTo>
                <a:lnTo>
                  <a:pt x="0" y="160020"/>
                </a:lnTo>
              </a:path>
              <a:path w="2748915" h="160020">
                <a:moveTo>
                  <a:pt x="582167" y="0"/>
                </a:moveTo>
                <a:lnTo>
                  <a:pt x="582167" y="160020"/>
                </a:lnTo>
              </a:path>
              <a:path w="2748915" h="160020">
                <a:moveTo>
                  <a:pt x="1648967" y="0"/>
                </a:moveTo>
                <a:lnTo>
                  <a:pt x="1648967" y="160020"/>
                </a:lnTo>
              </a:path>
              <a:path w="2748915" h="160020">
                <a:moveTo>
                  <a:pt x="2747772" y="0"/>
                </a:moveTo>
                <a:lnTo>
                  <a:pt x="2747772" y="16002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162803" y="3760470"/>
            <a:ext cx="4845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4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9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26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ms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489" y="431419"/>
            <a:ext cx="1219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dirty="0" sz="1800" spc="-6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Algebra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647188" y="4261611"/>
          <a:ext cx="4608830" cy="1017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35"/>
                <a:gridCol w="1224280"/>
                <a:gridCol w="1152525"/>
                <a:gridCol w="1152525"/>
              </a:tblGrid>
              <a:tr h="3483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298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 spc="-195">
                          <a:latin typeface="Trebuchet MS"/>
                          <a:cs typeface="Trebuchet MS"/>
                        </a:rPr>
                        <a:t>Coefficient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5"/>
                        </a:spcBef>
                        <a:tabLst>
                          <a:tab pos="445770" algn="l"/>
                        </a:tabLst>
                      </a:pPr>
                      <a:r>
                        <a:rPr dirty="0" sz="1300" spc="-190">
                          <a:latin typeface="Trebuchet MS"/>
                          <a:cs typeface="Trebuchet MS"/>
                        </a:rPr>
                        <a:t>4	</a:t>
                      </a:r>
                      <a:r>
                        <a:rPr dirty="0" sz="1300" spc="-120">
                          <a:latin typeface="Trebuchet MS"/>
                          <a:cs typeface="Trebuchet MS"/>
                        </a:rPr>
                        <a:t>-3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>
                          <a:latin typeface="Trebuchet MS"/>
                          <a:cs typeface="Trebuchet MS"/>
                        </a:rPr>
                        <a:t>4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>
                          <a:latin typeface="Trebuchet MS"/>
                          <a:cs typeface="Trebuchet MS"/>
                        </a:rPr>
                        <a:t>6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29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 spc="-195">
                          <a:latin typeface="Trebuchet MS"/>
                          <a:cs typeface="Trebuchet MS"/>
                        </a:rPr>
                        <a:t>Degree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5"/>
                        </a:spcBef>
                        <a:tabLst>
                          <a:tab pos="479425" algn="l"/>
                        </a:tabLst>
                      </a:pPr>
                      <a:r>
                        <a:rPr dirty="0" sz="1300" spc="-420">
                          <a:latin typeface="Trebuchet MS"/>
                          <a:cs typeface="Trebuchet MS"/>
                        </a:rPr>
                        <a:t>1	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>
                          <a:latin typeface="Trebuchet MS"/>
                          <a:cs typeface="Trebuchet MS"/>
                        </a:rPr>
                        <a:t>3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28109" y="4396485"/>
            <a:ext cx="179959" cy="1032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55821" y="4406900"/>
            <a:ext cx="91693" cy="9651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06061" y="4391025"/>
            <a:ext cx="397637" cy="14109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36464" y="4409440"/>
            <a:ext cx="91694" cy="96519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444616" y="4369689"/>
            <a:ext cx="339725" cy="132715"/>
            <a:chOff x="5444616" y="4369689"/>
            <a:chExt cx="339725" cy="132715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44616" y="4369689"/>
              <a:ext cx="238760" cy="1325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06236" y="4394454"/>
              <a:ext cx="77850" cy="107822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36435" y="4406900"/>
            <a:ext cx="91694" cy="9651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15379" y="4395723"/>
            <a:ext cx="74965" cy="10401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311652" y="2726435"/>
            <a:ext cx="3164205" cy="31750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412750">
              <a:lnSpc>
                <a:spcPct val="100000"/>
              </a:lnSpc>
              <a:spcBef>
                <a:spcPts val="350"/>
              </a:spcBef>
            </a:pPr>
            <a:r>
              <a:rPr dirty="0" sz="1400" spc="-5">
                <a:latin typeface="Cambria Math"/>
                <a:cs typeface="Cambria Math"/>
              </a:rPr>
              <a:t>(𝑥</a:t>
            </a:r>
            <a:r>
              <a:rPr dirty="0" sz="1400" spc="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−</a:t>
            </a:r>
            <a:r>
              <a:rPr dirty="0" sz="1400" spc="5">
                <a:latin typeface="Cambria Math"/>
                <a:cs typeface="Cambria Math"/>
              </a:rPr>
              <a:t> </a:t>
            </a:r>
            <a:r>
              <a:rPr dirty="0" sz="1400" spc="10">
                <a:latin typeface="Cambria Math"/>
                <a:cs typeface="Cambria Math"/>
              </a:rPr>
              <a:t>2)</a:t>
            </a:r>
            <a:r>
              <a:rPr dirty="0" baseline="27777" sz="1500" spc="15">
                <a:latin typeface="Cambria Math"/>
                <a:cs typeface="Cambria Math"/>
              </a:rPr>
              <a:t>3</a:t>
            </a:r>
            <a:r>
              <a:rPr dirty="0" baseline="27777" sz="1500" spc="322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60">
                <a:latin typeface="Cambria Math"/>
                <a:cs typeface="Cambria Math"/>
              </a:rPr>
              <a:t> </a:t>
            </a:r>
            <a:r>
              <a:rPr dirty="0" sz="1400" spc="55">
                <a:latin typeface="Cambria Math"/>
                <a:cs typeface="Cambria Math"/>
              </a:rPr>
              <a:t>𝑥</a:t>
            </a:r>
            <a:r>
              <a:rPr dirty="0" baseline="27777" sz="1500" spc="82">
                <a:latin typeface="Cambria Math"/>
                <a:cs typeface="Cambria Math"/>
              </a:rPr>
              <a:t>3</a:t>
            </a:r>
            <a:r>
              <a:rPr dirty="0" baseline="27777" sz="1500" spc="27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−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 spc="40">
                <a:latin typeface="Cambria Math"/>
                <a:cs typeface="Cambria Math"/>
              </a:rPr>
              <a:t>6𝑥</a:t>
            </a:r>
            <a:r>
              <a:rPr dirty="0" baseline="27777" sz="1500" spc="60">
                <a:latin typeface="Cambria Math"/>
                <a:cs typeface="Cambria Math"/>
              </a:rPr>
              <a:t>2</a:t>
            </a:r>
            <a:r>
              <a:rPr dirty="0" baseline="27777" sz="1500" spc="209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12𝑥</a:t>
            </a:r>
            <a:r>
              <a:rPr dirty="0" sz="1400" spc="3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−</a:t>
            </a:r>
            <a:r>
              <a:rPr dirty="0" sz="1400" spc="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8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213866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27"/>
            <a:ext cx="6267449" cy="43511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2198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2.1.</a:t>
            </a:r>
            <a:r>
              <a:rPr dirty="0" spc="-60"/>
              <a:t> </a:t>
            </a:r>
            <a:r>
              <a:rPr dirty="0" spc="-5"/>
              <a:t>Algebra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97991" y="2602992"/>
          <a:ext cx="8650605" cy="270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265"/>
                <a:gridCol w="868680"/>
                <a:gridCol w="1398270"/>
                <a:gridCol w="1066164"/>
                <a:gridCol w="316864"/>
                <a:gridCol w="597534"/>
                <a:gridCol w="160020"/>
                <a:gridCol w="1722120"/>
              </a:tblGrid>
              <a:tr h="277367">
                <a:tc gridSpan="8"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 spc="-280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Graph</a:t>
                      </a:r>
                      <a:r>
                        <a:rPr dirty="0" sz="1400" spc="-24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3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400" spc="-13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80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400" spc="-260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First-Degree</a:t>
                      </a:r>
                      <a:r>
                        <a:rPr dirty="0" sz="1400" spc="-15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7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Equation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585858"/>
                      </a:solidFill>
                      <a:prstDash val="solid"/>
                    </a:lnL>
                    <a:lnR w="12700">
                      <a:solidFill>
                        <a:srgbClr val="585858"/>
                      </a:solidFill>
                      <a:prstDash val="solid"/>
                    </a:lnR>
                    <a:lnT w="12700">
                      <a:solidFill>
                        <a:srgbClr val="585858"/>
                      </a:solidFill>
                      <a:prstDash val="solid"/>
                    </a:lnT>
                    <a:solidFill>
                      <a:srgbClr val="13299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15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L="38735">
                        <a:lnSpc>
                          <a:spcPct val="100000"/>
                        </a:lnSpc>
                      </a:pPr>
                      <a:r>
                        <a:rPr dirty="0" sz="1450" spc="-30">
                          <a:latin typeface="Cambria Math"/>
                          <a:cs typeface="Cambria Math"/>
                        </a:rPr>
                        <a:t>First−Degree</a:t>
                      </a:r>
                      <a:r>
                        <a:rPr dirty="0" sz="145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50" spc="-30">
                          <a:latin typeface="Cambria Math"/>
                          <a:cs typeface="Cambria Math"/>
                        </a:rPr>
                        <a:t>Equation</a:t>
                      </a:r>
                      <a:r>
                        <a:rPr dirty="0" sz="145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50" spc="-25">
                          <a:latin typeface="Cambria Math"/>
                          <a:cs typeface="Cambria Math"/>
                        </a:rPr>
                        <a:t>for</a:t>
                      </a:r>
                      <a:r>
                        <a:rPr dirty="0" sz="145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 spc="15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dirty="0" sz="1450" spc="15">
                          <a:latin typeface="Cambria Math"/>
                          <a:cs typeface="Cambria Math"/>
                        </a:rPr>
                        <a:t>,</a:t>
                      </a:r>
                      <a:endParaRPr sz="1450">
                        <a:latin typeface="Cambria Math"/>
                        <a:cs typeface="Cambria Math"/>
                      </a:endParaRPr>
                    </a:p>
                    <a:p>
                      <a:pPr algn="ctr" marL="62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Cambria Math"/>
                          <a:cs typeface="Cambria Math"/>
                        </a:rPr>
                        <a:t>𝑎𝑥</a:t>
                      </a:r>
                      <a:r>
                        <a:rPr dirty="0" sz="1400" spc="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dirty="0" sz="14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𝑏</a:t>
                      </a:r>
                      <a:r>
                        <a:rPr dirty="0" sz="1400" spc="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(𝑏𝑢𝑡,</a:t>
                      </a:r>
                      <a:r>
                        <a:rPr dirty="0" sz="1400" spc="-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sz="1400" spc="8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≠</a:t>
                      </a:r>
                      <a:r>
                        <a:rPr dirty="0" sz="1400" spc="7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0)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9240">
                        <a:lnSpc>
                          <a:spcPts val="195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sz="16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50" spc="-25">
                          <a:latin typeface="Cambria Math"/>
                          <a:cs typeface="Cambria Math"/>
                        </a:rPr>
                        <a:t>slope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  <a:p>
                      <a:pPr marL="269240">
                        <a:lnSpc>
                          <a:spcPts val="1950"/>
                        </a:lnSpc>
                      </a:pPr>
                      <a:r>
                        <a:rPr dirty="0" sz="1600">
                          <a:latin typeface="Cambria Math"/>
                          <a:cs typeface="Cambria Math"/>
                        </a:rPr>
                        <a:t>𝑏</a:t>
                      </a:r>
                      <a:r>
                        <a:rPr dirty="0" sz="1600" spc="-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50">
                          <a:latin typeface="Cambria Math"/>
                          <a:cs typeface="Cambria Math"/>
                        </a:rPr>
                        <a:t>in</a:t>
                      </a:r>
                      <a:r>
                        <a:rPr dirty="0" sz="1650" spc="-15">
                          <a:latin typeface="Cambria Math"/>
                          <a:cs typeface="Cambria Math"/>
                        </a:rPr>
                        <a:t>t</a:t>
                      </a:r>
                      <a:r>
                        <a:rPr dirty="0" sz="1650">
                          <a:latin typeface="Cambria Math"/>
                          <a:cs typeface="Cambria Math"/>
                        </a:rPr>
                        <a:t>e</a:t>
                      </a:r>
                      <a:r>
                        <a:rPr dirty="0" sz="1650" spc="-25">
                          <a:latin typeface="Cambria Math"/>
                          <a:cs typeface="Cambria Math"/>
                        </a:rPr>
                        <a:t>r</a:t>
                      </a:r>
                      <a:r>
                        <a:rPr dirty="0" sz="1650">
                          <a:latin typeface="Cambria Math"/>
                          <a:cs typeface="Cambria Math"/>
                        </a:rPr>
                        <a:t>ce</a:t>
                      </a:r>
                      <a:r>
                        <a:rPr dirty="0" sz="1650" spc="-5">
                          <a:latin typeface="Cambria Math"/>
                          <a:cs typeface="Cambria Math"/>
                        </a:rPr>
                        <a:t>pt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585858"/>
                      </a:solidFill>
                      <a:prstDash val="solid"/>
                    </a:lnL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sz="1600" spc="9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dirty="0" sz="16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𝑏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6865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65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B="0" marT="3175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𝑦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28067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𝑎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 spc="-215" b="1">
                          <a:solidFill>
                            <a:srgbClr val="252525"/>
                          </a:solidFill>
                          <a:latin typeface="Tahoma"/>
                          <a:cs typeface="Tahoma"/>
                        </a:rPr>
                        <a:t>intercept</a:t>
                      </a:r>
                      <a:r>
                        <a:rPr dirty="0" sz="1300" spc="-170" b="1">
                          <a:solidFill>
                            <a:srgbClr val="25252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3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algn="ctr" marL="27876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𝑥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3175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016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sz="1600" spc="9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&lt;</a:t>
                      </a:r>
                      <a:r>
                        <a:rPr dirty="0" sz="1600" spc="7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1650">
                          <a:latin typeface="Cambria Math"/>
                          <a:cs typeface="Cambria Math"/>
                        </a:rPr>
                        <a:t>b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65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𝑦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dirty="0" sz="165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dirty="0" sz="1300" spc="-215" b="1">
                          <a:solidFill>
                            <a:srgbClr val="252525"/>
                          </a:solidFill>
                          <a:latin typeface="Tahoma"/>
                          <a:cs typeface="Tahoma"/>
                        </a:rPr>
                        <a:t>intercept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Cambria Math"/>
                          <a:cs typeface="Cambria Math"/>
                        </a:rPr>
                        <a:t>𝑎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𝑥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12700">
                      <a:solidFill>
                        <a:srgbClr val="585858"/>
                      </a:solidFill>
                      <a:prstDash val="solid"/>
                    </a:lnR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3042666" y="3010661"/>
            <a:ext cx="2027555" cy="2168525"/>
            <a:chOff x="3042666" y="3010661"/>
            <a:chExt cx="2027555" cy="2168525"/>
          </a:xfrm>
        </p:grpSpPr>
        <p:sp>
          <p:nvSpPr>
            <p:cNvPr id="12" name="object 12"/>
            <p:cNvSpPr/>
            <p:nvPr/>
          </p:nvSpPr>
          <p:spPr>
            <a:xfrm>
              <a:off x="3042666" y="3010661"/>
              <a:ext cx="2016760" cy="2168525"/>
            </a:xfrm>
            <a:custGeom>
              <a:avLst/>
              <a:gdLst/>
              <a:ahLst/>
              <a:cxnLst/>
              <a:rect l="l" t="t" r="r" b="b"/>
              <a:pathLst>
                <a:path w="2016760" h="2168525">
                  <a:moveTo>
                    <a:pt x="2016252" y="1664208"/>
                  </a:moveTo>
                  <a:lnTo>
                    <a:pt x="1996440" y="1654302"/>
                  </a:lnTo>
                  <a:lnTo>
                    <a:pt x="1940052" y="1626108"/>
                  </a:lnTo>
                  <a:lnTo>
                    <a:pt x="1940052" y="1654302"/>
                  </a:lnTo>
                  <a:lnTo>
                    <a:pt x="1018794" y="1654302"/>
                  </a:lnTo>
                  <a:lnTo>
                    <a:pt x="1018794" y="76200"/>
                  </a:lnTo>
                  <a:lnTo>
                    <a:pt x="1046988" y="76200"/>
                  </a:lnTo>
                  <a:lnTo>
                    <a:pt x="1040638" y="63500"/>
                  </a:lnTo>
                  <a:lnTo>
                    <a:pt x="1008888" y="0"/>
                  </a:lnTo>
                  <a:lnTo>
                    <a:pt x="970788" y="76200"/>
                  </a:lnTo>
                  <a:lnTo>
                    <a:pt x="998982" y="76200"/>
                  </a:lnTo>
                  <a:lnTo>
                    <a:pt x="998982" y="1654302"/>
                  </a:lnTo>
                  <a:lnTo>
                    <a:pt x="0" y="1654302"/>
                  </a:lnTo>
                  <a:lnTo>
                    <a:pt x="0" y="1674114"/>
                  </a:lnTo>
                  <a:lnTo>
                    <a:pt x="998982" y="1674114"/>
                  </a:lnTo>
                  <a:lnTo>
                    <a:pt x="998982" y="2168144"/>
                  </a:lnTo>
                  <a:lnTo>
                    <a:pt x="1018794" y="2168144"/>
                  </a:lnTo>
                  <a:lnTo>
                    <a:pt x="1018794" y="1674114"/>
                  </a:lnTo>
                  <a:lnTo>
                    <a:pt x="1940052" y="1674114"/>
                  </a:lnTo>
                  <a:lnTo>
                    <a:pt x="1940052" y="1702308"/>
                  </a:lnTo>
                  <a:lnTo>
                    <a:pt x="1996440" y="1674114"/>
                  </a:lnTo>
                  <a:lnTo>
                    <a:pt x="2016252" y="166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17570" y="3083813"/>
              <a:ext cx="1642745" cy="1809750"/>
            </a:xfrm>
            <a:custGeom>
              <a:avLst/>
              <a:gdLst/>
              <a:ahLst/>
              <a:cxnLst/>
              <a:rect l="l" t="t" r="r" b="b"/>
              <a:pathLst>
                <a:path w="1642745" h="1809750">
                  <a:moveTo>
                    <a:pt x="0" y="1809750"/>
                  </a:moveTo>
                  <a:lnTo>
                    <a:pt x="1642364" y="0"/>
                  </a:lnTo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8496" y="4108703"/>
              <a:ext cx="143255" cy="1432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66438" y="3522725"/>
              <a:ext cx="472440" cy="469900"/>
            </a:xfrm>
            <a:custGeom>
              <a:avLst/>
              <a:gdLst/>
              <a:ahLst/>
              <a:cxnLst/>
              <a:rect l="l" t="t" r="r" b="b"/>
              <a:pathLst>
                <a:path w="472439" h="469900">
                  <a:moveTo>
                    <a:pt x="472440" y="76200"/>
                  </a:moveTo>
                  <a:lnTo>
                    <a:pt x="466090" y="63500"/>
                  </a:lnTo>
                  <a:lnTo>
                    <a:pt x="434340" y="0"/>
                  </a:lnTo>
                  <a:lnTo>
                    <a:pt x="396240" y="76200"/>
                  </a:lnTo>
                  <a:lnTo>
                    <a:pt x="424434" y="76200"/>
                  </a:lnTo>
                  <a:lnTo>
                    <a:pt x="424434" y="426656"/>
                  </a:lnTo>
                  <a:lnTo>
                    <a:pt x="413893" y="421386"/>
                  </a:lnTo>
                  <a:lnTo>
                    <a:pt x="357505" y="393192"/>
                  </a:lnTo>
                  <a:lnTo>
                    <a:pt x="357505" y="421386"/>
                  </a:lnTo>
                  <a:lnTo>
                    <a:pt x="0" y="421386"/>
                  </a:lnTo>
                  <a:lnTo>
                    <a:pt x="0" y="441198"/>
                  </a:lnTo>
                  <a:lnTo>
                    <a:pt x="357505" y="441198"/>
                  </a:lnTo>
                  <a:lnTo>
                    <a:pt x="357505" y="469392"/>
                  </a:lnTo>
                  <a:lnTo>
                    <a:pt x="413893" y="441198"/>
                  </a:lnTo>
                  <a:lnTo>
                    <a:pt x="432181" y="432054"/>
                  </a:lnTo>
                  <a:lnTo>
                    <a:pt x="444246" y="432054"/>
                  </a:lnTo>
                  <a:lnTo>
                    <a:pt x="444246" y="76200"/>
                  </a:lnTo>
                  <a:lnTo>
                    <a:pt x="472440" y="762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5862065" y="2986277"/>
            <a:ext cx="2123440" cy="2168525"/>
            <a:chOff x="5862065" y="2986277"/>
            <a:chExt cx="2123440" cy="2168525"/>
          </a:xfrm>
        </p:grpSpPr>
        <p:sp>
          <p:nvSpPr>
            <p:cNvPr id="17" name="object 17"/>
            <p:cNvSpPr/>
            <p:nvPr/>
          </p:nvSpPr>
          <p:spPr>
            <a:xfrm>
              <a:off x="5862066" y="2986277"/>
              <a:ext cx="2016760" cy="2168525"/>
            </a:xfrm>
            <a:custGeom>
              <a:avLst/>
              <a:gdLst/>
              <a:ahLst/>
              <a:cxnLst/>
              <a:rect l="l" t="t" r="r" b="b"/>
              <a:pathLst>
                <a:path w="2016759" h="2168525">
                  <a:moveTo>
                    <a:pt x="2016252" y="1664208"/>
                  </a:moveTo>
                  <a:lnTo>
                    <a:pt x="1996440" y="1654302"/>
                  </a:lnTo>
                  <a:lnTo>
                    <a:pt x="1940052" y="1626108"/>
                  </a:lnTo>
                  <a:lnTo>
                    <a:pt x="1940052" y="1654302"/>
                  </a:lnTo>
                  <a:lnTo>
                    <a:pt x="1018794" y="1654302"/>
                  </a:lnTo>
                  <a:lnTo>
                    <a:pt x="1018794" y="76200"/>
                  </a:lnTo>
                  <a:lnTo>
                    <a:pt x="1046988" y="76200"/>
                  </a:lnTo>
                  <a:lnTo>
                    <a:pt x="1040638" y="63500"/>
                  </a:lnTo>
                  <a:lnTo>
                    <a:pt x="1008888" y="0"/>
                  </a:lnTo>
                  <a:lnTo>
                    <a:pt x="970788" y="76200"/>
                  </a:lnTo>
                  <a:lnTo>
                    <a:pt x="998982" y="76200"/>
                  </a:lnTo>
                  <a:lnTo>
                    <a:pt x="998982" y="1654302"/>
                  </a:lnTo>
                  <a:lnTo>
                    <a:pt x="0" y="1654302"/>
                  </a:lnTo>
                  <a:lnTo>
                    <a:pt x="0" y="1674114"/>
                  </a:lnTo>
                  <a:lnTo>
                    <a:pt x="998982" y="1674114"/>
                  </a:lnTo>
                  <a:lnTo>
                    <a:pt x="998982" y="2168144"/>
                  </a:lnTo>
                  <a:lnTo>
                    <a:pt x="1018794" y="2168144"/>
                  </a:lnTo>
                  <a:lnTo>
                    <a:pt x="1018794" y="1674114"/>
                  </a:lnTo>
                  <a:lnTo>
                    <a:pt x="1940052" y="1674114"/>
                  </a:lnTo>
                  <a:lnTo>
                    <a:pt x="1940052" y="1702308"/>
                  </a:lnTo>
                  <a:lnTo>
                    <a:pt x="1996440" y="1674114"/>
                  </a:lnTo>
                  <a:lnTo>
                    <a:pt x="2016252" y="166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51041" y="3097529"/>
              <a:ext cx="1924685" cy="1686560"/>
            </a:xfrm>
            <a:custGeom>
              <a:avLst/>
              <a:gdLst/>
              <a:ahLst/>
              <a:cxnLst/>
              <a:rect l="l" t="t" r="r" b="b"/>
              <a:pathLst>
                <a:path w="1924684" h="1686560">
                  <a:moveTo>
                    <a:pt x="1924431" y="1686052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7895" y="4084319"/>
              <a:ext cx="143255" cy="14325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870954" y="3755897"/>
              <a:ext cx="506095" cy="470534"/>
            </a:xfrm>
            <a:custGeom>
              <a:avLst/>
              <a:gdLst/>
              <a:ahLst/>
              <a:cxnLst/>
              <a:rect l="l" t="t" r="r" b="b"/>
              <a:pathLst>
                <a:path w="506095" h="470535">
                  <a:moveTo>
                    <a:pt x="505968" y="393954"/>
                  </a:moveTo>
                  <a:lnTo>
                    <a:pt x="477774" y="393954"/>
                  </a:lnTo>
                  <a:lnTo>
                    <a:pt x="477774" y="38100"/>
                  </a:lnTo>
                  <a:lnTo>
                    <a:pt x="468630" y="38100"/>
                  </a:lnTo>
                  <a:lnTo>
                    <a:pt x="448805" y="28194"/>
                  </a:lnTo>
                  <a:lnTo>
                    <a:pt x="392430" y="0"/>
                  </a:lnTo>
                  <a:lnTo>
                    <a:pt x="392430" y="28194"/>
                  </a:lnTo>
                  <a:lnTo>
                    <a:pt x="0" y="28194"/>
                  </a:lnTo>
                  <a:lnTo>
                    <a:pt x="0" y="48006"/>
                  </a:lnTo>
                  <a:lnTo>
                    <a:pt x="392430" y="48006"/>
                  </a:lnTo>
                  <a:lnTo>
                    <a:pt x="392430" y="76200"/>
                  </a:lnTo>
                  <a:lnTo>
                    <a:pt x="448805" y="48006"/>
                  </a:lnTo>
                  <a:lnTo>
                    <a:pt x="457962" y="43434"/>
                  </a:lnTo>
                  <a:lnTo>
                    <a:pt x="457962" y="393954"/>
                  </a:lnTo>
                  <a:lnTo>
                    <a:pt x="429768" y="393954"/>
                  </a:lnTo>
                  <a:lnTo>
                    <a:pt x="467868" y="470154"/>
                  </a:lnTo>
                  <a:lnTo>
                    <a:pt x="499618" y="406654"/>
                  </a:lnTo>
                  <a:lnTo>
                    <a:pt x="505968" y="39395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72795" y="5408472"/>
            <a:ext cx="7442834" cy="5740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nd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s.</a:t>
            </a:r>
            <a:endParaRPr sz="1300">
              <a:latin typeface="Trebuchet MS"/>
              <a:cs typeface="Trebuchet MS"/>
            </a:endParaRPr>
          </a:p>
          <a:p>
            <a:pPr marL="195580" indent="-182880">
              <a:lnSpc>
                <a:spcPct val="100000"/>
              </a:lnSpc>
              <a:spcBef>
                <a:spcPts val="600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degree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term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ax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50">
                <a:solidFill>
                  <a:srgbClr val="252525"/>
                </a:solidFill>
                <a:latin typeface="Trebuchet MS"/>
                <a:cs typeface="Trebuchet MS"/>
              </a:rPr>
              <a:t>1,</a:t>
            </a:r>
            <a:r>
              <a:rPr dirty="0" sz="1300" spc="-2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order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term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zero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because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there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letter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x.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Thus,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this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equation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becomes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first-degree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equation.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361694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6113525" cy="1623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2198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2.1.</a:t>
            </a:r>
            <a:r>
              <a:rPr dirty="0" spc="-60"/>
              <a:t> </a:t>
            </a:r>
            <a:r>
              <a:rPr dirty="0" spc="-5"/>
              <a:t>Algebra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5612" y="2127504"/>
          <a:ext cx="8650605" cy="3126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245"/>
                <a:gridCol w="1708150"/>
                <a:gridCol w="1150620"/>
                <a:gridCol w="2078990"/>
                <a:gridCol w="1858645"/>
              </a:tblGrid>
              <a:tr h="275844">
                <a:tc gridSpan="5"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27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Graph</a:t>
                      </a:r>
                      <a:r>
                        <a:rPr dirty="0" sz="1400" spc="-254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9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400" spc="-13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80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400" spc="-254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6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Second-Degree</a:t>
                      </a:r>
                      <a:r>
                        <a:rPr dirty="0" sz="1400" spc="-160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75" b="1">
                          <a:solidFill>
                            <a:srgbClr val="F7F7F7"/>
                          </a:solidFill>
                          <a:latin typeface="Tahoma"/>
                          <a:cs typeface="Tahoma"/>
                        </a:rPr>
                        <a:t>Equation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585858"/>
                      </a:solidFill>
                      <a:prstDash val="solid"/>
                    </a:lnL>
                    <a:lnR w="12700">
                      <a:solidFill>
                        <a:srgbClr val="585858"/>
                      </a:solidFill>
                      <a:prstDash val="solid"/>
                    </a:lnR>
                    <a:lnT w="12700">
                      <a:solidFill>
                        <a:srgbClr val="585858"/>
                      </a:solidFill>
                      <a:prstDash val="solid"/>
                    </a:lnT>
                    <a:solidFill>
                      <a:srgbClr val="13299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376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L="276225" marR="387985" indent="-18415">
                        <a:lnSpc>
                          <a:spcPts val="1680"/>
                        </a:lnSpc>
                      </a:pPr>
                      <a:r>
                        <a:rPr dirty="0" sz="1450" spc="-30">
                          <a:latin typeface="Cambria Math"/>
                          <a:cs typeface="Cambria Math"/>
                        </a:rPr>
                        <a:t>Second-Degree </a:t>
                      </a:r>
                      <a:r>
                        <a:rPr dirty="0" sz="1450" spc="-30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50" spc="-20">
                          <a:latin typeface="Cambria Math"/>
                          <a:cs typeface="Cambria Math"/>
                        </a:rPr>
                        <a:t>E</a:t>
                      </a:r>
                      <a:r>
                        <a:rPr dirty="0" sz="1450">
                          <a:latin typeface="Cambria Math"/>
                          <a:cs typeface="Cambria Math"/>
                        </a:rPr>
                        <a:t>qu</a:t>
                      </a:r>
                      <a:r>
                        <a:rPr dirty="0" sz="1450" spc="-5">
                          <a:latin typeface="Cambria Math"/>
                          <a:cs typeface="Cambria Math"/>
                        </a:rPr>
                        <a:t>a</a:t>
                      </a:r>
                      <a:r>
                        <a:rPr dirty="0" sz="1450">
                          <a:latin typeface="Cambria Math"/>
                          <a:cs typeface="Cambria Math"/>
                        </a:rPr>
                        <a:t>tion</a:t>
                      </a:r>
                      <a:r>
                        <a:rPr dirty="0" sz="145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50" spc="-20">
                          <a:latin typeface="Cambria Math"/>
                          <a:cs typeface="Cambria Math"/>
                        </a:rPr>
                        <a:t>f</a:t>
                      </a:r>
                      <a:r>
                        <a:rPr dirty="0" sz="1450">
                          <a:latin typeface="Cambria Math"/>
                          <a:cs typeface="Cambria Math"/>
                        </a:rPr>
                        <a:t>or</a:t>
                      </a:r>
                      <a:r>
                        <a:rPr dirty="0" sz="14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5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 spc="4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dirty="0" sz="1450">
                          <a:latin typeface="Cambria Math"/>
                          <a:cs typeface="Cambria Math"/>
                        </a:rPr>
                        <a:t>,</a:t>
                      </a:r>
                      <a:endParaRPr sz="1450">
                        <a:latin typeface="Cambria Math"/>
                        <a:cs typeface="Cambria Math"/>
                      </a:endParaRPr>
                    </a:p>
                    <a:p>
                      <a:pPr algn="ctr" marR="79375">
                        <a:lnSpc>
                          <a:spcPts val="1625"/>
                        </a:lnSpc>
                      </a:pPr>
                      <a:r>
                        <a:rPr dirty="0" sz="14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𝑎𝑥2</a:t>
                      </a:r>
                      <a:r>
                        <a:rPr dirty="0" sz="1400" spc="-1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dirty="0" sz="1400" spc="-2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𝑏𝑥</a:t>
                      </a:r>
                      <a:r>
                        <a:rPr dirty="0" sz="1400" spc="2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dirty="0" sz="1400" spc="-2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𝑐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  <a:p>
                      <a:pPr algn="ctr" marR="1422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5">
                          <a:latin typeface="Cambria Math"/>
                          <a:cs typeface="Cambria Math"/>
                        </a:rPr>
                        <a:t>(𝑏𝑢𝑡</a:t>
                      </a:r>
                      <a:r>
                        <a:rPr dirty="0" sz="1400" spc="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sz="1400" spc="8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≠</a:t>
                      </a:r>
                      <a:r>
                        <a:rPr dirty="0" sz="14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0)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6350">
                    <a:lnL w="12700">
                      <a:solidFill>
                        <a:srgbClr val="585858"/>
                      </a:solidFill>
                      <a:prstDash val="solid"/>
                    </a:lnL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955"/>
                        </a:spcBef>
                        <a:tabLst>
                          <a:tab pos="1170940" algn="l"/>
                        </a:tabLst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sz="1600" spc="1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dirty="0" sz="1600" spc="9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0	</a:t>
                      </a:r>
                      <a:r>
                        <a:rPr dirty="0" baseline="-32986" sz="2400" spc="-7">
                          <a:latin typeface="Cambria Math"/>
                          <a:cs typeface="Cambria Math"/>
                        </a:rPr>
                        <a:t>𝑦</a:t>
                      </a:r>
                      <a:endParaRPr baseline="-32986" sz="24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878840">
                        <a:lnSpc>
                          <a:spcPct val="100000"/>
                        </a:lnSpc>
                        <a:tabLst>
                          <a:tab pos="1282700" algn="l"/>
                        </a:tabLst>
                      </a:pPr>
                      <a:r>
                        <a:rPr dirty="0" sz="1650" spc="-30">
                          <a:latin typeface="Cambria Math"/>
                          <a:cs typeface="Cambria Math"/>
                        </a:rPr>
                        <a:t>0	</a:t>
                      </a:r>
                      <a:r>
                        <a:rPr dirty="0" baseline="-28619" sz="2475" spc="-37">
                          <a:latin typeface="Cambria Math"/>
                          <a:cs typeface="Cambria Math"/>
                        </a:rPr>
                        <a:t>c</a:t>
                      </a:r>
                      <a:endParaRPr baseline="-28619" sz="2475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08965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Con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300" spc="-1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dirty="0" sz="1300" spc="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00" spc="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248285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𝑥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7094">
                        <a:lnSpc>
                          <a:spcPts val="1625"/>
                        </a:lnSpc>
                        <a:spcBef>
                          <a:spcPts val="1340"/>
                        </a:spcBef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sz="1600" spc="9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&lt;</a:t>
                      </a:r>
                      <a:r>
                        <a:rPr dirty="0" sz="1600" spc="7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1579880">
                        <a:lnSpc>
                          <a:spcPts val="1625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𝑦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160718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𝑐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287780">
                        <a:lnSpc>
                          <a:spcPct val="100000"/>
                        </a:lnSpc>
                      </a:pPr>
                      <a:r>
                        <a:rPr dirty="0" sz="165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108966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Con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300" spc="-1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dirty="0" sz="1300" spc="3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rd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17018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367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𝑥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12700">
                      <a:solidFill>
                        <a:srgbClr val="585858"/>
                      </a:solidFill>
                      <a:prstDash val="solid"/>
                    </a:lnR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2593085" y="2666238"/>
            <a:ext cx="2016760" cy="2168525"/>
            <a:chOff x="2593085" y="2666238"/>
            <a:chExt cx="2016760" cy="2168525"/>
          </a:xfrm>
        </p:grpSpPr>
        <p:sp>
          <p:nvSpPr>
            <p:cNvPr id="12" name="object 12"/>
            <p:cNvSpPr/>
            <p:nvPr/>
          </p:nvSpPr>
          <p:spPr>
            <a:xfrm>
              <a:off x="2593086" y="2666237"/>
              <a:ext cx="2016760" cy="2168525"/>
            </a:xfrm>
            <a:custGeom>
              <a:avLst/>
              <a:gdLst/>
              <a:ahLst/>
              <a:cxnLst/>
              <a:rect l="l" t="t" r="r" b="b"/>
              <a:pathLst>
                <a:path w="2016760" h="2168525">
                  <a:moveTo>
                    <a:pt x="2016252" y="1405128"/>
                  </a:moveTo>
                  <a:lnTo>
                    <a:pt x="1996440" y="1395222"/>
                  </a:lnTo>
                  <a:lnTo>
                    <a:pt x="1940052" y="1367028"/>
                  </a:lnTo>
                  <a:lnTo>
                    <a:pt x="1940052" y="1395222"/>
                  </a:lnTo>
                  <a:lnTo>
                    <a:pt x="1017270" y="1395222"/>
                  </a:lnTo>
                  <a:lnTo>
                    <a:pt x="1017270" y="76200"/>
                  </a:lnTo>
                  <a:lnTo>
                    <a:pt x="1045464" y="76200"/>
                  </a:lnTo>
                  <a:lnTo>
                    <a:pt x="1039114" y="63500"/>
                  </a:lnTo>
                  <a:lnTo>
                    <a:pt x="1007364" y="0"/>
                  </a:lnTo>
                  <a:lnTo>
                    <a:pt x="969264" y="76200"/>
                  </a:lnTo>
                  <a:lnTo>
                    <a:pt x="997458" y="76200"/>
                  </a:lnTo>
                  <a:lnTo>
                    <a:pt x="997458" y="1395222"/>
                  </a:lnTo>
                  <a:lnTo>
                    <a:pt x="0" y="1395222"/>
                  </a:lnTo>
                  <a:lnTo>
                    <a:pt x="0" y="1415034"/>
                  </a:lnTo>
                  <a:lnTo>
                    <a:pt x="997458" y="1415034"/>
                  </a:lnTo>
                  <a:lnTo>
                    <a:pt x="997458" y="2168144"/>
                  </a:lnTo>
                  <a:lnTo>
                    <a:pt x="1017270" y="2168144"/>
                  </a:lnTo>
                  <a:lnTo>
                    <a:pt x="1017270" y="1415034"/>
                  </a:lnTo>
                  <a:lnTo>
                    <a:pt x="1940052" y="1415034"/>
                  </a:lnTo>
                  <a:lnTo>
                    <a:pt x="1940052" y="1443228"/>
                  </a:lnTo>
                  <a:lnTo>
                    <a:pt x="1996440" y="1415034"/>
                  </a:lnTo>
                  <a:lnTo>
                    <a:pt x="2016252" y="1405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10661" y="3216402"/>
              <a:ext cx="1190625" cy="1536065"/>
            </a:xfrm>
            <a:custGeom>
              <a:avLst/>
              <a:gdLst/>
              <a:ahLst/>
              <a:cxnLst/>
              <a:rect l="l" t="t" r="r" b="b"/>
              <a:pathLst>
                <a:path w="1190625" h="1536064">
                  <a:moveTo>
                    <a:pt x="0" y="28575"/>
                  </a:moveTo>
                  <a:lnTo>
                    <a:pt x="14110" y="90210"/>
                  </a:lnTo>
                  <a:lnTo>
                    <a:pt x="28220" y="151745"/>
                  </a:lnTo>
                  <a:lnTo>
                    <a:pt x="42328" y="213079"/>
                  </a:lnTo>
                  <a:lnTo>
                    <a:pt x="56436" y="274111"/>
                  </a:lnTo>
                  <a:lnTo>
                    <a:pt x="70544" y="334741"/>
                  </a:lnTo>
                  <a:lnTo>
                    <a:pt x="84650" y="394866"/>
                  </a:lnTo>
                  <a:lnTo>
                    <a:pt x="98756" y="454386"/>
                  </a:lnTo>
                  <a:lnTo>
                    <a:pt x="112862" y="513201"/>
                  </a:lnTo>
                  <a:lnTo>
                    <a:pt x="126967" y="571208"/>
                  </a:lnTo>
                  <a:lnTo>
                    <a:pt x="141071" y="628307"/>
                  </a:lnTo>
                  <a:lnTo>
                    <a:pt x="155176" y="684398"/>
                  </a:lnTo>
                  <a:lnTo>
                    <a:pt x="169280" y="739378"/>
                  </a:lnTo>
                  <a:lnTo>
                    <a:pt x="183384" y="793147"/>
                  </a:lnTo>
                  <a:lnTo>
                    <a:pt x="197488" y="845605"/>
                  </a:lnTo>
                  <a:lnTo>
                    <a:pt x="211592" y="896649"/>
                  </a:lnTo>
                  <a:lnTo>
                    <a:pt x="225696" y="946179"/>
                  </a:lnTo>
                  <a:lnTo>
                    <a:pt x="239801" y="994095"/>
                  </a:lnTo>
                  <a:lnTo>
                    <a:pt x="253905" y="1040294"/>
                  </a:lnTo>
                  <a:lnTo>
                    <a:pt x="268010" y="1084676"/>
                  </a:lnTo>
                  <a:lnTo>
                    <a:pt x="282116" y="1127141"/>
                  </a:lnTo>
                  <a:lnTo>
                    <a:pt x="296222" y="1167586"/>
                  </a:lnTo>
                  <a:lnTo>
                    <a:pt x="310328" y="1205911"/>
                  </a:lnTo>
                  <a:lnTo>
                    <a:pt x="324436" y="1242015"/>
                  </a:lnTo>
                  <a:lnTo>
                    <a:pt x="352652" y="1307157"/>
                  </a:lnTo>
                  <a:lnTo>
                    <a:pt x="380873" y="1362202"/>
                  </a:lnTo>
                  <a:lnTo>
                    <a:pt x="410049" y="1410109"/>
                  </a:lnTo>
                  <a:lnTo>
                    <a:pt x="439007" y="1450440"/>
                  </a:lnTo>
                  <a:lnTo>
                    <a:pt x="467811" y="1483117"/>
                  </a:lnTo>
                  <a:lnTo>
                    <a:pt x="525219" y="1525195"/>
                  </a:lnTo>
                  <a:lnTo>
                    <a:pt x="582794" y="1535719"/>
                  </a:lnTo>
                  <a:lnTo>
                    <a:pt x="611808" y="1528954"/>
                  </a:lnTo>
                  <a:lnTo>
                    <a:pt x="670614" y="1490977"/>
                  </a:lnTo>
                  <a:lnTo>
                    <a:pt x="700536" y="1459609"/>
                  </a:lnTo>
                  <a:lnTo>
                    <a:pt x="730892" y="1419885"/>
                  </a:lnTo>
                  <a:lnTo>
                    <a:pt x="761746" y="1371727"/>
                  </a:lnTo>
                  <a:lnTo>
                    <a:pt x="790825" y="1317933"/>
                  </a:lnTo>
                  <a:lnTo>
                    <a:pt x="820245" y="1254320"/>
                  </a:lnTo>
                  <a:lnTo>
                    <a:pt x="835073" y="1219068"/>
                  </a:lnTo>
                  <a:lnTo>
                    <a:pt x="849977" y="1181644"/>
                  </a:lnTo>
                  <a:lnTo>
                    <a:pt x="864953" y="1142142"/>
                  </a:lnTo>
                  <a:lnTo>
                    <a:pt x="879997" y="1100658"/>
                  </a:lnTo>
                  <a:lnTo>
                    <a:pt x="895106" y="1057286"/>
                  </a:lnTo>
                  <a:lnTo>
                    <a:pt x="910278" y="1012119"/>
                  </a:lnTo>
                  <a:lnTo>
                    <a:pt x="925508" y="965253"/>
                  </a:lnTo>
                  <a:lnTo>
                    <a:pt x="940793" y="916783"/>
                  </a:lnTo>
                  <a:lnTo>
                    <a:pt x="956131" y="866801"/>
                  </a:lnTo>
                  <a:lnTo>
                    <a:pt x="971518" y="815403"/>
                  </a:lnTo>
                  <a:lnTo>
                    <a:pt x="986950" y="762683"/>
                  </a:lnTo>
                  <a:lnTo>
                    <a:pt x="1002425" y="708736"/>
                  </a:lnTo>
                  <a:lnTo>
                    <a:pt x="1017939" y="653656"/>
                  </a:lnTo>
                  <a:lnTo>
                    <a:pt x="1033489" y="597537"/>
                  </a:lnTo>
                  <a:lnTo>
                    <a:pt x="1049071" y="540474"/>
                  </a:lnTo>
                  <a:lnTo>
                    <a:pt x="1064683" y="482562"/>
                  </a:lnTo>
                  <a:lnTo>
                    <a:pt x="1080321" y="423894"/>
                  </a:lnTo>
                  <a:lnTo>
                    <a:pt x="1095982" y="364565"/>
                  </a:lnTo>
                  <a:lnTo>
                    <a:pt x="1111662" y="304669"/>
                  </a:lnTo>
                  <a:lnTo>
                    <a:pt x="1127359" y="244302"/>
                  </a:lnTo>
                  <a:lnTo>
                    <a:pt x="1143069" y="183557"/>
                  </a:lnTo>
                  <a:lnTo>
                    <a:pt x="1158788" y="122528"/>
                  </a:lnTo>
                  <a:lnTo>
                    <a:pt x="1174514" y="61311"/>
                  </a:lnTo>
                  <a:lnTo>
                    <a:pt x="1190243" y="0"/>
                  </a:lnTo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5860542" y="2635757"/>
            <a:ext cx="2016760" cy="2168525"/>
          </a:xfrm>
          <a:custGeom>
            <a:avLst/>
            <a:gdLst/>
            <a:ahLst/>
            <a:cxnLst/>
            <a:rect l="l" t="t" r="r" b="b"/>
            <a:pathLst>
              <a:path w="2016759" h="2168525">
                <a:moveTo>
                  <a:pt x="2016252" y="1424940"/>
                </a:moveTo>
                <a:lnTo>
                  <a:pt x="1996440" y="1415034"/>
                </a:lnTo>
                <a:lnTo>
                  <a:pt x="1940052" y="1386840"/>
                </a:lnTo>
                <a:lnTo>
                  <a:pt x="1940052" y="1415034"/>
                </a:lnTo>
                <a:lnTo>
                  <a:pt x="1018794" y="1415034"/>
                </a:lnTo>
                <a:lnTo>
                  <a:pt x="1018794" y="76200"/>
                </a:lnTo>
                <a:lnTo>
                  <a:pt x="1046988" y="76200"/>
                </a:lnTo>
                <a:lnTo>
                  <a:pt x="1040638" y="63500"/>
                </a:lnTo>
                <a:lnTo>
                  <a:pt x="1008888" y="0"/>
                </a:lnTo>
                <a:lnTo>
                  <a:pt x="970788" y="76200"/>
                </a:lnTo>
                <a:lnTo>
                  <a:pt x="998982" y="76200"/>
                </a:lnTo>
                <a:lnTo>
                  <a:pt x="998982" y="1415034"/>
                </a:lnTo>
                <a:lnTo>
                  <a:pt x="0" y="1415034"/>
                </a:lnTo>
                <a:lnTo>
                  <a:pt x="0" y="1434846"/>
                </a:lnTo>
                <a:lnTo>
                  <a:pt x="998982" y="1434846"/>
                </a:lnTo>
                <a:lnTo>
                  <a:pt x="998982" y="2168144"/>
                </a:lnTo>
                <a:lnTo>
                  <a:pt x="1018794" y="2168144"/>
                </a:lnTo>
                <a:lnTo>
                  <a:pt x="1018794" y="1434846"/>
                </a:lnTo>
                <a:lnTo>
                  <a:pt x="1940052" y="1434846"/>
                </a:lnTo>
                <a:lnTo>
                  <a:pt x="1940052" y="1463040"/>
                </a:lnTo>
                <a:lnTo>
                  <a:pt x="1996440" y="1434846"/>
                </a:lnTo>
                <a:lnTo>
                  <a:pt x="2016252" y="14249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99453" y="3299170"/>
            <a:ext cx="1190625" cy="1536065"/>
          </a:xfrm>
          <a:custGeom>
            <a:avLst/>
            <a:gdLst/>
            <a:ahLst/>
            <a:cxnLst/>
            <a:rect l="l" t="t" r="r" b="b"/>
            <a:pathLst>
              <a:path w="1190625" h="1536064">
                <a:moveTo>
                  <a:pt x="0" y="1507144"/>
                </a:moveTo>
                <a:lnTo>
                  <a:pt x="14110" y="1445509"/>
                </a:lnTo>
                <a:lnTo>
                  <a:pt x="28220" y="1383974"/>
                </a:lnTo>
                <a:lnTo>
                  <a:pt x="42328" y="1322640"/>
                </a:lnTo>
                <a:lnTo>
                  <a:pt x="56436" y="1261607"/>
                </a:lnTo>
                <a:lnTo>
                  <a:pt x="70544" y="1200978"/>
                </a:lnTo>
                <a:lnTo>
                  <a:pt x="84650" y="1140853"/>
                </a:lnTo>
                <a:lnTo>
                  <a:pt x="98756" y="1081332"/>
                </a:lnTo>
                <a:lnTo>
                  <a:pt x="112862" y="1022518"/>
                </a:lnTo>
                <a:lnTo>
                  <a:pt x="126967" y="964511"/>
                </a:lnTo>
                <a:lnTo>
                  <a:pt x="141071" y="907411"/>
                </a:lnTo>
                <a:lnTo>
                  <a:pt x="155176" y="851321"/>
                </a:lnTo>
                <a:lnTo>
                  <a:pt x="169280" y="796341"/>
                </a:lnTo>
                <a:lnTo>
                  <a:pt x="183384" y="742571"/>
                </a:lnTo>
                <a:lnTo>
                  <a:pt x="197488" y="690114"/>
                </a:lnTo>
                <a:lnTo>
                  <a:pt x="211592" y="639070"/>
                </a:lnTo>
                <a:lnTo>
                  <a:pt x="225696" y="589539"/>
                </a:lnTo>
                <a:lnTo>
                  <a:pt x="239801" y="541624"/>
                </a:lnTo>
                <a:lnTo>
                  <a:pt x="253905" y="495425"/>
                </a:lnTo>
                <a:lnTo>
                  <a:pt x="268010" y="451042"/>
                </a:lnTo>
                <a:lnTo>
                  <a:pt x="282116" y="408578"/>
                </a:lnTo>
                <a:lnTo>
                  <a:pt x="296222" y="368133"/>
                </a:lnTo>
                <a:lnTo>
                  <a:pt x="310328" y="329808"/>
                </a:lnTo>
                <a:lnTo>
                  <a:pt x="324436" y="293703"/>
                </a:lnTo>
                <a:lnTo>
                  <a:pt x="352652" y="228562"/>
                </a:lnTo>
                <a:lnTo>
                  <a:pt x="380873" y="173517"/>
                </a:lnTo>
                <a:lnTo>
                  <a:pt x="410049" y="125610"/>
                </a:lnTo>
                <a:lnTo>
                  <a:pt x="439007" y="85279"/>
                </a:lnTo>
                <a:lnTo>
                  <a:pt x="467811" y="52602"/>
                </a:lnTo>
                <a:lnTo>
                  <a:pt x="525219" y="10524"/>
                </a:lnTo>
                <a:lnTo>
                  <a:pt x="582794" y="0"/>
                </a:lnTo>
                <a:lnTo>
                  <a:pt x="611808" y="6765"/>
                </a:lnTo>
                <a:lnTo>
                  <a:pt x="670614" y="44742"/>
                </a:lnTo>
                <a:lnTo>
                  <a:pt x="700536" y="76109"/>
                </a:lnTo>
                <a:lnTo>
                  <a:pt x="730892" y="115833"/>
                </a:lnTo>
                <a:lnTo>
                  <a:pt x="761746" y="163992"/>
                </a:lnTo>
                <a:lnTo>
                  <a:pt x="790825" y="217786"/>
                </a:lnTo>
                <a:lnTo>
                  <a:pt x="820245" y="281398"/>
                </a:lnTo>
                <a:lnTo>
                  <a:pt x="835073" y="316651"/>
                </a:lnTo>
                <a:lnTo>
                  <a:pt x="849977" y="354075"/>
                </a:lnTo>
                <a:lnTo>
                  <a:pt x="864953" y="393576"/>
                </a:lnTo>
                <a:lnTo>
                  <a:pt x="879997" y="435061"/>
                </a:lnTo>
                <a:lnTo>
                  <a:pt x="895106" y="478433"/>
                </a:lnTo>
                <a:lnTo>
                  <a:pt x="910278" y="523599"/>
                </a:lnTo>
                <a:lnTo>
                  <a:pt x="925508" y="570465"/>
                </a:lnTo>
                <a:lnTo>
                  <a:pt x="940793" y="618936"/>
                </a:lnTo>
                <a:lnTo>
                  <a:pt x="956131" y="668918"/>
                </a:lnTo>
                <a:lnTo>
                  <a:pt x="971518" y="720316"/>
                </a:lnTo>
                <a:lnTo>
                  <a:pt x="986950" y="773035"/>
                </a:lnTo>
                <a:lnTo>
                  <a:pt x="1002425" y="826983"/>
                </a:lnTo>
                <a:lnTo>
                  <a:pt x="1017939" y="882063"/>
                </a:lnTo>
                <a:lnTo>
                  <a:pt x="1033489" y="938181"/>
                </a:lnTo>
                <a:lnTo>
                  <a:pt x="1049071" y="995244"/>
                </a:lnTo>
                <a:lnTo>
                  <a:pt x="1064683" y="1053157"/>
                </a:lnTo>
                <a:lnTo>
                  <a:pt x="1080321" y="1111825"/>
                </a:lnTo>
                <a:lnTo>
                  <a:pt x="1095982" y="1171154"/>
                </a:lnTo>
                <a:lnTo>
                  <a:pt x="1111662" y="1231049"/>
                </a:lnTo>
                <a:lnTo>
                  <a:pt x="1127359" y="1291417"/>
                </a:lnTo>
                <a:lnTo>
                  <a:pt x="1143069" y="1352162"/>
                </a:lnTo>
                <a:lnTo>
                  <a:pt x="1158788" y="1413190"/>
                </a:lnTo>
                <a:lnTo>
                  <a:pt x="1174514" y="1474408"/>
                </a:lnTo>
                <a:lnTo>
                  <a:pt x="1190244" y="1535719"/>
                </a:lnTo>
              </a:path>
            </a:pathLst>
          </a:custGeom>
          <a:ln w="19812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88340" y="5425846"/>
            <a:ext cx="849884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are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treated 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as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constants. </a:t>
            </a: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25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degree of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ax 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is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2,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degree of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 </a:t>
            </a:r>
            <a:r>
              <a:rPr dirty="0" sz="1300" spc="-350">
                <a:solidFill>
                  <a:srgbClr val="252525"/>
                </a:solidFill>
                <a:latin typeface="Trebuchet MS"/>
                <a:cs typeface="Trebuchet MS"/>
              </a:rPr>
              <a:t>1,</a:t>
            </a:r>
            <a:r>
              <a:rPr dirty="0" sz="1300" spc="-3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 the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degree of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c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 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0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because there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letter 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x.</a:t>
            </a: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Thus,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this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equation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second- </a:t>
            </a:r>
            <a:r>
              <a:rPr dirty="0" sz="1300" spc="-3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degree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equation.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222498" cy="18463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06011"/>
            <a:ext cx="3230117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819" y="1450835"/>
            <a:ext cx="1279398" cy="29338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1146809" cy="1760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310371"/>
            <a:ext cx="5590794" cy="70791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8828" y="3173348"/>
            <a:ext cx="12122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mple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qu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ce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6967" y="3191255"/>
            <a:ext cx="330835" cy="169545"/>
          </a:xfrm>
          <a:custGeom>
            <a:avLst/>
            <a:gdLst/>
            <a:ahLst/>
            <a:cxnLst/>
            <a:rect l="l" t="t" r="r" b="b"/>
            <a:pathLst>
              <a:path w="330834" h="169545">
                <a:moveTo>
                  <a:pt x="302513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4"/>
                </a:lnTo>
                <a:lnTo>
                  <a:pt x="0" y="140970"/>
                </a:lnTo>
                <a:lnTo>
                  <a:pt x="2215" y="151965"/>
                </a:lnTo>
                <a:lnTo>
                  <a:pt x="8258" y="160924"/>
                </a:lnTo>
                <a:lnTo>
                  <a:pt x="17220" y="166955"/>
                </a:lnTo>
                <a:lnTo>
                  <a:pt x="28193" y="169164"/>
                </a:lnTo>
                <a:lnTo>
                  <a:pt x="302513" y="169164"/>
                </a:lnTo>
                <a:lnTo>
                  <a:pt x="313487" y="166955"/>
                </a:lnTo>
                <a:lnTo>
                  <a:pt x="322449" y="160924"/>
                </a:lnTo>
                <a:lnTo>
                  <a:pt x="328492" y="151965"/>
                </a:lnTo>
                <a:lnTo>
                  <a:pt x="330707" y="140970"/>
                </a:lnTo>
                <a:lnTo>
                  <a:pt x="330707" y="28194"/>
                </a:lnTo>
                <a:lnTo>
                  <a:pt x="328492" y="17198"/>
                </a:lnTo>
                <a:lnTo>
                  <a:pt x="322449" y="8239"/>
                </a:lnTo>
                <a:lnTo>
                  <a:pt x="313487" y="2208"/>
                </a:lnTo>
                <a:lnTo>
                  <a:pt x="302513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70280" y="3184651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8260" y="3500628"/>
            <a:ext cx="1428115" cy="83058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0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600" spc="-5">
                <a:latin typeface="Cambria Math"/>
                <a:cs typeface="Cambria Math"/>
              </a:rPr>
              <a:t>1,2,3,4</a:t>
            </a:r>
            <a:endParaRPr sz="1600">
              <a:latin typeface="Cambria Math"/>
              <a:cs typeface="Cambria Math"/>
            </a:endParaRPr>
          </a:p>
          <a:p>
            <a:pPr algn="ctr" marR="1905">
              <a:lnSpc>
                <a:spcPct val="100000"/>
              </a:lnSpc>
            </a:pPr>
            <a:r>
              <a:rPr dirty="0" sz="1600" spc="-55">
                <a:latin typeface="Cambria Math"/>
                <a:cs typeface="Cambria Math"/>
              </a:rPr>
              <a:t>𝑥</a:t>
            </a:r>
            <a:r>
              <a:rPr dirty="0" baseline="-14492" sz="1725" spc="157">
                <a:latin typeface="Cambria Math"/>
                <a:cs typeface="Cambria Math"/>
              </a:rPr>
              <a:t>1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15">
                <a:latin typeface="Cambria Math"/>
                <a:cs typeface="Cambria Math"/>
              </a:rPr>
              <a:t>𝑥</a:t>
            </a:r>
            <a:r>
              <a:rPr dirty="0" baseline="-14492" sz="1725" spc="157">
                <a:latin typeface="Cambria Math"/>
                <a:cs typeface="Cambria Math"/>
              </a:rPr>
              <a:t>2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105">
                <a:latin typeface="Cambria Math"/>
                <a:cs typeface="Cambria Math"/>
              </a:rPr>
              <a:t> </a:t>
            </a:r>
            <a:r>
              <a:rPr dirty="0" sz="1600" spc="-15">
                <a:latin typeface="Cambria Math"/>
                <a:cs typeface="Cambria Math"/>
              </a:rPr>
              <a:t>𝑥</a:t>
            </a:r>
            <a:r>
              <a:rPr dirty="0" baseline="-14492" sz="1725" spc="157">
                <a:latin typeface="Cambria Math"/>
                <a:cs typeface="Cambria Math"/>
              </a:rPr>
              <a:t>3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15">
                <a:latin typeface="Cambria Math"/>
                <a:cs typeface="Cambria Math"/>
              </a:rPr>
              <a:t>𝑥</a:t>
            </a:r>
            <a:r>
              <a:rPr dirty="0" baseline="-14492" sz="1725" spc="52">
                <a:latin typeface="Cambria Math"/>
                <a:cs typeface="Cambria Math"/>
              </a:rPr>
              <a:t>4</a:t>
            </a:r>
            <a:endParaRPr baseline="-14492" sz="1725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</a:pPr>
            <a:r>
              <a:rPr dirty="0" sz="1600" spc="-55">
                <a:latin typeface="Cambria Math"/>
                <a:cs typeface="Cambria Math"/>
              </a:rPr>
              <a:t>𝑥</a:t>
            </a:r>
            <a:r>
              <a:rPr dirty="0" baseline="-14492" sz="1725" spc="157">
                <a:latin typeface="Cambria Math"/>
                <a:cs typeface="Cambria Math"/>
              </a:rPr>
              <a:t>1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15">
                <a:latin typeface="Cambria Math"/>
                <a:cs typeface="Cambria Math"/>
              </a:rPr>
              <a:t>𝑥</a:t>
            </a:r>
            <a:r>
              <a:rPr dirty="0" baseline="-14492" sz="1725" spc="157">
                <a:latin typeface="Cambria Math"/>
                <a:cs typeface="Cambria Math"/>
              </a:rPr>
              <a:t>2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10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⋯</a:t>
            </a:r>
            <a:r>
              <a:rPr dirty="0" sz="1600">
                <a:latin typeface="Cambria Math"/>
                <a:cs typeface="Cambria Math"/>
              </a:rPr>
              <a:t> </a:t>
            </a:r>
            <a:r>
              <a:rPr dirty="0" sz="1600" spc="-80">
                <a:latin typeface="Cambria Math"/>
                <a:cs typeface="Cambria Math"/>
              </a:rPr>
              <a:t> </a:t>
            </a:r>
            <a:r>
              <a:rPr dirty="0" sz="1600" spc="-15">
                <a:latin typeface="Cambria Math"/>
                <a:cs typeface="Cambria Math"/>
              </a:rPr>
              <a:t>𝑥</a:t>
            </a:r>
            <a:r>
              <a:rPr dirty="0" baseline="-14492" sz="1725" spc="247">
                <a:latin typeface="Cambria Math"/>
                <a:cs typeface="Cambria Math"/>
              </a:rPr>
              <a:t>𝑛</a:t>
            </a:r>
            <a:endParaRPr baseline="-14492" sz="17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514344" y="4344923"/>
            <a:ext cx="2874645" cy="883919"/>
          </a:xfrm>
          <a:custGeom>
            <a:avLst/>
            <a:gdLst/>
            <a:ahLst/>
            <a:cxnLst/>
            <a:rect l="l" t="t" r="r" b="b"/>
            <a:pathLst>
              <a:path w="2874645" h="883920">
                <a:moveTo>
                  <a:pt x="2874264" y="0"/>
                </a:moveTo>
                <a:lnTo>
                  <a:pt x="0" y="0"/>
                </a:lnTo>
                <a:lnTo>
                  <a:pt x="0" y="883919"/>
                </a:lnTo>
                <a:lnTo>
                  <a:pt x="2874264" y="883919"/>
                </a:lnTo>
                <a:lnTo>
                  <a:pt x="287426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14344" y="3264408"/>
            <a:ext cx="2874645" cy="883919"/>
          </a:xfrm>
          <a:custGeom>
            <a:avLst/>
            <a:gdLst/>
            <a:ahLst/>
            <a:cxnLst/>
            <a:rect l="l" t="t" r="r" b="b"/>
            <a:pathLst>
              <a:path w="2874645" h="883920">
                <a:moveTo>
                  <a:pt x="2874264" y="0"/>
                </a:moveTo>
                <a:lnTo>
                  <a:pt x="0" y="0"/>
                </a:lnTo>
                <a:lnTo>
                  <a:pt x="0" y="883920"/>
                </a:lnTo>
                <a:lnTo>
                  <a:pt x="2874264" y="883920"/>
                </a:lnTo>
                <a:lnTo>
                  <a:pt x="287426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1965198" cy="174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9844"/>
            <a:ext cx="6779514" cy="311429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528059" y="2421635"/>
            <a:ext cx="2811780" cy="502920"/>
          </a:xfrm>
          <a:custGeom>
            <a:avLst/>
            <a:gdLst/>
            <a:ahLst/>
            <a:cxnLst/>
            <a:rect l="l" t="t" r="r" b="b"/>
            <a:pathLst>
              <a:path w="2811779" h="502919">
                <a:moveTo>
                  <a:pt x="2811780" y="0"/>
                </a:moveTo>
                <a:lnTo>
                  <a:pt x="0" y="0"/>
                </a:lnTo>
                <a:lnTo>
                  <a:pt x="0" y="502920"/>
                </a:lnTo>
                <a:lnTo>
                  <a:pt x="2811780" y="502920"/>
                </a:lnTo>
                <a:lnTo>
                  <a:pt x="28117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155954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1816607"/>
            <a:ext cx="8475726" cy="15963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168395" y="2319527"/>
            <a:ext cx="3609340" cy="866140"/>
          </a:xfrm>
          <a:custGeom>
            <a:avLst/>
            <a:gdLst/>
            <a:ahLst/>
            <a:cxnLst/>
            <a:rect l="l" t="t" r="r" b="b"/>
            <a:pathLst>
              <a:path w="3609340" h="866139">
                <a:moveTo>
                  <a:pt x="3608831" y="0"/>
                </a:moveTo>
                <a:lnTo>
                  <a:pt x="0" y="0"/>
                </a:lnTo>
                <a:lnTo>
                  <a:pt x="0" y="865632"/>
                </a:lnTo>
                <a:lnTo>
                  <a:pt x="3608831" y="865632"/>
                </a:lnTo>
                <a:lnTo>
                  <a:pt x="360883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3039"/>
            <a:ext cx="1809750" cy="1760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8215122" cy="98831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4158234" cy="1821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843022" cy="14249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54736" y="2130551"/>
            <a:ext cx="8789035" cy="2308860"/>
            <a:chOff x="554736" y="2130551"/>
            <a:chExt cx="8789035" cy="2308860"/>
          </a:xfrm>
        </p:grpSpPr>
        <p:sp>
          <p:nvSpPr>
            <p:cNvPr id="9" name="object 9"/>
            <p:cNvSpPr/>
            <p:nvPr/>
          </p:nvSpPr>
          <p:spPr>
            <a:xfrm>
              <a:off x="557784" y="2133599"/>
              <a:ext cx="8783320" cy="2303145"/>
            </a:xfrm>
            <a:custGeom>
              <a:avLst/>
              <a:gdLst/>
              <a:ahLst/>
              <a:cxnLst/>
              <a:rect l="l" t="t" r="r" b="b"/>
              <a:pathLst>
                <a:path w="8783320" h="2303145">
                  <a:moveTo>
                    <a:pt x="0" y="2302764"/>
                  </a:moveTo>
                  <a:lnTo>
                    <a:pt x="8782812" y="230276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30276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0819" y="2320379"/>
              <a:ext cx="8615204" cy="191557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494532" y="2369820"/>
            <a:ext cx="2825750" cy="579120"/>
          </a:xfrm>
          <a:custGeom>
            <a:avLst/>
            <a:gdLst/>
            <a:ahLst/>
            <a:cxnLst/>
            <a:rect l="l" t="t" r="r" b="b"/>
            <a:pathLst>
              <a:path w="2825750" h="579119">
                <a:moveTo>
                  <a:pt x="2825495" y="0"/>
                </a:moveTo>
                <a:lnTo>
                  <a:pt x="0" y="0"/>
                </a:lnTo>
                <a:lnTo>
                  <a:pt x="0" y="579120"/>
                </a:lnTo>
                <a:lnTo>
                  <a:pt x="2825495" y="579120"/>
                </a:lnTo>
                <a:lnTo>
                  <a:pt x="282549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45286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9844"/>
            <a:ext cx="8013954" cy="15079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27832" y="2378964"/>
            <a:ext cx="3599815" cy="939165"/>
          </a:xfrm>
          <a:custGeom>
            <a:avLst/>
            <a:gdLst/>
            <a:ahLst/>
            <a:cxnLst/>
            <a:rect l="l" t="t" r="r" b="b"/>
            <a:pathLst>
              <a:path w="3599815" h="939164">
                <a:moveTo>
                  <a:pt x="3599688" y="0"/>
                </a:moveTo>
                <a:lnTo>
                  <a:pt x="0" y="0"/>
                </a:lnTo>
                <a:lnTo>
                  <a:pt x="0" y="938784"/>
                </a:lnTo>
                <a:lnTo>
                  <a:pt x="3599688" y="938784"/>
                </a:lnTo>
                <a:lnTo>
                  <a:pt x="359968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1869186" cy="1744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7914894" cy="1668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988308" y="2424125"/>
            <a:ext cx="2419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mbria Math"/>
                <a:cs typeface="Cambria Math"/>
              </a:rPr>
              <a:t>𝑛𝑎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6046" y="2424125"/>
            <a:ext cx="5664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𝑟</a:t>
            </a:r>
            <a:r>
              <a:rPr dirty="0" sz="1600" spc="1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1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65066" y="2970022"/>
            <a:ext cx="856615" cy="13970"/>
          </a:xfrm>
          <a:custGeom>
            <a:avLst/>
            <a:gdLst/>
            <a:ahLst/>
            <a:cxnLst/>
            <a:rect l="l" t="t" r="r" b="b"/>
            <a:pathLst>
              <a:path w="856614" h="13969">
                <a:moveTo>
                  <a:pt x="856488" y="0"/>
                </a:moveTo>
                <a:lnTo>
                  <a:pt x="0" y="0"/>
                </a:lnTo>
                <a:lnTo>
                  <a:pt x="0" y="13715"/>
                </a:lnTo>
                <a:lnTo>
                  <a:pt x="856488" y="13715"/>
                </a:lnTo>
                <a:lnTo>
                  <a:pt x="856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347211" y="2665602"/>
            <a:ext cx="172148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565"/>
              </a:lnSpc>
              <a:spcBef>
                <a:spcPts val="95"/>
              </a:spcBef>
            </a:pPr>
            <a:r>
              <a:rPr dirty="0" baseline="-3472" sz="2400" spc="-127">
                <a:latin typeface="Cambria Math"/>
                <a:cs typeface="Cambria Math"/>
              </a:rPr>
              <a:t>𝑆</a:t>
            </a:r>
            <a:r>
              <a:rPr dirty="0" baseline="-21739" sz="1725" spc="247">
                <a:latin typeface="Cambria Math"/>
                <a:cs typeface="Cambria Math"/>
              </a:rPr>
              <a:t>𝑛</a:t>
            </a:r>
            <a:r>
              <a:rPr dirty="0" baseline="-21739" sz="1725">
                <a:latin typeface="Cambria Math"/>
                <a:cs typeface="Cambria Math"/>
              </a:rPr>
              <a:t> </a:t>
            </a:r>
            <a:r>
              <a:rPr dirty="0" baseline="-21739" sz="1725" spc="67">
                <a:latin typeface="Cambria Math"/>
                <a:cs typeface="Cambria Math"/>
              </a:rPr>
              <a:t> </a:t>
            </a:r>
            <a:r>
              <a:rPr dirty="0" baseline="-3472" sz="2400" spc="-7">
                <a:latin typeface="Cambria Math"/>
                <a:cs typeface="Cambria Math"/>
              </a:rPr>
              <a:t>=</a:t>
            </a:r>
            <a:r>
              <a:rPr dirty="0" baseline="-3472" sz="2400" spc="142">
                <a:latin typeface="Cambria Math"/>
                <a:cs typeface="Cambria Math"/>
              </a:rPr>
              <a:t> </a:t>
            </a:r>
            <a:r>
              <a:rPr dirty="0" baseline="-3472" sz="2400" spc="-989">
                <a:latin typeface="Cambria Math"/>
                <a:cs typeface="Cambria Math"/>
              </a:rPr>
              <a:t>ቐ</a:t>
            </a:r>
            <a:r>
              <a:rPr dirty="0" sz="1600" spc="40">
                <a:latin typeface="Cambria Math"/>
                <a:cs typeface="Cambria Math"/>
              </a:rPr>
              <a:t>𝑎</a:t>
            </a:r>
            <a:r>
              <a:rPr dirty="0" sz="1600" spc="-10">
                <a:latin typeface="Cambria Math"/>
                <a:cs typeface="Cambria Math"/>
              </a:rPr>
              <a:t>(</a:t>
            </a:r>
            <a:r>
              <a:rPr dirty="0" sz="1600" spc="-5">
                <a:latin typeface="Cambria Math"/>
                <a:cs typeface="Cambria Math"/>
              </a:rPr>
              <a:t>1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75">
                <a:latin typeface="Cambria Math"/>
                <a:cs typeface="Cambria Math"/>
              </a:rPr>
              <a:t>𝑟</a:t>
            </a:r>
            <a:r>
              <a:rPr dirty="0" baseline="28985" sz="1725" spc="390">
                <a:latin typeface="Cambria Math"/>
                <a:cs typeface="Cambria Math"/>
              </a:rPr>
              <a:t>𝑛</a:t>
            </a:r>
            <a:r>
              <a:rPr dirty="0" sz="1600" spc="-5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  <a:p>
            <a:pPr marL="1530985">
              <a:lnSpc>
                <a:spcPts val="1140"/>
              </a:lnSpc>
            </a:pP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  <a:p>
            <a:pPr marL="817880">
              <a:lnSpc>
                <a:spcPts val="1495"/>
              </a:lnSpc>
            </a:pPr>
            <a:r>
              <a:rPr dirty="0" sz="1600" spc="-5">
                <a:latin typeface="Cambria Math"/>
                <a:cs typeface="Cambria Math"/>
              </a:rPr>
              <a:t>1</a:t>
            </a:r>
            <a:r>
              <a:rPr dirty="0" sz="1600" spc="-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86730" y="2970022"/>
            <a:ext cx="856615" cy="13970"/>
          </a:xfrm>
          <a:custGeom>
            <a:avLst/>
            <a:gdLst/>
            <a:ahLst/>
            <a:cxnLst/>
            <a:rect l="l" t="t" r="r" b="b"/>
            <a:pathLst>
              <a:path w="856614" h="13969">
                <a:moveTo>
                  <a:pt x="856488" y="0"/>
                </a:moveTo>
                <a:lnTo>
                  <a:pt x="0" y="0"/>
                </a:lnTo>
                <a:lnTo>
                  <a:pt x="0" y="13715"/>
                </a:lnTo>
                <a:lnTo>
                  <a:pt x="856488" y="13715"/>
                </a:lnTo>
                <a:lnTo>
                  <a:pt x="856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061965" y="2619273"/>
            <a:ext cx="920750" cy="60452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459"/>
              </a:spcBef>
            </a:pPr>
            <a:r>
              <a:rPr dirty="0" sz="1600" spc="50">
                <a:latin typeface="Cambria Math"/>
                <a:cs typeface="Cambria Math"/>
              </a:rPr>
              <a:t>𝑎(𝑟</a:t>
            </a:r>
            <a:r>
              <a:rPr dirty="0" baseline="28985" sz="1725" spc="75">
                <a:latin typeface="Cambria Math"/>
                <a:cs typeface="Cambria Math"/>
              </a:rPr>
              <a:t>𝑛</a:t>
            </a:r>
            <a:r>
              <a:rPr dirty="0" baseline="28985" sz="1725" spc="232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1)</a:t>
            </a:r>
            <a:endParaRPr sz="1600">
              <a:latin typeface="Cambria Math"/>
              <a:cs typeface="Cambria Math"/>
            </a:endParaRPr>
          </a:p>
          <a:p>
            <a:pPr algn="ctr" marR="5715">
              <a:lnSpc>
                <a:spcPct val="100000"/>
              </a:lnSpc>
              <a:spcBef>
                <a:spcPts val="360"/>
              </a:spcBef>
            </a:pPr>
            <a:r>
              <a:rPr dirty="0" sz="1600" spc="-5">
                <a:latin typeface="Cambria Math"/>
                <a:cs typeface="Cambria Math"/>
              </a:rPr>
              <a:t>𝑟</a:t>
            </a:r>
            <a:r>
              <a:rPr dirty="0" sz="1600" spc="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77382" y="2819526"/>
            <a:ext cx="5676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𝑟</a:t>
            </a:r>
            <a:r>
              <a:rPr dirty="0" sz="1600" spc="13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≠</a:t>
            </a:r>
            <a:r>
              <a:rPr dirty="0" sz="1600" spc="1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56944"/>
            <a:ext cx="846582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9844"/>
            <a:ext cx="3569970" cy="1623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41160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2.2.</a:t>
            </a:r>
            <a:r>
              <a:rPr dirty="0" spc="-65"/>
              <a:t> </a:t>
            </a:r>
            <a:r>
              <a:rPr dirty="0" spc="-5"/>
              <a:t>Sequence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6468" y="2119883"/>
            <a:ext cx="8539480" cy="2646045"/>
          </a:xfrm>
          <a:custGeom>
            <a:avLst/>
            <a:gdLst/>
            <a:ahLst/>
            <a:cxnLst/>
            <a:rect l="l" t="t" r="r" b="b"/>
            <a:pathLst>
              <a:path w="8539480" h="2646045">
                <a:moveTo>
                  <a:pt x="8538972" y="0"/>
                </a:moveTo>
                <a:lnTo>
                  <a:pt x="0" y="0"/>
                </a:lnTo>
                <a:lnTo>
                  <a:pt x="0" y="2645664"/>
                </a:lnTo>
                <a:lnTo>
                  <a:pt x="8538972" y="2645664"/>
                </a:lnTo>
                <a:lnTo>
                  <a:pt x="85389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09952" y="2816732"/>
            <a:ext cx="12192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65">
                <a:latin typeface="Cambria Math"/>
                <a:cs typeface="Cambria Math"/>
              </a:rPr>
              <a:t>𝑛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94026" y="2374519"/>
            <a:ext cx="5220970" cy="645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For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sequences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52525"/>
                </a:solidFill>
                <a:latin typeface="Trebuchet MS"/>
                <a:cs typeface="Trebuchet MS"/>
              </a:rPr>
              <a:t>{</a:t>
            </a:r>
            <a:r>
              <a:rPr dirty="0" sz="1400" spc="-65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baseline="-21604" sz="1350" spc="-97">
                <a:solidFill>
                  <a:srgbClr val="252525"/>
                </a:solidFill>
                <a:latin typeface="Cambria Math"/>
                <a:cs typeface="Cambria Math"/>
              </a:rPr>
              <a:t>𝑛</a:t>
            </a:r>
            <a:r>
              <a:rPr dirty="0" sz="1400" spc="-65">
                <a:solidFill>
                  <a:srgbClr val="252525"/>
                </a:solidFill>
                <a:latin typeface="Trebuchet MS"/>
                <a:cs typeface="Trebuchet MS"/>
              </a:rPr>
              <a:t>},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52525"/>
                </a:solidFill>
                <a:latin typeface="Trebuchet MS"/>
                <a:cs typeface="Trebuchet MS"/>
              </a:rPr>
              <a:t>{</a:t>
            </a:r>
            <a:r>
              <a:rPr dirty="0" sz="1400" spc="-65">
                <a:solidFill>
                  <a:srgbClr val="252525"/>
                </a:solidFill>
                <a:latin typeface="Cambria Math"/>
                <a:cs typeface="Cambria Math"/>
              </a:rPr>
              <a:t>𝑏</a:t>
            </a:r>
            <a:r>
              <a:rPr dirty="0" baseline="-21604" sz="1350" spc="-97">
                <a:solidFill>
                  <a:srgbClr val="252525"/>
                </a:solidFill>
                <a:latin typeface="Cambria Math"/>
                <a:cs typeface="Cambria Math"/>
              </a:rPr>
              <a:t>𝑛</a:t>
            </a:r>
            <a:r>
              <a:rPr dirty="0" sz="1400" spc="-65">
                <a:solidFill>
                  <a:srgbClr val="252525"/>
                </a:solidFill>
                <a:latin typeface="Trebuchet MS"/>
                <a:cs typeface="Trebuchet MS"/>
              </a:rPr>
              <a:t>},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constant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25">
                <a:solidFill>
                  <a:srgbClr val="252525"/>
                </a:solidFill>
                <a:latin typeface="Cambria Math"/>
                <a:cs typeface="Cambria Math"/>
              </a:rPr>
              <a:t>𝑐,</a:t>
            </a:r>
            <a:r>
              <a:rPr dirty="0" sz="1400" spc="-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symbol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Σ</a:t>
            </a:r>
            <a:r>
              <a:rPr dirty="0" sz="1400" spc="-3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satisfies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following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 properties.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Trebuchet MS"/>
              <a:cs typeface="Trebuchet MS"/>
            </a:endParaRPr>
          </a:p>
          <a:p>
            <a:pPr marL="814069">
              <a:lnSpc>
                <a:spcPct val="100000"/>
              </a:lnSpc>
              <a:tabLst>
                <a:tab pos="1572895" algn="l"/>
                <a:tab pos="3317875" algn="l"/>
                <a:tab pos="4665345" algn="l"/>
              </a:tabLst>
            </a:pPr>
            <a:r>
              <a:rPr dirty="0" sz="1150" spc="95">
                <a:latin typeface="Cambria Math"/>
                <a:cs typeface="Cambria Math"/>
              </a:rPr>
              <a:t>𝑛	𝑛	𝑛	𝑛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6257" y="2816732"/>
            <a:ext cx="12192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65">
                <a:latin typeface="Cambria Math"/>
                <a:cs typeface="Cambria Math"/>
              </a:rPr>
              <a:t>𝑛</a:t>
            </a:r>
            <a:endParaRPr sz="1150">
              <a:latin typeface="Cambria Math"/>
              <a:cs typeface="Cambria Math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482471" y="3120917"/>
          <a:ext cx="6882130" cy="139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400"/>
                <a:gridCol w="596264"/>
                <a:gridCol w="618489"/>
                <a:gridCol w="1199514"/>
                <a:gridCol w="1701800"/>
                <a:gridCol w="950594"/>
                <a:gridCol w="773429"/>
              </a:tblGrid>
              <a:tr h="237065">
                <a:tc gridSpan="4">
                  <a:txBody>
                    <a:bodyPr/>
                    <a:lstStyle/>
                    <a:p>
                      <a:pPr marL="31750">
                        <a:lnSpc>
                          <a:spcPts val="1565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(1)</a:t>
                      </a:r>
                      <a:r>
                        <a:rPr dirty="0" sz="16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145">
                          <a:latin typeface="Cambria Math"/>
                          <a:cs typeface="Cambria Math"/>
                        </a:rPr>
                        <a:t>෍(𝑎</a:t>
                      </a:r>
                      <a:r>
                        <a:rPr dirty="0" baseline="-21164" sz="1575" spc="217">
                          <a:latin typeface="Cambria Math"/>
                          <a:cs typeface="Cambria Math"/>
                        </a:rPr>
                        <a:t>𝑘</a:t>
                      </a:r>
                      <a:r>
                        <a:rPr dirty="0" baseline="-21164" sz="1575" spc="247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+ </a:t>
                      </a:r>
                      <a:r>
                        <a:rPr dirty="0" sz="1600" spc="15">
                          <a:latin typeface="Cambria Math"/>
                          <a:cs typeface="Cambria Math"/>
                        </a:rPr>
                        <a:t>𝑏𝑘)</a:t>
                      </a:r>
                      <a:r>
                        <a:rPr dirty="0" sz="1600" spc="8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sz="1600" spc="16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15">
                          <a:latin typeface="Cambria Math"/>
                          <a:cs typeface="Cambria Math"/>
                        </a:rPr>
                        <a:t>෍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baseline="-21164" sz="1575">
                          <a:latin typeface="Cambria Math"/>
                          <a:cs typeface="Cambria Math"/>
                        </a:rPr>
                        <a:t>𝑘</a:t>
                      </a:r>
                      <a:r>
                        <a:rPr dirty="0" baseline="-21164" sz="1575" spc="232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dirty="0" sz="1600" spc="8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15">
                          <a:latin typeface="Cambria Math"/>
                          <a:cs typeface="Cambria Math"/>
                        </a:rPr>
                        <a:t>෍</a:t>
                      </a:r>
                      <a:r>
                        <a:rPr dirty="0" sz="16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">
                          <a:latin typeface="Cambria Math"/>
                          <a:cs typeface="Cambria Math"/>
                        </a:rPr>
                        <a:t>𝑏</a:t>
                      </a:r>
                      <a:r>
                        <a:rPr dirty="0" baseline="-21164" sz="1575" spc="7">
                          <a:latin typeface="Cambria Math"/>
                          <a:cs typeface="Cambria Math"/>
                        </a:rPr>
                        <a:t>𝑘</a:t>
                      </a:r>
                      <a:endParaRPr baseline="-21164" sz="1575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465455">
                        <a:lnSpc>
                          <a:spcPts val="1565"/>
                        </a:lnSpc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(2)</a:t>
                      </a:r>
                      <a:r>
                        <a:rPr dirty="0" sz="16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145">
                          <a:latin typeface="Cambria Math"/>
                          <a:cs typeface="Cambria Math"/>
                        </a:rPr>
                        <a:t>෍(𝑎</a:t>
                      </a:r>
                      <a:r>
                        <a:rPr dirty="0" baseline="-21164" sz="1575" spc="217">
                          <a:latin typeface="Cambria Math"/>
                          <a:cs typeface="Cambria Math"/>
                        </a:rPr>
                        <a:t>𝑘</a:t>
                      </a:r>
                      <a:r>
                        <a:rPr dirty="0" baseline="-21164" sz="1575" spc="247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dirty="0" sz="1600" spc="15">
                          <a:latin typeface="Cambria Math"/>
                          <a:cs typeface="Cambria Math"/>
                        </a:rPr>
                        <a:t>𝑏</a:t>
                      </a:r>
                      <a:r>
                        <a:rPr dirty="0" baseline="-21164" sz="1575" spc="22">
                          <a:latin typeface="Cambria Math"/>
                          <a:cs typeface="Cambria Math"/>
                        </a:rPr>
                        <a:t>𝑘</a:t>
                      </a:r>
                      <a:r>
                        <a:rPr dirty="0" sz="1600" spc="15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1600" spc="8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sz="1600" spc="16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15">
                          <a:latin typeface="Cambria Math"/>
                          <a:cs typeface="Cambria Math"/>
                        </a:rPr>
                        <a:t>෍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baseline="-21164" sz="1575">
                          <a:latin typeface="Cambria Math"/>
                          <a:cs typeface="Cambria Math"/>
                        </a:rPr>
                        <a:t>𝑘</a:t>
                      </a:r>
                      <a:r>
                        <a:rPr dirty="0" baseline="-21164" sz="1575" spc="2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dirty="0" sz="1600" spc="8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15">
                          <a:latin typeface="Cambria Math"/>
                          <a:cs typeface="Cambria Math"/>
                        </a:rPr>
                        <a:t>෍</a:t>
                      </a:r>
                      <a:r>
                        <a:rPr dirty="0" sz="16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">
                          <a:latin typeface="Cambria Math"/>
                          <a:cs typeface="Cambria Math"/>
                        </a:rPr>
                        <a:t>𝑏</a:t>
                      </a:r>
                      <a:r>
                        <a:rPr dirty="0" baseline="-21164" sz="1575" spc="7">
                          <a:latin typeface="Cambria Math"/>
                          <a:cs typeface="Cambria Math"/>
                        </a:rPr>
                        <a:t>𝑘</a:t>
                      </a:r>
                      <a:endParaRPr baseline="-21164" sz="1575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9530">
                <a:tc>
                  <a:txBody>
                    <a:bodyPr/>
                    <a:lstStyle/>
                    <a:p>
                      <a:pPr algn="ctr" marR="508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40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342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45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342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40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342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8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40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342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40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342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40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34290">
                    <a:solidFill>
                      <a:srgbClr val="F1F1F1"/>
                    </a:solidFill>
                  </a:tcPr>
                </a:tc>
              </a:tr>
              <a:tr h="264168">
                <a:tc>
                  <a:txBody>
                    <a:bodyPr/>
                    <a:lstStyle/>
                    <a:p>
                      <a:pPr algn="ctr" marR="57150">
                        <a:lnSpc>
                          <a:spcPts val="1310"/>
                        </a:lnSpc>
                        <a:spcBef>
                          <a:spcPts val="670"/>
                        </a:spcBef>
                      </a:pPr>
                      <a:r>
                        <a:rPr dirty="0" sz="1150" spc="95">
                          <a:latin typeface="Cambria Math"/>
                          <a:cs typeface="Cambria Math"/>
                        </a:rPr>
                        <a:t>𝑛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850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6360">
                        <a:lnSpc>
                          <a:spcPts val="1310"/>
                        </a:lnSpc>
                        <a:spcBef>
                          <a:spcPts val="670"/>
                        </a:spcBef>
                      </a:pPr>
                      <a:r>
                        <a:rPr dirty="0" sz="1150" spc="95">
                          <a:latin typeface="Cambria Math"/>
                          <a:cs typeface="Cambria Math"/>
                        </a:rPr>
                        <a:t>𝑛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850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0">
                        <a:lnSpc>
                          <a:spcPts val="1310"/>
                        </a:lnSpc>
                        <a:spcBef>
                          <a:spcPts val="670"/>
                        </a:spcBef>
                      </a:pPr>
                      <a:r>
                        <a:rPr dirty="0" sz="1150" spc="95">
                          <a:latin typeface="Cambria Math"/>
                          <a:cs typeface="Cambria Math"/>
                        </a:rPr>
                        <a:t>𝑛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8509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</a:tr>
              <a:tr h="380335">
                <a:tc gridSpan="3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(3)</a:t>
                      </a:r>
                      <a:r>
                        <a:rPr dirty="0" sz="16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15">
                          <a:latin typeface="Cambria Math"/>
                          <a:cs typeface="Cambria Math"/>
                        </a:rPr>
                        <a:t>෍</a:t>
                      </a:r>
                      <a:r>
                        <a:rPr dirty="0" sz="16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𝑐𝑎</a:t>
                      </a:r>
                      <a:r>
                        <a:rPr dirty="0" baseline="-21164" sz="1575" spc="-7">
                          <a:latin typeface="Cambria Math"/>
                          <a:cs typeface="Cambria Math"/>
                        </a:rPr>
                        <a:t>𝑘</a:t>
                      </a:r>
                      <a:r>
                        <a:rPr dirty="0" baseline="-21164" sz="1575" spc="37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sz="1600" spc="8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𝑐</a:t>
                      </a:r>
                      <a:r>
                        <a:rPr dirty="0" sz="1600" spc="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15">
                          <a:latin typeface="Cambria Math"/>
                          <a:cs typeface="Cambria Math"/>
                        </a:rPr>
                        <a:t>෍</a:t>
                      </a:r>
                      <a:r>
                        <a:rPr dirty="0" sz="160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baseline="-21164" sz="1575">
                          <a:latin typeface="Cambria Math"/>
                          <a:cs typeface="Cambria Math"/>
                        </a:rPr>
                        <a:t>𝑘</a:t>
                      </a:r>
                      <a:endParaRPr baseline="-21164" sz="1575">
                        <a:latin typeface="Cambria Math"/>
                        <a:cs typeface="Cambria Math"/>
                      </a:endParaRPr>
                    </a:p>
                  </a:txBody>
                  <a:tcPr marL="0" marR="0" marB="0" marT="65405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1656714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600" spc="-5">
                          <a:latin typeface="Cambria Math"/>
                          <a:cs typeface="Cambria Math"/>
                        </a:rPr>
                        <a:t>(4)</a:t>
                      </a:r>
                      <a:r>
                        <a:rPr dirty="0" sz="16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515">
                          <a:latin typeface="Cambria Math"/>
                          <a:cs typeface="Cambria Math"/>
                        </a:rPr>
                        <a:t>෍</a:t>
                      </a:r>
                      <a:r>
                        <a:rPr dirty="0" sz="16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𝑐</a:t>
                      </a:r>
                      <a:r>
                        <a:rPr dirty="0" sz="1600" spc="1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sz="1600" spc="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𝑐𝑛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65405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496">
                <a:tc gridSpan="3">
                  <a:txBody>
                    <a:bodyPr/>
                    <a:lstStyle/>
                    <a:p>
                      <a:pPr marL="346710">
                        <a:lnSpc>
                          <a:spcPts val="1310"/>
                        </a:lnSpc>
                        <a:spcBef>
                          <a:spcPts val="10"/>
                        </a:spcBef>
                        <a:tabLst>
                          <a:tab pos="1354455" algn="l"/>
                        </a:tabLst>
                      </a:pPr>
                      <a:r>
                        <a:rPr dirty="0" sz="1150" spc="40">
                          <a:latin typeface="Cambria Math"/>
                          <a:cs typeface="Cambria Math"/>
                        </a:rPr>
                        <a:t>𝑘=1	</a:t>
                      </a:r>
                      <a:r>
                        <a:rPr dirty="0" sz="1150" spc="45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127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algn="ctr" marR="383540">
                        <a:lnSpc>
                          <a:spcPts val="1310"/>
                        </a:lnSpc>
                        <a:spcBef>
                          <a:spcPts val="10"/>
                        </a:spcBef>
                      </a:pPr>
                      <a:r>
                        <a:rPr dirty="0" sz="1150" spc="45">
                          <a:latin typeface="Cambria Math"/>
                          <a:cs typeface="Cambria Math"/>
                        </a:rPr>
                        <a:t>𝑘=1</a:t>
                      </a:r>
                      <a:endParaRPr sz="1150">
                        <a:latin typeface="Cambria Math"/>
                        <a:cs typeface="Cambria Math"/>
                      </a:endParaRPr>
                    </a:p>
                  </a:txBody>
                  <a:tcPr marL="0" marR="0" marB="0" marT="127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82396" y="2356104"/>
            <a:ext cx="2877820" cy="1649095"/>
          </a:xfrm>
          <a:custGeom>
            <a:avLst/>
            <a:gdLst/>
            <a:ahLst/>
            <a:cxnLst/>
            <a:rect l="l" t="t" r="r" b="b"/>
            <a:pathLst>
              <a:path w="2877820" h="1649095">
                <a:moveTo>
                  <a:pt x="2877312" y="0"/>
                </a:moveTo>
                <a:lnTo>
                  <a:pt x="0" y="0"/>
                </a:lnTo>
                <a:lnTo>
                  <a:pt x="0" y="1648968"/>
                </a:lnTo>
                <a:lnTo>
                  <a:pt x="2877312" y="1648968"/>
                </a:lnTo>
                <a:lnTo>
                  <a:pt x="287731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199894" cy="1424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4416"/>
            <a:ext cx="5808725" cy="20413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085849" cy="1424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8451" y="1763267"/>
            <a:ext cx="1545590" cy="9906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27305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215"/>
              </a:spcBef>
            </a:pPr>
            <a:r>
              <a:rPr dirty="0" sz="1300" spc="45">
                <a:latin typeface="Cambria Math"/>
                <a:cs typeface="Cambria Math"/>
              </a:rPr>
              <a:t>10</a:t>
            </a:r>
            <a:endParaRPr sz="1300">
              <a:latin typeface="Cambria Math"/>
              <a:cs typeface="Cambria Math"/>
            </a:endParaRPr>
          </a:p>
          <a:p>
            <a:pPr marL="219075">
              <a:lnSpc>
                <a:spcPct val="100000"/>
              </a:lnSpc>
              <a:spcBef>
                <a:spcPts val="630"/>
              </a:spcBef>
            </a:pPr>
            <a:r>
              <a:rPr dirty="0" sz="1800" spc="130">
                <a:latin typeface="Cambria Math"/>
                <a:cs typeface="Cambria Math"/>
              </a:rPr>
              <a:t>෍(𝑘</a:t>
            </a:r>
            <a:r>
              <a:rPr dirty="0" baseline="27777" sz="1950" spc="195">
                <a:latin typeface="Cambria Math"/>
                <a:cs typeface="Cambria Math"/>
              </a:rPr>
              <a:t>2</a:t>
            </a:r>
            <a:r>
              <a:rPr dirty="0" sz="1800" spc="130">
                <a:latin typeface="Cambria Math"/>
                <a:cs typeface="Cambria Math"/>
              </a:rPr>
              <a:t>−𝑘)</a:t>
            </a:r>
            <a:endParaRPr sz="1800">
              <a:latin typeface="Cambria Math"/>
              <a:cs typeface="Cambria Math"/>
            </a:endParaRPr>
          </a:p>
          <a:p>
            <a:pPr marL="208279">
              <a:lnSpc>
                <a:spcPct val="100000"/>
              </a:lnSpc>
              <a:spcBef>
                <a:spcPts val="630"/>
              </a:spcBef>
            </a:pPr>
            <a:r>
              <a:rPr dirty="0" sz="1300" spc="50">
                <a:latin typeface="Cambria Math"/>
                <a:cs typeface="Cambria Math"/>
              </a:rPr>
              <a:t>𝑘=1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4736" y="2849879"/>
            <a:ext cx="8789035" cy="1949450"/>
            <a:chOff x="554736" y="2849879"/>
            <a:chExt cx="8789035" cy="1949450"/>
          </a:xfrm>
        </p:grpSpPr>
        <p:sp>
          <p:nvSpPr>
            <p:cNvPr id="9" name="object 9"/>
            <p:cNvSpPr/>
            <p:nvPr/>
          </p:nvSpPr>
          <p:spPr>
            <a:xfrm>
              <a:off x="557784" y="2852927"/>
              <a:ext cx="8783320" cy="1943100"/>
            </a:xfrm>
            <a:custGeom>
              <a:avLst/>
              <a:gdLst/>
              <a:ahLst/>
              <a:cxnLst/>
              <a:rect l="l" t="t" r="r" b="b"/>
              <a:pathLst>
                <a:path w="8783320" h="1943100">
                  <a:moveTo>
                    <a:pt x="0" y="1943100"/>
                  </a:moveTo>
                  <a:lnTo>
                    <a:pt x="8782812" y="1943100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94310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452" y="2955035"/>
              <a:ext cx="8772144" cy="181508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7489" y="431419"/>
            <a:ext cx="141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Sequence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50036" y="3896867"/>
            <a:ext cx="7078345" cy="1846580"/>
            <a:chOff x="1050036" y="3896867"/>
            <a:chExt cx="7078345" cy="184658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0036" y="3896867"/>
              <a:ext cx="3899154" cy="184632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98136" y="3906011"/>
              <a:ext cx="3230117" cy="14455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433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Absolute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Value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Euclidean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Distance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946148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969007"/>
            <a:ext cx="808482" cy="14401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943607" y="3443732"/>
            <a:ext cx="6602095" cy="304800"/>
          </a:xfrm>
          <a:custGeom>
            <a:avLst/>
            <a:gdLst/>
            <a:ahLst/>
            <a:cxnLst/>
            <a:rect l="l" t="t" r="r" b="b"/>
            <a:pathLst>
              <a:path w="6602095" h="304800">
                <a:moveTo>
                  <a:pt x="733552" y="0"/>
                </a:moveTo>
                <a:lnTo>
                  <a:pt x="733552" y="158750"/>
                </a:lnTo>
              </a:path>
              <a:path w="6602095" h="304800">
                <a:moveTo>
                  <a:pt x="1466977" y="0"/>
                </a:moveTo>
                <a:lnTo>
                  <a:pt x="1466977" y="158750"/>
                </a:lnTo>
              </a:path>
              <a:path w="6602095" h="304800">
                <a:moveTo>
                  <a:pt x="2200529" y="0"/>
                </a:moveTo>
                <a:lnTo>
                  <a:pt x="2200529" y="158750"/>
                </a:lnTo>
              </a:path>
              <a:path w="6602095" h="304800">
                <a:moveTo>
                  <a:pt x="2934081" y="0"/>
                </a:moveTo>
                <a:lnTo>
                  <a:pt x="2934081" y="158750"/>
                </a:lnTo>
              </a:path>
              <a:path w="6602095" h="304800">
                <a:moveTo>
                  <a:pt x="3667632" y="0"/>
                </a:moveTo>
                <a:lnTo>
                  <a:pt x="3667632" y="158750"/>
                </a:lnTo>
              </a:path>
              <a:path w="6602095" h="304800">
                <a:moveTo>
                  <a:pt x="4401184" y="0"/>
                </a:moveTo>
                <a:lnTo>
                  <a:pt x="4401184" y="158750"/>
                </a:lnTo>
              </a:path>
              <a:path w="6602095" h="304800">
                <a:moveTo>
                  <a:pt x="5134737" y="0"/>
                </a:moveTo>
                <a:lnTo>
                  <a:pt x="5134737" y="158750"/>
                </a:lnTo>
              </a:path>
              <a:path w="6602095" h="304800">
                <a:moveTo>
                  <a:pt x="5868289" y="0"/>
                </a:moveTo>
                <a:lnTo>
                  <a:pt x="5868289" y="158750"/>
                </a:lnTo>
              </a:path>
              <a:path w="6602095" h="304800">
                <a:moveTo>
                  <a:pt x="0" y="152400"/>
                </a:moveTo>
                <a:lnTo>
                  <a:pt x="6601841" y="152400"/>
                </a:lnTo>
              </a:path>
              <a:path w="6602095" h="304800">
                <a:moveTo>
                  <a:pt x="733552" y="152400"/>
                </a:moveTo>
                <a:lnTo>
                  <a:pt x="733552" y="304799"/>
                </a:lnTo>
              </a:path>
              <a:path w="6602095" h="304800">
                <a:moveTo>
                  <a:pt x="1466977" y="152400"/>
                </a:moveTo>
                <a:lnTo>
                  <a:pt x="1466977" y="304799"/>
                </a:lnTo>
              </a:path>
              <a:path w="6602095" h="304800">
                <a:moveTo>
                  <a:pt x="2200529" y="152400"/>
                </a:moveTo>
                <a:lnTo>
                  <a:pt x="2200529" y="304799"/>
                </a:lnTo>
              </a:path>
              <a:path w="6602095" h="304800">
                <a:moveTo>
                  <a:pt x="2934081" y="152400"/>
                </a:moveTo>
                <a:lnTo>
                  <a:pt x="2934081" y="304799"/>
                </a:lnTo>
              </a:path>
              <a:path w="6602095" h="304800">
                <a:moveTo>
                  <a:pt x="3667632" y="152400"/>
                </a:moveTo>
                <a:lnTo>
                  <a:pt x="3667632" y="304799"/>
                </a:lnTo>
              </a:path>
              <a:path w="6602095" h="304800">
                <a:moveTo>
                  <a:pt x="4401184" y="152400"/>
                </a:moveTo>
                <a:lnTo>
                  <a:pt x="4401184" y="304799"/>
                </a:lnTo>
              </a:path>
              <a:path w="6602095" h="304800">
                <a:moveTo>
                  <a:pt x="5134737" y="152400"/>
                </a:moveTo>
                <a:lnTo>
                  <a:pt x="5134737" y="304799"/>
                </a:lnTo>
              </a:path>
              <a:path w="6602095" h="304800">
                <a:moveTo>
                  <a:pt x="5868289" y="152400"/>
                </a:moveTo>
                <a:lnTo>
                  <a:pt x="5868289" y="3047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31313" y="3803726"/>
            <a:ext cx="1390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70" b="1">
                <a:latin typeface="Tahoma"/>
                <a:cs typeface="Tahoma"/>
              </a:rPr>
              <a:t>-</a:t>
            </a:r>
            <a:r>
              <a:rPr dirty="0" sz="1300" spc="-235" b="1">
                <a:latin typeface="Tahoma"/>
                <a:cs typeface="Tahoma"/>
              </a:rPr>
              <a:t>3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213" y="3803726"/>
            <a:ext cx="1358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70" b="1">
                <a:latin typeface="Tahoma"/>
                <a:cs typeface="Tahoma"/>
              </a:rPr>
              <a:t>-</a:t>
            </a:r>
            <a:r>
              <a:rPr dirty="0" sz="1300" spc="-260" b="1"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99305" y="3803726"/>
            <a:ext cx="1022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70" b="1">
                <a:latin typeface="Tahoma"/>
                <a:cs typeface="Tahoma"/>
              </a:rPr>
              <a:t>-</a:t>
            </a:r>
            <a:r>
              <a:rPr dirty="0" sz="1300" spc="-525" b="1"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9302" y="3803726"/>
            <a:ext cx="9017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25" b="1">
                <a:latin typeface="Tahoma"/>
                <a:cs typeface="Tahoma"/>
              </a:rPr>
              <a:t>0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71490" y="3803726"/>
            <a:ext cx="514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525" b="1"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7102" y="3803726"/>
            <a:ext cx="857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60" b="1"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1256" y="3803726"/>
            <a:ext cx="889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35" b="1">
                <a:latin typeface="Tahoma"/>
                <a:cs typeface="Tahoma"/>
              </a:rPr>
              <a:t>3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93735" y="3803726"/>
            <a:ext cx="882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40" b="1">
                <a:latin typeface="Tahoma"/>
                <a:cs typeface="Tahoma"/>
              </a:rPr>
              <a:t>4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17292" y="3124200"/>
            <a:ext cx="4351020" cy="472440"/>
          </a:xfrm>
          <a:custGeom>
            <a:avLst/>
            <a:gdLst/>
            <a:ahLst/>
            <a:cxnLst/>
            <a:rect l="l" t="t" r="r" b="b"/>
            <a:pathLst>
              <a:path w="4351020" h="472439">
                <a:moveTo>
                  <a:pt x="0" y="456946"/>
                </a:moveTo>
                <a:lnTo>
                  <a:pt x="41698" y="426998"/>
                </a:lnTo>
                <a:lnTo>
                  <a:pt x="83416" y="397165"/>
                </a:lnTo>
                <a:lnTo>
                  <a:pt x="125174" y="367562"/>
                </a:lnTo>
                <a:lnTo>
                  <a:pt x="166994" y="338301"/>
                </a:lnTo>
                <a:lnTo>
                  <a:pt x="208894" y="309500"/>
                </a:lnTo>
                <a:lnTo>
                  <a:pt x="250896" y="281270"/>
                </a:lnTo>
                <a:lnTo>
                  <a:pt x="293018" y="253728"/>
                </a:lnTo>
                <a:lnTo>
                  <a:pt x="335283" y="226988"/>
                </a:lnTo>
                <a:lnTo>
                  <a:pt x="377709" y="201165"/>
                </a:lnTo>
                <a:lnTo>
                  <a:pt x="420318" y="176372"/>
                </a:lnTo>
                <a:lnTo>
                  <a:pt x="463128" y="152725"/>
                </a:lnTo>
                <a:lnTo>
                  <a:pt x="506161" y="130337"/>
                </a:lnTo>
                <a:lnTo>
                  <a:pt x="549437" y="109325"/>
                </a:lnTo>
                <a:lnTo>
                  <a:pt x="592976" y="89801"/>
                </a:lnTo>
                <a:lnTo>
                  <a:pt x="636798" y="71881"/>
                </a:lnTo>
                <a:lnTo>
                  <a:pt x="680924" y="55680"/>
                </a:lnTo>
                <a:lnTo>
                  <a:pt x="725373" y="41311"/>
                </a:lnTo>
                <a:lnTo>
                  <a:pt x="770166" y="28889"/>
                </a:lnTo>
                <a:lnTo>
                  <a:pt x="815323" y="18529"/>
                </a:lnTo>
                <a:lnTo>
                  <a:pt x="860865" y="10346"/>
                </a:lnTo>
                <a:lnTo>
                  <a:pt x="906811" y="4453"/>
                </a:lnTo>
                <a:lnTo>
                  <a:pt x="953182" y="966"/>
                </a:lnTo>
                <a:lnTo>
                  <a:pt x="999997" y="0"/>
                </a:lnTo>
                <a:lnTo>
                  <a:pt x="1043473" y="1405"/>
                </a:lnTo>
                <a:lnTo>
                  <a:pt x="1087327" y="4952"/>
                </a:lnTo>
                <a:lnTo>
                  <a:pt x="1131544" y="10552"/>
                </a:lnTo>
                <a:lnTo>
                  <a:pt x="1176106" y="18116"/>
                </a:lnTo>
                <a:lnTo>
                  <a:pt x="1221000" y="27553"/>
                </a:lnTo>
                <a:lnTo>
                  <a:pt x="1266208" y="38776"/>
                </a:lnTo>
                <a:lnTo>
                  <a:pt x="1311716" y="51694"/>
                </a:lnTo>
                <a:lnTo>
                  <a:pt x="1357508" y="66219"/>
                </a:lnTo>
                <a:lnTo>
                  <a:pt x="1403567" y="82260"/>
                </a:lnTo>
                <a:lnTo>
                  <a:pt x="1449878" y="99730"/>
                </a:lnTo>
                <a:lnTo>
                  <a:pt x="1496426" y="118538"/>
                </a:lnTo>
                <a:lnTo>
                  <a:pt x="1543194" y="138596"/>
                </a:lnTo>
                <a:lnTo>
                  <a:pt x="1590167" y="159814"/>
                </a:lnTo>
                <a:lnTo>
                  <a:pt x="1637329" y="182103"/>
                </a:lnTo>
                <a:lnTo>
                  <a:pt x="1684664" y="205374"/>
                </a:lnTo>
                <a:lnTo>
                  <a:pt x="1732156" y="229537"/>
                </a:lnTo>
                <a:lnTo>
                  <a:pt x="1779791" y="254503"/>
                </a:lnTo>
                <a:lnTo>
                  <a:pt x="1827551" y="280183"/>
                </a:lnTo>
                <a:lnTo>
                  <a:pt x="1875422" y="306488"/>
                </a:lnTo>
                <a:lnTo>
                  <a:pt x="1923387" y="333329"/>
                </a:lnTo>
                <a:lnTo>
                  <a:pt x="1971431" y="360615"/>
                </a:lnTo>
                <a:lnTo>
                  <a:pt x="2019538" y="388259"/>
                </a:lnTo>
                <a:lnTo>
                  <a:pt x="2067692" y="416170"/>
                </a:lnTo>
                <a:lnTo>
                  <a:pt x="2115878" y="444260"/>
                </a:lnTo>
                <a:lnTo>
                  <a:pt x="2164080" y="472439"/>
                </a:lnTo>
              </a:path>
              <a:path w="4351020" h="472439">
                <a:moveTo>
                  <a:pt x="2194560" y="449579"/>
                </a:moveTo>
                <a:lnTo>
                  <a:pt x="2237997" y="418775"/>
                </a:lnTo>
                <a:lnTo>
                  <a:pt x="2281458" y="388099"/>
                </a:lnTo>
                <a:lnTo>
                  <a:pt x="2324965" y="357680"/>
                </a:lnTo>
                <a:lnTo>
                  <a:pt x="2368541" y="327648"/>
                </a:lnTo>
                <a:lnTo>
                  <a:pt x="2412210" y="298131"/>
                </a:lnTo>
                <a:lnTo>
                  <a:pt x="2455993" y="269259"/>
                </a:lnTo>
                <a:lnTo>
                  <a:pt x="2499915" y="241159"/>
                </a:lnTo>
                <a:lnTo>
                  <a:pt x="2543998" y="213961"/>
                </a:lnTo>
                <a:lnTo>
                  <a:pt x="2588265" y="187793"/>
                </a:lnTo>
                <a:lnTo>
                  <a:pt x="2632740" y="162785"/>
                </a:lnTo>
                <a:lnTo>
                  <a:pt x="2677445" y="139065"/>
                </a:lnTo>
                <a:lnTo>
                  <a:pt x="2722404" y="116761"/>
                </a:lnTo>
                <a:lnTo>
                  <a:pt x="2767639" y="96004"/>
                </a:lnTo>
                <a:lnTo>
                  <a:pt x="2813174" y="76921"/>
                </a:lnTo>
                <a:lnTo>
                  <a:pt x="2859031" y="59641"/>
                </a:lnTo>
                <a:lnTo>
                  <a:pt x="2905234" y="44294"/>
                </a:lnTo>
                <a:lnTo>
                  <a:pt x="2951806" y="31008"/>
                </a:lnTo>
                <a:lnTo>
                  <a:pt x="2998769" y="19911"/>
                </a:lnTo>
                <a:lnTo>
                  <a:pt x="3046148" y="11133"/>
                </a:lnTo>
                <a:lnTo>
                  <a:pt x="3093964" y="4803"/>
                </a:lnTo>
                <a:lnTo>
                  <a:pt x="3142241" y="1049"/>
                </a:lnTo>
                <a:lnTo>
                  <a:pt x="3191002" y="0"/>
                </a:lnTo>
                <a:lnTo>
                  <a:pt x="3234324" y="1387"/>
                </a:lnTo>
                <a:lnTo>
                  <a:pt x="3278024" y="4881"/>
                </a:lnTo>
                <a:lnTo>
                  <a:pt x="3322085" y="10394"/>
                </a:lnTo>
                <a:lnTo>
                  <a:pt x="3366491" y="17839"/>
                </a:lnTo>
                <a:lnTo>
                  <a:pt x="3411228" y="27127"/>
                </a:lnTo>
                <a:lnTo>
                  <a:pt x="3456278" y="38170"/>
                </a:lnTo>
                <a:lnTo>
                  <a:pt x="3501626" y="50882"/>
                </a:lnTo>
                <a:lnTo>
                  <a:pt x="3547258" y="65173"/>
                </a:lnTo>
                <a:lnTo>
                  <a:pt x="3593156" y="80957"/>
                </a:lnTo>
                <a:lnTo>
                  <a:pt x="3639305" y="98145"/>
                </a:lnTo>
                <a:lnTo>
                  <a:pt x="3685690" y="116650"/>
                </a:lnTo>
                <a:lnTo>
                  <a:pt x="3732295" y="136384"/>
                </a:lnTo>
                <a:lnTo>
                  <a:pt x="3779104" y="157259"/>
                </a:lnTo>
                <a:lnTo>
                  <a:pt x="3826102" y="179188"/>
                </a:lnTo>
                <a:lnTo>
                  <a:pt x="3873272" y="202082"/>
                </a:lnTo>
                <a:lnTo>
                  <a:pt x="3920599" y="225854"/>
                </a:lnTo>
                <a:lnTo>
                  <a:pt x="3968068" y="250416"/>
                </a:lnTo>
                <a:lnTo>
                  <a:pt x="4015662" y="275680"/>
                </a:lnTo>
                <a:lnTo>
                  <a:pt x="4063366" y="301559"/>
                </a:lnTo>
                <a:lnTo>
                  <a:pt x="4111164" y="327964"/>
                </a:lnTo>
                <a:lnTo>
                  <a:pt x="4159041" y="354809"/>
                </a:lnTo>
                <a:lnTo>
                  <a:pt x="4206981" y="382004"/>
                </a:lnTo>
                <a:lnTo>
                  <a:pt x="4254967" y="409463"/>
                </a:lnTo>
                <a:lnTo>
                  <a:pt x="4302986" y="437097"/>
                </a:lnTo>
                <a:lnTo>
                  <a:pt x="4351019" y="46482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338448" y="2817113"/>
            <a:ext cx="7747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420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400" spc="-12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400" spc="-17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4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400" spc="-28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28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400" spc="-229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400" spc="-27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400" spc="-16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495" b="1">
                <a:solidFill>
                  <a:srgbClr val="252525"/>
                </a:solidFill>
                <a:latin typeface="Tahoma"/>
                <a:cs typeface="Tahoma"/>
              </a:rPr>
              <a:t>=</a:t>
            </a:r>
            <a:r>
              <a:rPr dirty="0" sz="1400" spc="-13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250" b="1">
                <a:solidFill>
                  <a:srgbClr val="252525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85129" y="2835020"/>
            <a:ext cx="7194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26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3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ta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2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3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7136" y="2650235"/>
            <a:ext cx="8629015" cy="1550035"/>
          </a:xfrm>
          <a:custGeom>
            <a:avLst/>
            <a:gdLst/>
            <a:ahLst/>
            <a:cxnLst/>
            <a:rect l="l" t="t" r="r" b="b"/>
            <a:pathLst>
              <a:path w="8629015" h="1550035">
                <a:moveTo>
                  <a:pt x="0" y="1549908"/>
                </a:moveTo>
                <a:lnTo>
                  <a:pt x="8628888" y="1549908"/>
                </a:lnTo>
                <a:lnTo>
                  <a:pt x="8628888" y="0"/>
                </a:lnTo>
                <a:lnTo>
                  <a:pt x="0" y="0"/>
                </a:lnTo>
                <a:lnTo>
                  <a:pt x="0" y="1549908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311907"/>
            <a:ext cx="5721858" cy="13182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3963" y="1440154"/>
            <a:ext cx="3755898" cy="23700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33578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2.3.</a:t>
            </a:r>
            <a:r>
              <a:rPr dirty="0" spc="-20"/>
              <a:t> </a:t>
            </a:r>
            <a:r>
              <a:rPr dirty="0"/>
              <a:t>Absolute</a:t>
            </a:r>
            <a:r>
              <a:rPr dirty="0" spc="-30"/>
              <a:t> </a:t>
            </a:r>
            <a:r>
              <a:rPr dirty="0" spc="-5"/>
              <a:t>Value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Euclidean</a:t>
            </a:r>
            <a:r>
              <a:rPr dirty="0" spc="-10"/>
              <a:t> </a:t>
            </a:r>
            <a:r>
              <a:rPr dirty="0" spc="-5"/>
              <a:t>Distance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4763262" cy="2370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10183" y="2314955"/>
            <a:ext cx="8250555" cy="2251710"/>
            <a:chOff x="710183" y="2314955"/>
            <a:chExt cx="8250555" cy="2251710"/>
          </a:xfrm>
        </p:grpSpPr>
        <p:sp>
          <p:nvSpPr>
            <p:cNvPr id="9" name="object 9"/>
            <p:cNvSpPr/>
            <p:nvPr/>
          </p:nvSpPr>
          <p:spPr>
            <a:xfrm>
              <a:off x="2142744" y="3424427"/>
              <a:ext cx="5473065" cy="508000"/>
            </a:xfrm>
            <a:custGeom>
              <a:avLst/>
              <a:gdLst/>
              <a:ahLst/>
              <a:cxnLst/>
              <a:rect l="l" t="t" r="r" b="b"/>
              <a:pathLst>
                <a:path w="5473065" h="508000">
                  <a:moveTo>
                    <a:pt x="5472683" y="0"/>
                  </a:moveTo>
                  <a:lnTo>
                    <a:pt x="0" y="0"/>
                  </a:lnTo>
                  <a:lnTo>
                    <a:pt x="0" y="507492"/>
                  </a:lnTo>
                  <a:lnTo>
                    <a:pt x="5472683" y="507492"/>
                  </a:lnTo>
                  <a:lnTo>
                    <a:pt x="547268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2314955"/>
              <a:ext cx="8250174" cy="2251710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559308" y="1938527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1962911"/>
            <a:ext cx="1034034" cy="14401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283332" y="3552190"/>
            <a:ext cx="1040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∥</a:t>
            </a:r>
            <a:r>
              <a:rPr dirty="0" sz="1600" spc="7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𝑝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𝑞</a:t>
            </a:r>
            <a:r>
              <a:rPr dirty="0" sz="1600" spc="45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∥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14903" y="3571506"/>
            <a:ext cx="3997325" cy="253365"/>
          </a:xfrm>
          <a:custGeom>
            <a:avLst/>
            <a:gdLst/>
            <a:ahLst/>
            <a:cxnLst/>
            <a:rect l="l" t="t" r="r" b="b"/>
            <a:pathLst>
              <a:path w="3997325" h="253364">
                <a:moveTo>
                  <a:pt x="227838" y="52311"/>
                </a:moveTo>
                <a:lnTo>
                  <a:pt x="225171" y="44691"/>
                </a:lnTo>
                <a:lnTo>
                  <a:pt x="211518" y="49606"/>
                </a:lnTo>
                <a:lnTo>
                  <a:pt x="199555" y="56718"/>
                </a:lnTo>
                <a:lnTo>
                  <a:pt x="173951" y="90843"/>
                </a:lnTo>
                <a:lnTo>
                  <a:pt x="165227" y="138544"/>
                </a:lnTo>
                <a:lnTo>
                  <a:pt x="166192" y="155790"/>
                </a:lnTo>
                <a:lnTo>
                  <a:pt x="180721" y="199631"/>
                </a:lnTo>
                <a:lnTo>
                  <a:pt x="211467" y="227495"/>
                </a:lnTo>
                <a:lnTo>
                  <a:pt x="225171" y="232397"/>
                </a:lnTo>
                <a:lnTo>
                  <a:pt x="227457" y="224777"/>
                </a:lnTo>
                <a:lnTo>
                  <a:pt x="216763" y="220040"/>
                </a:lnTo>
                <a:lnTo>
                  <a:pt x="207543" y="213448"/>
                </a:lnTo>
                <a:lnTo>
                  <a:pt x="185140" y="169164"/>
                </a:lnTo>
                <a:lnTo>
                  <a:pt x="182372" y="137528"/>
                </a:lnTo>
                <a:lnTo>
                  <a:pt x="183057" y="121564"/>
                </a:lnTo>
                <a:lnTo>
                  <a:pt x="193548" y="82029"/>
                </a:lnTo>
                <a:lnTo>
                  <a:pt x="216979" y="57035"/>
                </a:lnTo>
                <a:lnTo>
                  <a:pt x="227838" y="52311"/>
                </a:lnTo>
                <a:close/>
              </a:path>
              <a:path w="3997325" h="253364">
                <a:moveTo>
                  <a:pt x="773049" y="138544"/>
                </a:moveTo>
                <a:lnTo>
                  <a:pt x="764311" y="90843"/>
                </a:lnTo>
                <a:lnTo>
                  <a:pt x="738708" y="56718"/>
                </a:lnTo>
                <a:lnTo>
                  <a:pt x="713105" y="44691"/>
                </a:lnTo>
                <a:lnTo>
                  <a:pt x="710438" y="52311"/>
                </a:lnTo>
                <a:lnTo>
                  <a:pt x="721309" y="57035"/>
                </a:lnTo>
                <a:lnTo>
                  <a:pt x="730681" y="63563"/>
                </a:lnTo>
                <a:lnTo>
                  <a:pt x="753135" y="106972"/>
                </a:lnTo>
                <a:lnTo>
                  <a:pt x="755904" y="137528"/>
                </a:lnTo>
                <a:lnTo>
                  <a:pt x="755205" y="154114"/>
                </a:lnTo>
                <a:lnTo>
                  <a:pt x="744728" y="194678"/>
                </a:lnTo>
                <a:lnTo>
                  <a:pt x="710819" y="224777"/>
                </a:lnTo>
                <a:lnTo>
                  <a:pt x="713105" y="232397"/>
                </a:lnTo>
                <a:lnTo>
                  <a:pt x="748995" y="211112"/>
                </a:lnTo>
                <a:lnTo>
                  <a:pt x="769150" y="171716"/>
                </a:lnTo>
                <a:lnTo>
                  <a:pt x="772071" y="155790"/>
                </a:lnTo>
                <a:lnTo>
                  <a:pt x="773049" y="138544"/>
                </a:lnTo>
                <a:close/>
              </a:path>
              <a:path w="3997325" h="253364">
                <a:moveTo>
                  <a:pt x="1018794" y="52311"/>
                </a:moveTo>
                <a:lnTo>
                  <a:pt x="1016127" y="44691"/>
                </a:lnTo>
                <a:lnTo>
                  <a:pt x="1002474" y="49606"/>
                </a:lnTo>
                <a:lnTo>
                  <a:pt x="990511" y="56718"/>
                </a:lnTo>
                <a:lnTo>
                  <a:pt x="964907" y="90843"/>
                </a:lnTo>
                <a:lnTo>
                  <a:pt x="956183" y="138544"/>
                </a:lnTo>
                <a:lnTo>
                  <a:pt x="957148" y="155790"/>
                </a:lnTo>
                <a:lnTo>
                  <a:pt x="971677" y="199631"/>
                </a:lnTo>
                <a:lnTo>
                  <a:pt x="1002423" y="227495"/>
                </a:lnTo>
                <a:lnTo>
                  <a:pt x="1016127" y="232397"/>
                </a:lnTo>
                <a:lnTo>
                  <a:pt x="1018413" y="224777"/>
                </a:lnTo>
                <a:lnTo>
                  <a:pt x="1007719" y="220040"/>
                </a:lnTo>
                <a:lnTo>
                  <a:pt x="998499" y="213448"/>
                </a:lnTo>
                <a:lnTo>
                  <a:pt x="976096" y="169164"/>
                </a:lnTo>
                <a:lnTo>
                  <a:pt x="973328" y="137528"/>
                </a:lnTo>
                <a:lnTo>
                  <a:pt x="974013" y="121564"/>
                </a:lnTo>
                <a:lnTo>
                  <a:pt x="984504" y="82029"/>
                </a:lnTo>
                <a:lnTo>
                  <a:pt x="1007935" y="57035"/>
                </a:lnTo>
                <a:lnTo>
                  <a:pt x="1018794" y="52311"/>
                </a:lnTo>
                <a:close/>
              </a:path>
              <a:path w="3997325" h="253364">
                <a:moveTo>
                  <a:pt x="1562481" y="138544"/>
                </a:moveTo>
                <a:lnTo>
                  <a:pt x="1553743" y="90843"/>
                </a:lnTo>
                <a:lnTo>
                  <a:pt x="1528140" y="56718"/>
                </a:lnTo>
                <a:lnTo>
                  <a:pt x="1502537" y="44691"/>
                </a:lnTo>
                <a:lnTo>
                  <a:pt x="1499870" y="52311"/>
                </a:lnTo>
                <a:lnTo>
                  <a:pt x="1510741" y="57035"/>
                </a:lnTo>
                <a:lnTo>
                  <a:pt x="1520126" y="63563"/>
                </a:lnTo>
                <a:lnTo>
                  <a:pt x="1542567" y="106972"/>
                </a:lnTo>
                <a:lnTo>
                  <a:pt x="1545336" y="137528"/>
                </a:lnTo>
                <a:lnTo>
                  <a:pt x="1544637" y="154114"/>
                </a:lnTo>
                <a:lnTo>
                  <a:pt x="1534160" y="194678"/>
                </a:lnTo>
                <a:lnTo>
                  <a:pt x="1500251" y="224777"/>
                </a:lnTo>
                <a:lnTo>
                  <a:pt x="1502537" y="232397"/>
                </a:lnTo>
                <a:lnTo>
                  <a:pt x="1538427" y="211112"/>
                </a:lnTo>
                <a:lnTo>
                  <a:pt x="1558582" y="171716"/>
                </a:lnTo>
                <a:lnTo>
                  <a:pt x="1561503" y="155790"/>
                </a:lnTo>
                <a:lnTo>
                  <a:pt x="1562481" y="138544"/>
                </a:lnTo>
                <a:close/>
              </a:path>
              <a:path w="3997325" h="253364">
                <a:moveTo>
                  <a:pt x="1580007" y="1765"/>
                </a:moveTo>
                <a:lnTo>
                  <a:pt x="154559" y="1765"/>
                </a:lnTo>
                <a:lnTo>
                  <a:pt x="154559" y="1511"/>
                </a:lnTo>
                <a:lnTo>
                  <a:pt x="126746" y="1511"/>
                </a:lnTo>
                <a:lnTo>
                  <a:pt x="66675" y="226682"/>
                </a:lnTo>
                <a:lnTo>
                  <a:pt x="32512" y="150228"/>
                </a:lnTo>
                <a:lnTo>
                  <a:pt x="0" y="165087"/>
                </a:lnTo>
                <a:lnTo>
                  <a:pt x="3048" y="172580"/>
                </a:lnTo>
                <a:lnTo>
                  <a:pt x="19812" y="165087"/>
                </a:lnTo>
                <a:lnTo>
                  <a:pt x="60833" y="253225"/>
                </a:lnTo>
                <a:lnTo>
                  <a:pt x="70358" y="253225"/>
                </a:lnTo>
                <a:lnTo>
                  <a:pt x="134747" y="14719"/>
                </a:lnTo>
                <a:lnTo>
                  <a:pt x="147447" y="14719"/>
                </a:lnTo>
                <a:lnTo>
                  <a:pt x="147447" y="15481"/>
                </a:lnTo>
                <a:lnTo>
                  <a:pt x="1580007" y="15481"/>
                </a:lnTo>
                <a:lnTo>
                  <a:pt x="1580007" y="1765"/>
                </a:lnTo>
                <a:close/>
              </a:path>
              <a:path w="3997325" h="253364">
                <a:moveTo>
                  <a:pt x="3997071" y="241"/>
                </a:moveTo>
                <a:lnTo>
                  <a:pt x="1977263" y="241"/>
                </a:lnTo>
                <a:lnTo>
                  <a:pt x="1977263" y="0"/>
                </a:lnTo>
                <a:lnTo>
                  <a:pt x="1949450" y="0"/>
                </a:lnTo>
                <a:lnTo>
                  <a:pt x="1889379" y="225158"/>
                </a:lnTo>
                <a:lnTo>
                  <a:pt x="1855216" y="148704"/>
                </a:lnTo>
                <a:lnTo>
                  <a:pt x="1822704" y="163563"/>
                </a:lnTo>
                <a:lnTo>
                  <a:pt x="1825752" y="171056"/>
                </a:lnTo>
                <a:lnTo>
                  <a:pt x="1842516" y="163563"/>
                </a:lnTo>
                <a:lnTo>
                  <a:pt x="1883537" y="251701"/>
                </a:lnTo>
                <a:lnTo>
                  <a:pt x="1893062" y="251701"/>
                </a:lnTo>
                <a:lnTo>
                  <a:pt x="1957451" y="13195"/>
                </a:lnTo>
                <a:lnTo>
                  <a:pt x="1970151" y="13195"/>
                </a:lnTo>
                <a:lnTo>
                  <a:pt x="1970151" y="13957"/>
                </a:lnTo>
                <a:lnTo>
                  <a:pt x="3997071" y="13957"/>
                </a:lnTo>
                <a:lnTo>
                  <a:pt x="3997071" y="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08578" y="3552190"/>
            <a:ext cx="3850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41350" algn="l"/>
                <a:tab pos="828675" algn="l"/>
                <a:tab pos="1478280" algn="l"/>
                <a:tab pos="1776730" algn="l"/>
                <a:tab pos="3116580" algn="l"/>
              </a:tabLst>
            </a:pPr>
            <a:r>
              <a:rPr dirty="0" sz="1600" spc="-5">
                <a:latin typeface="Cambria Math"/>
                <a:cs typeface="Cambria Math"/>
              </a:rPr>
              <a:t>𝑝</a:t>
            </a:r>
            <a:r>
              <a:rPr dirty="0" sz="1600" spc="2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𝑞	</a:t>
            </a:r>
            <a:r>
              <a:rPr dirty="0" sz="1600" spc="55">
                <a:latin typeface="Cambria Math"/>
                <a:cs typeface="Cambria Math"/>
              </a:rPr>
              <a:t>∙	</a:t>
            </a:r>
            <a:r>
              <a:rPr dirty="0" sz="1600" spc="-5">
                <a:latin typeface="Cambria Math"/>
                <a:cs typeface="Cambria Math"/>
              </a:rPr>
              <a:t>𝑝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𝑞	</a:t>
            </a:r>
            <a:r>
              <a:rPr dirty="0" sz="1600" spc="-5">
                <a:latin typeface="Calibri"/>
                <a:cs typeface="Calibri"/>
              </a:rPr>
              <a:t>=	</a:t>
            </a:r>
            <a:r>
              <a:rPr dirty="0" sz="1600" spc="-5">
                <a:latin typeface="Cambria Math"/>
                <a:cs typeface="Cambria Math"/>
              </a:rPr>
              <a:t>∥</a:t>
            </a:r>
            <a:r>
              <a:rPr dirty="0" sz="1600" spc="9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𝑝</a:t>
            </a:r>
            <a:r>
              <a:rPr dirty="0" sz="1600" spc="105">
                <a:latin typeface="Cambria Math"/>
                <a:cs typeface="Cambria Math"/>
              </a:rPr>
              <a:t> </a:t>
            </a:r>
            <a:r>
              <a:rPr dirty="0" sz="1600" spc="15">
                <a:latin typeface="Cambria Math"/>
                <a:cs typeface="Cambria Math"/>
              </a:rPr>
              <a:t>∥</a:t>
            </a:r>
            <a:r>
              <a:rPr dirty="0" baseline="24154" sz="1725" spc="22">
                <a:latin typeface="Cambria Math"/>
                <a:cs typeface="Cambria Math"/>
              </a:rPr>
              <a:t>2</a:t>
            </a:r>
            <a:r>
              <a:rPr dirty="0" baseline="24154" sz="1725" spc="12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+∥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𝑞</a:t>
            </a:r>
            <a:r>
              <a:rPr dirty="0" sz="1600" spc="140">
                <a:latin typeface="Cambria Math"/>
                <a:cs typeface="Cambria Math"/>
              </a:rPr>
              <a:t> </a:t>
            </a:r>
            <a:r>
              <a:rPr dirty="0" sz="1600" spc="15">
                <a:latin typeface="Cambria Math"/>
                <a:cs typeface="Cambria Math"/>
              </a:rPr>
              <a:t>∥</a:t>
            </a:r>
            <a:r>
              <a:rPr dirty="0" baseline="24154" sz="1725" spc="22">
                <a:latin typeface="Cambria Math"/>
                <a:cs typeface="Cambria Math"/>
              </a:rPr>
              <a:t>2	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2𝑝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⋅</a:t>
            </a:r>
            <a:r>
              <a:rPr dirty="0" sz="1600" spc="-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034034" cy="1424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6296405" cy="1623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33578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2.3.</a:t>
            </a:r>
            <a:r>
              <a:rPr dirty="0" spc="-20"/>
              <a:t> </a:t>
            </a:r>
            <a:r>
              <a:rPr dirty="0"/>
              <a:t>Absolute</a:t>
            </a:r>
            <a:r>
              <a:rPr dirty="0" spc="-30"/>
              <a:t> </a:t>
            </a:r>
            <a:r>
              <a:rPr dirty="0" spc="-5"/>
              <a:t>Value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Euclidean</a:t>
            </a:r>
            <a:r>
              <a:rPr dirty="0" spc="-10"/>
              <a:t> </a:t>
            </a:r>
            <a:r>
              <a:rPr dirty="0" spc="-5"/>
              <a:t>Distance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62330" y="2311654"/>
            <a:ext cx="8115934" cy="2160270"/>
            <a:chOff x="862330" y="2311654"/>
            <a:chExt cx="8115934" cy="2160270"/>
          </a:xfrm>
        </p:grpSpPr>
        <p:sp>
          <p:nvSpPr>
            <p:cNvPr id="11" name="object 11"/>
            <p:cNvSpPr/>
            <p:nvPr/>
          </p:nvSpPr>
          <p:spPr>
            <a:xfrm>
              <a:off x="868680" y="2318004"/>
              <a:ext cx="8103234" cy="2147570"/>
            </a:xfrm>
            <a:custGeom>
              <a:avLst/>
              <a:gdLst/>
              <a:ahLst/>
              <a:cxnLst/>
              <a:rect l="l" t="t" r="r" b="b"/>
              <a:pathLst>
                <a:path w="8103234" h="2147570">
                  <a:moveTo>
                    <a:pt x="0" y="2147316"/>
                  </a:moveTo>
                  <a:lnTo>
                    <a:pt x="8103108" y="2147316"/>
                  </a:lnTo>
                  <a:lnTo>
                    <a:pt x="8103108" y="0"/>
                  </a:lnTo>
                  <a:lnTo>
                    <a:pt x="0" y="0"/>
                  </a:lnTo>
                  <a:lnTo>
                    <a:pt x="0" y="2147316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08782" y="2582417"/>
              <a:ext cx="1761489" cy="1736089"/>
            </a:xfrm>
            <a:custGeom>
              <a:avLst/>
              <a:gdLst/>
              <a:ahLst/>
              <a:cxnLst/>
              <a:rect l="l" t="t" r="r" b="b"/>
              <a:pathLst>
                <a:path w="1761489" h="1736089">
                  <a:moveTo>
                    <a:pt x="1761490" y="1409700"/>
                  </a:moveTo>
                  <a:lnTo>
                    <a:pt x="1741678" y="1399794"/>
                  </a:lnTo>
                  <a:lnTo>
                    <a:pt x="1685290" y="1371600"/>
                  </a:lnTo>
                  <a:lnTo>
                    <a:pt x="1685290" y="1399794"/>
                  </a:lnTo>
                  <a:lnTo>
                    <a:pt x="275082" y="1399794"/>
                  </a:lnTo>
                  <a:lnTo>
                    <a:pt x="275082" y="76200"/>
                  </a:lnTo>
                  <a:lnTo>
                    <a:pt x="303276" y="76200"/>
                  </a:lnTo>
                  <a:lnTo>
                    <a:pt x="296926" y="63500"/>
                  </a:lnTo>
                  <a:lnTo>
                    <a:pt x="265176" y="0"/>
                  </a:lnTo>
                  <a:lnTo>
                    <a:pt x="227076" y="76200"/>
                  </a:lnTo>
                  <a:lnTo>
                    <a:pt x="255270" y="76200"/>
                  </a:lnTo>
                  <a:lnTo>
                    <a:pt x="255270" y="1399794"/>
                  </a:lnTo>
                  <a:lnTo>
                    <a:pt x="0" y="1399794"/>
                  </a:lnTo>
                  <a:lnTo>
                    <a:pt x="0" y="1419606"/>
                  </a:lnTo>
                  <a:lnTo>
                    <a:pt x="255270" y="1419606"/>
                  </a:lnTo>
                  <a:lnTo>
                    <a:pt x="255270" y="1735963"/>
                  </a:lnTo>
                  <a:lnTo>
                    <a:pt x="275082" y="1735963"/>
                  </a:lnTo>
                  <a:lnTo>
                    <a:pt x="275082" y="1419606"/>
                  </a:lnTo>
                  <a:lnTo>
                    <a:pt x="1685290" y="1419606"/>
                  </a:lnTo>
                  <a:lnTo>
                    <a:pt x="1685290" y="1447800"/>
                  </a:lnTo>
                  <a:lnTo>
                    <a:pt x="1741678" y="1419606"/>
                  </a:lnTo>
                  <a:lnTo>
                    <a:pt x="1761490" y="1409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300095" y="2323298"/>
            <a:ext cx="11493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-30">
                <a:latin typeface="Cambria Math"/>
                <a:cs typeface="Cambria Math"/>
              </a:rPr>
              <a:t>y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98545" y="3182834"/>
            <a:ext cx="25019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1650" spc="-25">
                <a:latin typeface="Cambria Math"/>
                <a:cs typeface="Cambria Math"/>
              </a:rPr>
              <a:t>b</a:t>
            </a:r>
            <a:r>
              <a:rPr dirty="0" baseline="-20202" sz="1650" spc="-37">
                <a:latin typeface="Cambria Math"/>
                <a:cs typeface="Cambria Math"/>
              </a:rPr>
              <a:t>2</a:t>
            </a:r>
            <a:endParaRPr baseline="-20202" sz="16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3485" y="3997285"/>
            <a:ext cx="12509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-30">
                <a:latin typeface="Cambria Math"/>
                <a:cs typeface="Cambria Math"/>
              </a:rPr>
              <a:t>0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8489" y="4021669"/>
            <a:ext cx="8356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10235" algn="l"/>
              </a:tabLst>
            </a:pPr>
            <a:r>
              <a:rPr dirty="0" sz="1650" spc="-25">
                <a:latin typeface="Cambria Math"/>
                <a:cs typeface="Cambria Math"/>
              </a:rPr>
              <a:t>b</a:t>
            </a:r>
            <a:r>
              <a:rPr dirty="0" baseline="-20202" sz="1650" spc="-37">
                <a:latin typeface="Cambria Math"/>
                <a:cs typeface="Cambria Math"/>
              </a:rPr>
              <a:t>1	</a:t>
            </a:r>
            <a:r>
              <a:rPr dirty="0" sz="1650" spc="-25">
                <a:latin typeface="Cambria Math"/>
                <a:cs typeface="Cambria Math"/>
              </a:rPr>
              <a:t>a</a:t>
            </a:r>
            <a:r>
              <a:rPr dirty="0" baseline="-20202" sz="1650" spc="-37">
                <a:latin typeface="Cambria Math"/>
                <a:cs typeface="Cambria Math"/>
              </a:rPr>
              <a:t>1</a:t>
            </a:r>
            <a:endParaRPr baseline="-20202"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55996" y="3839931"/>
            <a:ext cx="11112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-30">
                <a:latin typeface="Cambria Math"/>
                <a:cs typeface="Cambria Math"/>
              </a:rPr>
              <a:t>x</a:t>
            </a:r>
            <a:endParaRPr sz="165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65321" y="2834385"/>
            <a:ext cx="943610" cy="1180465"/>
            <a:chOff x="3465321" y="2834385"/>
            <a:chExt cx="943610" cy="1180465"/>
          </a:xfrm>
        </p:grpSpPr>
        <p:sp>
          <p:nvSpPr>
            <p:cNvPr id="19" name="object 19"/>
            <p:cNvSpPr/>
            <p:nvPr/>
          </p:nvSpPr>
          <p:spPr>
            <a:xfrm>
              <a:off x="3475481" y="2844545"/>
              <a:ext cx="923290" cy="1160145"/>
            </a:xfrm>
            <a:custGeom>
              <a:avLst/>
              <a:gdLst/>
              <a:ahLst/>
              <a:cxnLst/>
              <a:rect l="l" t="t" r="r" b="b"/>
              <a:pathLst>
                <a:path w="923289" h="1160145">
                  <a:moveTo>
                    <a:pt x="0" y="12191"/>
                  </a:moveTo>
                  <a:lnTo>
                    <a:pt x="916304" y="12191"/>
                  </a:lnTo>
                </a:path>
                <a:path w="923289" h="1160145">
                  <a:moveTo>
                    <a:pt x="917447" y="0"/>
                  </a:moveTo>
                  <a:lnTo>
                    <a:pt x="923289" y="1158747"/>
                  </a:lnTo>
                </a:path>
                <a:path w="923289" h="1160145">
                  <a:moveTo>
                    <a:pt x="0" y="490727"/>
                  </a:moveTo>
                  <a:lnTo>
                    <a:pt x="349630" y="490727"/>
                  </a:lnTo>
                </a:path>
                <a:path w="923289" h="1160145">
                  <a:moveTo>
                    <a:pt x="341375" y="490727"/>
                  </a:moveTo>
                  <a:lnTo>
                    <a:pt x="341375" y="1160017"/>
                  </a:lnTo>
                </a:path>
              </a:pathLst>
            </a:custGeom>
            <a:ln w="19812">
              <a:solidFill>
                <a:srgbClr val="13299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16857" y="2856737"/>
              <a:ext cx="575945" cy="477520"/>
            </a:xfrm>
            <a:custGeom>
              <a:avLst/>
              <a:gdLst/>
              <a:ahLst/>
              <a:cxnLst/>
              <a:rect l="l" t="t" r="r" b="b"/>
              <a:pathLst>
                <a:path w="575945" h="477520">
                  <a:moveTo>
                    <a:pt x="0" y="477138"/>
                  </a:moveTo>
                  <a:lnTo>
                    <a:pt x="575437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547490" y="3352251"/>
            <a:ext cx="89852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1650" spc="-35">
                <a:latin typeface="Cambria Math"/>
                <a:cs typeface="Cambria Math"/>
              </a:rPr>
              <a:t>B</a:t>
            </a:r>
            <a:r>
              <a:rPr dirty="0" sz="1650" spc="260">
                <a:latin typeface="Cambria Math"/>
                <a:cs typeface="Cambria Math"/>
              </a:rPr>
              <a:t> </a:t>
            </a:r>
            <a:r>
              <a:rPr dirty="0" baseline="1683" sz="2475" spc="-37">
                <a:latin typeface="Cambria Math"/>
                <a:cs typeface="Cambria Math"/>
              </a:rPr>
              <a:t>(b</a:t>
            </a:r>
            <a:r>
              <a:rPr dirty="0" baseline="-17676" sz="1650" spc="-37">
                <a:latin typeface="Cambria Math"/>
                <a:cs typeface="Cambria Math"/>
              </a:rPr>
              <a:t>1</a:t>
            </a:r>
            <a:r>
              <a:rPr dirty="0" baseline="1683" sz="2475" spc="-37">
                <a:latin typeface="Cambria Math"/>
                <a:cs typeface="Cambria Math"/>
              </a:rPr>
              <a:t>,</a:t>
            </a:r>
            <a:r>
              <a:rPr dirty="0" baseline="1683" sz="2475" spc="-60">
                <a:latin typeface="Cambria Math"/>
                <a:cs typeface="Cambria Math"/>
              </a:rPr>
              <a:t> </a:t>
            </a:r>
            <a:r>
              <a:rPr dirty="0" baseline="1683" sz="2475" spc="-37">
                <a:latin typeface="Cambria Math"/>
                <a:cs typeface="Cambria Math"/>
              </a:rPr>
              <a:t>b</a:t>
            </a:r>
            <a:r>
              <a:rPr dirty="0" baseline="-17676" sz="1650" spc="-37">
                <a:latin typeface="Cambria Math"/>
                <a:cs typeface="Cambria Math"/>
              </a:rPr>
              <a:t>2</a:t>
            </a:r>
            <a:r>
              <a:rPr dirty="0" baseline="1683" sz="2475" spc="-37">
                <a:latin typeface="Cambria Math"/>
                <a:cs typeface="Cambria Math"/>
              </a:rPr>
              <a:t>)</a:t>
            </a:r>
            <a:endParaRPr baseline="1683" sz="2475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19853" y="2597363"/>
            <a:ext cx="78613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-5050" sz="2475" spc="-127">
                <a:latin typeface="Cambria Math"/>
                <a:cs typeface="Cambria Math"/>
              </a:rPr>
              <a:t>A</a:t>
            </a:r>
            <a:r>
              <a:rPr dirty="0" sz="1650" spc="-30">
                <a:latin typeface="Cambria Math"/>
                <a:cs typeface="Cambria Math"/>
              </a:rPr>
              <a:t>(</a:t>
            </a:r>
            <a:r>
              <a:rPr dirty="0" sz="1650" spc="-30">
                <a:latin typeface="Cambria Math"/>
                <a:cs typeface="Cambria Math"/>
              </a:rPr>
              <a:t>a</a:t>
            </a:r>
            <a:r>
              <a:rPr dirty="0" baseline="-20202" sz="1650" spc="-37">
                <a:latin typeface="Cambria Math"/>
                <a:cs typeface="Cambria Math"/>
              </a:rPr>
              <a:t>1</a:t>
            </a:r>
            <a:r>
              <a:rPr dirty="0" sz="1650" spc="-15">
                <a:latin typeface="Cambria Math"/>
                <a:cs typeface="Cambria Math"/>
              </a:rPr>
              <a:t>,</a:t>
            </a:r>
            <a:r>
              <a:rPr dirty="0" sz="1650" spc="-10">
                <a:latin typeface="Cambria Math"/>
                <a:cs typeface="Cambria Math"/>
              </a:rPr>
              <a:t> </a:t>
            </a:r>
            <a:r>
              <a:rPr dirty="0" sz="1650" spc="-30">
                <a:latin typeface="Cambria Math"/>
                <a:cs typeface="Cambria Math"/>
              </a:rPr>
              <a:t>a</a:t>
            </a:r>
            <a:r>
              <a:rPr dirty="0" baseline="-20202" sz="1650" spc="-37">
                <a:latin typeface="Cambria Math"/>
                <a:cs typeface="Cambria Math"/>
              </a:rPr>
              <a:t>2</a:t>
            </a:r>
            <a:r>
              <a:rPr dirty="0" sz="1650" spc="-25">
                <a:latin typeface="Cambria Math"/>
                <a:cs typeface="Cambria Math"/>
              </a:rPr>
              <a:t>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57139" y="3835419"/>
            <a:ext cx="13716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650" spc="-35">
                <a:latin typeface="Cambria Math"/>
                <a:cs typeface="Cambria Math"/>
              </a:rPr>
              <a:t>B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44434" y="2601555"/>
            <a:ext cx="13906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-35">
                <a:latin typeface="Cambria Math"/>
                <a:cs typeface="Cambria Math"/>
              </a:rPr>
              <a:t>A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2814" y="2495550"/>
            <a:ext cx="211645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ts val="1560"/>
              </a:lnSpc>
              <a:spcBef>
                <a:spcPts val="105"/>
              </a:spcBef>
            </a:pPr>
            <a:r>
              <a:rPr dirty="0" sz="1400" spc="-29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270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5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4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ance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260">
                <a:solidFill>
                  <a:srgbClr val="252525"/>
                </a:solidFill>
                <a:latin typeface="Trebuchet MS"/>
                <a:cs typeface="Trebuchet MS"/>
              </a:rPr>
              <a:t>gme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endParaRPr sz="1400">
              <a:latin typeface="Trebuchet MS"/>
              <a:cs typeface="Trebuchet MS"/>
            </a:endParaRPr>
          </a:p>
          <a:p>
            <a:pPr marL="25400">
              <a:lnSpc>
                <a:spcPts val="1830"/>
              </a:lnSpc>
              <a:tabLst>
                <a:tab pos="1891030" algn="l"/>
              </a:tabLst>
            </a:pPr>
            <a:r>
              <a:rPr dirty="0" sz="1400" spc="-114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distance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between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point	</a:t>
            </a:r>
            <a:r>
              <a:rPr dirty="0" sz="1650" spc="-25">
                <a:latin typeface="Cambria Math"/>
                <a:cs typeface="Cambria Math"/>
              </a:rPr>
              <a:t>a</a:t>
            </a:r>
            <a:r>
              <a:rPr dirty="0" baseline="-20202" sz="1650" spc="-37">
                <a:latin typeface="Cambria Math"/>
                <a:cs typeface="Cambria Math"/>
              </a:rPr>
              <a:t>2</a:t>
            </a:r>
            <a:endParaRPr baseline="-20202" sz="1650">
              <a:latin typeface="Cambria Math"/>
              <a:cs typeface="Cambria Math"/>
            </a:endParaRPr>
          </a:p>
          <a:p>
            <a:pPr marL="25400">
              <a:lnSpc>
                <a:spcPts val="1650"/>
              </a:lnSpc>
            </a:pPr>
            <a:r>
              <a:rPr dirty="0" sz="1400" spc="-26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400" spc="-254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50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B.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18378" y="2834385"/>
            <a:ext cx="1835785" cy="1163320"/>
            <a:chOff x="5818378" y="2834385"/>
            <a:chExt cx="1835785" cy="1163320"/>
          </a:xfrm>
        </p:grpSpPr>
        <p:sp>
          <p:nvSpPr>
            <p:cNvPr id="27" name="object 27"/>
            <p:cNvSpPr/>
            <p:nvPr/>
          </p:nvSpPr>
          <p:spPr>
            <a:xfrm>
              <a:off x="5828538" y="2844545"/>
              <a:ext cx="1673860" cy="1143000"/>
            </a:xfrm>
            <a:custGeom>
              <a:avLst/>
              <a:gdLst/>
              <a:ahLst/>
              <a:cxnLst/>
              <a:rect l="l" t="t" r="r" b="b"/>
              <a:pathLst>
                <a:path w="1673859" h="1143000">
                  <a:moveTo>
                    <a:pt x="1673352" y="1142999"/>
                  </a:moveTo>
                  <a:lnTo>
                    <a:pt x="1673352" y="0"/>
                  </a:lnTo>
                  <a:lnTo>
                    <a:pt x="0" y="1142999"/>
                  </a:lnTo>
                  <a:lnTo>
                    <a:pt x="1673352" y="114299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15200" y="3800855"/>
              <a:ext cx="186055" cy="178435"/>
            </a:xfrm>
            <a:custGeom>
              <a:avLst/>
              <a:gdLst/>
              <a:ahLst/>
              <a:cxnLst/>
              <a:rect l="l" t="t" r="r" b="b"/>
              <a:pathLst>
                <a:path w="186054" h="178435">
                  <a:moveTo>
                    <a:pt x="0" y="178308"/>
                  </a:moveTo>
                  <a:lnTo>
                    <a:pt x="185927" y="178308"/>
                  </a:lnTo>
                  <a:lnTo>
                    <a:pt x="185927" y="0"/>
                  </a:lnTo>
                  <a:lnTo>
                    <a:pt x="0" y="0"/>
                  </a:lnTo>
                  <a:lnTo>
                    <a:pt x="0" y="17830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536180" y="2855975"/>
              <a:ext cx="114300" cy="1123315"/>
            </a:xfrm>
            <a:custGeom>
              <a:avLst/>
              <a:gdLst/>
              <a:ahLst/>
              <a:cxnLst/>
              <a:rect l="l" t="t" r="r" b="b"/>
              <a:pathLst>
                <a:path w="114300" h="1123314">
                  <a:moveTo>
                    <a:pt x="0" y="0"/>
                  </a:moveTo>
                  <a:lnTo>
                    <a:pt x="67501" y="34426"/>
                  </a:lnTo>
                  <a:lnTo>
                    <a:pt x="92244" y="73051"/>
                  </a:lnTo>
                  <a:lnTo>
                    <a:pt x="108472" y="122033"/>
                  </a:lnTo>
                  <a:lnTo>
                    <a:pt x="114300" y="178435"/>
                  </a:lnTo>
                  <a:lnTo>
                    <a:pt x="114300" y="944753"/>
                  </a:lnTo>
                  <a:lnTo>
                    <a:pt x="108472" y="1001154"/>
                  </a:lnTo>
                  <a:lnTo>
                    <a:pt x="92244" y="1050136"/>
                  </a:lnTo>
                  <a:lnTo>
                    <a:pt x="67501" y="1088761"/>
                  </a:lnTo>
                  <a:lnTo>
                    <a:pt x="36124" y="1114091"/>
                  </a:lnTo>
                  <a:lnTo>
                    <a:pt x="0" y="1123188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786878" y="3253573"/>
            <a:ext cx="78994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1650" spc="-20">
                <a:latin typeface="Cambria Math"/>
                <a:cs typeface="Cambria Math"/>
              </a:rPr>
              <a:t>(a</a:t>
            </a:r>
            <a:r>
              <a:rPr dirty="0" baseline="-20202" sz="1650" spc="-30">
                <a:latin typeface="Cambria Math"/>
                <a:cs typeface="Cambria Math"/>
              </a:rPr>
              <a:t>2</a:t>
            </a:r>
            <a:r>
              <a:rPr dirty="0" sz="1600" spc="-20">
                <a:latin typeface="Cambria Math"/>
                <a:cs typeface="Cambria Math"/>
              </a:rPr>
              <a:t>−</a:t>
            </a:r>
            <a:r>
              <a:rPr dirty="0" sz="1600" spc="-40">
                <a:latin typeface="Cambria Math"/>
                <a:cs typeface="Cambria Math"/>
              </a:rPr>
              <a:t> </a:t>
            </a:r>
            <a:r>
              <a:rPr dirty="0" sz="1650" spc="-25">
                <a:latin typeface="Cambria Math"/>
                <a:cs typeface="Cambria Math"/>
              </a:rPr>
              <a:t>b</a:t>
            </a:r>
            <a:r>
              <a:rPr dirty="0" baseline="-20202" sz="1650" spc="-37">
                <a:latin typeface="Cambria Math"/>
                <a:cs typeface="Cambria Math"/>
              </a:rPr>
              <a:t>2</a:t>
            </a:r>
            <a:r>
              <a:rPr dirty="0" sz="1650" spc="-25">
                <a:latin typeface="Cambria Math"/>
                <a:cs typeface="Cambria Math"/>
              </a:rPr>
              <a:t>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34022" y="4229511"/>
            <a:ext cx="47244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83540" algn="l"/>
              </a:tabLst>
            </a:pPr>
            <a:r>
              <a:rPr dirty="0" sz="1100" spc="-20">
                <a:latin typeface="Cambria Math"/>
                <a:cs typeface="Cambria Math"/>
              </a:rPr>
              <a:t>1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 spc="-20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51142" y="4110061"/>
            <a:ext cx="73850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-30">
                <a:latin typeface="Cambria Math"/>
                <a:cs typeface="Cambria Math"/>
              </a:rPr>
              <a:t>(a</a:t>
            </a:r>
            <a:r>
              <a:rPr dirty="0" sz="1650" spc="19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 </a:t>
            </a:r>
            <a:r>
              <a:rPr dirty="0" sz="1650" spc="-30">
                <a:latin typeface="Cambria Math"/>
                <a:cs typeface="Cambria Math"/>
              </a:rPr>
              <a:t>b</a:t>
            </a:r>
            <a:r>
              <a:rPr dirty="0" sz="1650" spc="190">
                <a:latin typeface="Cambria Math"/>
                <a:cs typeface="Cambria Math"/>
              </a:rPr>
              <a:t> </a:t>
            </a:r>
            <a:r>
              <a:rPr dirty="0" sz="1650" spc="-25">
                <a:latin typeface="Cambria Math"/>
                <a:cs typeface="Cambria Math"/>
              </a:rPr>
              <a:t>)</a:t>
            </a:r>
            <a:endParaRPr sz="165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790444" y="3035807"/>
            <a:ext cx="4714240" cy="1071880"/>
            <a:chOff x="2790444" y="3035807"/>
            <a:chExt cx="4714240" cy="1071880"/>
          </a:xfrm>
        </p:grpSpPr>
        <p:sp>
          <p:nvSpPr>
            <p:cNvPr id="34" name="object 34"/>
            <p:cNvSpPr/>
            <p:nvPr/>
          </p:nvSpPr>
          <p:spPr>
            <a:xfrm>
              <a:off x="5852160" y="3986783"/>
              <a:ext cx="1649095" cy="117475"/>
            </a:xfrm>
            <a:custGeom>
              <a:avLst/>
              <a:gdLst/>
              <a:ahLst/>
              <a:cxnLst/>
              <a:rect l="l" t="t" r="r" b="b"/>
              <a:pathLst>
                <a:path w="1649095" h="117475">
                  <a:moveTo>
                    <a:pt x="1648967" y="0"/>
                  </a:moveTo>
                  <a:lnTo>
                    <a:pt x="1639625" y="37075"/>
                  </a:lnTo>
                  <a:lnTo>
                    <a:pt x="1613611" y="69287"/>
                  </a:lnTo>
                  <a:lnTo>
                    <a:pt x="1573941" y="94695"/>
                  </a:lnTo>
                  <a:lnTo>
                    <a:pt x="1523634" y="111361"/>
                  </a:lnTo>
                  <a:lnTo>
                    <a:pt x="1465707" y="117348"/>
                  </a:lnTo>
                  <a:lnTo>
                    <a:pt x="183261" y="117348"/>
                  </a:lnTo>
                  <a:lnTo>
                    <a:pt x="125333" y="111361"/>
                  </a:lnTo>
                  <a:lnTo>
                    <a:pt x="75026" y="94695"/>
                  </a:lnTo>
                  <a:lnTo>
                    <a:pt x="35356" y="69287"/>
                  </a:lnTo>
                  <a:lnTo>
                    <a:pt x="9342" y="37075"/>
                  </a:ln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82539" y="3095243"/>
              <a:ext cx="662939" cy="6629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790444" y="3035807"/>
              <a:ext cx="1331595" cy="76200"/>
            </a:xfrm>
            <a:custGeom>
              <a:avLst/>
              <a:gdLst/>
              <a:ahLst/>
              <a:cxnLst/>
              <a:rect l="l" t="t" r="r" b="b"/>
              <a:pathLst>
                <a:path w="1331595" h="76200">
                  <a:moveTo>
                    <a:pt x="1255141" y="0"/>
                  </a:moveTo>
                  <a:lnTo>
                    <a:pt x="1255141" y="76200"/>
                  </a:lnTo>
                  <a:lnTo>
                    <a:pt x="1318641" y="44450"/>
                  </a:lnTo>
                  <a:lnTo>
                    <a:pt x="1267841" y="44450"/>
                  </a:lnTo>
                  <a:lnTo>
                    <a:pt x="1267841" y="31750"/>
                  </a:lnTo>
                  <a:lnTo>
                    <a:pt x="1318641" y="31750"/>
                  </a:lnTo>
                  <a:lnTo>
                    <a:pt x="1255141" y="0"/>
                  </a:lnTo>
                  <a:close/>
                </a:path>
                <a:path w="1331595" h="76200">
                  <a:moveTo>
                    <a:pt x="125514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255141" y="44450"/>
                  </a:lnTo>
                  <a:lnTo>
                    <a:pt x="1255141" y="31750"/>
                  </a:lnTo>
                  <a:close/>
                </a:path>
                <a:path w="1331595" h="76200">
                  <a:moveTo>
                    <a:pt x="1318641" y="31750"/>
                  </a:moveTo>
                  <a:lnTo>
                    <a:pt x="1267841" y="31750"/>
                  </a:lnTo>
                  <a:lnTo>
                    <a:pt x="1267841" y="44450"/>
                  </a:lnTo>
                  <a:lnTo>
                    <a:pt x="1318641" y="44450"/>
                  </a:lnTo>
                  <a:lnTo>
                    <a:pt x="1331341" y="38100"/>
                  </a:lnTo>
                  <a:lnTo>
                    <a:pt x="1318641" y="31750"/>
                  </a:lnTo>
                  <a:close/>
                </a:path>
              </a:pathLst>
            </a:custGeom>
            <a:solidFill>
              <a:srgbClr val="F15E3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4846" y="6524434"/>
            <a:ext cx="6014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222498" cy="18463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06011"/>
            <a:ext cx="3230117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8489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2.4.</a:t>
            </a:r>
            <a:r>
              <a:rPr dirty="0" sz="1800" spc="-8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Sets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92786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952244"/>
            <a:ext cx="1015746" cy="14401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54736" y="3653028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3677411"/>
            <a:ext cx="1309878" cy="174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304288"/>
            <a:ext cx="8279130" cy="9563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3989806"/>
            <a:ext cx="8292846" cy="35892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58569" y="4645278"/>
            <a:ext cx="42290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{</a:t>
            </a:r>
            <a:r>
              <a:rPr dirty="0" sz="1300" spc="-28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90">
                <a:solidFill>
                  <a:srgbClr val="252525"/>
                </a:solidFill>
                <a:latin typeface="Trebuchet MS"/>
                <a:cs typeface="Trebuchet MS"/>
              </a:rPr>
              <a:t>3}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7344" y="4661915"/>
            <a:ext cx="330835" cy="170815"/>
          </a:xfrm>
          <a:custGeom>
            <a:avLst/>
            <a:gdLst/>
            <a:ahLst/>
            <a:cxnLst/>
            <a:rect l="l" t="t" r="r" b="b"/>
            <a:pathLst>
              <a:path w="330834" h="170814">
                <a:moveTo>
                  <a:pt x="302259" y="0"/>
                </a:moveTo>
                <a:lnTo>
                  <a:pt x="28447" y="0"/>
                </a:lnTo>
                <a:lnTo>
                  <a:pt x="17375" y="2230"/>
                </a:lnTo>
                <a:lnTo>
                  <a:pt x="8332" y="8318"/>
                </a:lnTo>
                <a:lnTo>
                  <a:pt x="2235" y="17359"/>
                </a:lnTo>
                <a:lnTo>
                  <a:pt x="0" y="28447"/>
                </a:lnTo>
                <a:lnTo>
                  <a:pt x="0" y="142239"/>
                </a:lnTo>
                <a:lnTo>
                  <a:pt x="2235" y="153328"/>
                </a:lnTo>
                <a:lnTo>
                  <a:pt x="8332" y="162369"/>
                </a:lnTo>
                <a:lnTo>
                  <a:pt x="17375" y="168457"/>
                </a:lnTo>
                <a:lnTo>
                  <a:pt x="28447" y="170687"/>
                </a:lnTo>
                <a:lnTo>
                  <a:pt x="302259" y="170687"/>
                </a:lnTo>
                <a:lnTo>
                  <a:pt x="313332" y="168457"/>
                </a:lnTo>
                <a:lnTo>
                  <a:pt x="322375" y="162369"/>
                </a:lnTo>
                <a:lnTo>
                  <a:pt x="328472" y="153328"/>
                </a:lnTo>
                <a:lnTo>
                  <a:pt x="330708" y="142239"/>
                </a:lnTo>
                <a:lnTo>
                  <a:pt x="330708" y="28447"/>
                </a:lnTo>
                <a:lnTo>
                  <a:pt x="328472" y="17359"/>
                </a:lnTo>
                <a:lnTo>
                  <a:pt x="322375" y="8318"/>
                </a:lnTo>
                <a:lnTo>
                  <a:pt x="313332" y="2230"/>
                </a:lnTo>
                <a:lnTo>
                  <a:pt x="302259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30046" y="4656277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851" y="5045964"/>
            <a:ext cx="5311902" cy="16230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68349" y="5328284"/>
            <a:ext cx="12744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40">
                <a:solidFill>
                  <a:srgbClr val="252525"/>
                </a:solidFill>
                <a:latin typeface="Trebuchet MS"/>
                <a:cs typeface="Trebuchet MS"/>
              </a:rPr>
              <a:t>{</a:t>
            </a:r>
            <a:r>
              <a:rPr dirty="0" sz="1300" spc="2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baseline="2136" sz="1950" spc="-330">
                <a:solidFill>
                  <a:srgbClr val="252525"/>
                </a:solidFill>
                <a:latin typeface="Cambria Math"/>
                <a:cs typeface="Cambria Math"/>
              </a:rPr>
              <a:t>ȁ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300" spc="3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9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mul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ipl</a:t>
            </a: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85">
                <a:solidFill>
                  <a:srgbClr val="252525"/>
                </a:solidFill>
                <a:latin typeface="Trebuchet MS"/>
                <a:cs typeface="Trebuchet MS"/>
              </a:rPr>
              <a:t>3}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56488" y="5346191"/>
            <a:ext cx="330835" cy="170815"/>
          </a:xfrm>
          <a:custGeom>
            <a:avLst/>
            <a:gdLst/>
            <a:ahLst/>
            <a:cxnLst/>
            <a:rect l="l" t="t" r="r" b="b"/>
            <a:pathLst>
              <a:path w="330834" h="170814">
                <a:moveTo>
                  <a:pt x="302259" y="0"/>
                </a:moveTo>
                <a:lnTo>
                  <a:pt x="28448" y="0"/>
                </a:lnTo>
                <a:lnTo>
                  <a:pt x="17375" y="2230"/>
                </a:lnTo>
                <a:lnTo>
                  <a:pt x="8332" y="8318"/>
                </a:lnTo>
                <a:lnTo>
                  <a:pt x="2235" y="17359"/>
                </a:lnTo>
                <a:lnTo>
                  <a:pt x="0" y="28448"/>
                </a:lnTo>
                <a:lnTo>
                  <a:pt x="0" y="142240"/>
                </a:lnTo>
                <a:lnTo>
                  <a:pt x="2235" y="153328"/>
                </a:lnTo>
                <a:lnTo>
                  <a:pt x="8332" y="162369"/>
                </a:lnTo>
                <a:lnTo>
                  <a:pt x="17375" y="168457"/>
                </a:lnTo>
                <a:lnTo>
                  <a:pt x="28448" y="170688"/>
                </a:lnTo>
                <a:lnTo>
                  <a:pt x="302259" y="170688"/>
                </a:lnTo>
                <a:lnTo>
                  <a:pt x="313332" y="168457"/>
                </a:lnTo>
                <a:lnTo>
                  <a:pt x="322375" y="162369"/>
                </a:lnTo>
                <a:lnTo>
                  <a:pt x="328472" y="153328"/>
                </a:lnTo>
                <a:lnTo>
                  <a:pt x="330708" y="142240"/>
                </a:lnTo>
                <a:lnTo>
                  <a:pt x="330708" y="28448"/>
                </a:lnTo>
                <a:lnTo>
                  <a:pt x="328472" y="17359"/>
                </a:lnTo>
                <a:lnTo>
                  <a:pt x="322375" y="8318"/>
                </a:lnTo>
                <a:lnTo>
                  <a:pt x="313332" y="2230"/>
                </a:lnTo>
                <a:lnTo>
                  <a:pt x="302259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39495" y="5341111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0183" y="5766815"/>
            <a:ext cx="4828794" cy="16230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2627" y="1440180"/>
            <a:ext cx="2683002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1998726" cy="14249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0183" y="1813560"/>
            <a:ext cx="8284209" cy="2183130"/>
            <a:chOff x="710183" y="1813560"/>
            <a:chExt cx="8284209" cy="2183130"/>
          </a:xfrm>
        </p:grpSpPr>
        <p:sp>
          <p:nvSpPr>
            <p:cNvPr id="8" name="object 8"/>
            <p:cNvSpPr/>
            <p:nvPr/>
          </p:nvSpPr>
          <p:spPr>
            <a:xfrm>
              <a:off x="2430779" y="2421636"/>
              <a:ext cx="504825" cy="360045"/>
            </a:xfrm>
            <a:custGeom>
              <a:avLst/>
              <a:gdLst/>
              <a:ahLst/>
              <a:cxnLst/>
              <a:rect l="l" t="t" r="r" b="b"/>
              <a:pathLst>
                <a:path w="504825" h="360044">
                  <a:moveTo>
                    <a:pt x="0" y="359663"/>
                  </a:moveTo>
                  <a:lnTo>
                    <a:pt x="504444" y="359663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1813560"/>
              <a:ext cx="8283702" cy="218313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7489" y="431419"/>
            <a:ext cx="8489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2.4.</a:t>
            </a:r>
            <a:r>
              <a:rPr dirty="0" sz="1800" spc="-8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Sets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65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92633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949195"/>
            <a:ext cx="1244346" cy="14401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0183" y="2299716"/>
            <a:ext cx="8543290" cy="1315720"/>
            <a:chOff x="710183" y="2299716"/>
            <a:chExt cx="8543290" cy="1315720"/>
          </a:xfrm>
        </p:grpSpPr>
        <p:sp>
          <p:nvSpPr>
            <p:cNvPr id="8" name="object 8"/>
            <p:cNvSpPr/>
            <p:nvPr/>
          </p:nvSpPr>
          <p:spPr>
            <a:xfrm>
              <a:off x="1999487" y="3249168"/>
              <a:ext cx="502920" cy="360045"/>
            </a:xfrm>
            <a:custGeom>
              <a:avLst/>
              <a:gdLst/>
              <a:ahLst/>
              <a:cxnLst/>
              <a:rect l="l" t="t" r="r" b="b"/>
              <a:pathLst>
                <a:path w="502919" h="360045">
                  <a:moveTo>
                    <a:pt x="0" y="359664"/>
                  </a:moveTo>
                  <a:lnTo>
                    <a:pt x="502919" y="359664"/>
                  </a:lnTo>
                  <a:lnTo>
                    <a:pt x="502919" y="0"/>
                  </a:lnTo>
                  <a:lnTo>
                    <a:pt x="0" y="0"/>
                  </a:lnTo>
                  <a:lnTo>
                    <a:pt x="0" y="35966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2299716"/>
              <a:ext cx="8542782" cy="120776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7489" y="431419"/>
            <a:ext cx="8489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2.4.</a:t>
            </a:r>
            <a:r>
              <a:rPr dirty="0" sz="1800" spc="-8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Sets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0248" y="1440154"/>
            <a:ext cx="2469642" cy="23700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9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8489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2.4.</a:t>
            </a:r>
            <a:r>
              <a:rPr dirty="0" sz="1800" spc="-8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Sets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4752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7611"/>
            <a:ext cx="1924050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8132"/>
            <a:ext cx="8515350" cy="138607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222498" cy="18432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06011"/>
            <a:ext cx="3230117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8067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0180"/>
            <a:ext cx="2835402" cy="30403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8120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2005583"/>
            <a:ext cx="5049774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1040" y="2351532"/>
            <a:ext cx="6285738" cy="106603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2812542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8431530" cy="3589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84776" y="4288535"/>
            <a:ext cx="4371340" cy="1945005"/>
            <a:chOff x="4684776" y="4288535"/>
            <a:chExt cx="4371340" cy="1945005"/>
          </a:xfrm>
        </p:grpSpPr>
        <p:sp>
          <p:nvSpPr>
            <p:cNvPr id="11" name="object 11"/>
            <p:cNvSpPr/>
            <p:nvPr/>
          </p:nvSpPr>
          <p:spPr>
            <a:xfrm>
              <a:off x="4684776" y="4288535"/>
              <a:ext cx="4371340" cy="1945005"/>
            </a:xfrm>
            <a:custGeom>
              <a:avLst/>
              <a:gdLst/>
              <a:ahLst/>
              <a:cxnLst/>
              <a:rect l="l" t="t" r="r" b="b"/>
              <a:pathLst>
                <a:path w="4371340" h="1945004">
                  <a:moveTo>
                    <a:pt x="4370832" y="0"/>
                  </a:moveTo>
                  <a:lnTo>
                    <a:pt x="0" y="0"/>
                  </a:lnTo>
                  <a:lnTo>
                    <a:pt x="0" y="1944624"/>
                  </a:lnTo>
                  <a:lnTo>
                    <a:pt x="4370832" y="1944624"/>
                  </a:lnTo>
                  <a:lnTo>
                    <a:pt x="43708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75276" y="4514087"/>
              <a:ext cx="1152905" cy="1623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34812" y="5949695"/>
              <a:ext cx="669798" cy="1485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8144" y="4514087"/>
              <a:ext cx="607314" cy="14858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3464" y="5949695"/>
              <a:ext cx="669798" cy="14858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46548" y="4674107"/>
              <a:ext cx="1333500" cy="12283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80732" y="4674107"/>
              <a:ext cx="1333500" cy="12298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75732" y="5231891"/>
              <a:ext cx="653034" cy="133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44383" y="5231891"/>
              <a:ext cx="653033" cy="1333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09916" y="5425439"/>
              <a:ext cx="520446" cy="10286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30746" y="5292851"/>
              <a:ext cx="353060" cy="86995"/>
            </a:xfrm>
            <a:custGeom>
              <a:avLst/>
              <a:gdLst/>
              <a:ahLst/>
              <a:cxnLst/>
              <a:rect l="l" t="t" r="r" b="b"/>
              <a:pathLst>
                <a:path w="353059" h="86995">
                  <a:moveTo>
                    <a:pt x="265810" y="0"/>
                  </a:moveTo>
                  <a:lnTo>
                    <a:pt x="265810" y="86868"/>
                  </a:lnTo>
                  <a:lnTo>
                    <a:pt x="323723" y="57912"/>
                  </a:lnTo>
                  <a:lnTo>
                    <a:pt x="280288" y="57912"/>
                  </a:lnTo>
                  <a:lnTo>
                    <a:pt x="280288" y="28956"/>
                  </a:lnTo>
                  <a:lnTo>
                    <a:pt x="323723" y="28956"/>
                  </a:lnTo>
                  <a:lnTo>
                    <a:pt x="265810" y="0"/>
                  </a:lnTo>
                  <a:close/>
                </a:path>
                <a:path w="353059" h="86995">
                  <a:moveTo>
                    <a:pt x="265810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265810" y="57912"/>
                  </a:lnTo>
                  <a:lnTo>
                    <a:pt x="265810" y="28956"/>
                  </a:lnTo>
                  <a:close/>
                </a:path>
                <a:path w="353059" h="86995">
                  <a:moveTo>
                    <a:pt x="323723" y="28956"/>
                  </a:moveTo>
                  <a:lnTo>
                    <a:pt x="280288" y="28956"/>
                  </a:lnTo>
                  <a:lnTo>
                    <a:pt x="280288" y="57912"/>
                  </a:lnTo>
                  <a:lnTo>
                    <a:pt x="323723" y="57912"/>
                  </a:lnTo>
                  <a:lnTo>
                    <a:pt x="352678" y="43434"/>
                  </a:lnTo>
                  <a:lnTo>
                    <a:pt x="323723" y="28956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704087" y="2353055"/>
            <a:ext cx="3796665" cy="3883660"/>
            <a:chOff x="704087" y="2353055"/>
            <a:chExt cx="3796665" cy="3883660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12136" y="2685287"/>
              <a:ext cx="1597152" cy="15026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18559" y="3410711"/>
              <a:ext cx="244601" cy="16078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89276" y="4491227"/>
              <a:ext cx="1652016" cy="15026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39895" y="5216651"/>
              <a:ext cx="246125" cy="16078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52143" y="2939795"/>
              <a:ext cx="908304" cy="125425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2143" y="4762500"/>
              <a:ext cx="908304" cy="125425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07135" y="2356103"/>
              <a:ext cx="3790315" cy="3877310"/>
            </a:xfrm>
            <a:custGeom>
              <a:avLst/>
              <a:gdLst/>
              <a:ahLst/>
              <a:cxnLst/>
              <a:rect l="l" t="t" r="r" b="b"/>
              <a:pathLst>
                <a:path w="3790315" h="3877310">
                  <a:moveTo>
                    <a:pt x="0" y="3877055"/>
                  </a:moveTo>
                  <a:lnTo>
                    <a:pt x="3790188" y="3877055"/>
                  </a:lnTo>
                  <a:lnTo>
                    <a:pt x="3790188" y="0"/>
                  </a:lnTo>
                  <a:lnTo>
                    <a:pt x="0" y="0"/>
                  </a:lnTo>
                  <a:lnTo>
                    <a:pt x="0" y="3877055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4684776" y="2357627"/>
            <a:ext cx="4371340" cy="1720850"/>
            <a:chOff x="4684776" y="2357627"/>
            <a:chExt cx="4371340" cy="1720850"/>
          </a:xfrm>
        </p:grpSpPr>
        <p:sp>
          <p:nvSpPr>
            <p:cNvPr id="31" name="object 31"/>
            <p:cNvSpPr/>
            <p:nvPr/>
          </p:nvSpPr>
          <p:spPr>
            <a:xfrm>
              <a:off x="4684776" y="2357627"/>
              <a:ext cx="4371340" cy="1720850"/>
            </a:xfrm>
            <a:custGeom>
              <a:avLst/>
              <a:gdLst/>
              <a:ahLst/>
              <a:cxnLst/>
              <a:rect l="l" t="t" r="r" b="b"/>
              <a:pathLst>
                <a:path w="4371340" h="1720850">
                  <a:moveTo>
                    <a:pt x="4370832" y="0"/>
                  </a:moveTo>
                  <a:lnTo>
                    <a:pt x="0" y="0"/>
                  </a:lnTo>
                  <a:lnTo>
                    <a:pt x="0" y="1720596"/>
                  </a:lnTo>
                  <a:lnTo>
                    <a:pt x="4370832" y="1720596"/>
                  </a:lnTo>
                  <a:lnTo>
                    <a:pt x="43708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62372" y="2723387"/>
              <a:ext cx="495300" cy="7010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89776" y="2723387"/>
              <a:ext cx="573024" cy="79247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962900" y="2683763"/>
              <a:ext cx="437388" cy="798576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684776" y="2357627"/>
            <a:ext cx="4371340" cy="1720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algn="ctr" marR="74930">
              <a:lnSpc>
                <a:spcPct val="100000"/>
              </a:lnSpc>
              <a:tabLst>
                <a:tab pos="1062355" algn="l"/>
                <a:tab pos="2462530" algn="l"/>
              </a:tabLst>
            </a:pPr>
            <a:r>
              <a:rPr dirty="0" baseline="2136" sz="1950" spc="-419" b="1">
                <a:latin typeface="Tahoma"/>
                <a:cs typeface="Tahoma"/>
              </a:rPr>
              <a:t>F</a:t>
            </a:r>
            <a:r>
              <a:rPr dirty="0" baseline="2136" sz="1950" spc="-135" b="1">
                <a:latin typeface="Tahoma"/>
                <a:cs typeface="Tahoma"/>
              </a:rPr>
              <a:t>r</a:t>
            </a:r>
            <a:r>
              <a:rPr dirty="0" baseline="2136" sz="1950" spc="-480" b="1">
                <a:latin typeface="Tahoma"/>
                <a:cs typeface="Tahoma"/>
              </a:rPr>
              <a:t>u</a:t>
            </a:r>
            <a:r>
              <a:rPr dirty="0" baseline="2136" sz="1950" spc="-232" b="1">
                <a:latin typeface="Tahoma"/>
                <a:cs typeface="Tahoma"/>
              </a:rPr>
              <a:t>i</a:t>
            </a:r>
            <a:r>
              <a:rPr dirty="0" baseline="2136" sz="1950" spc="-277" b="1">
                <a:latin typeface="Tahoma"/>
                <a:cs typeface="Tahoma"/>
              </a:rPr>
              <a:t>t</a:t>
            </a:r>
            <a:r>
              <a:rPr dirty="0" baseline="2136" sz="1950" spc="-104" b="1">
                <a:latin typeface="Tahoma"/>
                <a:cs typeface="Tahoma"/>
              </a:rPr>
              <a:t> </a:t>
            </a:r>
            <a:r>
              <a:rPr dirty="0" baseline="2136" sz="1950" spc="-322" b="1">
                <a:latin typeface="Tahoma"/>
                <a:cs typeface="Tahoma"/>
              </a:rPr>
              <a:t>(</a:t>
            </a:r>
            <a:r>
              <a:rPr dirty="0" baseline="2136" sz="1950" spc="-232" b="1">
                <a:latin typeface="Tahoma"/>
                <a:cs typeface="Tahoma"/>
              </a:rPr>
              <a:t>i</a:t>
            </a:r>
            <a:r>
              <a:rPr dirty="0" baseline="2136" sz="1950" spc="-480" b="1">
                <a:latin typeface="Tahoma"/>
                <a:cs typeface="Tahoma"/>
              </a:rPr>
              <a:t>n</a:t>
            </a:r>
            <a:r>
              <a:rPr dirty="0" baseline="2136" sz="1950" spc="-390" b="1">
                <a:latin typeface="Tahoma"/>
                <a:cs typeface="Tahoma"/>
              </a:rPr>
              <a:t>put</a:t>
            </a:r>
            <a:r>
              <a:rPr dirty="0" baseline="2136" sz="1950" spc="-315" b="1">
                <a:latin typeface="Tahoma"/>
                <a:cs typeface="Tahoma"/>
              </a:rPr>
              <a:t>)</a:t>
            </a:r>
            <a:r>
              <a:rPr dirty="0" baseline="2136" sz="1950" b="1">
                <a:latin typeface="Tahoma"/>
                <a:cs typeface="Tahoma"/>
              </a:rPr>
              <a:t>	</a:t>
            </a:r>
            <a:r>
              <a:rPr dirty="0" baseline="2136" sz="1950" spc="-652" b="1">
                <a:latin typeface="Tahoma"/>
                <a:cs typeface="Tahoma"/>
              </a:rPr>
              <a:t>M</a:t>
            </a:r>
            <a:r>
              <a:rPr dirty="0" baseline="2136" sz="1950" spc="-232" b="1">
                <a:latin typeface="Tahoma"/>
                <a:cs typeface="Tahoma"/>
              </a:rPr>
              <a:t>i</a:t>
            </a:r>
            <a:r>
              <a:rPr dirty="0" baseline="2136" sz="1950" spc="-315" b="1">
                <a:latin typeface="Tahoma"/>
                <a:cs typeface="Tahoma"/>
              </a:rPr>
              <a:t>xer</a:t>
            </a:r>
            <a:r>
              <a:rPr dirty="0" baseline="2136" sz="1950" spc="-157" b="1">
                <a:latin typeface="Tahoma"/>
                <a:cs typeface="Tahoma"/>
              </a:rPr>
              <a:t> </a:t>
            </a:r>
            <a:r>
              <a:rPr dirty="0" baseline="2136" sz="1950" spc="-322" b="1">
                <a:latin typeface="Tahoma"/>
                <a:cs typeface="Tahoma"/>
              </a:rPr>
              <a:t>(</a:t>
            </a:r>
            <a:r>
              <a:rPr dirty="0" baseline="2136" sz="1950" spc="-262" b="1">
                <a:latin typeface="Tahoma"/>
                <a:cs typeface="Tahoma"/>
              </a:rPr>
              <a:t>f</a:t>
            </a:r>
            <a:r>
              <a:rPr dirty="0" baseline="2136" sz="1950" spc="-465" b="1">
                <a:latin typeface="Tahoma"/>
                <a:cs typeface="Tahoma"/>
              </a:rPr>
              <a:t>u</a:t>
            </a:r>
            <a:r>
              <a:rPr dirty="0" baseline="2136" sz="1950" spc="-480" b="1">
                <a:latin typeface="Tahoma"/>
                <a:cs typeface="Tahoma"/>
              </a:rPr>
              <a:t>n</a:t>
            </a:r>
            <a:r>
              <a:rPr dirty="0" baseline="2136" sz="1950" spc="-247" b="1">
                <a:latin typeface="Tahoma"/>
                <a:cs typeface="Tahoma"/>
              </a:rPr>
              <a:t>c</a:t>
            </a:r>
            <a:r>
              <a:rPr dirty="0" baseline="2136" sz="1950" spc="-330" b="1">
                <a:latin typeface="Tahoma"/>
                <a:cs typeface="Tahoma"/>
              </a:rPr>
              <a:t>tion)</a:t>
            </a:r>
            <a:r>
              <a:rPr dirty="0" baseline="2136" sz="1950" b="1">
                <a:latin typeface="Tahoma"/>
                <a:cs typeface="Tahoma"/>
              </a:rPr>
              <a:t>	</a:t>
            </a:r>
            <a:r>
              <a:rPr dirty="0" sz="1300" spc="-180" b="1">
                <a:latin typeface="Tahoma"/>
                <a:cs typeface="Tahoma"/>
              </a:rPr>
              <a:t>J</a:t>
            </a:r>
            <a:r>
              <a:rPr dirty="0" sz="1300" spc="-235" b="1">
                <a:latin typeface="Tahoma"/>
                <a:cs typeface="Tahoma"/>
              </a:rPr>
              <a:t>u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215" b="1">
                <a:latin typeface="Tahoma"/>
                <a:cs typeface="Tahoma"/>
              </a:rPr>
              <a:t>ce</a:t>
            </a:r>
            <a:r>
              <a:rPr dirty="0" sz="1300" spc="-90" b="1">
                <a:latin typeface="Tahoma"/>
                <a:cs typeface="Tahoma"/>
              </a:rPr>
              <a:t> </a:t>
            </a:r>
            <a:r>
              <a:rPr dirty="0" sz="1300" spc="-215" b="1">
                <a:latin typeface="Tahoma"/>
                <a:cs typeface="Tahoma"/>
              </a:rPr>
              <a:t>(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320" b="1">
                <a:latin typeface="Tahoma"/>
                <a:cs typeface="Tahoma"/>
              </a:rPr>
              <a:t>u</a:t>
            </a:r>
            <a:r>
              <a:rPr dirty="0" sz="1300" spc="-240" b="1">
                <a:latin typeface="Tahoma"/>
                <a:cs typeface="Tahoma"/>
              </a:rPr>
              <a:t>tput</a:t>
            </a:r>
            <a:r>
              <a:rPr dirty="0" sz="1300" spc="-200" b="1">
                <a:latin typeface="Tahoma"/>
                <a:cs typeface="Tahoma"/>
              </a:rPr>
              <a:t>)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996178" y="3127247"/>
            <a:ext cx="1713864" cy="86995"/>
          </a:xfrm>
          <a:custGeom>
            <a:avLst/>
            <a:gdLst/>
            <a:ahLst/>
            <a:cxnLst/>
            <a:rect l="l" t="t" r="r" b="b"/>
            <a:pathLst>
              <a:path w="1713865" h="86994">
                <a:moveTo>
                  <a:pt x="352679" y="43434"/>
                </a:moveTo>
                <a:lnTo>
                  <a:pt x="323710" y="28956"/>
                </a:lnTo>
                <a:lnTo>
                  <a:pt x="265811" y="0"/>
                </a:lnTo>
                <a:lnTo>
                  <a:pt x="265811" y="28956"/>
                </a:lnTo>
                <a:lnTo>
                  <a:pt x="0" y="28956"/>
                </a:lnTo>
                <a:lnTo>
                  <a:pt x="0" y="57912"/>
                </a:lnTo>
                <a:lnTo>
                  <a:pt x="265811" y="57912"/>
                </a:lnTo>
                <a:lnTo>
                  <a:pt x="265811" y="86868"/>
                </a:lnTo>
                <a:lnTo>
                  <a:pt x="323723" y="57912"/>
                </a:lnTo>
                <a:lnTo>
                  <a:pt x="352679" y="43434"/>
                </a:lnTo>
                <a:close/>
              </a:path>
              <a:path w="1713865" h="86994">
                <a:moveTo>
                  <a:pt x="1713611" y="43434"/>
                </a:moveTo>
                <a:lnTo>
                  <a:pt x="1684655" y="28956"/>
                </a:lnTo>
                <a:lnTo>
                  <a:pt x="1626743" y="0"/>
                </a:lnTo>
                <a:lnTo>
                  <a:pt x="1626743" y="28956"/>
                </a:lnTo>
                <a:lnTo>
                  <a:pt x="1360932" y="28956"/>
                </a:lnTo>
                <a:lnTo>
                  <a:pt x="1360932" y="57912"/>
                </a:lnTo>
                <a:lnTo>
                  <a:pt x="1626743" y="57912"/>
                </a:lnTo>
                <a:lnTo>
                  <a:pt x="1626743" y="86868"/>
                </a:lnTo>
                <a:lnTo>
                  <a:pt x="1684655" y="57912"/>
                </a:lnTo>
                <a:lnTo>
                  <a:pt x="1713611" y="43434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405890" cy="1440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89247" y="1932432"/>
            <a:ext cx="5397246" cy="115595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2101" y="1766061"/>
            <a:ext cx="3181350" cy="2992120"/>
            <a:chOff x="562101" y="1766061"/>
            <a:chExt cx="3181350" cy="2992120"/>
          </a:xfrm>
        </p:grpSpPr>
        <p:sp>
          <p:nvSpPr>
            <p:cNvPr id="11" name="object 11"/>
            <p:cNvSpPr/>
            <p:nvPr/>
          </p:nvSpPr>
          <p:spPr>
            <a:xfrm>
              <a:off x="568451" y="1772411"/>
              <a:ext cx="3168650" cy="2979420"/>
            </a:xfrm>
            <a:custGeom>
              <a:avLst/>
              <a:gdLst/>
              <a:ahLst/>
              <a:cxnLst/>
              <a:rect l="l" t="t" r="r" b="b"/>
              <a:pathLst>
                <a:path w="3168650" h="2979420">
                  <a:moveTo>
                    <a:pt x="0" y="2979420"/>
                  </a:moveTo>
                  <a:lnTo>
                    <a:pt x="3168396" y="2979420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2979420"/>
                  </a:lnTo>
                  <a:close/>
                </a:path>
              </a:pathLst>
            </a:custGeom>
            <a:ln w="12191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21485" y="2131313"/>
              <a:ext cx="144145" cy="2340610"/>
            </a:xfrm>
            <a:custGeom>
              <a:avLst/>
              <a:gdLst/>
              <a:ahLst/>
              <a:cxnLst/>
              <a:rect l="l" t="t" r="r" b="b"/>
              <a:pathLst>
                <a:path w="144144" h="2340610">
                  <a:moveTo>
                    <a:pt x="143255" y="0"/>
                  </a:moveTo>
                  <a:lnTo>
                    <a:pt x="143255" y="2340229"/>
                  </a:lnTo>
                </a:path>
                <a:path w="144144" h="2340610">
                  <a:moveTo>
                    <a:pt x="144017" y="144780"/>
                  </a:moveTo>
                  <a:lnTo>
                    <a:pt x="0" y="144780"/>
                  </a:lnTo>
                </a:path>
                <a:path w="144144" h="2340610">
                  <a:moveTo>
                    <a:pt x="144017" y="441960"/>
                  </a:moveTo>
                  <a:lnTo>
                    <a:pt x="0" y="441960"/>
                  </a:lnTo>
                </a:path>
                <a:path w="144144" h="2340610">
                  <a:moveTo>
                    <a:pt x="144017" y="740663"/>
                  </a:moveTo>
                  <a:lnTo>
                    <a:pt x="0" y="740663"/>
                  </a:lnTo>
                </a:path>
                <a:path w="144144" h="2340610">
                  <a:moveTo>
                    <a:pt x="144017" y="1039368"/>
                  </a:moveTo>
                  <a:lnTo>
                    <a:pt x="0" y="1039368"/>
                  </a:lnTo>
                </a:path>
                <a:path w="144144" h="2340610">
                  <a:moveTo>
                    <a:pt x="144017" y="1338072"/>
                  </a:moveTo>
                  <a:lnTo>
                    <a:pt x="0" y="1338072"/>
                  </a:lnTo>
                </a:path>
                <a:path w="144144" h="2340610">
                  <a:moveTo>
                    <a:pt x="144017" y="1635252"/>
                  </a:moveTo>
                  <a:lnTo>
                    <a:pt x="0" y="1635252"/>
                  </a:lnTo>
                </a:path>
                <a:path w="144144" h="2340610">
                  <a:moveTo>
                    <a:pt x="144017" y="1933956"/>
                  </a:moveTo>
                  <a:lnTo>
                    <a:pt x="0" y="1933956"/>
                  </a:lnTo>
                </a:path>
                <a:path w="144144" h="2340610">
                  <a:moveTo>
                    <a:pt x="144017" y="2232660"/>
                  </a:moveTo>
                  <a:lnTo>
                    <a:pt x="0" y="223266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52195" y="2694728"/>
            <a:ext cx="110489" cy="59817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5"/>
              </a:spcBef>
            </a:pPr>
            <a:r>
              <a:rPr dirty="0" sz="1450" spc="-25">
                <a:latin typeface="Cambria Math"/>
                <a:cs typeface="Cambria Math"/>
              </a:rPr>
              <a:t>a</a:t>
            </a:r>
            <a:endParaRPr sz="14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r>
              <a:rPr dirty="0" sz="1450" spc="-25">
                <a:latin typeface="Cambria Math"/>
                <a:cs typeface="Cambria Math"/>
              </a:rPr>
              <a:t>b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2195" y="3458726"/>
            <a:ext cx="112395" cy="80899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R="5080">
              <a:lnSpc>
                <a:spcPct val="116799"/>
              </a:lnSpc>
              <a:spcBef>
                <a:spcPts val="160"/>
              </a:spcBef>
            </a:pPr>
            <a:r>
              <a:rPr dirty="0" sz="1450" spc="-25">
                <a:latin typeface="Cambria Math"/>
                <a:cs typeface="Cambria Math"/>
              </a:rPr>
              <a:t>c </a:t>
            </a:r>
            <a:r>
              <a:rPr dirty="0" sz="1450" spc="-310">
                <a:latin typeface="Cambria Math"/>
                <a:cs typeface="Cambria Math"/>
              </a:rPr>
              <a:t> </a:t>
            </a:r>
            <a:r>
              <a:rPr dirty="0" sz="1450" spc="-15">
                <a:latin typeface="Cambria Math"/>
                <a:cs typeface="Cambria Math"/>
              </a:rPr>
              <a:t>d  </a:t>
            </a:r>
            <a:r>
              <a:rPr dirty="0" sz="1450" spc="-25">
                <a:latin typeface="Cambria Math"/>
                <a:cs typeface="Cambria Math"/>
              </a:rPr>
              <a:t>x</a:t>
            </a:r>
            <a:endParaRPr sz="14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35405" y="2131314"/>
            <a:ext cx="1542415" cy="2340610"/>
            <a:chOff x="1335405" y="2131314"/>
            <a:chExt cx="1542415" cy="2340610"/>
          </a:xfrm>
        </p:grpSpPr>
        <p:sp>
          <p:nvSpPr>
            <p:cNvPr id="16" name="object 16"/>
            <p:cNvSpPr/>
            <p:nvPr/>
          </p:nvSpPr>
          <p:spPr>
            <a:xfrm>
              <a:off x="2733294" y="2131314"/>
              <a:ext cx="144145" cy="2340610"/>
            </a:xfrm>
            <a:custGeom>
              <a:avLst/>
              <a:gdLst/>
              <a:ahLst/>
              <a:cxnLst/>
              <a:rect l="l" t="t" r="r" b="b"/>
              <a:pathLst>
                <a:path w="144144" h="2340610">
                  <a:moveTo>
                    <a:pt x="0" y="0"/>
                  </a:moveTo>
                  <a:lnTo>
                    <a:pt x="0" y="2340229"/>
                  </a:lnTo>
                </a:path>
                <a:path w="144144" h="2340610">
                  <a:moveTo>
                    <a:pt x="0" y="144780"/>
                  </a:moveTo>
                  <a:lnTo>
                    <a:pt x="144018" y="144780"/>
                  </a:lnTo>
                </a:path>
                <a:path w="144144" h="2340610">
                  <a:moveTo>
                    <a:pt x="0" y="441960"/>
                  </a:moveTo>
                  <a:lnTo>
                    <a:pt x="144018" y="441960"/>
                  </a:lnTo>
                </a:path>
                <a:path w="144144" h="2340610">
                  <a:moveTo>
                    <a:pt x="0" y="740663"/>
                  </a:moveTo>
                  <a:lnTo>
                    <a:pt x="144018" y="740663"/>
                  </a:lnTo>
                </a:path>
                <a:path w="144144" h="2340610">
                  <a:moveTo>
                    <a:pt x="0" y="1039368"/>
                  </a:moveTo>
                  <a:lnTo>
                    <a:pt x="144018" y="1039368"/>
                  </a:lnTo>
                </a:path>
                <a:path w="144144" h="2340610">
                  <a:moveTo>
                    <a:pt x="0" y="1338072"/>
                  </a:moveTo>
                  <a:lnTo>
                    <a:pt x="144018" y="1338072"/>
                  </a:lnTo>
                </a:path>
                <a:path w="144144" h="2340610">
                  <a:moveTo>
                    <a:pt x="0" y="1635252"/>
                  </a:moveTo>
                  <a:lnTo>
                    <a:pt x="144018" y="1635252"/>
                  </a:lnTo>
                </a:path>
                <a:path w="144144" h="2340610">
                  <a:moveTo>
                    <a:pt x="0" y="1933956"/>
                  </a:moveTo>
                  <a:lnTo>
                    <a:pt x="144018" y="1933956"/>
                  </a:lnTo>
                </a:path>
                <a:path w="144144" h="2340610">
                  <a:moveTo>
                    <a:pt x="0" y="2232660"/>
                  </a:moveTo>
                  <a:lnTo>
                    <a:pt x="144018" y="223266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35405" y="2196083"/>
              <a:ext cx="1412875" cy="2014855"/>
            </a:xfrm>
            <a:custGeom>
              <a:avLst/>
              <a:gdLst/>
              <a:ahLst/>
              <a:cxnLst/>
              <a:rect l="l" t="t" r="r" b="b"/>
              <a:pathLst>
                <a:path w="1412875" h="2014854">
                  <a:moveTo>
                    <a:pt x="1382395" y="1758696"/>
                  </a:moveTo>
                  <a:lnTo>
                    <a:pt x="1367472" y="1754124"/>
                  </a:lnTo>
                  <a:lnTo>
                    <a:pt x="1196721" y="1701800"/>
                  </a:lnTo>
                  <a:lnTo>
                    <a:pt x="1206322" y="1758924"/>
                  </a:lnTo>
                  <a:lnTo>
                    <a:pt x="23749" y="1957705"/>
                  </a:lnTo>
                  <a:lnTo>
                    <a:pt x="33401" y="2014855"/>
                  </a:lnTo>
                  <a:lnTo>
                    <a:pt x="1215948" y="1816074"/>
                  </a:lnTo>
                  <a:lnTo>
                    <a:pt x="1225550" y="1873123"/>
                  </a:lnTo>
                  <a:lnTo>
                    <a:pt x="1382395" y="1758696"/>
                  </a:lnTo>
                  <a:close/>
                </a:path>
                <a:path w="1412875" h="2014854">
                  <a:moveTo>
                    <a:pt x="1412494" y="846455"/>
                  </a:moveTo>
                  <a:lnTo>
                    <a:pt x="1254760" y="732917"/>
                  </a:lnTo>
                  <a:lnTo>
                    <a:pt x="1245527" y="790143"/>
                  </a:lnTo>
                  <a:lnTo>
                    <a:pt x="839812" y="724585"/>
                  </a:lnTo>
                  <a:lnTo>
                    <a:pt x="930960" y="612368"/>
                  </a:lnTo>
                  <a:lnTo>
                    <a:pt x="1242885" y="472503"/>
                  </a:lnTo>
                  <a:lnTo>
                    <a:pt x="1266571" y="525272"/>
                  </a:lnTo>
                  <a:lnTo>
                    <a:pt x="1362811" y="407670"/>
                  </a:lnTo>
                  <a:lnTo>
                    <a:pt x="1389634" y="374904"/>
                  </a:lnTo>
                  <a:lnTo>
                    <a:pt x="1195451" y="366776"/>
                  </a:lnTo>
                  <a:lnTo>
                    <a:pt x="1219123" y="419557"/>
                  </a:lnTo>
                  <a:lnTo>
                    <a:pt x="1012164" y="512394"/>
                  </a:lnTo>
                  <a:lnTo>
                    <a:pt x="1303959" y="153136"/>
                  </a:lnTo>
                  <a:lnTo>
                    <a:pt x="1348867" y="189611"/>
                  </a:lnTo>
                  <a:lnTo>
                    <a:pt x="1370101" y="94107"/>
                  </a:lnTo>
                  <a:lnTo>
                    <a:pt x="1391031" y="0"/>
                  </a:lnTo>
                  <a:lnTo>
                    <a:pt x="1214120" y="80137"/>
                  </a:lnTo>
                  <a:lnTo>
                    <a:pt x="1258976" y="116586"/>
                  </a:lnTo>
                  <a:lnTo>
                    <a:pt x="894753" y="565048"/>
                  </a:lnTo>
                  <a:lnTo>
                    <a:pt x="813574" y="601472"/>
                  </a:lnTo>
                  <a:lnTo>
                    <a:pt x="813574" y="665010"/>
                  </a:lnTo>
                  <a:lnTo>
                    <a:pt x="773849" y="713917"/>
                  </a:lnTo>
                  <a:lnTo>
                    <a:pt x="722858" y="705675"/>
                  </a:lnTo>
                  <a:lnTo>
                    <a:pt x="813574" y="665010"/>
                  </a:lnTo>
                  <a:lnTo>
                    <a:pt x="813574" y="601472"/>
                  </a:lnTo>
                  <a:lnTo>
                    <a:pt x="618744" y="688848"/>
                  </a:lnTo>
                  <a:lnTo>
                    <a:pt x="27051" y="593217"/>
                  </a:lnTo>
                  <a:lnTo>
                    <a:pt x="17907" y="650367"/>
                  </a:lnTo>
                  <a:lnTo>
                    <a:pt x="522643" y="731951"/>
                  </a:lnTo>
                  <a:lnTo>
                    <a:pt x="16764" y="958850"/>
                  </a:lnTo>
                  <a:lnTo>
                    <a:pt x="40386" y="1011682"/>
                  </a:lnTo>
                  <a:lnTo>
                    <a:pt x="626732" y="748779"/>
                  </a:lnTo>
                  <a:lnTo>
                    <a:pt x="731748" y="765759"/>
                  </a:lnTo>
                  <a:lnTo>
                    <a:pt x="265836" y="1339418"/>
                  </a:lnTo>
                  <a:lnTo>
                    <a:pt x="23749" y="1380109"/>
                  </a:lnTo>
                  <a:lnTo>
                    <a:pt x="33401" y="1437259"/>
                  </a:lnTo>
                  <a:lnTo>
                    <a:pt x="210566" y="1407490"/>
                  </a:lnTo>
                  <a:lnTo>
                    <a:pt x="0" y="1666748"/>
                  </a:lnTo>
                  <a:lnTo>
                    <a:pt x="44958" y="1703197"/>
                  </a:lnTo>
                  <a:lnTo>
                    <a:pt x="296938" y="1392961"/>
                  </a:lnTo>
                  <a:lnTo>
                    <a:pt x="1215948" y="1238478"/>
                  </a:lnTo>
                  <a:lnTo>
                    <a:pt x="1225550" y="1295527"/>
                  </a:lnTo>
                  <a:lnTo>
                    <a:pt x="1382395" y="1181100"/>
                  </a:lnTo>
                  <a:lnTo>
                    <a:pt x="1367472" y="1176528"/>
                  </a:lnTo>
                  <a:lnTo>
                    <a:pt x="1196721" y="1124204"/>
                  </a:lnTo>
                  <a:lnTo>
                    <a:pt x="1206322" y="1181328"/>
                  </a:lnTo>
                  <a:lnTo>
                    <a:pt x="352221" y="1324902"/>
                  </a:lnTo>
                  <a:lnTo>
                    <a:pt x="797712" y="776414"/>
                  </a:lnTo>
                  <a:lnTo>
                    <a:pt x="1236294" y="847293"/>
                  </a:lnTo>
                  <a:lnTo>
                    <a:pt x="1227074" y="904494"/>
                  </a:lnTo>
                  <a:lnTo>
                    <a:pt x="1395044" y="851916"/>
                  </a:lnTo>
                  <a:lnTo>
                    <a:pt x="1412494" y="8464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040379" y="1996186"/>
            <a:ext cx="373380" cy="664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40">
                <a:latin typeface="Cambria Math"/>
                <a:cs typeface="Cambria Math"/>
              </a:rPr>
              <a:t>𝑓</a:t>
            </a:r>
            <a:r>
              <a:rPr dirty="0" sz="1400" spc="5">
                <a:latin typeface="Cambria Math"/>
                <a:cs typeface="Cambria Math"/>
              </a:rPr>
              <a:t>(</a:t>
            </a:r>
            <a:r>
              <a:rPr dirty="0" sz="1400" spc="35">
                <a:latin typeface="Cambria Math"/>
                <a:cs typeface="Cambria Math"/>
              </a:rPr>
              <a:t>𝑑</a:t>
            </a:r>
            <a:r>
              <a:rPr dirty="0" sz="1400">
                <a:latin typeface="Cambria Math"/>
                <a:cs typeface="Cambria Math"/>
              </a:rPr>
              <a:t>)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Cambria Math"/>
              <a:cs typeface="Cambria Math"/>
            </a:endParaRPr>
          </a:p>
          <a:p>
            <a:pPr marL="5715">
              <a:lnSpc>
                <a:spcPct val="100000"/>
              </a:lnSpc>
            </a:pPr>
            <a:r>
              <a:rPr dirty="0" sz="1400" spc="10">
                <a:latin typeface="Cambria Math"/>
                <a:cs typeface="Cambria Math"/>
              </a:rPr>
              <a:t>𝑓(𝑏)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43427" y="2831439"/>
            <a:ext cx="367665" cy="59309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0"/>
              </a:spcBef>
            </a:pPr>
            <a:r>
              <a:rPr dirty="0" sz="1400" spc="40">
                <a:latin typeface="Cambria Math"/>
                <a:cs typeface="Cambria Math"/>
              </a:rPr>
              <a:t>𝑓</a:t>
            </a:r>
            <a:r>
              <a:rPr dirty="0" sz="1400" spc="5">
                <a:latin typeface="Cambria Math"/>
                <a:cs typeface="Cambria Math"/>
              </a:rPr>
              <a:t>(</a:t>
            </a:r>
            <a:r>
              <a:rPr dirty="0" sz="1400" spc="20">
                <a:latin typeface="Cambria Math"/>
                <a:cs typeface="Cambria Math"/>
              </a:rPr>
              <a:t>𝑎</a:t>
            </a:r>
            <a:r>
              <a:rPr dirty="0" sz="1400">
                <a:latin typeface="Cambria Math"/>
                <a:cs typeface="Cambria Math"/>
              </a:rPr>
              <a:t>)</a:t>
            </a:r>
            <a:endParaRPr sz="1400">
              <a:latin typeface="Cambria Math"/>
              <a:cs typeface="Cambria Math"/>
            </a:endParaRPr>
          </a:p>
          <a:p>
            <a:pPr marL="7620">
              <a:lnSpc>
                <a:spcPct val="100000"/>
              </a:lnSpc>
              <a:spcBef>
                <a:spcPts val="555"/>
              </a:spcBef>
            </a:pPr>
            <a:r>
              <a:rPr dirty="0" sz="1400" spc="20">
                <a:latin typeface="Cambria Math"/>
                <a:cs typeface="Cambria Math"/>
              </a:rPr>
              <a:t>𝑓(𝑐)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4951" y="3772027"/>
            <a:ext cx="3644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40">
                <a:latin typeface="Cambria Math"/>
                <a:cs typeface="Cambria Math"/>
              </a:rPr>
              <a:t>𝑓</a:t>
            </a:r>
            <a:r>
              <a:rPr dirty="0" sz="1400" spc="5">
                <a:latin typeface="Cambria Math"/>
                <a:cs typeface="Cambria Math"/>
              </a:rPr>
              <a:t>(</a:t>
            </a:r>
            <a:r>
              <a:rPr dirty="0" sz="1400" spc="30">
                <a:latin typeface="Cambria Math"/>
                <a:cs typeface="Cambria Math"/>
              </a:rPr>
              <a:t>𝑥</a:t>
            </a:r>
            <a:r>
              <a:rPr dirty="0" sz="1400">
                <a:latin typeface="Cambria Math"/>
                <a:cs typeface="Cambria Math"/>
              </a:rPr>
              <a:t>)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947159" y="2726435"/>
            <a:ext cx="1976755" cy="455930"/>
          </a:xfrm>
          <a:custGeom>
            <a:avLst/>
            <a:gdLst/>
            <a:ahLst/>
            <a:cxnLst/>
            <a:rect l="l" t="t" r="r" b="b"/>
            <a:pathLst>
              <a:path w="1976754" h="455930">
                <a:moveTo>
                  <a:pt x="1976627" y="0"/>
                </a:moveTo>
                <a:lnTo>
                  <a:pt x="0" y="0"/>
                </a:lnTo>
                <a:lnTo>
                  <a:pt x="0" y="455675"/>
                </a:lnTo>
                <a:lnTo>
                  <a:pt x="1976627" y="455675"/>
                </a:lnTo>
                <a:lnTo>
                  <a:pt x="19766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970532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994916"/>
            <a:ext cx="1774698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336292"/>
            <a:ext cx="5769102" cy="74142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0248" y="1440180"/>
            <a:ext cx="263880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3952494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0183" y="1728216"/>
            <a:ext cx="6275070" cy="1073785"/>
            <a:chOff x="710183" y="1728216"/>
            <a:chExt cx="6275070" cy="1073785"/>
          </a:xfrm>
        </p:grpSpPr>
        <p:sp>
          <p:nvSpPr>
            <p:cNvPr id="8" name="object 8"/>
            <p:cNvSpPr/>
            <p:nvPr/>
          </p:nvSpPr>
          <p:spPr>
            <a:xfrm>
              <a:off x="4158995" y="1728216"/>
              <a:ext cx="1762125" cy="419100"/>
            </a:xfrm>
            <a:custGeom>
              <a:avLst/>
              <a:gdLst/>
              <a:ahLst/>
              <a:cxnLst/>
              <a:rect l="l" t="t" r="r" b="b"/>
              <a:pathLst>
                <a:path w="1762125" h="419100">
                  <a:moveTo>
                    <a:pt x="1761744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1761744" y="419100"/>
                  </a:lnTo>
                  <a:lnTo>
                    <a:pt x="17617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1839455"/>
              <a:ext cx="6275070" cy="96241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4608" y="2921380"/>
            <a:ext cx="8789670" cy="3293745"/>
            <a:chOff x="554608" y="2921380"/>
            <a:chExt cx="8789670" cy="3293745"/>
          </a:xfrm>
        </p:grpSpPr>
        <p:sp>
          <p:nvSpPr>
            <p:cNvPr id="13" name="object 13"/>
            <p:cNvSpPr/>
            <p:nvPr/>
          </p:nvSpPr>
          <p:spPr>
            <a:xfrm>
              <a:off x="557783" y="2924555"/>
              <a:ext cx="8783320" cy="3287395"/>
            </a:xfrm>
            <a:custGeom>
              <a:avLst/>
              <a:gdLst/>
              <a:ahLst/>
              <a:cxnLst/>
              <a:rect l="l" t="t" r="r" b="b"/>
              <a:pathLst>
                <a:path w="8783320" h="3287395">
                  <a:moveTo>
                    <a:pt x="0" y="3287267"/>
                  </a:moveTo>
                  <a:lnTo>
                    <a:pt x="8782812" y="3287267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28726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0747" y="2944367"/>
              <a:ext cx="8689848" cy="14843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46503" y="3404615"/>
              <a:ext cx="315595" cy="181610"/>
            </a:xfrm>
            <a:custGeom>
              <a:avLst/>
              <a:gdLst/>
              <a:ahLst/>
              <a:cxnLst/>
              <a:rect l="l" t="t" r="r" b="b"/>
              <a:pathLst>
                <a:path w="315594" h="181610">
                  <a:moveTo>
                    <a:pt x="315468" y="0"/>
                  </a:moveTo>
                  <a:lnTo>
                    <a:pt x="0" y="0"/>
                  </a:lnTo>
                  <a:lnTo>
                    <a:pt x="0" y="181355"/>
                  </a:lnTo>
                  <a:lnTo>
                    <a:pt x="315468" y="181355"/>
                  </a:lnTo>
                  <a:lnTo>
                    <a:pt x="31546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29633" y="4502657"/>
              <a:ext cx="1943100" cy="1531620"/>
            </a:xfrm>
            <a:custGeom>
              <a:avLst/>
              <a:gdLst/>
              <a:ahLst/>
              <a:cxnLst/>
              <a:rect l="l" t="t" r="r" b="b"/>
              <a:pathLst>
                <a:path w="1943100" h="1531620">
                  <a:moveTo>
                    <a:pt x="1943100" y="1264920"/>
                  </a:moveTo>
                  <a:lnTo>
                    <a:pt x="1923288" y="1255014"/>
                  </a:lnTo>
                  <a:lnTo>
                    <a:pt x="1866900" y="1226820"/>
                  </a:lnTo>
                  <a:lnTo>
                    <a:pt x="1866900" y="1255014"/>
                  </a:lnTo>
                  <a:lnTo>
                    <a:pt x="916686" y="1255014"/>
                  </a:lnTo>
                  <a:lnTo>
                    <a:pt x="916686" y="76200"/>
                  </a:lnTo>
                  <a:lnTo>
                    <a:pt x="944880" y="76200"/>
                  </a:lnTo>
                  <a:lnTo>
                    <a:pt x="938530" y="63500"/>
                  </a:lnTo>
                  <a:lnTo>
                    <a:pt x="906780" y="0"/>
                  </a:lnTo>
                  <a:lnTo>
                    <a:pt x="868680" y="76200"/>
                  </a:lnTo>
                  <a:lnTo>
                    <a:pt x="896874" y="76200"/>
                  </a:lnTo>
                  <a:lnTo>
                    <a:pt x="896874" y="1255014"/>
                  </a:lnTo>
                  <a:lnTo>
                    <a:pt x="0" y="1255014"/>
                  </a:lnTo>
                  <a:lnTo>
                    <a:pt x="0" y="1274826"/>
                  </a:lnTo>
                  <a:lnTo>
                    <a:pt x="896874" y="1274826"/>
                  </a:lnTo>
                  <a:lnTo>
                    <a:pt x="896874" y="1531620"/>
                  </a:lnTo>
                  <a:lnTo>
                    <a:pt x="916686" y="1531620"/>
                  </a:lnTo>
                  <a:lnTo>
                    <a:pt x="916686" y="1274826"/>
                  </a:lnTo>
                  <a:lnTo>
                    <a:pt x="1866900" y="1274826"/>
                  </a:lnTo>
                  <a:lnTo>
                    <a:pt x="1866900" y="1303020"/>
                  </a:lnTo>
                  <a:lnTo>
                    <a:pt x="1923288" y="1274826"/>
                  </a:lnTo>
                  <a:lnTo>
                    <a:pt x="1943100" y="12649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53533" y="4586477"/>
              <a:ext cx="419100" cy="1348740"/>
            </a:xfrm>
            <a:custGeom>
              <a:avLst/>
              <a:gdLst/>
              <a:ahLst/>
              <a:cxnLst/>
              <a:rect l="l" t="t" r="r" b="b"/>
              <a:pathLst>
                <a:path w="419100" h="1348739">
                  <a:moveTo>
                    <a:pt x="0" y="1348740"/>
                  </a:moveTo>
                  <a:lnTo>
                    <a:pt x="419100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911596" y="5670600"/>
            <a:ext cx="1079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73828" y="5288279"/>
            <a:ext cx="414020" cy="706120"/>
            <a:chOff x="4473828" y="5288279"/>
            <a:chExt cx="414020" cy="70612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3835" y="5288279"/>
              <a:ext cx="103632" cy="1036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46675" y="5711951"/>
              <a:ext cx="103632" cy="10363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473828" y="5983604"/>
              <a:ext cx="91440" cy="10795"/>
            </a:xfrm>
            <a:custGeom>
              <a:avLst/>
              <a:gdLst/>
              <a:ahLst/>
              <a:cxnLst/>
              <a:rect l="l" t="t" r="r" b="b"/>
              <a:pathLst>
                <a:path w="91439" h="10795">
                  <a:moveTo>
                    <a:pt x="91439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91439" y="1066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882896" y="5773623"/>
            <a:ext cx="1035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6664" y="5734608"/>
            <a:ext cx="307340" cy="347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0">
              <a:lnSpc>
                <a:spcPts val="1270"/>
              </a:lnSpc>
              <a:spcBef>
                <a:spcPts val="95"/>
              </a:spcBef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  <a:p>
            <a:pPr marL="25400">
              <a:lnSpc>
                <a:spcPts val="1270"/>
              </a:lnSpc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300" spc="-5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36324" sz="1950" spc="-7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endParaRPr baseline="-36324" sz="19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92396" y="4529709"/>
            <a:ext cx="1714500" cy="984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Cambria Math"/>
              <a:cs typeface="Cambria Math"/>
            </a:endParaRPr>
          </a:p>
          <a:p>
            <a:pPr marL="608330">
              <a:lnSpc>
                <a:spcPct val="100000"/>
              </a:lnSpc>
            </a:pPr>
            <a:r>
              <a:rPr dirty="0" sz="1400" spc="20">
                <a:solidFill>
                  <a:srgbClr val="252525"/>
                </a:solidFill>
                <a:latin typeface="Cambria Math"/>
                <a:cs typeface="Cambria Math"/>
              </a:rPr>
              <a:t>𝑓(𝑥)</a:t>
            </a:r>
            <a:r>
              <a:rPr dirty="0" sz="1400" spc="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6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3𝑥</a:t>
            </a:r>
            <a:r>
              <a:rPr dirty="0" sz="1400" spc="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400" spc="-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269875">
              <a:lnSpc>
                <a:spcPct val="100000"/>
              </a:lnSpc>
              <a:spcBef>
                <a:spcPts val="83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021586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60804"/>
            <a:ext cx="8446770" cy="9563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40708" y="3083039"/>
            <a:ext cx="4961382" cy="36501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22122" y="3002026"/>
            <a:ext cx="3306445" cy="2016760"/>
            <a:chOff x="722122" y="3002026"/>
            <a:chExt cx="3306445" cy="2016760"/>
          </a:xfrm>
        </p:grpSpPr>
        <p:sp>
          <p:nvSpPr>
            <p:cNvPr id="12" name="object 12"/>
            <p:cNvSpPr/>
            <p:nvPr/>
          </p:nvSpPr>
          <p:spPr>
            <a:xfrm>
              <a:off x="728472" y="3008376"/>
              <a:ext cx="3293745" cy="2004060"/>
            </a:xfrm>
            <a:custGeom>
              <a:avLst/>
              <a:gdLst/>
              <a:ahLst/>
              <a:cxnLst/>
              <a:rect l="l" t="t" r="r" b="b"/>
              <a:pathLst>
                <a:path w="3293745" h="2004060">
                  <a:moveTo>
                    <a:pt x="0" y="2004060"/>
                  </a:moveTo>
                  <a:lnTo>
                    <a:pt x="3293364" y="2004060"/>
                  </a:lnTo>
                  <a:lnTo>
                    <a:pt x="3293364" y="0"/>
                  </a:lnTo>
                  <a:lnTo>
                    <a:pt x="0" y="0"/>
                  </a:lnTo>
                  <a:lnTo>
                    <a:pt x="0" y="2004060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83158" y="3249929"/>
              <a:ext cx="2679700" cy="1619885"/>
            </a:xfrm>
            <a:custGeom>
              <a:avLst/>
              <a:gdLst/>
              <a:ahLst/>
              <a:cxnLst/>
              <a:rect l="l" t="t" r="r" b="b"/>
              <a:pathLst>
                <a:path w="2679700" h="1619885">
                  <a:moveTo>
                    <a:pt x="2679319" y="1078992"/>
                  </a:moveTo>
                  <a:lnTo>
                    <a:pt x="2659507" y="1069086"/>
                  </a:lnTo>
                  <a:lnTo>
                    <a:pt x="2603119" y="1040892"/>
                  </a:lnTo>
                  <a:lnTo>
                    <a:pt x="2603119" y="1069086"/>
                  </a:lnTo>
                  <a:lnTo>
                    <a:pt x="1291590" y="1069086"/>
                  </a:lnTo>
                  <a:lnTo>
                    <a:pt x="1291590" y="76200"/>
                  </a:lnTo>
                  <a:lnTo>
                    <a:pt x="1319784" y="76200"/>
                  </a:lnTo>
                  <a:lnTo>
                    <a:pt x="1313434" y="63500"/>
                  </a:lnTo>
                  <a:lnTo>
                    <a:pt x="1281684" y="0"/>
                  </a:lnTo>
                  <a:lnTo>
                    <a:pt x="1243584" y="76200"/>
                  </a:lnTo>
                  <a:lnTo>
                    <a:pt x="1271778" y="76200"/>
                  </a:lnTo>
                  <a:lnTo>
                    <a:pt x="1271778" y="1069086"/>
                  </a:lnTo>
                  <a:lnTo>
                    <a:pt x="0" y="1069086"/>
                  </a:lnTo>
                  <a:lnTo>
                    <a:pt x="0" y="1088898"/>
                  </a:lnTo>
                  <a:lnTo>
                    <a:pt x="1271778" y="1088898"/>
                  </a:lnTo>
                  <a:lnTo>
                    <a:pt x="1271778" y="1619885"/>
                  </a:lnTo>
                  <a:lnTo>
                    <a:pt x="1291590" y="1619885"/>
                  </a:lnTo>
                  <a:lnTo>
                    <a:pt x="1291590" y="1088898"/>
                  </a:lnTo>
                  <a:lnTo>
                    <a:pt x="2603119" y="1088898"/>
                  </a:lnTo>
                  <a:lnTo>
                    <a:pt x="2603119" y="1117092"/>
                  </a:lnTo>
                  <a:lnTo>
                    <a:pt x="2659507" y="1088898"/>
                  </a:lnTo>
                  <a:lnTo>
                    <a:pt x="2679319" y="1078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98550" y="3021290"/>
            <a:ext cx="122618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1111250" algn="l"/>
              </a:tabLst>
            </a:pPr>
            <a:r>
              <a:rPr dirty="0" sz="1150" spc="-35">
                <a:latin typeface="Cambria Math"/>
                <a:cs typeface="Cambria Math"/>
              </a:rPr>
              <a:t>G</a:t>
            </a:r>
            <a:r>
              <a:rPr dirty="0" sz="1100">
                <a:latin typeface="Cambria Math"/>
                <a:cs typeface="Cambria Math"/>
              </a:rPr>
              <a:t>𝑟𝑎</a:t>
            </a:r>
            <a:r>
              <a:rPr dirty="0" sz="1100" spc="-5">
                <a:latin typeface="Cambria Math"/>
                <a:cs typeface="Cambria Math"/>
              </a:rPr>
              <a:t>𝑝</a:t>
            </a:r>
            <a:r>
              <a:rPr dirty="0" sz="1100">
                <a:latin typeface="Cambria Math"/>
                <a:cs typeface="Cambria Math"/>
              </a:rPr>
              <a:t>ℎ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𝑦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=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 spc="15">
                <a:latin typeface="Cambria Math"/>
                <a:cs typeface="Cambria Math"/>
              </a:rPr>
              <a:t>𝑓</a:t>
            </a:r>
            <a:r>
              <a:rPr dirty="0" sz="1100" spc="5">
                <a:latin typeface="Cambria Math"/>
                <a:cs typeface="Cambria Math"/>
              </a:rPr>
              <a:t>(</a:t>
            </a:r>
            <a:r>
              <a:rPr dirty="0" sz="1100" spc="35">
                <a:latin typeface="Cambria Math"/>
                <a:cs typeface="Cambria Math"/>
              </a:rPr>
              <a:t>𝑥</a:t>
            </a:r>
            <a:r>
              <a:rPr dirty="0" sz="1100">
                <a:latin typeface="Cambria Math"/>
                <a:cs typeface="Cambria Math"/>
              </a:rPr>
              <a:t>)</a:t>
            </a:r>
            <a:r>
              <a:rPr dirty="0" sz="1100">
                <a:latin typeface="Cambria Math"/>
                <a:cs typeface="Cambria Math"/>
              </a:rPr>
              <a:t>	</a:t>
            </a:r>
            <a:r>
              <a:rPr dirty="0" baseline="3367" sz="2475" spc="-44">
                <a:latin typeface="Cambria Math"/>
                <a:cs typeface="Cambria Math"/>
              </a:rPr>
              <a:t>y</a:t>
            </a:r>
            <a:endParaRPr baseline="3367" sz="247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6685" y="4026875"/>
            <a:ext cx="111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-30">
                <a:latin typeface="Cambria Math"/>
                <a:cs typeface="Cambria Math"/>
              </a:rPr>
              <a:t>a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66214" y="4267346"/>
            <a:ext cx="12573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650" spc="-30">
                <a:latin typeface="Cambria Math"/>
                <a:cs typeface="Cambria Math"/>
              </a:rPr>
              <a:t>0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48455" y="4188928"/>
            <a:ext cx="11112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-30">
                <a:latin typeface="Cambria Math"/>
                <a:cs typeface="Cambria Math"/>
              </a:rPr>
              <a:t>x</a:t>
            </a:r>
            <a:endParaRPr sz="165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40941" y="3783329"/>
            <a:ext cx="1406525" cy="859790"/>
            <a:chOff x="1440941" y="3783329"/>
            <a:chExt cx="1406525" cy="859790"/>
          </a:xfrm>
        </p:grpSpPr>
        <p:sp>
          <p:nvSpPr>
            <p:cNvPr id="19" name="object 19"/>
            <p:cNvSpPr/>
            <p:nvPr/>
          </p:nvSpPr>
          <p:spPr>
            <a:xfrm>
              <a:off x="2167890" y="3783329"/>
              <a:ext cx="546100" cy="76200"/>
            </a:xfrm>
            <a:custGeom>
              <a:avLst/>
              <a:gdLst/>
              <a:ahLst/>
              <a:cxnLst/>
              <a:rect l="l" t="t" r="r" b="b"/>
              <a:pathLst>
                <a:path w="546100" h="76200">
                  <a:moveTo>
                    <a:pt x="546100" y="28194"/>
                  </a:moveTo>
                  <a:lnTo>
                    <a:pt x="526288" y="28194"/>
                  </a:lnTo>
                  <a:lnTo>
                    <a:pt x="526288" y="48006"/>
                  </a:lnTo>
                  <a:lnTo>
                    <a:pt x="546100" y="48006"/>
                  </a:lnTo>
                  <a:lnTo>
                    <a:pt x="546100" y="28194"/>
                  </a:lnTo>
                  <a:close/>
                </a:path>
                <a:path w="546100" h="76200">
                  <a:moveTo>
                    <a:pt x="506476" y="28194"/>
                  </a:moveTo>
                  <a:lnTo>
                    <a:pt x="486664" y="28194"/>
                  </a:lnTo>
                  <a:lnTo>
                    <a:pt x="486664" y="48006"/>
                  </a:lnTo>
                  <a:lnTo>
                    <a:pt x="506476" y="48006"/>
                  </a:lnTo>
                  <a:lnTo>
                    <a:pt x="506476" y="28194"/>
                  </a:lnTo>
                  <a:close/>
                </a:path>
                <a:path w="546100" h="76200">
                  <a:moveTo>
                    <a:pt x="466852" y="28194"/>
                  </a:moveTo>
                  <a:lnTo>
                    <a:pt x="447040" y="28194"/>
                  </a:lnTo>
                  <a:lnTo>
                    <a:pt x="447040" y="48006"/>
                  </a:lnTo>
                  <a:lnTo>
                    <a:pt x="466852" y="48006"/>
                  </a:lnTo>
                  <a:lnTo>
                    <a:pt x="466852" y="28194"/>
                  </a:lnTo>
                  <a:close/>
                </a:path>
                <a:path w="546100" h="76200">
                  <a:moveTo>
                    <a:pt x="427228" y="28194"/>
                  </a:moveTo>
                  <a:lnTo>
                    <a:pt x="407416" y="28194"/>
                  </a:lnTo>
                  <a:lnTo>
                    <a:pt x="407416" y="48006"/>
                  </a:lnTo>
                  <a:lnTo>
                    <a:pt x="427228" y="48006"/>
                  </a:lnTo>
                  <a:lnTo>
                    <a:pt x="427228" y="28194"/>
                  </a:lnTo>
                  <a:close/>
                </a:path>
                <a:path w="546100" h="76200">
                  <a:moveTo>
                    <a:pt x="387604" y="28194"/>
                  </a:moveTo>
                  <a:lnTo>
                    <a:pt x="367792" y="28194"/>
                  </a:lnTo>
                  <a:lnTo>
                    <a:pt x="367792" y="48006"/>
                  </a:lnTo>
                  <a:lnTo>
                    <a:pt x="387604" y="48006"/>
                  </a:lnTo>
                  <a:lnTo>
                    <a:pt x="387604" y="28194"/>
                  </a:lnTo>
                  <a:close/>
                </a:path>
                <a:path w="546100" h="76200">
                  <a:moveTo>
                    <a:pt x="347980" y="28194"/>
                  </a:moveTo>
                  <a:lnTo>
                    <a:pt x="328168" y="28194"/>
                  </a:lnTo>
                  <a:lnTo>
                    <a:pt x="328168" y="48006"/>
                  </a:lnTo>
                  <a:lnTo>
                    <a:pt x="347980" y="48006"/>
                  </a:lnTo>
                  <a:lnTo>
                    <a:pt x="347980" y="28194"/>
                  </a:lnTo>
                  <a:close/>
                </a:path>
                <a:path w="546100" h="76200">
                  <a:moveTo>
                    <a:pt x="308356" y="28194"/>
                  </a:moveTo>
                  <a:lnTo>
                    <a:pt x="288544" y="28194"/>
                  </a:lnTo>
                  <a:lnTo>
                    <a:pt x="288544" y="48006"/>
                  </a:lnTo>
                  <a:lnTo>
                    <a:pt x="308356" y="48006"/>
                  </a:lnTo>
                  <a:lnTo>
                    <a:pt x="308356" y="28194"/>
                  </a:lnTo>
                  <a:close/>
                </a:path>
                <a:path w="546100" h="76200">
                  <a:moveTo>
                    <a:pt x="268732" y="28194"/>
                  </a:moveTo>
                  <a:lnTo>
                    <a:pt x="248920" y="28194"/>
                  </a:lnTo>
                  <a:lnTo>
                    <a:pt x="248920" y="48006"/>
                  </a:lnTo>
                  <a:lnTo>
                    <a:pt x="268732" y="48006"/>
                  </a:lnTo>
                  <a:lnTo>
                    <a:pt x="268732" y="28194"/>
                  </a:lnTo>
                  <a:close/>
                </a:path>
                <a:path w="546100" h="76200">
                  <a:moveTo>
                    <a:pt x="229108" y="28194"/>
                  </a:moveTo>
                  <a:lnTo>
                    <a:pt x="209296" y="28194"/>
                  </a:lnTo>
                  <a:lnTo>
                    <a:pt x="209296" y="48006"/>
                  </a:lnTo>
                  <a:lnTo>
                    <a:pt x="229108" y="48006"/>
                  </a:lnTo>
                  <a:lnTo>
                    <a:pt x="229108" y="28194"/>
                  </a:lnTo>
                  <a:close/>
                </a:path>
                <a:path w="546100" h="76200">
                  <a:moveTo>
                    <a:pt x="189484" y="28194"/>
                  </a:moveTo>
                  <a:lnTo>
                    <a:pt x="169672" y="28194"/>
                  </a:lnTo>
                  <a:lnTo>
                    <a:pt x="169672" y="48006"/>
                  </a:lnTo>
                  <a:lnTo>
                    <a:pt x="189484" y="48006"/>
                  </a:lnTo>
                  <a:lnTo>
                    <a:pt x="189484" y="28194"/>
                  </a:lnTo>
                  <a:close/>
                </a:path>
                <a:path w="546100" h="76200">
                  <a:moveTo>
                    <a:pt x="149860" y="28194"/>
                  </a:moveTo>
                  <a:lnTo>
                    <a:pt x="130048" y="28194"/>
                  </a:lnTo>
                  <a:lnTo>
                    <a:pt x="130048" y="48006"/>
                  </a:lnTo>
                  <a:lnTo>
                    <a:pt x="149860" y="48006"/>
                  </a:lnTo>
                  <a:lnTo>
                    <a:pt x="149860" y="28194"/>
                  </a:lnTo>
                  <a:close/>
                </a:path>
                <a:path w="546100" h="76200">
                  <a:moveTo>
                    <a:pt x="110236" y="28194"/>
                  </a:moveTo>
                  <a:lnTo>
                    <a:pt x="90424" y="28194"/>
                  </a:lnTo>
                  <a:lnTo>
                    <a:pt x="90424" y="48006"/>
                  </a:lnTo>
                  <a:lnTo>
                    <a:pt x="110236" y="48006"/>
                  </a:lnTo>
                  <a:lnTo>
                    <a:pt x="110236" y="28194"/>
                  </a:lnTo>
                  <a:close/>
                </a:path>
                <a:path w="5461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w="546100" h="76200">
                  <a:moveTo>
                    <a:pt x="70612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0612" y="48006"/>
                  </a:lnTo>
                  <a:lnTo>
                    <a:pt x="70612" y="28194"/>
                  </a:lnTo>
                  <a:close/>
                </a:path>
                <a:path w="546100" h="76200">
                  <a:moveTo>
                    <a:pt x="76200" y="28194"/>
                  </a:moveTo>
                  <a:lnTo>
                    <a:pt x="70612" y="28194"/>
                  </a:lnTo>
                  <a:lnTo>
                    <a:pt x="70612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13481" y="3821429"/>
              <a:ext cx="0" cy="537210"/>
            </a:xfrm>
            <a:custGeom>
              <a:avLst/>
              <a:gdLst/>
              <a:ahLst/>
              <a:cxnLst/>
              <a:rect l="l" t="t" r="r" b="b"/>
              <a:pathLst>
                <a:path w="0" h="537210">
                  <a:moveTo>
                    <a:pt x="0" y="0"/>
                  </a:moveTo>
                  <a:lnTo>
                    <a:pt x="0" y="537210"/>
                  </a:lnTo>
                </a:path>
              </a:pathLst>
            </a:custGeom>
            <a:ln w="19812">
              <a:solidFill>
                <a:srgbClr val="13299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40941" y="4566665"/>
              <a:ext cx="726440" cy="76200"/>
            </a:xfrm>
            <a:custGeom>
              <a:avLst/>
              <a:gdLst/>
              <a:ahLst/>
              <a:cxnLst/>
              <a:rect l="l" t="t" r="r" b="b"/>
              <a:pathLst>
                <a:path w="726439" h="76200">
                  <a:moveTo>
                    <a:pt x="19812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9812" y="48005"/>
                  </a:lnTo>
                  <a:lnTo>
                    <a:pt x="19812" y="28193"/>
                  </a:lnTo>
                  <a:close/>
                </a:path>
                <a:path w="726439" h="76200">
                  <a:moveTo>
                    <a:pt x="59436" y="28193"/>
                  </a:moveTo>
                  <a:lnTo>
                    <a:pt x="39624" y="28193"/>
                  </a:lnTo>
                  <a:lnTo>
                    <a:pt x="39624" y="48005"/>
                  </a:lnTo>
                  <a:lnTo>
                    <a:pt x="59436" y="48005"/>
                  </a:lnTo>
                  <a:lnTo>
                    <a:pt x="59436" y="28193"/>
                  </a:lnTo>
                  <a:close/>
                </a:path>
                <a:path w="726439" h="76200">
                  <a:moveTo>
                    <a:pt x="99060" y="28193"/>
                  </a:moveTo>
                  <a:lnTo>
                    <a:pt x="79248" y="28193"/>
                  </a:lnTo>
                  <a:lnTo>
                    <a:pt x="79248" y="48005"/>
                  </a:lnTo>
                  <a:lnTo>
                    <a:pt x="99060" y="48005"/>
                  </a:lnTo>
                  <a:lnTo>
                    <a:pt x="99060" y="28193"/>
                  </a:lnTo>
                  <a:close/>
                </a:path>
                <a:path w="726439" h="76200">
                  <a:moveTo>
                    <a:pt x="138684" y="28193"/>
                  </a:moveTo>
                  <a:lnTo>
                    <a:pt x="118872" y="28193"/>
                  </a:lnTo>
                  <a:lnTo>
                    <a:pt x="118872" y="48005"/>
                  </a:lnTo>
                  <a:lnTo>
                    <a:pt x="138684" y="48005"/>
                  </a:lnTo>
                  <a:lnTo>
                    <a:pt x="138684" y="28193"/>
                  </a:lnTo>
                  <a:close/>
                </a:path>
                <a:path w="726439" h="76200">
                  <a:moveTo>
                    <a:pt x="178308" y="28193"/>
                  </a:moveTo>
                  <a:lnTo>
                    <a:pt x="158496" y="28193"/>
                  </a:lnTo>
                  <a:lnTo>
                    <a:pt x="158496" y="48005"/>
                  </a:lnTo>
                  <a:lnTo>
                    <a:pt x="178308" y="48005"/>
                  </a:lnTo>
                  <a:lnTo>
                    <a:pt x="178308" y="28193"/>
                  </a:lnTo>
                  <a:close/>
                </a:path>
                <a:path w="726439" h="76200">
                  <a:moveTo>
                    <a:pt x="217932" y="28193"/>
                  </a:moveTo>
                  <a:lnTo>
                    <a:pt x="198120" y="28193"/>
                  </a:lnTo>
                  <a:lnTo>
                    <a:pt x="198120" y="48005"/>
                  </a:lnTo>
                  <a:lnTo>
                    <a:pt x="217932" y="48005"/>
                  </a:lnTo>
                  <a:lnTo>
                    <a:pt x="217932" y="28193"/>
                  </a:lnTo>
                  <a:close/>
                </a:path>
                <a:path w="726439" h="76200">
                  <a:moveTo>
                    <a:pt x="257556" y="28193"/>
                  </a:moveTo>
                  <a:lnTo>
                    <a:pt x="237744" y="28193"/>
                  </a:lnTo>
                  <a:lnTo>
                    <a:pt x="237744" y="48005"/>
                  </a:lnTo>
                  <a:lnTo>
                    <a:pt x="257556" y="48005"/>
                  </a:lnTo>
                  <a:lnTo>
                    <a:pt x="257556" y="28193"/>
                  </a:lnTo>
                  <a:close/>
                </a:path>
                <a:path w="726439" h="76200">
                  <a:moveTo>
                    <a:pt x="297180" y="28193"/>
                  </a:moveTo>
                  <a:lnTo>
                    <a:pt x="277368" y="28193"/>
                  </a:lnTo>
                  <a:lnTo>
                    <a:pt x="277368" y="48005"/>
                  </a:lnTo>
                  <a:lnTo>
                    <a:pt x="297180" y="48005"/>
                  </a:lnTo>
                  <a:lnTo>
                    <a:pt x="297180" y="28193"/>
                  </a:lnTo>
                  <a:close/>
                </a:path>
                <a:path w="726439" h="76200">
                  <a:moveTo>
                    <a:pt x="336803" y="28193"/>
                  </a:moveTo>
                  <a:lnTo>
                    <a:pt x="316991" y="28193"/>
                  </a:lnTo>
                  <a:lnTo>
                    <a:pt x="316991" y="48005"/>
                  </a:lnTo>
                  <a:lnTo>
                    <a:pt x="336803" y="48005"/>
                  </a:lnTo>
                  <a:lnTo>
                    <a:pt x="336803" y="28193"/>
                  </a:lnTo>
                  <a:close/>
                </a:path>
                <a:path w="726439" h="76200">
                  <a:moveTo>
                    <a:pt x="376428" y="28193"/>
                  </a:moveTo>
                  <a:lnTo>
                    <a:pt x="356616" y="28193"/>
                  </a:lnTo>
                  <a:lnTo>
                    <a:pt x="356616" y="48005"/>
                  </a:lnTo>
                  <a:lnTo>
                    <a:pt x="376428" y="48005"/>
                  </a:lnTo>
                  <a:lnTo>
                    <a:pt x="376428" y="28193"/>
                  </a:lnTo>
                  <a:close/>
                </a:path>
                <a:path w="726439" h="76200">
                  <a:moveTo>
                    <a:pt x="416052" y="28193"/>
                  </a:moveTo>
                  <a:lnTo>
                    <a:pt x="396240" y="28193"/>
                  </a:lnTo>
                  <a:lnTo>
                    <a:pt x="396240" y="48005"/>
                  </a:lnTo>
                  <a:lnTo>
                    <a:pt x="416052" y="48005"/>
                  </a:lnTo>
                  <a:lnTo>
                    <a:pt x="416052" y="28193"/>
                  </a:lnTo>
                  <a:close/>
                </a:path>
                <a:path w="726439" h="76200">
                  <a:moveTo>
                    <a:pt x="455676" y="28193"/>
                  </a:moveTo>
                  <a:lnTo>
                    <a:pt x="435864" y="28193"/>
                  </a:lnTo>
                  <a:lnTo>
                    <a:pt x="435864" y="48005"/>
                  </a:lnTo>
                  <a:lnTo>
                    <a:pt x="455676" y="48005"/>
                  </a:lnTo>
                  <a:lnTo>
                    <a:pt x="455676" y="28193"/>
                  </a:lnTo>
                  <a:close/>
                </a:path>
                <a:path w="726439" h="76200">
                  <a:moveTo>
                    <a:pt x="495300" y="28193"/>
                  </a:moveTo>
                  <a:lnTo>
                    <a:pt x="475488" y="28193"/>
                  </a:lnTo>
                  <a:lnTo>
                    <a:pt x="475488" y="48005"/>
                  </a:lnTo>
                  <a:lnTo>
                    <a:pt x="495300" y="48005"/>
                  </a:lnTo>
                  <a:lnTo>
                    <a:pt x="495300" y="28193"/>
                  </a:lnTo>
                  <a:close/>
                </a:path>
                <a:path w="726439" h="76200">
                  <a:moveTo>
                    <a:pt x="534924" y="28193"/>
                  </a:moveTo>
                  <a:lnTo>
                    <a:pt x="515112" y="28193"/>
                  </a:lnTo>
                  <a:lnTo>
                    <a:pt x="515112" y="48005"/>
                  </a:lnTo>
                  <a:lnTo>
                    <a:pt x="534924" y="48005"/>
                  </a:lnTo>
                  <a:lnTo>
                    <a:pt x="534924" y="28193"/>
                  </a:lnTo>
                  <a:close/>
                </a:path>
                <a:path w="726439" h="76200">
                  <a:moveTo>
                    <a:pt x="574547" y="28193"/>
                  </a:moveTo>
                  <a:lnTo>
                    <a:pt x="554735" y="28193"/>
                  </a:lnTo>
                  <a:lnTo>
                    <a:pt x="554735" y="48005"/>
                  </a:lnTo>
                  <a:lnTo>
                    <a:pt x="574547" y="48005"/>
                  </a:lnTo>
                  <a:lnTo>
                    <a:pt x="574547" y="28193"/>
                  </a:lnTo>
                  <a:close/>
                </a:path>
                <a:path w="726439" h="76200">
                  <a:moveTo>
                    <a:pt x="614172" y="28193"/>
                  </a:moveTo>
                  <a:lnTo>
                    <a:pt x="594360" y="28193"/>
                  </a:lnTo>
                  <a:lnTo>
                    <a:pt x="594360" y="48005"/>
                  </a:lnTo>
                  <a:lnTo>
                    <a:pt x="614172" y="48005"/>
                  </a:lnTo>
                  <a:lnTo>
                    <a:pt x="614172" y="28193"/>
                  </a:lnTo>
                  <a:close/>
                </a:path>
                <a:path w="726439" h="76200">
                  <a:moveTo>
                    <a:pt x="650113" y="0"/>
                  </a:moveTo>
                  <a:lnTo>
                    <a:pt x="650113" y="76199"/>
                  </a:lnTo>
                  <a:lnTo>
                    <a:pt x="706501" y="48005"/>
                  </a:lnTo>
                  <a:lnTo>
                    <a:pt x="653796" y="48005"/>
                  </a:lnTo>
                  <a:lnTo>
                    <a:pt x="653796" y="28193"/>
                  </a:lnTo>
                  <a:lnTo>
                    <a:pt x="706501" y="28193"/>
                  </a:lnTo>
                  <a:lnTo>
                    <a:pt x="650113" y="0"/>
                  </a:lnTo>
                  <a:close/>
                </a:path>
                <a:path w="726439" h="76200">
                  <a:moveTo>
                    <a:pt x="650113" y="28193"/>
                  </a:moveTo>
                  <a:lnTo>
                    <a:pt x="633984" y="28193"/>
                  </a:lnTo>
                  <a:lnTo>
                    <a:pt x="633984" y="48005"/>
                  </a:lnTo>
                  <a:lnTo>
                    <a:pt x="650113" y="48005"/>
                  </a:lnTo>
                  <a:lnTo>
                    <a:pt x="650113" y="28193"/>
                  </a:lnTo>
                  <a:close/>
                </a:path>
                <a:path w="726439" h="76200">
                  <a:moveTo>
                    <a:pt x="706501" y="28193"/>
                  </a:moveTo>
                  <a:lnTo>
                    <a:pt x="653796" y="28193"/>
                  </a:lnTo>
                  <a:lnTo>
                    <a:pt x="653796" y="48005"/>
                  </a:lnTo>
                  <a:lnTo>
                    <a:pt x="706501" y="48005"/>
                  </a:lnTo>
                  <a:lnTo>
                    <a:pt x="726313" y="38099"/>
                  </a:lnTo>
                  <a:lnTo>
                    <a:pt x="706501" y="28193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836925" y="3952493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w="0" h="407035">
                  <a:moveTo>
                    <a:pt x="0" y="0"/>
                  </a:moveTo>
                  <a:lnTo>
                    <a:pt x="0" y="407034"/>
                  </a:lnTo>
                </a:path>
              </a:pathLst>
            </a:custGeom>
            <a:ln w="19812">
              <a:solidFill>
                <a:srgbClr val="13299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053079" y="3260811"/>
            <a:ext cx="79311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-5050" sz="2475" spc="-225">
                <a:latin typeface="Cambria Math"/>
                <a:cs typeface="Cambria Math"/>
              </a:rPr>
              <a:t>A</a:t>
            </a:r>
            <a:r>
              <a:rPr dirty="0" sz="1600" spc="-10">
                <a:latin typeface="Cambria Math"/>
                <a:cs typeface="Cambria Math"/>
              </a:rPr>
              <a:t>(𝑎</a:t>
            </a:r>
            <a:r>
              <a:rPr dirty="0" baseline="-21164" sz="1575" spc="7">
                <a:latin typeface="Cambria Math"/>
                <a:cs typeface="Cambria Math"/>
              </a:rPr>
              <a:t>1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𝑎</a:t>
            </a:r>
            <a:r>
              <a:rPr dirty="0" baseline="-21164" sz="1575" spc="7">
                <a:latin typeface="Cambria Math"/>
                <a:cs typeface="Cambria Math"/>
              </a:rPr>
              <a:t>2</a:t>
            </a:r>
            <a:r>
              <a:rPr dirty="0" sz="1600" spc="-5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37589" y="4308094"/>
            <a:ext cx="1995805" cy="223520"/>
            <a:chOff x="1037589" y="4308094"/>
            <a:chExt cx="1995805" cy="223520"/>
          </a:xfrm>
        </p:grpSpPr>
        <p:sp>
          <p:nvSpPr>
            <p:cNvPr id="25" name="object 25"/>
            <p:cNvSpPr/>
            <p:nvPr/>
          </p:nvSpPr>
          <p:spPr>
            <a:xfrm>
              <a:off x="1047749" y="4318254"/>
              <a:ext cx="1975485" cy="90170"/>
            </a:xfrm>
            <a:custGeom>
              <a:avLst/>
              <a:gdLst/>
              <a:ahLst/>
              <a:cxnLst/>
              <a:rect l="l" t="t" r="r" b="b"/>
              <a:pathLst>
                <a:path w="1975485" h="90170">
                  <a:moveTo>
                    <a:pt x="0" y="0"/>
                  </a:moveTo>
                  <a:lnTo>
                    <a:pt x="0" y="89916"/>
                  </a:lnTo>
                </a:path>
                <a:path w="1975485" h="90170">
                  <a:moveTo>
                    <a:pt x="329184" y="0"/>
                  </a:moveTo>
                  <a:lnTo>
                    <a:pt x="329184" y="89916"/>
                  </a:lnTo>
                </a:path>
                <a:path w="1975485" h="90170">
                  <a:moveTo>
                    <a:pt x="658368" y="0"/>
                  </a:moveTo>
                  <a:lnTo>
                    <a:pt x="658368" y="89916"/>
                  </a:lnTo>
                </a:path>
                <a:path w="1975485" h="90170">
                  <a:moveTo>
                    <a:pt x="1548383" y="0"/>
                  </a:moveTo>
                  <a:lnTo>
                    <a:pt x="1548383" y="89916"/>
                  </a:lnTo>
                </a:path>
                <a:path w="1975485" h="90170">
                  <a:moveTo>
                    <a:pt x="1975104" y="0"/>
                  </a:moveTo>
                  <a:lnTo>
                    <a:pt x="1975104" y="89916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081022" y="4520946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69" h="0">
                  <a:moveTo>
                    <a:pt x="89915" y="0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251201" y="4429409"/>
            <a:ext cx="23241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15">
                <a:latin typeface="Cambria Math"/>
                <a:cs typeface="Cambria Math"/>
              </a:rPr>
              <a:t>f(</a:t>
            </a:r>
            <a:r>
              <a:rPr dirty="0" sz="1100" spc="-25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)</a:t>
            </a:r>
            <a:endParaRPr sz="11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89888" y="3494278"/>
            <a:ext cx="1466215" cy="1160145"/>
            <a:chOff x="1389888" y="3494278"/>
            <a:chExt cx="1466215" cy="1160145"/>
          </a:xfrm>
        </p:grpSpPr>
        <p:sp>
          <p:nvSpPr>
            <p:cNvPr id="29" name="object 29"/>
            <p:cNvSpPr/>
            <p:nvPr/>
          </p:nvSpPr>
          <p:spPr>
            <a:xfrm>
              <a:off x="1440942" y="434721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065"/>
                  </a:lnTo>
                </a:path>
              </a:pathLst>
            </a:custGeom>
            <a:ln w="19812">
              <a:solidFill>
                <a:srgbClr val="13299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9888" y="4538472"/>
              <a:ext cx="115824" cy="11582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81022" y="3504438"/>
              <a:ext cx="90170" cy="528955"/>
            </a:xfrm>
            <a:custGeom>
              <a:avLst/>
              <a:gdLst/>
              <a:ahLst/>
              <a:cxnLst/>
              <a:rect l="l" t="t" r="r" b="b"/>
              <a:pathLst>
                <a:path w="90169" h="528954">
                  <a:moveTo>
                    <a:pt x="89915" y="528828"/>
                  </a:moveTo>
                  <a:lnTo>
                    <a:pt x="0" y="528828"/>
                  </a:lnTo>
                </a:path>
                <a:path w="90169" h="528954">
                  <a:moveTo>
                    <a:pt x="89915" y="254507"/>
                  </a:moveTo>
                  <a:lnTo>
                    <a:pt x="0" y="254507"/>
                  </a:lnTo>
                </a:path>
                <a:path w="90169" h="528954">
                  <a:moveTo>
                    <a:pt x="89915" y="0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167890" y="3914394"/>
              <a:ext cx="688340" cy="76200"/>
            </a:xfrm>
            <a:custGeom>
              <a:avLst/>
              <a:gdLst/>
              <a:ahLst/>
              <a:cxnLst/>
              <a:rect l="l" t="t" r="r" b="b"/>
              <a:pathLst>
                <a:path w="688339" h="76200">
                  <a:moveTo>
                    <a:pt x="688086" y="28193"/>
                  </a:moveTo>
                  <a:lnTo>
                    <a:pt x="668274" y="28193"/>
                  </a:lnTo>
                  <a:lnTo>
                    <a:pt x="668274" y="48005"/>
                  </a:lnTo>
                  <a:lnTo>
                    <a:pt x="688086" y="48005"/>
                  </a:lnTo>
                  <a:lnTo>
                    <a:pt x="688086" y="28193"/>
                  </a:lnTo>
                  <a:close/>
                </a:path>
                <a:path w="688339" h="76200">
                  <a:moveTo>
                    <a:pt x="648462" y="28193"/>
                  </a:moveTo>
                  <a:lnTo>
                    <a:pt x="628650" y="28193"/>
                  </a:lnTo>
                  <a:lnTo>
                    <a:pt x="628650" y="48005"/>
                  </a:lnTo>
                  <a:lnTo>
                    <a:pt x="648462" y="48005"/>
                  </a:lnTo>
                  <a:lnTo>
                    <a:pt x="648462" y="28193"/>
                  </a:lnTo>
                  <a:close/>
                </a:path>
                <a:path w="688339" h="76200">
                  <a:moveTo>
                    <a:pt x="608838" y="28193"/>
                  </a:moveTo>
                  <a:lnTo>
                    <a:pt x="589026" y="28193"/>
                  </a:lnTo>
                  <a:lnTo>
                    <a:pt x="589026" y="48005"/>
                  </a:lnTo>
                  <a:lnTo>
                    <a:pt x="608838" y="48005"/>
                  </a:lnTo>
                  <a:lnTo>
                    <a:pt x="608838" y="28193"/>
                  </a:lnTo>
                  <a:close/>
                </a:path>
                <a:path w="688339" h="76200">
                  <a:moveTo>
                    <a:pt x="569214" y="28193"/>
                  </a:moveTo>
                  <a:lnTo>
                    <a:pt x="549402" y="28193"/>
                  </a:lnTo>
                  <a:lnTo>
                    <a:pt x="549402" y="48005"/>
                  </a:lnTo>
                  <a:lnTo>
                    <a:pt x="569214" y="48005"/>
                  </a:lnTo>
                  <a:lnTo>
                    <a:pt x="569214" y="28193"/>
                  </a:lnTo>
                  <a:close/>
                </a:path>
                <a:path w="688339" h="76200">
                  <a:moveTo>
                    <a:pt x="529590" y="28193"/>
                  </a:moveTo>
                  <a:lnTo>
                    <a:pt x="509778" y="28193"/>
                  </a:lnTo>
                  <a:lnTo>
                    <a:pt x="509778" y="48005"/>
                  </a:lnTo>
                  <a:lnTo>
                    <a:pt x="529590" y="48005"/>
                  </a:lnTo>
                  <a:lnTo>
                    <a:pt x="529590" y="28193"/>
                  </a:lnTo>
                  <a:close/>
                </a:path>
                <a:path w="688339" h="76200">
                  <a:moveTo>
                    <a:pt x="489966" y="28193"/>
                  </a:moveTo>
                  <a:lnTo>
                    <a:pt x="470154" y="28193"/>
                  </a:lnTo>
                  <a:lnTo>
                    <a:pt x="470154" y="48005"/>
                  </a:lnTo>
                  <a:lnTo>
                    <a:pt x="489966" y="48005"/>
                  </a:lnTo>
                  <a:lnTo>
                    <a:pt x="489966" y="28193"/>
                  </a:lnTo>
                  <a:close/>
                </a:path>
                <a:path w="688339" h="76200">
                  <a:moveTo>
                    <a:pt x="450342" y="28193"/>
                  </a:moveTo>
                  <a:lnTo>
                    <a:pt x="430530" y="28193"/>
                  </a:lnTo>
                  <a:lnTo>
                    <a:pt x="430530" y="48005"/>
                  </a:lnTo>
                  <a:lnTo>
                    <a:pt x="450342" y="48005"/>
                  </a:lnTo>
                  <a:lnTo>
                    <a:pt x="450342" y="28193"/>
                  </a:lnTo>
                  <a:close/>
                </a:path>
                <a:path w="688339" h="76200">
                  <a:moveTo>
                    <a:pt x="410718" y="28193"/>
                  </a:moveTo>
                  <a:lnTo>
                    <a:pt x="390906" y="28193"/>
                  </a:lnTo>
                  <a:lnTo>
                    <a:pt x="390906" y="48005"/>
                  </a:lnTo>
                  <a:lnTo>
                    <a:pt x="410718" y="48005"/>
                  </a:lnTo>
                  <a:lnTo>
                    <a:pt x="410718" y="28193"/>
                  </a:lnTo>
                  <a:close/>
                </a:path>
                <a:path w="688339" h="76200">
                  <a:moveTo>
                    <a:pt x="371094" y="28193"/>
                  </a:moveTo>
                  <a:lnTo>
                    <a:pt x="351282" y="28193"/>
                  </a:lnTo>
                  <a:lnTo>
                    <a:pt x="351282" y="48005"/>
                  </a:lnTo>
                  <a:lnTo>
                    <a:pt x="371094" y="48005"/>
                  </a:lnTo>
                  <a:lnTo>
                    <a:pt x="371094" y="28193"/>
                  </a:lnTo>
                  <a:close/>
                </a:path>
                <a:path w="688339" h="76200">
                  <a:moveTo>
                    <a:pt x="331470" y="28193"/>
                  </a:moveTo>
                  <a:lnTo>
                    <a:pt x="311658" y="28193"/>
                  </a:lnTo>
                  <a:lnTo>
                    <a:pt x="311658" y="48005"/>
                  </a:lnTo>
                  <a:lnTo>
                    <a:pt x="331470" y="48005"/>
                  </a:lnTo>
                  <a:lnTo>
                    <a:pt x="331470" y="28193"/>
                  </a:lnTo>
                  <a:close/>
                </a:path>
                <a:path w="688339" h="76200">
                  <a:moveTo>
                    <a:pt x="291846" y="28193"/>
                  </a:moveTo>
                  <a:lnTo>
                    <a:pt x="272034" y="28193"/>
                  </a:lnTo>
                  <a:lnTo>
                    <a:pt x="272034" y="48005"/>
                  </a:lnTo>
                  <a:lnTo>
                    <a:pt x="291846" y="48005"/>
                  </a:lnTo>
                  <a:lnTo>
                    <a:pt x="291846" y="28193"/>
                  </a:lnTo>
                  <a:close/>
                </a:path>
                <a:path w="688339" h="76200">
                  <a:moveTo>
                    <a:pt x="252222" y="28193"/>
                  </a:moveTo>
                  <a:lnTo>
                    <a:pt x="232410" y="28193"/>
                  </a:lnTo>
                  <a:lnTo>
                    <a:pt x="232410" y="48005"/>
                  </a:lnTo>
                  <a:lnTo>
                    <a:pt x="252222" y="48005"/>
                  </a:lnTo>
                  <a:lnTo>
                    <a:pt x="252222" y="28193"/>
                  </a:lnTo>
                  <a:close/>
                </a:path>
                <a:path w="688339" h="76200">
                  <a:moveTo>
                    <a:pt x="212598" y="28193"/>
                  </a:moveTo>
                  <a:lnTo>
                    <a:pt x="192786" y="28193"/>
                  </a:lnTo>
                  <a:lnTo>
                    <a:pt x="192786" y="48005"/>
                  </a:lnTo>
                  <a:lnTo>
                    <a:pt x="212598" y="48005"/>
                  </a:lnTo>
                  <a:lnTo>
                    <a:pt x="212598" y="28193"/>
                  </a:lnTo>
                  <a:close/>
                </a:path>
                <a:path w="688339" h="76200">
                  <a:moveTo>
                    <a:pt x="172974" y="28193"/>
                  </a:moveTo>
                  <a:lnTo>
                    <a:pt x="153162" y="28193"/>
                  </a:lnTo>
                  <a:lnTo>
                    <a:pt x="153162" y="48005"/>
                  </a:lnTo>
                  <a:lnTo>
                    <a:pt x="172974" y="48005"/>
                  </a:lnTo>
                  <a:lnTo>
                    <a:pt x="172974" y="28193"/>
                  </a:lnTo>
                  <a:close/>
                </a:path>
                <a:path w="688339" h="76200">
                  <a:moveTo>
                    <a:pt x="133350" y="28193"/>
                  </a:moveTo>
                  <a:lnTo>
                    <a:pt x="113537" y="28193"/>
                  </a:lnTo>
                  <a:lnTo>
                    <a:pt x="113537" y="48005"/>
                  </a:lnTo>
                  <a:lnTo>
                    <a:pt x="133350" y="48005"/>
                  </a:lnTo>
                  <a:lnTo>
                    <a:pt x="133350" y="28193"/>
                  </a:lnTo>
                  <a:close/>
                </a:path>
                <a:path w="688339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8005"/>
                  </a:lnTo>
                  <a:lnTo>
                    <a:pt x="73914" y="48005"/>
                  </a:lnTo>
                  <a:lnTo>
                    <a:pt x="73914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w="688339" h="76200">
                  <a:moveTo>
                    <a:pt x="76200" y="28193"/>
                  </a:moveTo>
                  <a:lnTo>
                    <a:pt x="73914" y="28193"/>
                  </a:lnTo>
                  <a:lnTo>
                    <a:pt x="73914" y="48005"/>
                  </a:lnTo>
                  <a:lnTo>
                    <a:pt x="76200" y="48005"/>
                  </a:lnTo>
                  <a:lnTo>
                    <a:pt x="76200" y="28193"/>
                  </a:lnTo>
                  <a:close/>
                </a:path>
                <a:path w="688339" h="76200">
                  <a:moveTo>
                    <a:pt x="93726" y="28193"/>
                  </a:moveTo>
                  <a:lnTo>
                    <a:pt x="76200" y="28193"/>
                  </a:lnTo>
                  <a:lnTo>
                    <a:pt x="76200" y="48005"/>
                  </a:lnTo>
                  <a:lnTo>
                    <a:pt x="93726" y="48005"/>
                  </a:lnTo>
                  <a:lnTo>
                    <a:pt x="93726" y="28193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00608" y="4728209"/>
            <a:ext cx="59118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1050" spc="15">
                <a:latin typeface="Cambria Math"/>
                <a:cs typeface="Cambria Math"/>
              </a:rPr>
              <a:t>(</a:t>
            </a:r>
            <a:r>
              <a:rPr dirty="0" baseline="21164" sz="1575" spc="22">
                <a:latin typeface="Cambria Math"/>
                <a:cs typeface="Cambria Math"/>
              </a:rPr>
              <a:t>𝑎</a:t>
            </a:r>
            <a:r>
              <a:rPr dirty="0" sz="1050" spc="15">
                <a:latin typeface="Cambria Math"/>
                <a:cs typeface="Cambria Math"/>
              </a:rPr>
              <a:t>,</a:t>
            </a:r>
            <a:r>
              <a:rPr dirty="0" sz="1050" spc="-20">
                <a:latin typeface="Cambria Math"/>
                <a:cs typeface="Cambria Math"/>
              </a:rPr>
              <a:t> </a:t>
            </a:r>
            <a:r>
              <a:rPr dirty="0" baseline="21164" sz="1575" spc="37">
                <a:latin typeface="Cambria Math"/>
                <a:cs typeface="Cambria Math"/>
              </a:rPr>
              <a:t>𝑓</a:t>
            </a:r>
            <a:r>
              <a:rPr dirty="0" sz="1050" spc="25">
                <a:latin typeface="Cambria Math"/>
                <a:cs typeface="Cambria Math"/>
              </a:rPr>
              <a:t>(</a:t>
            </a:r>
            <a:r>
              <a:rPr dirty="0" baseline="21164" sz="1575" spc="37">
                <a:latin typeface="Cambria Math"/>
                <a:cs typeface="Cambria Math"/>
              </a:rPr>
              <a:t>𝑎</a:t>
            </a:r>
            <a:r>
              <a:rPr dirty="0" sz="1050" spc="25">
                <a:latin typeface="Cambria Math"/>
                <a:cs typeface="Cambria Math"/>
              </a:rPr>
              <a:t>))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7750" y="3266078"/>
            <a:ext cx="2423160" cy="1602740"/>
          </a:xfrm>
          <a:custGeom>
            <a:avLst/>
            <a:gdLst/>
            <a:ahLst/>
            <a:cxnLst/>
            <a:rect l="l" t="t" r="r" b="b"/>
            <a:pathLst>
              <a:path w="2423160" h="1602739">
                <a:moveTo>
                  <a:pt x="0" y="341736"/>
                </a:moveTo>
                <a:lnTo>
                  <a:pt x="35831" y="355334"/>
                </a:lnTo>
                <a:lnTo>
                  <a:pt x="71463" y="372790"/>
                </a:lnTo>
                <a:lnTo>
                  <a:pt x="106702" y="397966"/>
                </a:lnTo>
                <a:lnTo>
                  <a:pt x="141350" y="434719"/>
                </a:lnTo>
                <a:lnTo>
                  <a:pt x="175211" y="486910"/>
                </a:lnTo>
                <a:lnTo>
                  <a:pt x="208089" y="558398"/>
                </a:lnTo>
                <a:lnTo>
                  <a:pt x="232026" y="632093"/>
                </a:lnTo>
                <a:lnTo>
                  <a:pt x="243794" y="676638"/>
                </a:lnTo>
                <a:lnTo>
                  <a:pt x="255437" y="725237"/>
                </a:lnTo>
                <a:lnTo>
                  <a:pt x="266961" y="777083"/>
                </a:lnTo>
                <a:lnTo>
                  <a:pt x="278373" y="831370"/>
                </a:lnTo>
                <a:lnTo>
                  <a:pt x="289680" y="887289"/>
                </a:lnTo>
                <a:lnTo>
                  <a:pt x="300886" y="944034"/>
                </a:lnTo>
                <a:lnTo>
                  <a:pt x="312000" y="1000796"/>
                </a:lnTo>
                <a:lnTo>
                  <a:pt x="323027" y="1056769"/>
                </a:lnTo>
                <a:lnTo>
                  <a:pt x="333974" y="1111145"/>
                </a:lnTo>
                <a:lnTo>
                  <a:pt x="344847" y="1163117"/>
                </a:lnTo>
                <a:lnTo>
                  <a:pt x="355653" y="1211877"/>
                </a:lnTo>
                <a:lnTo>
                  <a:pt x="366398" y="1256618"/>
                </a:lnTo>
                <a:lnTo>
                  <a:pt x="377088" y="1296532"/>
                </a:lnTo>
                <a:lnTo>
                  <a:pt x="414872" y="1403693"/>
                </a:lnTo>
                <a:lnTo>
                  <a:pt x="440313" y="1458142"/>
                </a:lnTo>
                <a:lnTo>
                  <a:pt x="465232" y="1497421"/>
                </a:lnTo>
                <a:lnTo>
                  <a:pt x="518217" y="1543523"/>
                </a:lnTo>
                <a:lnTo>
                  <a:pt x="548640" y="1556872"/>
                </a:lnTo>
                <a:lnTo>
                  <a:pt x="573226" y="1568641"/>
                </a:lnTo>
                <a:lnTo>
                  <a:pt x="598674" y="1583177"/>
                </a:lnTo>
                <a:lnTo>
                  <a:pt x="625091" y="1595904"/>
                </a:lnTo>
                <a:lnTo>
                  <a:pt x="652589" y="1602243"/>
                </a:lnTo>
                <a:lnTo>
                  <a:pt x="681278" y="1597617"/>
                </a:lnTo>
                <a:lnTo>
                  <a:pt x="742667" y="1537155"/>
                </a:lnTo>
                <a:lnTo>
                  <a:pt x="775588" y="1472163"/>
                </a:lnTo>
                <a:lnTo>
                  <a:pt x="798875" y="1409434"/>
                </a:lnTo>
                <a:lnTo>
                  <a:pt x="811093" y="1371127"/>
                </a:lnTo>
                <a:lnTo>
                  <a:pt x="823644" y="1328767"/>
                </a:lnTo>
                <a:lnTo>
                  <a:pt x="836492" y="1282785"/>
                </a:lnTo>
                <a:lnTo>
                  <a:pt x="849600" y="1233612"/>
                </a:lnTo>
                <a:lnTo>
                  <a:pt x="862930" y="1181680"/>
                </a:lnTo>
                <a:lnTo>
                  <a:pt x="876445" y="1127420"/>
                </a:lnTo>
                <a:lnTo>
                  <a:pt x="890110" y="1071263"/>
                </a:lnTo>
                <a:lnTo>
                  <a:pt x="903885" y="1013641"/>
                </a:lnTo>
                <a:lnTo>
                  <a:pt x="917736" y="954985"/>
                </a:lnTo>
                <a:lnTo>
                  <a:pt x="931624" y="895726"/>
                </a:lnTo>
                <a:lnTo>
                  <a:pt x="945513" y="836296"/>
                </a:lnTo>
                <a:lnTo>
                  <a:pt x="959365" y="777126"/>
                </a:lnTo>
                <a:lnTo>
                  <a:pt x="973144" y="718648"/>
                </a:lnTo>
                <a:lnTo>
                  <a:pt x="986813" y="661292"/>
                </a:lnTo>
                <a:lnTo>
                  <a:pt x="1000335" y="605490"/>
                </a:lnTo>
                <a:lnTo>
                  <a:pt x="1013672" y="551673"/>
                </a:lnTo>
                <a:lnTo>
                  <a:pt x="1026788" y="500273"/>
                </a:lnTo>
                <a:lnTo>
                  <a:pt x="1039646" y="451721"/>
                </a:lnTo>
                <a:lnTo>
                  <a:pt x="1052208" y="406449"/>
                </a:lnTo>
                <a:lnTo>
                  <a:pt x="1064438" y="364887"/>
                </a:lnTo>
                <a:lnTo>
                  <a:pt x="1076300" y="327466"/>
                </a:lnTo>
                <a:lnTo>
                  <a:pt x="1115916" y="219236"/>
                </a:lnTo>
                <a:lnTo>
                  <a:pt x="1141163" y="155205"/>
                </a:lnTo>
                <a:lnTo>
                  <a:pt x="1164430" y="102374"/>
                </a:lnTo>
                <a:lnTo>
                  <a:pt x="1186649" y="60591"/>
                </a:lnTo>
                <a:lnTo>
                  <a:pt x="1231678" y="9556"/>
                </a:lnTo>
                <a:lnTo>
                  <a:pt x="1256356" y="0"/>
                </a:lnTo>
                <a:lnTo>
                  <a:pt x="1283720" y="880"/>
                </a:lnTo>
                <a:lnTo>
                  <a:pt x="1337311" y="27622"/>
                </a:lnTo>
                <a:lnTo>
                  <a:pt x="1389144" y="85594"/>
                </a:lnTo>
                <a:lnTo>
                  <a:pt x="1417481" y="125249"/>
                </a:lnTo>
                <a:lnTo>
                  <a:pt x="1446839" y="170191"/>
                </a:lnTo>
                <a:lnTo>
                  <a:pt x="1476773" y="219051"/>
                </a:lnTo>
                <a:lnTo>
                  <a:pt x="1506839" y="270458"/>
                </a:lnTo>
                <a:lnTo>
                  <a:pt x="1536591" y="323043"/>
                </a:lnTo>
                <a:lnTo>
                  <a:pt x="1565587" y="375436"/>
                </a:lnTo>
                <a:lnTo>
                  <a:pt x="1593380" y="426268"/>
                </a:lnTo>
                <a:lnTo>
                  <a:pt x="1619526" y="474169"/>
                </a:lnTo>
                <a:lnTo>
                  <a:pt x="1643581" y="517770"/>
                </a:lnTo>
                <a:lnTo>
                  <a:pt x="1665100" y="555701"/>
                </a:lnTo>
                <a:lnTo>
                  <a:pt x="1683639" y="586592"/>
                </a:lnTo>
                <a:lnTo>
                  <a:pt x="1715182" y="636599"/>
                </a:lnTo>
                <a:lnTo>
                  <a:pt x="1734396" y="666856"/>
                </a:lnTo>
                <a:lnTo>
                  <a:pt x="1746265" y="686129"/>
                </a:lnTo>
                <a:lnTo>
                  <a:pt x="1767908" y="726769"/>
                </a:lnTo>
                <a:lnTo>
                  <a:pt x="1787652" y="765662"/>
                </a:lnTo>
                <a:lnTo>
                  <a:pt x="1805769" y="802435"/>
                </a:lnTo>
                <a:lnTo>
                  <a:pt x="1826145" y="845691"/>
                </a:lnTo>
                <a:lnTo>
                  <a:pt x="1848235" y="893646"/>
                </a:lnTo>
                <a:lnTo>
                  <a:pt x="1871495" y="944513"/>
                </a:lnTo>
                <a:lnTo>
                  <a:pt x="1895380" y="996509"/>
                </a:lnTo>
                <a:lnTo>
                  <a:pt x="1919346" y="1047847"/>
                </a:lnTo>
                <a:lnTo>
                  <a:pt x="1942847" y="1096742"/>
                </a:lnTo>
                <a:lnTo>
                  <a:pt x="1965340" y="1141410"/>
                </a:lnTo>
                <a:lnTo>
                  <a:pt x="1986280" y="1180063"/>
                </a:lnTo>
                <a:lnTo>
                  <a:pt x="2020972" y="1237697"/>
                </a:lnTo>
                <a:lnTo>
                  <a:pt x="2053720" y="1285918"/>
                </a:lnTo>
                <a:lnTo>
                  <a:pt x="2085199" y="1326989"/>
                </a:lnTo>
                <a:lnTo>
                  <a:pt x="2116088" y="1363171"/>
                </a:lnTo>
                <a:lnTo>
                  <a:pt x="2147062" y="1396725"/>
                </a:lnTo>
                <a:lnTo>
                  <a:pt x="2186626" y="1434496"/>
                </a:lnTo>
                <a:lnTo>
                  <a:pt x="2226214" y="1465623"/>
                </a:lnTo>
                <a:lnTo>
                  <a:pt x="2264040" y="1490559"/>
                </a:lnTo>
                <a:lnTo>
                  <a:pt x="2298319" y="1509755"/>
                </a:lnTo>
                <a:lnTo>
                  <a:pt x="2366391" y="1527456"/>
                </a:lnTo>
                <a:lnTo>
                  <a:pt x="2392187" y="1528811"/>
                </a:lnTo>
                <a:lnTo>
                  <a:pt x="2402459" y="1528678"/>
                </a:lnTo>
                <a:lnTo>
                  <a:pt x="2422905" y="1531726"/>
                </a:lnTo>
                <a:lnTo>
                  <a:pt x="2422144" y="1530202"/>
                </a:lnTo>
                <a:lnTo>
                  <a:pt x="2421382" y="1528678"/>
                </a:lnTo>
              </a:path>
            </a:pathLst>
          </a:custGeom>
          <a:ln w="19812">
            <a:solidFill>
              <a:srgbClr val="13299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464563"/>
            <a:ext cx="272110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2355" y="1827276"/>
          <a:ext cx="8768080" cy="326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8300"/>
                <a:gridCol w="2931795"/>
                <a:gridCol w="2908300"/>
              </a:tblGrid>
              <a:tr h="3252216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 spc="25">
                          <a:latin typeface="Cambria Math"/>
                          <a:cs typeface="Cambria Math"/>
                        </a:rPr>
                        <a:t>𝐹(𝑥)</a:t>
                      </a:r>
                      <a:r>
                        <a:rPr dirty="0" sz="1600" spc="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sz="16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𝑥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algn="ctr" marR="1560830">
                        <a:lnSpc>
                          <a:spcPct val="100000"/>
                        </a:lnSpc>
                        <a:spcBef>
                          <a:spcPts val="1305"/>
                        </a:spcBef>
                        <a:tabLst>
                          <a:tab pos="871219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3	3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1062990" algn="l"/>
                          <a:tab pos="1795780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2	2	</a:t>
                      </a:r>
                      <a:r>
                        <a:rPr dirty="0" baseline="-34722" sz="1800">
                          <a:latin typeface="Cambria Math"/>
                          <a:cs typeface="Cambria Math"/>
                        </a:rPr>
                        <a:t>2</a:t>
                      </a:r>
                      <a:endParaRPr baseline="-34722" sz="1800">
                        <a:latin typeface="Cambria Math"/>
                        <a:cs typeface="Cambria Math"/>
                      </a:endParaRPr>
                    </a:p>
                    <a:p>
                      <a:pPr algn="ctr" marR="1560830">
                        <a:lnSpc>
                          <a:spcPts val="1390"/>
                        </a:lnSpc>
                        <a:spcBef>
                          <a:spcPts val="805"/>
                        </a:spcBef>
                        <a:tabLst>
                          <a:tab pos="871219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1	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L="767080">
                        <a:lnSpc>
                          <a:spcPts val="1115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1560830">
                        <a:lnSpc>
                          <a:spcPts val="1165"/>
                        </a:lnSpc>
                        <a:tabLst>
                          <a:tab pos="871219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0	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marL="140970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1012190" algn="l"/>
                          <a:tab pos="1462405" algn="l"/>
                          <a:tab pos="2206625" algn="l"/>
                          <a:tab pos="2460625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-1	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-1	</a:t>
                      </a:r>
                      <a:r>
                        <a:rPr dirty="0" baseline="-25462" sz="1800">
                          <a:latin typeface="Cambria Math"/>
                          <a:cs typeface="Cambria Math"/>
                        </a:rPr>
                        <a:t>−   </a:t>
                      </a:r>
                      <a:r>
                        <a:rPr dirty="0" baseline="-27777" sz="1800">
                          <a:latin typeface="Cambria Math"/>
                          <a:cs typeface="Cambria Math"/>
                        </a:rPr>
                        <a:t>−1	</a:t>
                      </a:r>
                      <a:r>
                        <a:rPr dirty="0" baseline="-34722" sz="1800">
                          <a:latin typeface="Cambria Math"/>
                          <a:cs typeface="Cambria Math"/>
                        </a:rPr>
                        <a:t>1	2</a:t>
                      </a:r>
                      <a:endParaRPr baseline="-34722" sz="1800">
                        <a:latin typeface="Cambria Math"/>
                        <a:cs typeface="Cambria Math"/>
                      </a:endParaRPr>
                    </a:p>
                    <a:p>
                      <a:pPr marL="140970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1012190" algn="l"/>
                          <a:tab pos="1492885" algn="l"/>
                          <a:tab pos="1720850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-2	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-2	</a:t>
                      </a:r>
                      <a:r>
                        <a:rPr dirty="0" baseline="11574" sz="1800">
                          <a:latin typeface="Cambria Math"/>
                          <a:cs typeface="Cambria Math"/>
                        </a:rPr>
                        <a:t>2	</a:t>
                      </a:r>
                      <a:r>
                        <a:rPr dirty="0" baseline="13888" sz="1800">
                          <a:latin typeface="Cambria Math"/>
                          <a:cs typeface="Cambria Math"/>
                        </a:rPr>
                        <a:t>−1</a:t>
                      </a:r>
                      <a:endParaRPr baseline="13888" sz="1800">
                        <a:latin typeface="Cambria Math"/>
                        <a:cs typeface="Cambria Math"/>
                      </a:endParaRPr>
                    </a:p>
                    <a:p>
                      <a:pPr algn="r" marR="1021080">
                        <a:lnSpc>
                          <a:spcPts val="1400"/>
                        </a:lnSpc>
                        <a:spcBef>
                          <a:spcPts val="790"/>
                        </a:spcBef>
                        <a:tabLst>
                          <a:tab pos="871219" algn="l"/>
                          <a:tab pos="1623695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-3	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-3	</a:t>
                      </a:r>
                      <a:r>
                        <a:rPr dirty="0" baseline="4629" sz="1800">
                          <a:latin typeface="Cambria Math"/>
                          <a:cs typeface="Cambria Math"/>
                        </a:rPr>
                        <a:t>−</a:t>
                      </a:r>
                      <a:endParaRPr baseline="4629" sz="1800">
                        <a:latin typeface="Cambria Math"/>
                        <a:cs typeface="Cambria Math"/>
                      </a:endParaRPr>
                    </a:p>
                    <a:p>
                      <a:pPr algn="r" marR="1020444">
                        <a:lnSpc>
                          <a:spcPts val="1120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2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1610995">
                        <a:lnSpc>
                          <a:spcPts val="1165"/>
                        </a:lnSpc>
                        <a:tabLst>
                          <a:tab pos="871219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-4	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-4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2430">
                        <a:lnSpc>
                          <a:spcPct val="100000"/>
                        </a:lnSpc>
                        <a:spcBef>
                          <a:spcPts val="1025"/>
                        </a:spcBef>
                        <a:tabLst>
                          <a:tab pos="1891030" algn="l"/>
                        </a:tabLst>
                      </a:pPr>
                      <a:r>
                        <a:rPr dirty="0" sz="1300" spc="-1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Arrows	</a:t>
                      </a:r>
                      <a:r>
                        <a:rPr dirty="0" sz="1300" spc="-2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Graph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 spc="15">
                          <a:latin typeface="Cambria Math"/>
                          <a:cs typeface="Cambria Math"/>
                        </a:rPr>
                        <a:t>𝑔(𝑥)</a:t>
                      </a:r>
                      <a:r>
                        <a:rPr dirty="0" sz="1600" spc="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sz="1600" spc="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2𝑥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645"/>
                        </a:spcBef>
                        <a:tabLst>
                          <a:tab pos="1086485" algn="l"/>
                        </a:tabLst>
                      </a:pPr>
                      <a:r>
                        <a:rPr dirty="0" baseline="-27777" sz="1800">
                          <a:latin typeface="Cambria Math"/>
                          <a:cs typeface="Cambria Math"/>
                        </a:rPr>
                        <a:t>3	</a:t>
                      </a:r>
                      <a:r>
                        <a:rPr dirty="0" sz="1250" spc="-30">
                          <a:latin typeface="Cambria Math"/>
                          <a:cs typeface="Cambria Math"/>
                        </a:rPr>
                        <a:t>4</a:t>
                      </a:r>
                      <a:endParaRPr sz="1250">
                        <a:latin typeface="Cambria Math"/>
                        <a:cs typeface="Cambria Math"/>
                      </a:endParaRPr>
                    </a:p>
                    <a:p>
                      <a:pPr algn="ctr" marR="666115">
                        <a:lnSpc>
                          <a:spcPts val="113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3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2409825">
                        <a:lnSpc>
                          <a:spcPts val="1019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2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666115">
                        <a:lnSpc>
                          <a:spcPts val="1120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2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2409825">
                        <a:lnSpc>
                          <a:spcPts val="1019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666115">
                        <a:lnSpc>
                          <a:spcPts val="1115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2409825">
                        <a:lnSpc>
                          <a:spcPts val="1019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666115">
                        <a:lnSpc>
                          <a:spcPts val="1125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marL="164465">
                        <a:lnSpc>
                          <a:spcPts val="1430"/>
                        </a:lnSpc>
                        <a:tabLst>
                          <a:tab pos="1036319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-1	</a:t>
                      </a:r>
                      <a:r>
                        <a:rPr dirty="0" baseline="-27777" sz="1800" spc="-7">
                          <a:latin typeface="Cambria Math"/>
                          <a:cs typeface="Cambria Math"/>
                        </a:rPr>
                        <a:t>-1</a:t>
                      </a:r>
                      <a:endParaRPr baseline="-27777" sz="1800">
                        <a:latin typeface="Cambria Math"/>
                        <a:cs typeface="Cambria Math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1036319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-2	</a:t>
                      </a:r>
                      <a:r>
                        <a:rPr dirty="0" baseline="-18518" sz="1800" spc="-7">
                          <a:latin typeface="Cambria Math"/>
                          <a:cs typeface="Cambria Math"/>
                        </a:rPr>
                        <a:t>-2</a:t>
                      </a:r>
                      <a:endParaRPr baseline="-18518" sz="1800">
                        <a:latin typeface="Cambria Math"/>
                        <a:cs typeface="Cambria Math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790"/>
                        </a:spcBef>
                        <a:tabLst>
                          <a:tab pos="1036319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-3	</a:t>
                      </a:r>
                      <a:r>
                        <a:rPr dirty="0" baseline="-11574" sz="1800" spc="-7">
                          <a:latin typeface="Cambria Math"/>
                          <a:cs typeface="Cambria Math"/>
                        </a:rPr>
                        <a:t>-3</a:t>
                      </a:r>
                      <a:endParaRPr baseline="-11574" sz="1800">
                        <a:latin typeface="Cambria Math"/>
                        <a:cs typeface="Cambria Math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830"/>
                        </a:spcBef>
                        <a:tabLst>
                          <a:tab pos="1036319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-4	-4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16559">
                        <a:lnSpc>
                          <a:spcPct val="100000"/>
                        </a:lnSpc>
                        <a:spcBef>
                          <a:spcPts val="994"/>
                        </a:spcBef>
                        <a:tabLst>
                          <a:tab pos="1914525" algn="l"/>
                        </a:tabLst>
                      </a:pPr>
                      <a:r>
                        <a:rPr dirty="0" sz="1300" spc="-1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Arrows	</a:t>
                      </a:r>
                      <a:r>
                        <a:rPr dirty="0" sz="1300" spc="-2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Graph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15">
                          <a:latin typeface="Cambria Math"/>
                          <a:cs typeface="Cambria Math"/>
                        </a:rPr>
                        <a:t>ℎ(𝑥)</a:t>
                      </a:r>
                      <a:r>
                        <a:rPr dirty="0" sz="1600" spc="7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 spc="-5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sz="16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60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dirty="0" baseline="26455" sz="1575">
                          <a:latin typeface="Cambria Math"/>
                          <a:cs typeface="Cambria Math"/>
                        </a:rPr>
                        <a:t>2</a:t>
                      </a:r>
                      <a:endParaRPr baseline="26455" sz="1575">
                        <a:latin typeface="Cambria Math"/>
                        <a:cs typeface="Cambria Math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1290"/>
                        </a:spcBef>
                        <a:tabLst>
                          <a:tab pos="1086485" algn="l"/>
                        </a:tabLst>
                      </a:pPr>
                      <a:r>
                        <a:rPr dirty="0" sz="1250" spc="-30">
                          <a:latin typeface="Cambria Math"/>
                          <a:cs typeface="Cambria Math"/>
                        </a:rPr>
                        <a:t>4	4</a:t>
                      </a:r>
                      <a:endParaRPr sz="1250">
                        <a:latin typeface="Cambria Math"/>
                        <a:cs typeface="Cambria Math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795"/>
                        </a:spcBef>
                        <a:tabLst>
                          <a:tab pos="1086485" algn="l"/>
                          <a:tab pos="1819275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3	3	</a:t>
                      </a:r>
                      <a:r>
                        <a:rPr dirty="0" baseline="20833" sz="1800">
                          <a:latin typeface="Cambria Math"/>
                          <a:cs typeface="Cambria Math"/>
                        </a:rPr>
                        <a:t>4</a:t>
                      </a:r>
                      <a:endParaRPr baseline="20833" sz="1800">
                        <a:latin typeface="Cambria Math"/>
                        <a:cs typeface="Cambria Math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1086485" algn="l"/>
                          <a:tab pos="1819275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2	2	</a:t>
                      </a:r>
                      <a:r>
                        <a:rPr dirty="0" baseline="-13888" sz="1800">
                          <a:latin typeface="Cambria Math"/>
                          <a:cs typeface="Cambria Math"/>
                        </a:rPr>
                        <a:t>3</a:t>
                      </a:r>
                      <a:endParaRPr baseline="-13888" sz="1800">
                        <a:latin typeface="Cambria Math"/>
                        <a:cs typeface="Cambria Math"/>
                      </a:endParaRPr>
                    </a:p>
                    <a:p>
                      <a:pPr algn="ctr" marR="1514475">
                        <a:lnSpc>
                          <a:spcPts val="1270"/>
                        </a:lnSpc>
                        <a:spcBef>
                          <a:spcPts val="790"/>
                        </a:spcBef>
                        <a:tabLst>
                          <a:tab pos="871219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1	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L="814705">
                        <a:lnSpc>
                          <a:spcPts val="1125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2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1514475">
                        <a:lnSpc>
                          <a:spcPts val="1275"/>
                        </a:lnSpc>
                        <a:tabLst>
                          <a:tab pos="871219" algn="l"/>
                        </a:tabLst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0	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L="814705">
                        <a:lnSpc>
                          <a:spcPts val="1120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algn="ctr" marR="1564640">
                        <a:lnSpc>
                          <a:spcPts val="1140"/>
                        </a:lnSpc>
                        <a:tabLst>
                          <a:tab pos="871219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-1	-1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795"/>
                        </a:spcBef>
                        <a:tabLst>
                          <a:tab pos="1036319" algn="l"/>
                          <a:tab pos="1485900" algn="l"/>
                          <a:tab pos="2229485" algn="l"/>
                          <a:tab pos="2484120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-2	-2	</a:t>
                      </a:r>
                      <a:r>
                        <a:rPr dirty="0" baseline="-6944" sz="1800">
                          <a:latin typeface="Cambria Math"/>
                          <a:cs typeface="Cambria Math"/>
                        </a:rPr>
                        <a:t>−  </a:t>
                      </a:r>
                      <a:r>
                        <a:rPr dirty="0" baseline="-6944" sz="1800" spc="7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-9259" sz="1800">
                          <a:latin typeface="Cambria Math"/>
                          <a:cs typeface="Cambria Math"/>
                        </a:rPr>
                        <a:t>−1	</a:t>
                      </a:r>
                      <a:r>
                        <a:rPr dirty="0" baseline="-16203" sz="1800">
                          <a:latin typeface="Cambria Math"/>
                          <a:cs typeface="Cambria Math"/>
                        </a:rPr>
                        <a:t>1	2</a:t>
                      </a:r>
                      <a:endParaRPr baseline="-16203" sz="1800">
                        <a:latin typeface="Cambria Math"/>
                        <a:cs typeface="Cambria Math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1036319" algn="l"/>
                          <a:tab pos="1516380" algn="l"/>
                        </a:tabLst>
                      </a:pPr>
                      <a:r>
                        <a:rPr dirty="0" sz="1200" spc="-5">
                          <a:latin typeface="Cambria Math"/>
                          <a:cs typeface="Cambria Math"/>
                        </a:rPr>
                        <a:t>-3	-3	</a:t>
                      </a:r>
                      <a:r>
                        <a:rPr dirty="0" baseline="30092" sz="1800">
                          <a:latin typeface="Cambria Math"/>
                          <a:cs typeface="Cambria Math"/>
                        </a:rPr>
                        <a:t>2</a:t>
                      </a:r>
                      <a:endParaRPr baseline="30092" sz="18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416559">
                        <a:lnSpc>
                          <a:spcPct val="100000"/>
                        </a:lnSpc>
                        <a:tabLst>
                          <a:tab pos="1914525" algn="l"/>
                        </a:tabLst>
                      </a:pPr>
                      <a:r>
                        <a:rPr dirty="0" sz="1300" spc="-1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Arrows	</a:t>
                      </a:r>
                      <a:r>
                        <a:rPr dirty="0" sz="1300" spc="-2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Graph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905255" y="2349245"/>
            <a:ext cx="576580" cy="2340610"/>
            <a:chOff x="905255" y="2349245"/>
            <a:chExt cx="576580" cy="2340610"/>
          </a:xfrm>
        </p:grpSpPr>
        <p:sp>
          <p:nvSpPr>
            <p:cNvPr id="11" name="object 11"/>
            <p:cNvSpPr/>
            <p:nvPr/>
          </p:nvSpPr>
          <p:spPr>
            <a:xfrm>
              <a:off x="919733" y="2349245"/>
              <a:ext cx="547370" cy="2340610"/>
            </a:xfrm>
            <a:custGeom>
              <a:avLst/>
              <a:gdLst/>
              <a:ahLst/>
              <a:cxnLst/>
              <a:rect l="l" t="t" r="r" b="b"/>
              <a:pathLst>
                <a:path w="547369" h="2340610">
                  <a:moveTo>
                    <a:pt x="0" y="0"/>
                  </a:moveTo>
                  <a:lnTo>
                    <a:pt x="0" y="2340229"/>
                  </a:lnTo>
                </a:path>
                <a:path w="547369" h="2340610">
                  <a:moveTo>
                    <a:pt x="547116" y="0"/>
                  </a:moveTo>
                  <a:lnTo>
                    <a:pt x="547116" y="234022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6498" y="2436875"/>
              <a:ext cx="534670" cy="2083435"/>
            </a:xfrm>
            <a:custGeom>
              <a:avLst/>
              <a:gdLst/>
              <a:ahLst/>
              <a:cxnLst/>
              <a:rect l="l" t="t" r="r" b="b"/>
              <a:pathLst>
                <a:path w="534669" h="2083435">
                  <a:moveTo>
                    <a:pt x="534543" y="2026158"/>
                  </a:moveTo>
                  <a:lnTo>
                    <a:pt x="496443" y="2007108"/>
                  </a:lnTo>
                  <a:lnTo>
                    <a:pt x="420243" y="1969008"/>
                  </a:lnTo>
                  <a:lnTo>
                    <a:pt x="420243" y="2007108"/>
                  </a:lnTo>
                  <a:lnTo>
                    <a:pt x="0" y="2007108"/>
                  </a:lnTo>
                  <a:lnTo>
                    <a:pt x="0" y="2045208"/>
                  </a:lnTo>
                  <a:lnTo>
                    <a:pt x="420243" y="2045208"/>
                  </a:lnTo>
                  <a:lnTo>
                    <a:pt x="420243" y="2083308"/>
                  </a:lnTo>
                  <a:lnTo>
                    <a:pt x="496443" y="2045208"/>
                  </a:lnTo>
                  <a:lnTo>
                    <a:pt x="534543" y="2026158"/>
                  </a:lnTo>
                  <a:close/>
                </a:path>
                <a:path w="534669" h="2083435">
                  <a:moveTo>
                    <a:pt x="534543" y="1744218"/>
                  </a:moveTo>
                  <a:lnTo>
                    <a:pt x="496443" y="1725168"/>
                  </a:lnTo>
                  <a:lnTo>
                    <a:pt x="420243" y="1687068"/>
                  </a:lnTo>
                  <a:lnTo>
                    <a:pt x="420243" y="1725168"/>
                  </a:lnTo>
                  <a:lnTo>
                    <a:pt x="0" y="1725168"/>
                  </a:lnTo>
                  <a:lnTo>
                    <a:pt x="0" y="1763268"/>
                  </a:lnTo>
                  <a:lnTo>
                    <a:pt x="420243" y="1763268"/>
                  </a:lnTo>
                  <a:lnTo>
                    <a:pt x="420243" y="1801368"/>
                  </a:lnTo>
                  <a:lnTo>
                    <a:pt x="496443" y="1763268"/>
                  </a:lnTo>
                  <a:lnTo>
                    <a:pt x="534543" y="1744218"/>
                  </a:lnTo>
                  <a:close/>
                </a:path>
                <a:path w="534669" h="2083435">
                  <a:moveTo>
                    <a:pt x="534543" y="1463802"/>
                  </a:moveTo>
                  <a:lnTo>
                    <a:pt x="496443" y="1444752"/>
                  </a:lnTo>
                  <a:lnTo>
                    <a:pt x="420243" y="1406652"/>
                  </a:lnTo>
                  <a:lnTo>
                    <a:pt x="420243" y="1444752"/>
                  </a:lnTo>
                  <a:lnTo>
                    <a:pt x="0" y="1444752"/>
                  </a:lnTo>
                  <a:lnTo>
                    <a:pt x="0" y="1482852"/>
                  </a:lnTo>
                  <a:lnTo>
                    <a:pt x="420243" y="1482852"/>
                  </a:lnTo>
                  <a:lnTo>
                    <a:pt x="420243" y="1520952"/>
                  </a:lnTo>
                  <a:lnTo>
                    <a:pt x="496443" y="1482852"/>
                  </a:lnTo>
                  <a:lnTo>
                    <a:pt x="534543" y="1463802"/>
                  </a:lnTo>
                  <a:close/>
                </a:path>
                <a:path w="534669" h="2083435">
                  <a:moveTo>
                    <a:pt x="534543" y="1181862"/>
                  </a:moveTo>
                  <a:lnTo>
                    <a:pt x="496443" y="1162812"/>
                  </a:lnTo>
                  <a:lnTo>
                    <a:pt x="420243" y="1124712"/>
                  </a:lnTo>
                  <a:lnTo>
                    <a:pt x="420243" y="1162812"/>
                  </a:lnTo>
                  <a:lnTo>
                    <a:pt x="0" y="1162812"/>
                  </a:lnTo>
                  <a:lnTo>
                    <a:pt x="0" y="1200912"/>
                  </a:lnTo>
                  <a:lnTo>
                    <a:pt x="420243" y="1200912"/>
                  </a:lnTo>
                  <a:lnTo>
                    <a:pt x="420243" y="1239012"/>
                  </a:lnTo>
                  <a:lnTo>
                    <a:pt x="496443" y="1200912"/>
                  </a:lnTo>
                  <a:lnTo>
                    <a:pt x="534543" y="1181862"/>
                  </a:lnTo>
                  <a:close/>
                </a:path>
                <a:path w="534669" h="2083435">
                  <a:moveTo>
                    <a:pt x="534543" y="899922"/>
                  </a:moveTo>
                  <a:lnTo>
                    <a:pt x="496443" y="880872"/>
                  </a:lnTo>
                  <a:lnTo>
                    <a:pt x="420243" y="842772"/>
                  </a:lnTo>
                  <a:lnTo>
                    <a:pt x="420243" y="880872"/>
                  </a:lnTo>
                  <a:lnTo>
                    <a:pt x="0" y="880872"/>
                  </a:lnTo>
                  <a:lnTo>
                    <a:pt x="0" y="918972"/>
                  </a:lnTo>
                  <a:lnTo>
                    <a:pt x="420243" y="918972"/>
                  </a:lnTo>
                  <a:lnTo>
                    <a:pt x="420243" y="957072"/>
                  </a:lnTo>
                  <a:lnTo>
                    <a:pt x="496443" y="918972"/>
                  </a:lnTo>
                  <a:lnTo>
                    <a:pt x="534543" y="899922"/>
                  </a:lnTo>
                  <a:close/>
                </a:path>
                <a:path w="534669" h="2083435">
                  <a:moveTo>
                    <a:pt x="534543" y="619506"/>
                  </a:moveTo>
                  <a:lnTo>
                    <a:pt x="496443" y="600456"/>
                  </a:lnTo>
                  <a:lnTo>
                    <a:pt x="420243" y="562356"/>
                  </a:lnTo>
                  <a:lnTo>
                    <a:pt x="420243" y="600456"/>
                  </a:lnTo>
                  <a:lnTo>
                    <a:pt x="0" y="600456"/>
                  </a:lnTo>
                  <a:lnTo>
                    <a:pt x="0" y="638556"/>
                  </a:lnTo>
                  <a:lnTo>
                    <a:pt x="420243" y="638556"/>
                  </a:lnTo>
                  <a:lnTo>
                    <a:pt x="420243" y="676656"/>
                  </a:lnTo>
                  <a:lnTo>
                    <a:pt x="496443" y="638556"/>
                  </a:lnTo>
                  <a:lnTo>
                    <a:pt x="534543" y="619506"/>
                  </a:lnTo>
                  <a:close/>
                </a:path>
                <a:path w="534669" h="2083435">
                  <a:moveTo>
                    <a:pt x="534543" y="337566"/>
                  </a:moveTo>
                  <a:lnTo>
                    <a:pt x="496443" y="318516"/>
                  </a:lnTo>
                  <a:lnTo>
                    <a:pt x="420243" y="280416"/>
                  </a:lnTo>
                  <a:lnTo>
                    <a:pt x="420243" y="318516"/>
                  </a:lnTo>
                  <a:lnTo>
                    <a:pt x="0" y="318516"/>
                  </a:lnTo>
                  <a:lnTo>
                    <a:pt x="0" y="356616"/>
                  </a:lnTo>
                  <a:lnTo>
                    <a:pt x="420243" y="356616"/>
                  </a:lnTo>
                  <a:lnTo>
                    <a:pt x="420243" y="394716"/>
                  </a:lnTo>
                  <a:lnTo>
                    <a:pt x="496443" y="356616"/>
                  </a:lnTo>
                  <a:lnTo>
                    <a:pt x="534543" y="337566"/>
                  </a:lnTo>
                  <a:close/>
                </a:path>
                <a:path w="534669" h="2083435">
                  <a:moveTo>
                    <a:pt x="534543" y="57150"/>
                  </a:moveTo>
                  <a:lnTo>
                    <a:pt x="496443" y="38100"/>
                  </a:lnTo>
                  <a:lnTo>
                    <a:pt x="420243" y="0"/>
                  </a:lnTo>
                  <a:lnTo>
                    <a:pt x="420243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420243" y="76200"/>
                  </a:lnTo>
                  <a:lnTo>
                    <a:pt x="420243" y="114300"/>
                  </a:lnTo>
                  <a:lnTo>
                    <a:pt x="496443" y="76200"/>
                  </a:lnTo>
                  <a:lnTo>
                    <a:pt x="534543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927098" y="2422398"/>
            <a:ext cx="1368425" cy="2161540"/>
            <a:chOff x="1927098" y="2422398"/>
            <a:chExt cx="1368425" cy="2161540"/>
          </a:xfrm>
        </p:grpSpPr>
        <p:sp>
          <p:nvSpPr>
            <p:cNvPr id="14" name="object 14"/>
            <p:cNvSpPr/>
            <p:nvPr/>
          </p:nvSpPr>
          <p:spPr>
            <a:xfrm>
              <a:off x="1927098" y="2422398"/>
              <a:ext cx="1368425" cy="2161540"/>
            </a:xfrm>
            <a:custGeom>
              <a:avLst/>
              <a:gdLst/>
              <a:ahLst/>
              <a:cxnLst/>
              <a:rect l="l" t="t" r="r" b="b"/>
              <a:pathLst>
                <a:path w="1368425" h="2161540">
                  <a:moveTo>
                    <a:pt x="649224" y="2161159"/>
                  </a:moveTo>
                  <a:lnTo>
                    <a:pt x="649224" y="0"/>
                  </a:lnTo>
                </a:path>
                <a:path w="1368425" h="2161540">
                  <a:moveTo>
                    <a:pt x="0" y="1078991"/>
                  </a:moveTo>
                  <a:lnTo>
                    <a:pt x="1368171" y="1078991"/>
                  </a:lnTo>
                </a:path>
                <a:path w="1368425" h="2161540">
                  <a:moveTo>
                    <a:pt x="893063" y="1025651"/>
                  </a:moveTo>
                  <a:lnTo>
                    <a:pt x="893063" y="1142746"/>
                  </a:lnTo>
                </a:path>
                <a:path w="1368425" h="2161540">
                  <a:moveTo>
                    <a:pt x="1152144" y="1025651"/>
                  </a:moveTo>
                  <a:lnTo>
                    <a:pt x="1152144" y="1142746"/>
                  </a:lnTo>
                </a:path>
                <a:path w="1368425" h="2161540">
                  <a:moveTo>
                    <a:pt x="173735" y="1025651"/>
                  </a:moveTo>
                  <a:lnTo>
                    <a:pt x="173735" y="1142746"/>
                  </a:lnTo>
                </a:path>
                <a:path w="1368425" h="2161540">
                  <a:moveTo>
                    <a:pt x="432815" y="1025651"/>
                  </a:moveTo>
                  <a:lnTo>
                    <a:pt x="432815" y="1142746"/>
                  </a:lnTo>
                </a:path>
                <a:path w="1368425" h="2161540">
                  <a:moveTo>
                    <a:pt x="576071" y="790955"/>
                  </a:moveTo>
                  <a:lnTo>
                    <a:pt x="720089" y="790955"/>
                  </a:lnTo>
                </a:path>
                <a:path w="1368425" h="2161540">
                  <a:moveTo>
                    <a:pt x="576071" y="431291"/>
                  </a:moveTo>
                  <a:lnTo>
                    <a:pt x="720089" y="431291"/>
                  </a:lnTo>
                </a:path>
                <a:path w="1368425" h="2161540">
                  <a:moveTo>
                    <a:pt x="576071" y="1740408"/>
                  </a:moveTo>
                  <a:lnTo>
                    <a:pt x="720089" y="1740408"/>
                  </a:lnTo>
                </a:path>
                <a:path w="1368425" h="2161540">
                  <a:moveTo>
                    <a:pt x="576071" y="1379220"/>
                  </a:moveTo>
                  <a:lnTo>
                    <a:pt x="720089" y="137922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12442" y="2494026"/>
              <a:ext cx="1194435" cy="1872614"/>
            </a:xfrm>
            <a:custGeom>
              <a:avLst/>
              <a:gdLst/>
              <a:ahLst/>
              <a:cxnLst/>
              <a:rect l="l" t="t" r="r" b="b"/>
              <a:pathLst>
                <a:path w="1194435" h="1872614">
                  <a:moveTo>
                    <a:pt x="1194308" y="0"/>
                  </a:moveTo>
                  <a:lnTo>
                    <a:pt x="0" y="1872234"/>
                  </a:lnTo>
                </a:path>
              </a:pathLst>
            </a:custGeom>
            <a:ln w="38100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837432" y="2277617"/>
            <a:ext cx="574675" cy="2412365"/>
            <a:chOff x="3837432" y="2277617"/>
            <a:chExt cx="574675" cy="2412365"/>
          </a:xfrm>
        </p:grpSpPr>
        <p:sp>
          <p:nvSpPr>
            <p:cNvPr id="17" name="object 17"/>
            <p:cNvSpPr/>
            <p:nvPr/>
          </p:nvSpPr>
          <p:spPr>
            <a:xfrm>
              <a:off x="3851910" y="2349245"/>
              <a:ext cx="0" cy="2340610"/>
            </a:xfrm>
            <a:custGeom>
              <a:avLst/>
              <a:gdLst/>
              <a:ahLst/>
              <a:cxnLst/>
              <a:rect l="l" t="t" r="r" b="b"/>
              <a:pathLst>
                <a:path w="0" h="2340610">
                  <a:moveTo>
                    <a:pt x="0" y="0"/>
                  </a:moveTo>
                  <a:lnTo>
                    <a:pt x="0" y="234022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58641" y="2277617"/>
              <a:ext cx="361315" cy="232410"/>
            </a:xfrm>
            <a:custGeom>
              <a:avLst/>
              <a:gdLst/>
              <a:ahLst/>
              <a:cxnLst/>
              <a:rect l="l" t="t" r="r" b="b"/>
              <a:pathLst>
                <a:path w="361314" h="232410">
                  <a:moveTo>
                    <a:pt x="253547" y="43751"/>
                  </a:moveTo>
                  <a:lnTo>
                    <a:pt x="0" y="199771"/>
                  </a:lnTo>
                  <a:lnTo>
                    <a:pt x="20066" y="232283"/>
                  </a:lnTo>
                  <a:lnTo>
                    <a:pt x="273503" y="76137"/>
                  </a:lnTo>
                  <a:lnTo>
                    <a:pt x="253547" y="43751"/>
                  </a:lnTo>
                  <a:close/>
                </a:path>
                <a:path w="361314" h="232410">
                  <a:moveTo>
                    <a:pt x="339866" y="33782"/>
                  </a:moveTo>
                  <a:lnTo>
                    <a:pt x="269748" y="33782"/>
                  </a:lnTo>
                  <a:lnTo>
                    <a:pt x="289687" y="66167"/>
                  </a:lnTo>
                  <a:lnTo>
                    <a:pt x="273503" y="76137"/>
                  </a:lnTo>
                  <a:lnTo>
                    <a:pt x="293497" y="108585"/>
                  </a:lnTo>
                  <a:lnTo>
                    <a:pt x="339866" y="33782"/>
                  </a:lnTo>
                  <a:close/>
                </a:path>
                <a:path w="361314" h="232410">
                  <a:moveTo>
                    <a:pt x="269748" y="33782"/>
                  </a:moveTo>
                  <a:lnTo>
                    <a:pt x="253547" y="43751"/>
                  </a:lnTo>
                  <a:lnTo>
                    <a:pt x="273503" y="76137"/>
                  </a:lnTo>
                  <a:lnTo>
                    <a:pt x="289687" y="66167"/>
                  </a:lnTo>
                  <a:lnTo>
                    <a:pt x="269748" y="33782"/>
                  </a:lnTo>
                  <a:close/>
                </a:path>
                <a:path w="361314" h="232410">
                  <a:moveTo>
                    <a:pt x="360807" y="0"/>
                  </a:moveTo>
                  <a:lnTo>
                    <a:pt x="233553" y="11303"/>
                  </a:lnTo>
                  <a:lnTo>
                    <a:pt x="253547" y="43751"/>
                  </a:lnTo>
                  <a:lnTo>
                    <a:pt x="269748" y="33782"/>
                  </a:lnTo>
                  <a:lnTo>
                    <a:pt x="339866" y="33782"/>
                  </a:lnTo>
                  <a:lnTo>
                    <a:pt x="3608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97502" y="2349245"/>
              <a:ext cx="0" cy="2340610"/>
            </a:xfrm>
            <a:custGeom>
              <a:avLst/>
              <a:gdLst/>
              <a:ahLst/>
              <a:cxnLst/>
              <a:rect l="l" t="t" r="r" b="b"/>
              <a:pathLst>
                <a:path w="0" h="2340610">
                  <a:moveTo>
                    <a:pt x="0" y="0"/>
                  </a:moveTo>
                  <a:lnTo>
                    <a:pt x="0" y="234022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54831" y="2494025"/>
              <a:ext cx="548640" cy="2138045"/>
            </a:xfrm>
            <a:custGeom>
              <a:avLst/>
              <a:gdLst/>
              <a:ahLst/>
              <a:cxnLst/>
              <a:rect l="l" t="t" r="r" b="b"/>
              <a:pathLst>
                <a:path w="548639" h="2138045">
                  <a:moveTo>
                    <a:pt x="498856" y="2137918"/>
                  </a:moveTo>
                  <a:lnTo>
                    <a:pt x="479869" y="2087118"/>
                  </a:lnTo>
                  <a:lnTo>
                    <a:pt x="454152" y="2018284"/>
                  </a:lnTo>
                  <a:lnTo>
                    <a:pt x="428155" y="2046236"/>
                  </a:lnTo>
                  <a:lnTo>
                    <a:pt x="26797" y="1673098"/>
                  </a:lnTo>
                  <a:lnTo>
                    <a:pt x="889" y="1701038"/>
                  </a:lnTo>
                  <a:lnTo>
                    <a:pt x="402196" y="2074138"/>
                  </a:lnTo>
                  <a:lnTo>
                    <a:pt x="376301" y="2101977"/>
                  </a:lnTo>
                  <a:lnTo>
                    <a:pt x="498856" y="2137918"/>
                  </a:lnTo>
                  <a:close/>
                </a:path>
                <a:path w="548639" h="2138045">
                  <a:moveTo>
                    <a:pt x="542798" y="1969262"/>
                  </a:moveTo>
                  <a:lnTo>
                    <a:pt x="525881" y="1912874"/>
                  </a:lnTo>
                  <a:lnTo>
                    <a:pt x="506095" y="1846834"/>
                  </a:lnTo>
                  <a:lnTo>
                    <a:pt x="478294" y="1872945"/>
                  </a:lnTo>
                  <a:lnTo>
                    <a:pt x="27686" y="1393571"/>
                  </a:lnTo>
                  <a:lnTo>
                    <a:pt x="0" y="1419733"/>
                  </a:lnTo>
                  <a:lnTo>
                    <a:pt x="450583" y="1898967"/>
                  </a:lnTo>
                  <a:lnTo>
                    <a:pt x="422783" y="1925066"/>
                  </a:lnTo>
                  <a:lnTo>
                    <a:pt x="542798" y="1969262"/>
                  </a:lnTo>
                  <a:close/>
                </a:path>
                <a:path w="548639" h="2138045">
                  <a:moveTo>
                    <a:pt x="542798" y="1406017"/>
                  </a:moveTo>
                  <a:lnTo>
                    <a:pt x="522897" y="1378077"/>
                  </a:lnTo>
                  <a:lnTo>
                    <a:pt x="468630" y="1301877"/>
                  </a:lnTo>
                  <a:lnTo>
                    <a:pt x="450786" y="1335481"/>
                  </a:lnTo>
                  <a:lnTo>
                    <a:pt x="22733" y="1107948"/>
                  </a:lnTo>
                  <a:lnTo>
                    <a:pt x="4953" y="1141476"/>
                  </a:lnTo>
                  <a:lnTo>
                    <a:pt x="432917" y="1369148"/>
                  </a:lnTo>
                  <a:lnTo>
                    <a:pt x="415036" y="1402842"/>
                  </a:lnTo>
                  <a:lnTo>
                    <a:pt x="542798" y="1406017"/>
                  </a:lnTo>
                  <a:close/>
                </a:path>
                <a:path w="548639" h="2138045">
                  <a:moveTo>
                    <a:pt x="542798" y="394716"/>
                  </a:moveTo>
                  <a:lnTo>
                    <a:pt x="416560" y="374777"/>
                  </a:lnTo>
                  <a:lnTo>
                    <a:pt x="428078" y="411149"/>
                  </a:lnTo>
                  <a:lnTo>
                    <a:pt x="8128" y="544195"/>
                  </a:lnTo>
                  <a:lnTo>
                    <a:pt x="19558" y="580517"/>
                  </a:lnTo>
                  <a:lnTo>
                    <a:pt x="439585" y="447446"/>
                  </a:lnTo>
                  <a:lnTo>
                    <a:pt x="451104" y="483743"/>
                  </a:lnTo>
                  <a:lnTo>
                    <a:pt x="531799" y="405384"/>
                  </a:lnTo>
                  <a:lnTo>
                    <a:pt x="542798" y="394716"/>
                  </a:lnTo>
                  <a:close/>
                </a:path>
                <a:path w="548639" h="2138045">
                  <a:moveTo>
                    <a:pt x="542798" y="0"/>
                  </a:moveTo>
                  <a:lnTo>
                    <a:pt x="415036" y="3175"/>
                  </a:lnTo>
                  <a:lnTo>
                    <a:pt x="432917" y="36868"/>
                  </a:lnTo>
                  <a:lnTo>
                    <a:pt x="4953" y="264414"/>
                  </a:lnTo>
                  <a:lnTo>
                    <a:pt x="22733" y="298069"/>
                  </a:lnTo>
                  <a:lnTo>
                    <a:pt x="450786" y="70548"/>
                  </a:lnTo>
                  <a:lnTo>
                    <a:pt x="468630" y="104140"/>
                  </a:lnTo>
                  <a:lnTo>
                    <a:pt x="522897" y="27940"/>
                  </a:lnTo>
                  <a:lnTo>
                    <a:pt x="542798" y="0"/>
                  </a:lnTo>
                  <a:close/>
                </a:path>
                <a:path w="548639" h="2138045">
                  <a:moveTo>
                    <a:pt x="548386" y="842772"/>
                  </a:moveTo>
                  <a:lnTo>
                    <a:pt x="510286" y="823722"/>
                  </a:lnTo>
                  <a:lnTo>
                    <a:pt x="434086" y="785622"/>
                  </a:lnTo>
                  <a:lnTo>
                    <a:pt x="434086" y="823722"/>
                  </a:lnTo>
                  <a:lnTo>
                    <a:pt x="13843" y="823722"/>
                  </a:lnTo>
                  <a:lnTo>
                    <a:pt x="13843" y="861822"/>
                  </a:lnTo>
                  <a:lnTo>
                    <a:pt x="434086" y="861822"/>
                  </a:lnTo>
                  <a:lnTo>
                    <a:pt x="434086" y="899922"/>
                  </a:lnTo>
                  <a:lnTo>
                    <a:pt x="510286" y="861822"/>
                  </a:lnTo>
                  <a:lnTo>
                    <a:pt x="548386" y="842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4859273" y="2422398"/>
            <a:ext cx="1368425" cy="2161540"/>
            <a:chOff x="4859273" y="2422398"/>
            <a:chExt cx="1368425" cy="2161540"/>
          </a:xfrm>
        </p:grpSpPr>
        <p:sp>
          <p:nvSpPr>
            <p:cNvPr id="22" name="object 22"/>
            <p:cNvSpPr/>
            <p:nvPr/>
          </p:nvSpPr>
          <p:spPr>
            <a:xfrm>
              <a:off x="4859273" y="2422398"/>
              <a:ext cx="1368425" cy="2161540"/>
            </a:xfrm>
            <a:custGeom>
              <a:avLst/>
              <a:gdLst/>
              <a:ahLst/>
              <a:cxnLst/>
              <a:rect l="l" t="t" r="r" b="b"/>
              <a:pathLst>
                <a:path w="1368425" h="2161540">
                  <a:moveTo>
                    <a:pt x="647700" y="2161159"/>
                  </a:moveTo>
                  <a:lnTo>
                    <a:pt x="647700" y="0"/>
                  </a:lnTo>
                </a:path>
                <a:path w="1368425" h="2161540">
                  <a:moveTo>
                    <a:pt x="0" y="1078991"/>
                  </a:moveTo>
                  <a:lnTo>
                    <a:pt x="1368171" y="1078991"/>
                  </a:lnTo>
                </a:path>
                <a:path w="1368425" h="2161540">
                  <a:moveTo>
                    <a:pt x="893063" y="1025651"/>
                  </a:moveTo>
                  <a:lnTo>
                    <a:pt x="893063" y="1142746"/>
                  </a:lnTo>
                </a:path>
                <a:path w="1368425" h="2161540">
                  <a:moveTo>
                    <a:pt x="1152143" y="1025651"/>
                  </a:moveTo>
                  <a:lnTo>
                    <a:pt x="1152143" y="1142746"/>
                  </a:lnTo>
                </a:path>
                <a:path w="1368425" h="2161540">
                  <a:moveTo>
                    <a:pt x="172212" y="1025651"/>
                  </a:moveTo>
                  <a:lnTo>
                    <a:pt x="172212" y="1142746"/>
                  </a:lnTo>
                </a:path>
                <a:path w="1368425" h="2161540">
                  <a:moveTo>
                    <a:pt x="432815" y="1025651"/>
                  </a:moveTo>
                  <a:lnTo>
                    <a:pt x="432815" y="1142746"/>
                  </a:lnTo>
                </a:path>
                <a:path w="1368425" h="2161540">
                  <a:moveTo>
                    <a:pt x="576072" y="790955"/>
                  </a:moveTo>
                  <a:lnTo>
                    <a:pt x="720089" y="790955"/>
                  </a:lnTo>
                </a:path>
                <a:path w="1368425" h="2161540">
                  <a:moveTo>
                    <a:pt x="576072" y="431291"/>
                  </a:moveTo>
                  <a:lnTo>
                    <a:pt x="720089" y="431291"/>
                  </a:lnTo>
                </a:path>
                <a:path w="1368425" h="2161540">
                  <a:moveTo>
                    <a:pt x="576072" y="1740408"/>
                  </a:moveTo>
                  <a:lnTo>
                    <a:pt x="720089" y="1740408"/>
                  </a:lnTo>
                </a:path>
                <a:path w="1368425" h="2161540">
                  <a:moveTo>
                    <a:pt x="576072" y="1379220"/>
                  </a:moveTo>
                  <a:lnTo>
                    <a:pt x="720089" y="137922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944617" y="2494026"/>
              <a:ext cx="1194435" cy="1872614"/>
            </a:xfrm>
            <a:custGeom>
              <a:avLst/>
              <a:gdLst/>
              <a:ahLst/>
              <a:cxnLst/>
              <a:rect l="l" t="t" r="r" b="b"/>
              <a:pathLst>
                <a:path w="1194435" h="1872614">
                  <a:moveTo>
                    <a:pt x="1194308" y="0"/>
                  </a:moveTo>
                  <a:lnTo>
                    <a:pt x="0" y="1872234"/>
                  </a:lnTo>
                </a:path>
              </a:pathLst>
            </a:custGeom>
            <a:ln w="38100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6768083" y="2277617"/>
            <a:ext cx="582295" cy="2412365"/>
            <a:chOff x="6768083" y="2277617"/>
            <a:chExt cx="582295" cy="2412365"/>
          </a:xfrm>
        </p:grpSpPr>
        <p:sp>
          <p:nvSpPr>
            <p:cNvPr id="25" name="object 25"/>
            <p:cNvSpPr/>
            <p:nvPr/>
          </p:nvSpPr>
          <p:spPr>
            <a:xfrm>
              <a:off x="6782561" y="2349245"/>
              <a:ext cx="0" cy="2340610"/>
            </a:xfrm>
            <a:custGeom>
              <a:avLst/>
              <a:gdLst/>
              <a:ahLst/>
              <a:cxnLst/>
              <a:rect l="l" t="t" r="r" b="b"/>
              <a:pathLst>
                <a:path w="0" h="2340610">
                  <a:moveTo>
                    <a:pt x="0" y="0"/>
                  </a:moveTo>
                  <a:lnTo>
                    <a:pt x="0" y="234022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782180" y="2277617"/>
              <a:ext cx="149225" cy="501015"/>
            </a:xfrm>
            <a:custGeom>
              <a:avLst/>
              <a:gdLst/>
              <a:ahLst/>
              <a:cxnLst/>
              <a:rect l="l" t="t" r="r" b="b"/>
              <a:pathLst>
                <a:path w="149225" h="501014">
                  <a:moveTo>
                    <a:pt x="74117" y="108651"/>
                  </a:moveTo>
                  <a:lnTo>
                    <a:pt x="0" y="493649"/>
                  </a:lnTo>
                  <a:lnTo>
                    <a:pt x="37338" y="500888"/>
                  </a:lnTo>
                  <a:lnTo>
                    <a:pt x="111581" y="115864"/>
                  </a:lnTo>
                  <a:lnTo>
                    <a:pt x="74117" y="108651"/>
                  </a:lnTo>
                  <a:close/>
                </a:path>
                <a:path w="149225" h="501014">
                  <a:moveTo>
                    <a:pt x="139700" y="89916"/>
                  </a:moveTo>
                  <a:lnTo>
                    <a:pt x="77724" y="89916"/>
                  </a:lnTo>
                  <a:lnTo>
                    <a:pt x="115189" y="97155"/>
                  </a:lnTo>
                  <a:lnTo>
                    <a:pt x="111581" y="115864"/>
                  </a:lnTo>
                  <a:lnTo>
                    <a:pt x="148971" y="123062"/>
                  </a:lnTo>
                  <a:lnTo>
                    <a:pt x="139700" y="89916"/>
                  </a:lnTo>
                  <a:close/>
                </a:path>
                <a:path w="149225" h="501014">
                  <a:moveTo>
                    <a:pt x="77724" y="89916"/>
                  </a:moveTo>
                  <a:lnTo>
                    <a:pt x="74117" y="108651"/>
                  </a:lnTo>
                  <a:lnTo>
                    <a:pt x="111581" y="115864"/>
                  </a:lnTo>
                  <a:lnTo>
                    <a:pt x="115189" y="97155"/>
                  </a:lnTo>
                  <a:lnTo>
                    <a:pt x="77724" y="89916"/>
                  </a:lnTo>
                  <a:close/>
                </a:path>
                <a:path w="149225" h="501014">
                  <a:moveTo>
                    <a:pt x="114553" y="0"/>
                  </a:moveTo>
                  <a:lnTo>
                    <a:pt x="36829" y="101473"/>
                  </a:lnTo>
                  <a:lnTo>
                    <a:pt x="74117" y="108651"/>
                  </a:lnTo>
                  <a:lnTo>
                    <a:pt x="77724" y="89916"/>
                  </a:lnTo>
                  <a:lnTo>
                    <a:pt x="139700" y="89916"/>
                  </a:lnTo>
                  <a:lnTo>
                    <a:pt x="114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329677" y="2349245"/>
              <a:ext cx="0" cy="2340610"/>
            </a:xfrm>
            <a:custGeom>
              <a:avLst/>
              <a:gdLst/>
              <a:ahLst/>
              <a:cxnLst/>
              <a:rect l="l" t="t" r="r" b="b"/>
              <a:pathLst>
                <a:path w="0" h="2340610">
                  <a:moveTo>
                    <a:pt x="0" y="0"/>
                  </a:moveTo>
                  <a:lnTo>
                    <a:pt x="0" y="234022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781927" y="2349245"/>
              <a:ext cx="568325" cy="2116455"/>
            </a:xfrm>
            <a:custGeom>
              <a:avLst/>
              <a:gdLst/>
              <a:ahLst/>
              <a:cxnLst/>
              <a:rect l="l" t="t" r="r" b="b"/>
              <a:pathLst>
                <a:path w="568325" h="2116454">
                  <a:moveTo>
                    <a:pt x="568198" y="270891"/>
                  </a:moveTo>
                  <a:lnTo>
                    <a:pt x="561606" y="229997"/>
                  </a:lnTo>
                  <a:lnTo>
                    <a:pt x="547878" y="144780"/>
                  </a:lnTo>
                  <a:lnTo>
                    <a:pt x="494398" y="164426"/>
                  </a:lnTo>
                  <a:lnTo>
                    <a:pt x="494398" y="251447"/>
                  </a:lnTo>
                  <a:lnTo>
                    <a:pt x="269709" y="968502"/>
                  </a:lnTo>
                  <a:lnTo>
                    <a:pt x="257771" y="968502"/>
                  </a:lnTo>
                  <a:lnTo>
                    <a:pt x="257771" y="1006602"/>
                  </a:lnTo>
                  <a:lnTo>
                    <a:pt x="181356" y="1250442"/>
                  </a:lnTo>
                  <a:lnTo>
                    <a:pt x="169418" y="1250442"/>
                  </a:lnTo>
                  <a:lnTo>
                    <a:pt x="169418" y="1288542"/>
                  </a:lnTo>
                  <a:lnTo>
                    <a:pt x="134759" y="1399159"/>
                  </a:lnTo>
                  <a:lnTo>
                    <a:pt x="108673" y="1426908"/>
                  </a:lnTo>
                  <a:lnTo>
                    <a:pt x="108673" y="1482382"/>
                  </a:lnTo>
                  <a:lnTo>
                    <a:pt x="99644" y="1511173"/>
                  </a:lnTo>
                  <a:lnTo>
                    <a:pt x="101854" y="1489633"/>
                  </a:lnTo>
                  <a:lnTo>
                    <a:pt x="108673" y="1482382"/>
                  </a:lnTo>
                  <a:lnTo>
                    <a:pt x="108673" y="1426908"/>
                  </a:lnTo>
                  <a:lnTo>
                    <a:pt x="108216" y="1427391"/>
                  </a:lnTo>
                  <a:lnTo>
                    <a:pt x="122402" y="1288542"/>
                  </a:lnTo>
                  <a:lnTo>
                    <a:pt x="169418" y="1288542"/>
                  </a:lnTo>
                  <a:lnTo>
                    <a:pt x="169418" y="1250442"/>
                  </a:lnTo>
                  <a:lnTo>
                    <a:pt x="126301" y="1250442"/>
                  </a:lnTo>
                  <a:lnTo>
                    <a:pt x="151218" y="1006602"/>
                  </a:lnTo>
                  <a:lnTo>
                    <a:pt x="257771" y="1006602"/>
                  </a:lnTo>
                  <a:lnTo>
                    <a:pt x="257771" y="968502"/>
                  </a:lnTo>
                  <a:lnTo>
                    <a:pt x="155105" y="968502"/>
                  </a:lnTo>
                  <a:lnTo>
                    <a:pt x="198488" y="544080"/>
                  </a:lnTo>
                  <a:lnTo>
                    <a:pt x="481012" y="243598"/>
                  </a:lnTo>
                  <a:lnTo>
                    <a:pt x="488569" y="245973"/>
                  </a:lnTo>
                  <a:lnTo>
                    <a:pt x="494398" y="251447"/>
                  </a:lnTo>
                  <a:lnTo>
                    <a:pt x="494398" y="164426"/>
                  </a:lnTo>
                  <a:lnTo>
                    <a:pt x="427863" y="188849"/>
                  </a:lnTo>
                  <a:lnTo>
                    <a:pt x="455701" y="215049"/>
                  </a:lnTo>
                  <a:lnTo>
                    <a:pt x="204851" y="481838"/>
                  </a:lnTo>
                  <a:lnTo>
                    <a:pt x="242277" y="115671"/>
                  </a:lnTo>
                  <a:lnTo>
                    <a:pt x="280162" y="119507"/>
                  </a:lnTo>
                  <a:lnTo>
                    <a:pt x="270065" y="92837"/>
                  </a:lnTo>
                  <a:lnTo>
                    <a:pt x="234950" y="0"/>
                  </a:lnTo>
                  <a:lnTo>
                    <a:pt x="166370" y="107950"/>
                  </a:lnTo>
                  <a:lnTo>
                    <a:pt x="204304" y="111810"/>
                  </a:lnTo>
                  <a:lnTo>
                    <a:pt x="161836" y="527596"/>
                  </a:lnTo>
                  <a:lnTo>
                    <a:pt x="5080" y="694309"/>
                  </a:lnTo>
                  <a:lnTo>
                    <a:pt x="32766" y="720344"/>
                  </a:lnTo>
                  <a:lnTo>
                    <a:pt x="155473" y="589838"/>
                  </a:lnTo>
                  <a:lnTo>
                    <a:pt x="116789" y="968502"/>
                  </a:lnTo>
                  <a:lnTo>
                    <a:pt x="18923" y="968502"/>
                  </a:lnTo>
                  <a:lnTo>
                    <a:pt x="18923" y="1006602"/>
                  </a:lnTo>
                  <a:lnTo>
                    <a:pt x="112903" y="1006602"/>
                  </a:lnTo>
                  <a:lnTo>
                    <a:pt x="87998" y="1250442"/>
                  </a:lnTo>
                  <a:lnTo>
                    <a:pt x="18923" y="1250442"/>
                  </a:lnTo>
                  <a:lnTo>
                    <a:pt x="18923" y="1288542"/>
                  </a:lnTo>
                  <a:lnTo>
                    <a:pt x="84099" y="1288542"/>
                  </a:lnTo>
                  <a:lnTo>
                    <a:pt x="65252" y="1473085"/>
                  </a:lnTo>
                  <a:lnTo>
                    <a:pt x="5080" y="1537081"/>
                  </a:lnTo>
                  <a:lnTo>
                    <a:pt x="32766" y="1563116"/>
                  </a:lnTo>
                  <a:lnTo>
                    <a:pt x="58902" y="1535315"/>
                  </a:lnTo>
                  <a:lnTo>
                    <a:pt x="42849" y="1692427"/>
                  </a:lnTo>
                  <a:lnTo>
                    <a:pt x="762" y="1826768"/>
                  </a:lnTo>
                  <a:lnTo>
                    <a:pt x="28244" y="1835429"/>
                  </a:lnTo>
                  <a:lnTo>
                    <a:pt x="0" y="2112010"/>
                  </a:lnTo>
                  <a:lnTo>
                    <a:pt x="37846" y="2115947"/>
                  </a:lnTo>
                  <a:lnTo>
                    <a:pt x="80327" y="1700212"/>
                  </a:lnTo>
                  <a:lnTo>
                    <a:pt x="168579" y="1418666"/>
                  </a:lnTo>
                  <a:lnTo>
                    <a:pt x="290931" y="1288542"/>
                  </a:lnTo>
                  <a:lnTo>
                    <a:pt x="439166" y="1288542"/>
                  </a:lnTo>
                  <a:lnTo>
                    <a:pt x="439166" y="1326642"/>
                  </a:lnTo>
                  <a:lnTo>
                    <a:pt x="515366" y="1288542"/>
                  </a:lnTo>
                  <a:lnTo>
                    <a:pt x="553466" y="1269492"/>
                  </a:lnTo>
                  <a:lnTo>
                    <a:pt x="515366" y="1250442"/>
                  </a:lnTo>
                  <a:lnTo>
                    <a:pt x="439166" y="1212342"/>
                  </a:lnTo>
                  <a:lnTo>
                    <a:pt x="439166" y="1250442"/>
                  </a:lnTo>
                  <a:lnTo>
                    <a:pt x="326745" y="1250442"/>
                  </a:lnTo>
                  <a:lnTo>
                    <a:pt x="483387" y="1083856"/>
                  </a:lnTo>
                  <a:lnTo>
                    <a:pt x="511175" y="1109980"/>
                  </a:lnTo>
                  <a:lnTo>
                    <a:pt x="530961" y="1043940"/>
                  </a:lnTo>
                  <a:lnTo>
                    <a:pt x="546887" y="990841"/>
                  </a:lnTo>
                  <a:lnTo>
                    <a:pt x="553466" y="987552"/>
                  </a:lnTo>
                  <a:lnTo>
                    <a:pt x="515366" y="968502"/>
                  </a:lnTo>
                  <a:lnTo>
                    <a:pt x="455701" y="938669"/>
                  </a:lnTo>
                  <a:lnTo>
                    <a:pt x="455701" y="1057821"/>
                  </a:lnTo>
                  <a:lnTo>
                    <a:pt x="274586" y="1250442"/>
                  </a:lnTo>
                  <a:lnTo>
                    <a:pt x="238760" y="1250442"/>
                  </a:lnTo>
                  <a:lnTo>
                    <a:pt x="238760" y="1288542"/>
                  </a:lnTo>
                  <a:lnTo>
                    <a:pt x="194665" y="1335430"/>
                  </a:lnTo>
                  <a:lnTo>
                    <a:pt x="209372" y="1288542"/>
                  </a:lnTo>
                  <a:lnTo>
                    <a:pt x="238760" y="1288542"/>
                  </a:lnTo>
                  <a:lnTo>
                    <a:pt x="238760" y="1250442"/>
                  </a:lnTo>
                  <a:lnTo>
                    <a:pt x="221310" y="1250442"/>
                  </a:lnTo>
                  <a:lnTo>
                    <a:pt x="297738" y="1006602"/>
                  </a:lnTo>
                  <a:lnTo>
                    <a:pt x="439166" y="1006602"/>
                  </a:lnTo>
                  <a:lnTo>
                    <a:pt x="439166" y="1027480"/>
                  </a:lnTo>
                  <a:lnTo>
                    <a:pt x="427863" y="1031621"/>
                  </a:lnTo>
                  <a:lnTo>
                    <a:pt x="439166" y="1042263"/>
                  </a:lnTo>
                  <a:lnTo>
                    <a:pt x="439166" y="1044702"/>
                  </a:lnTo>
                  <a:lnTo>
                    <a:pt x="440855" y="1043863"/>
                  </a:lnTo>
                  <a:lnTo>
                    <a:pt x="455701" y="1057821"/>
                  </a:lnTo>
                  <a:lnTo>
                    <a:pt x="455701" y="938669"/>
                  </a:lnTo>
                  <a:lnTo>
                    <a:pt x="439166" y="930402"/>
                  </a:lnTo>
                  <a:lnTo>
                    <a:pt x="439166" y="968502"/>
                  </a:lnTo>
                  <a:lnTo>
                    <a:pt x="309689" y="968502"/>
                  </a:lnTo>
                  <a:lnTo>
                    <a:pt x="531914" y="259537"/>
                  </a:lnTo>
                  <a:lnTo>
                    <a:pt x="568198" y="270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7791450" y="2422398"/>
            <a:ext cx="1368425" cy="2161540"/>
          </a:xfrm>
          <a:custGeom>
            <a:avLst/>
            <a:gdLst/>
            <a:ahLst/>
            <a:cxnLst/>
            <a:rect l="l" t="t" r="r" b="b"/>
            <a:pathLst>
              <a:path w="1368425" h="2161540">
                <a:moveTo>
                  <a:pt x="647700" y="2161159"/>
                </a:moveTo>
                <a:lnTo>
                  <a:pt x="647700" y="0"/>
                </a:lnTo>
              </a:path>
              <a:path w="1368425" h="2161540">
                <a:moveTo>
                  <a:pt x="0" y="1597152"/>
                </a:moveTo>
                <a:lnTo>
                  <a:pt x="1368171" y="1597152"/>
                </a:lnTo>
              </a:path>
              <a:path w="1368425" h="2161540">
                <a:moveTo>
                  <a:pt x="893064" y="1542288"/>
                </a:moveTo>
                <a:lnTo>
                  <a:pt x="893064" y="1659382"/>
                </a:lnTo>
              </a:path>
              <a:path w="1368425" h="2161540">
                <a:moveTo>
                  <a:pt x="1152144" y="1542288"/>
                </a:moveTo>
                <a:lnTo>
                  <a:pt x="1152144" y="1659382"/>
                </a:lnTo>
              </a:path>
              <a:path w="1368425" h="2161540">
                <a:moveTo>
                  <a:pt x="172211" y="1542288"/>
                </a:moveTo>
                <a:lnTo>
                  <a:pt x="172211" y="1659382"/>
                </a:lnTo>
              </a:path>
              <a:path w="1368425" h="2161540">
                <a:moveTo>
                  <a:pt x="431292" y="1542288"/>
                </a:moveTo>
                <a:lnTo>
                  <a:pt x="431292" y="1659382"/>
                </a:lnTo>
              </a:path>
              <a:path w="1368425" h="2161540">
                <a:moveTo>
                  <a:pt x="576072" y="637031"/>
                </a:moveTo>
                <a:lnTo>
                  <a:pt x="720090" y="637031"/>
                </a:lnTo>
              </a:path>
              <a:path w="1368425" h="2161540">
                <a:moveTo>
                  <a:pt x="576072" y="275843"/>
                </a:moveTo>
                <a:lnTo>
                  <a:pt x="720090" y="275843"/>
                </a:lnTo>
              </a:path>
              <a:path w="1368425" h="2161540">
                <a:moveTo>
                  <a:pt x="576072" y="1373124"/>
                </a:moveTo>
                <a:lnTo>
                  <a:pt x="720090" y="1373124"/>
                </a:lnTo>
              </a:path>
              <a:path w="1368425" h="2161540">
                <a:moveTo>
                  <a:pt x="576072" y="1013460"/>
                </a:moveTo>
                <a:lnTo>
                  <a:pt x="720090" y="101346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41742" y="2666238"/>
            <a:ext cx="1183005" cy="1390015"/>
          </a:xfrm>
          <a:custGeom>
            <a:avLst/>
            <a:gdLst/>
            <a:ahLst/>
            <a:cxnLst/>
            <a:rect l="l" t="t" r="r" b="b"/>
            <a:pathLst>
              <a:path w="1183004" h="1390014">
                <a:moveTo>
                  <a:pt x="0" y="0"/>
                </a:moveTo>
                <a:lnTo>
                  <a:pt x="14726" y="57264"/>
                </a:lnTo>
                <a:lnTo>
                  <a:pt x="29448" y="114421"/>
                </a:lnTo>
                <a:lnTo>
                  <a:pt x="44161" y="171367"/>
                </a:lnTo>
                <a:lnTo>
                  <a:pt x="58859" y="227996"/>
                </a:lnTo>
                <a:lnTo>
                  <a:pt x="73536" y="284203"/>
                </a:lnTo>
                <a:lnTo>
                  <a:pt x="88188" y="339883"/>
                </a:lnTo>
                <a:lnTo>
                  <a:pt x="102809" y="394931"/>
                </a:lnTo>
                <a:lnTo>
                  <a:pt x="117392" y="449241"/>
                </a:lnTo>
                <a:lnTo>
                  <a:pt x="131934" y="502708"/>
                </a:lnTo>
                <a:lnTo>
                  <a:pt x="146428" y="555227"/>
                </a:lnTo>
                <a:lnTo>
                  <a:pt x="160869" y="606694"/>
                </a:lnTo>
                <a:lnTo>
                  <a:pt x="175252" y="657002"/>
                </a:lnTo>
                <a:lnTo>
                  <a:pt x="189570" y="706047"/>
                </a:lnTo>
                <a:lnTo>
                  <a:pt x="203820" y="753724"/>
                </a:lnTo>
                <a:lnTo>
                  <a:pt x="217994" y="799927"/>
                </a:lnTo>
                <a:lnTo>
                  <a:pt x="232088" y="844551"/>
                </a:lnTo>
                <a:lnTo>
                  <a:pt x="246096" y="887491"/>
                </a:lnTo>
                <a:lnTo>
                  <a:pt x="260013" y="928643"/>
                </a:lnTo>
                <a:lnTo>
                  <a:pt x="273834" y="967900"/>
                </a:lnTo>
                <a:lnTo>
                  <a:pt x="287552" y="1005158"/>
                </a:lnTo>
                <a:lnTo>
                  <a:pt x="314661" y="1073255"/>
                </a:lnTo>
                <a:lnTo>
                  <a:pt x="361909" y="1171145"/>
                </a:lnTo>
                <a:lnTo>
                  <a:pt x="395394" y="1223823"/>
                </a:lnTo>
                <a:lnTo>
                  <a:pt x="428422" y="1263941"/>
                </a:lnTo>
                <a:lnTo>
                  <a:pt x="460920" y="1293519"/>
                </a:lnTo>
                <a:lnTo>
                  <a:pt x="492816" y="1314580"/>
                </a:lnTo>
                <a:lnTo>
                  <a:pt x="554504" y="1339233"/>
                </a:lnTo>
                <a:lnTo>
                  <a:pt x="612901" y="1354074"/>
                </a:lnTo>
                <a:lnTo>
                  <a:pt x="643005" y="1364934"/>
                </a:lnTo>
                <a:lnTo>
                  <a:pt x="670397" y="1377378"/>
                </a:lnTo>
                <a:lnTo>
                  <a:pt x="696140" y="1387060"/>
                </a:lnTo>
                <a:lnTo>
                  <a:pt x="721296" y="1389633"/>
                </a:lnTo>
                <a:lnTo>
                  <a:pt x="746929" y="1380753"/>
                </a:lnTo>
                <a:lnTo>
                  <a:pt x="803873" y="1311249"/>
                </a:lnTo>
                <a:lnTo>
                  <a:pt x="837310" y="1241933"/>
                </a:lnTo>
                <a:lnTo>
                  <a:pt x="860672" y="1183649"/>
                </a:lnTo>
                <a:lnTo>
                  <a:pt x="885097" y="1115615"/>
                </a:lnTo>
                <a:lnTo>
                  <a:pt x="897680" y="1078207"/>
                </a:lnTo>
                <a:lnTo>
                  <a:pt x="910494" y="1038680"/>
                </a:lnTo>
                <a:lnTo>
                  <a:pt x="923528" y="997139"/>
                </a:lnTo>
                <a:lnTo>
                  <a:pt x="936771" y="953691"/>
                </a:lnTo>
                <a:lnTo>
                  <a:pt x="950210" y="908441"/>
                </a:lnTo>
                <a:lnTo>
                  <a:pt x="963835" y="861495"/>
                </a:lnTo>
                <a:lnTo>
                  <a:pt x="977634" y="812960"/>
                </a:lnTo>
                <a:lnTo>
                  <a:pt x="991595" y="762942"/>
                </a:lnTo>
                <a:lnTo>
                  <a:pt x="1005706" y="711545"/>
                </a:lnTo>
                <a:lnTo>
                  <a:pt x="1019957" y="658877"/>
                </a:lnTo>
                <a:lnTo>
                  <a:pt x="1034336" y="605044"/>
                </a:lnTo>
                <a:lnTo>
                  <a:pt x="1048831" y="550150"/>
                </a:lnTo>
                <a:lnTo>
                  <a:pt x="1063432" y="494303"/>
                </a:lnTo>
                <a:lnTo>
                  <a:pt x="1078125" y="437608"/>
                </a:lnTo>
                <a:lnTo>
                  <a:pt x="1092900" y="380172"/>
                </a:lnTo>
                <a:lnTo>
                  <a:pt x="1107745" y="322099"/>
                </a:lnTo>
                <a:lnTo>
                  <a:pt x="1122649" y="263496"/>
                </a:lnTo>
                <a:lnTo>
                  <a:pt x="1137601" y="204470"/>
                </a:lnTo>
                <a:lnTo>
                  <a:pt x="1152588" y="145126"/>
                </a:lnTo>
                <a:lnTo>
                  <a:pt x="1167599" y="85570"/>
                </a:lnTo>
                <a:lnTo>
                  <a:pt x="1182624" y="25908"/>
                </a:lnTo>
              </a:path>
            </a:pathLst>
          </a:custGeom>
          <a:ln w="38099">
            <a:solidFill>
              <a:srgbClr val="13299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74920" y="2520695"/>
            <a:ext cx="1833880" cy="365760"/>
          </a:xfrm>
          <a:custGeom>
            <a:avLst/>
            <a:gdLst/>
            <a:ahLst/>
            <a:cxnLst/>
            <a:rect l="l" t="t" r="r" b="b"/>
            <a:pathLst>
              <a:path w="1833879" h="365760">
                <a:moveTo>
                  <a:pt x="1833372" y="0"/>
                </a:moveTo>
                <a:lnTo>
                  <a:pt x="0" y="0"/>
                </a:lnTo>
                <a:lnTo>
                  <a:pt x="0" y="365760"/>
                </a:lnTo>
                <a:lnTo>
                  <a:pt x="1833372" y="365760"/>
                </a:lnTo>
                <a:lnTo>
                  <a:pt x="18333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43427" y="2520695"/>
            <a:ext cx="1833880" cy="365760"/>
          </a:xfrm>
          <a:custGeom>
            <a:avLst/>
            <a:gdLst/>
            <a:ahLst/>
            <a:cxnLst/>
            <a:rect l="l" t="t" r="r" b="b"/>
            <a:pathLst>
              <a:path w="1833879" h="365760">
                <a:moveTo>
                  <a:pt x="1833372" y="0"/>
                </a:moveTo>
                <a:lnTo>
                  <a:pt x="0" y="0"/>
                </a:lnTo>
                <a:lnTo>
                  <a:pt x="0" y="365760"/>
                </a:lnTo>
                <a:lnTo>
                  <a:pt x="1833372" y="365760"/>
                </a:lnTo>
                <a:lnTo>
                  <a:pt x="18333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13660" y="2552700"/>
            <a:ext cx="330835" cy="170815"/>
          </a:xfrm>
          <a:custGeom>
            <a:avLst/>
            <a:gdLst/>
            <a:ahLst/>
            <a:cxnLst/>
            <a:rect l="l" t="t" r="r" b="b"/>
            <a:pathLst>
              <a:path w="330835" h="170814">
                <a:moveTo>
                  <a:pt x="302259" y="0"/>
                </a:moveTo>
                <a:lnTo>
                  <a:pt x="28447" y="0"/>
                </a:lnTo>
                <a:lnTo>
                  <a:pt x="17359" y="2230"/>
                </a:lnTo>
                <a:lnTo>
                  <a:pt x="8318" y="8318"/>
                </a:lnTo>
                <a:lnTo>
                  <a:pt x="2230" y="17359"/>
                </a:lnTo>
                <a:lnTo>
                  <a:pt x="0" y="28448"/>
                </a:lnTo>
                <a:lnTo>
                  <a:pt x="0" y="142239"/>
                </a:lnTo>
                <a:lnTo>
                  <a:pt x="2230" y="153328"/>
                </a:lnTo>
                <a:lnTo>
                  <a:pt x="8318" y="162369"/>
                </a:lnTo>
                <a:lnTo>
                  <a:pt x="17359" y="168457"/>
                </a:lnTo>
                <a:lnTo>
                  <a:pt x="28447" y="170687"/>
                </a:lnTo>
                <a:lnTo>
                  <a:pt x="302259" y="170687"/>
                </a:lnTo>
                <a:lnTo>
                  <a:pt x="313348" y="168457"/>
                </a:lnTo>
                <a:lnTo>
                  <a:pt x="322389" y="162369"/>
                </a:lnTo>
                <a:lnTo>
                  <a:pt x="328477" y="153328"/>
                </a:lnTo>
                <a:lnTo>
                  <a:pt x="330707" y="142239"/>
                </a:lnTo>
                <a:lnTo>
                  <a:pt x="330707" y="28448"/>
                </a:lnTo>
                <a:lnTo>
                  <a:pt x="328477" y="17359"/>
                </a:lnTo>
                <a:lnTo>
                  <a:pt x="322389" y="8318"/>
                </a:lnTo>
                <a:lnTo>
                  <a:pt x="313348" y="2230"/>
                </a:lnTo>
                <a:lnTo>
                  <a:pt x="302259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6972" y="2546730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08" y="192786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952244"/>
            <a:ext cx="1081278" cy="174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292083"/>
            <a:ext cx="5862066" cy="5113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3202"/>
            <a:ext cx="4150614" cy="30101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209800" y="3240023"/>
            <a:ext cx="5334000" cy="2822575"/>
            <a:chOff x="2209800" y="3240023"/>
            <a:chExt cx="5334000" cy="282257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8544" y="3694175"/>
              <a:ext cx="4372356" cy="197815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3435" y="3919727"/>
              <a:ext cx="73913" cy="14401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67271" y="4433315"/>
              <a:ext cx="456437" cy="1805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15867" y="3864863"/>
              <a:ext cx="57150" cy="16230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12847" y="3243071"/>
              <a:ext cx="5328285" cy="2816860"/>
            </a:xfrm>
            <a:custGeom>
              <a:avLst/>
              <a:gdLst/>
              <a:ahLst/>
              <a:cxnLst/>
              <a:rect l="l" t="t" r="r" b="b"/>
              <a:pathLst>
                <a:path w="5328284" h="2816860">
                  <a:moveTo>
                    <a:pt x="0" y="2816352"/>
                  </a:moveTo>
                  <a:lnTo>
                    <a:pt x="5327904" y="2816352"/>
                  </a:lnTo>
                  <a:lnTo>
                    <a:pt x="5327904" y="0"/>
                  </a:lnTo>
                  <a:lnTo>
                    <a:pt x="0" y="0"/>
                  </a:lnTo>
                  <a:lnTo>
                    <a:pt x="0" y="281635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66516" y="4722875"/>
              <a:ext cx="89153" cy="11963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58283" y="4427219"/>
              <a:ext cx="281177" cy="2049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08127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4416"/>
            <a:ext cx="8088630" cy="1623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57111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2.5.</a:t>
            </a:r>
            <a:r>
              <a:rPr dirty="0" spc="-30"/>
              <a:t> </a:t>
            </a:r>
            <a:r>
              <a:rPr dirty="0" spc="-5"/>
              <a:t>Concept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5"/>
              <a:t>Functions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83329" y="3521202"/>
            <a:ext cx="1991995" cy="2157095"/>
          </a:xfrm>
          <a:custGeom>
            <a:avLst/>
            <a:gdLst/>
            <a:ahLst/>
            <a:cxnLst/>
            <a:rect l="l" t="t" r="r" b="b"/>
            <a:pathLst>
              <a:path w="1991995" h="2157095">
                <a:moveTo>
                  <a:pt x="103632" y="0"/>
                </a:moveTo>
                <a:lnTo>
                  <a:pt x="103632" y="2156599"/>
                </a:lnTo>
              </a:path>
              <a:path w="1991995" h="2157095">
                <a:moveTo>
                  <a:pt x="199390" y="152400"/>
                </a:moveTo>
                <a:lnTo>
                  <a:pt x="0" y="152400"/>
                </a:lnTo>
              </a:path>
              <a:path w="1991995" h="2157095">
                <a:moveTo>
                  <a:pt x="199390" y="595884"/>
                </a:moveTo>
                <a:lnTo>
                  <a:pt x="0" y="595884"/>
                </a:lnTo>
              </a:path>
              <a:path w="1991995" h="2157095">
                <a:moveTo>
                  <a:pt x="199390" y="1039368"/>
                </a:moveTo>
                <a:lnTo>
                  <a:pt x="0" y="1039368"/>
                </a:lnTo>
              </a:path>
              <a:path w="1991995" h="2157095">
                <a:moveTo>
                  <a:pt x="199390" y="1482852"/>
                </a:moveTo>
                <a:lnTo>
                  <a:pt x="0" y="1482852"/>
                </a:lnTo>
              </a:path>
              <a:path w="1991995" h="2157095">
                <a:moveTo>
                  <a:pt x="199390" y="1926336"/>
                </a:moveTo>
                <a:lnTo>
                  <a:pt x="0" y="1926336"/>
                </a:lnTo>
              </a:path>
              <a:path w="1991995" h="2157095">
                <a:moveTo>
                  <a:pt x="998220" y="0"/>
                </a:moveTo>
                <a:lnTo>
                  <a:pt x="998220" y="2156599"/>
                </a:lnTo>
              </a:path>
              <a:path w="1991995" h="2157095">
                <a:moveTo>
                  <a:pt x="1093978" y="152400"/>
                </a:moveTo>
                <a:lnTo>
                  <a:pt x="894588" y="152400"/>
                </a:lnTo>
              </a:path>
              <a:path w="1991995" h="2157095">
                <a:moveTo>
                  <a:pt x="1093978" y="595884"/>
                </a:moveTo>
                <a:lnTo>
                  <a:pt x="894588" y="595884"/>
                </a:lnTo>
              </a:path>
              <a:path w="1991995" h="2157095">
                <a:moveTo>
                  <a:pt x="1093978" y="1039368"/>
                </a:moveTo>
                <a:lnTo>
                  <a:pt x="894588" y="1039368"/>
                </a:lnTo>
              </a:path>
              <a:path w="1991995" h="2157095">
                <a:moveTo>
                  <a:pt x="1093978" y="1482852"/>
                </a:moveTo>
                <a:lnTo>
                  <a:pt x="894588" y="1482852"/>
                </a:lnTo>
              </a:path>
              <a:path w="1991995" h="2157095">
                <a:moveTo>
                  <a:pt x="1093978" y="1926336"/>
                </a:moveTo>
                <a:lnTo>
                  <a:pt x="894588" y="1926336"/>
                </a:lnTo>
              </a:path>
              <a:path w="1991995" h="2157095">
                <a:moveTo>
                  <a:pt x="1895856" y="0"/>
                </a:moveTo>
                <a:lnTo>
                  <a:pt x="1895856" y="2156599"/>
                </a:lnTo>
              </a:path>
              <a:path w="1991995" h="2157095">
                <a:moveTo>
                  <a:pt x="1991614" y="152400"/>
                </a:moveTo>
                <a:lnTo>
                  <a:pt x="1792224" y="152400"/>
                </a:lnTo>
              </a:path>
              <a:path w="1991995" h="2157095">
                <a:moveTo>
                  <a:pt x="1991614" y="595884"/>
                </a:moveTo>
                <a:lnTo>
                  <a:pt x="1792224" y="595884"/>
                </a:lnTo>
              </a:path>
              <a:path w="1991995" h="2157095">
                <a:moveTo>
                  <a:pt x="1991614" y="1039368"/>
                </a:moveTo>
                <a:lnTo>
                  <a:pt x="1792224" y="1039368"/>
                </a:lnTo>
              </a:path>
              <a:path w="1991995" h="2157095">
                <a:moveTo>
                  <a:pt x="1991614" y="1482852"/>
                </a:moveTo>
                <a:lnTo>
                  <a:pt x="1792224" y="1482852"/>
                </a:lnTo>
              </a:path>
              <a:path w="1991995" h="2157095">
                <a:moveTo>
                  <a:pt x="1991614" y="1926336"/>
                </a:moveTo>
                <a:lnTo>
                  <a:pt x="1792224" y="192633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622802" y="3625977"/>
            <a:ext cx="120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5521" y="3695191"/>
            <a:ext cx="1244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𝑓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7354" y="4620259"/>
            <a:ext cx="4127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40">
                <a:latin typeface="Cambria Math"/>
                <a:cs typeface="Cambria Math"/>
              </a:rPr>
              <a:t>𝑓</a:t>
            </a:r>
            <a:r>
              <a:rPr dirty="0" sz="1600" spc="-10">
                <a:latin typeface="Cambria Math"/>
                <a:cs typeface="Cambria Math"/>
              </a:rPr>
              <a:t>(</a:t>
            </a:r>
            <a:r>
              <a:rPr dirty="0" sz="1600" spc="45">
                <a:latin typeface="Cambria Math"/>
                <a:cs typeface="Cambria Math"/>
              </a:rPr>
              <a:t>𝑥</a:t>
            </a:r>
            <a:r>
              <a:rPr dirty="0" sz="1600" spc="-5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41873" y="4068572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𝑔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6284" y="4142613"/>
            <a:ext cx="708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10">
                <a:latin typeface="Cambria Math"/>
                <a:cs typeface="Cambria Math"/>
              </a:rPr>
              <a:t>𝑔(𝑓(𝑥))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3028" y="5853785"/>
            <a:ext cx="2301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ℎ</a:t>
            </a:r>
            <a:r>
              <a:rPr dirty="0" sz="1600" spc="1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∶</a:t>
            </a:r>
            <a:r>
              <a:rPr dirty="0" sz="1600" spc="42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𝑥</a:t>
            </a:r>
            <a:r>
              <a:rPr dirty="0" sz="1600" spc="47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→</a:t>
            </a:r>
            <a:r>
              <a:rPr dirty="0" sz="1600" spc="434">
                <a:latin typeface="Cambria Math"/>
                <a:cs typeface="Cambria Math"/>
              </a:rPr>
              <a:t> </a:t>
            </a:r>
            <a:r>
              <a:rPr dirty="0" sz="1600" spc="20">
                <a:latin typeface="Cambria Math"/>
                <a:cs typeface="Cambria Math"/>
              </a:rPr>
              <a:t>𝑓(𝑥) </a:t>
            </a:r>
            <a:r>
              <a:rPr dirty="0" sz="1600" spc="5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→</a:t>
            </a:r>
            <a:r>
              <a:rPr dirty="0" sz="1600" spc="434">
                <a:latin typeface="Cambria Math"/>
                <a:cs typeface="Cambria Math"/>
              </a:rPr>
              <a:t> </a:t>
            </a:r>
            <a:r>
              <a:rPr dirty="0" sz="1600" spc="10">
                <a:latin typeface="Cambria Math"/>
                <a:cs typeface="Cambria Math"/>
              </a:rPr>
              <a:t>𝑔(𝑓(𝑥))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66872" y="3390900"/>
            <a:ext cx="3519170" cy="2825750"/>
            <a:chOff x="3166872" y="3390900"/>
            <a:chExt cx="3519170" cy="282575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1336" y="3745991"/>
              <a:ext cx="108203" cy="1082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8116" y="4689347"/>
              <a:ext cx="108204" cy="1082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11345" y="3826509"/>
              <a:ext cx="843915" cy="880110"/>
            </a:xfrm>
            <a:custGeom>
              <a:avLst/>
              <a:gdLst/>
              <a:ahLst/>
              <a:cxnLst/>
              <a:rect l="l" t="t" r="r" b="b"/>
              <a:pathLst>
                <a:path w="843914" h="880110">
                  <a:moveTo>
                    <a:pt x="750841" y="810581"/>
                  </a:moveTo>
                  <a:lnTo>
                    <a:pt x="723264" y="836929"/>
                  </a:lnTo>
                  <a:lnTo>
                    <a:pt x="843661" y="879982"/>
                  </a:lnTo>
                  <a:lnTo>
                    <a:pt x="826469" y="824357"/>
                  </a:lnTo>
                  <a:lnTo>
                    <a:pt x="764031" y="824357"/>
                  </a:lnTo>
                  <a:lnTo>
                    <a:pt x="750841" y="810581"/>
                  </a:lnTo>
                  <a:close/>
                </a:path>
                <a:path w="843914" h="880110">
                  <a:moveTo>
                    <a:pt x="778379" y="784270"/>
                  </a:moveTo>
                  <a:lnTo>
                    <a:pt x="750841" y="810581"/>
                  </a:lnTo>
                  <a:lnTo>
                    <a:pt x="764031" y="824357"/>
                  </a:lnTo>
                  <a:lnTo>
                    <a:pt x="791590" y="798067"/>
                  </a:lnTo>
                  <a:lnTo>
                    <a:pt x="778379" y="784270"/>
                  </a:lnTo>
                  <a:close/>
                </a:path>
                <a:path w="843914" h="880110">
                  <a:moveTo>
                    <a:pt x="805941" y="757935"/>
                  </a:moveTo>
                  <a:lnTo>
                    <a:pt x="778379" y="784270"/>
                  </a:lnTo>
                  <a:lnTo>
                    <a:pt x="791590" y="798067"/>
                  </a:lnTo>
                  <a:lnTo>
                    <a:pt x="764031" y="824357"/>
                  </a:lnTo>
                  <a:lnTo>
                    <a:pt x="826469" y="824357"/>
                  </a:lnTo>
                  <a:lnTo>
                    <a:pt x="805941" y="757935"/>
                  </a:lnTo>
                  <a:close/>
                </a:path>
                <a:path w="843914" h="880110">
                  <a:moveTo>
                    <a:pt x="27431" y="0"/>
                  </a:moveTo>
                  <a:lnTo>
                    <a:pt x="0" y="26415"/>
                  </a:lnTo>
                  <a:lnTo>
                    <a:pt x="750841" y="810581"/>
                  </a:lnTo>
                  <a:lnTo>
                    <a:pt x="778379" y="78427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3560" y="4319016"/>
              <a:ext cx="108203" cy="10820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7336" y="4402963"/>
              <a:ext cx="793750" cy="357505"/>
            </a:xfrm>
            <a:custGeom>
              <a:avLst/>
              <a:gdLst/>
              <a:ahLst/>
              <a:cxnLst/>
              <a:rect l="l" t="t" r="r" b="b"/>
              <a:pathLst>
                <a:path w="793750" h="357504">
                  <a:moveTo>
                    <a:pt x="680550" y="35094"/>
                  </a:moveTo>
                  <a:lnTo>
                    <a:pt x="0" y="322072"/>
                  </a:lnTo>
                  <a:lnTo>
                    <a:pt x="14731" y="357250"/>
                  </a:lnTo>
                  <a:lnTo>
                    <a:pt x="695403" y="70274"/>
                  </a:lnTo>
                  <a:lnTo>
                    <a:pt x="680550" y="35094"/>
                  </a:lnTo>
                  <a:close/>
                </a:path>
                <a:path w="793750" h="357504">
                  <a:moveTo>
                    <a:pt x="776710" y="27686"/>
                  </a:moveTo>
                  <a:lnTo>
                    <a:pt x="698118" y="27686"/>
                  </a:lnTo>
                  <a:lnTo>
                    <a:pt x="712977" y="62864"/>
                  </a:lnTo>
                  <a:lnTo>
                    <a:pt x="695403" y="70274"/>
                  </a:lnTo>
                  <a:lnTo>
                    <a:pt x="710184" y="105282"/>
                  </a:lnTo>
                  <a:lnTo>
                    <a:pt x="776710" y="27686"/>
                  </a:lnTo>
                  <a:close/>
                </a:path>
                <a:path w="793750" h="357504">
                  <a:moveTo>
                    <a:pt x="698118" y="27686"/>
                  </a:moveTo>
                  <a:lnTo>
                    <a:pt x="680550" y="35094"/>
                  </a:lnTo>
                  <a:lnTo>
                    <a:pt x="695403" y="70274"/>
                  </a:lnTo>
                  <a:lnTo>
                    <a:pt x="712977" y="62864"/>
                  </a:lnTo>
                  <a:lnTo>
                    <a:pt x="698118" y="27686"/>
                  </a:lnTo>
                  <a:close/>
                </a:path>
                <a:path w="793750" h="357504">
                  <a:moveTo>
                    <a:pt x="665734" y="0"/>
                  </a:moveTo>
                  <a:lnTo>
                    <a:pt x="680550" y="35094"/>
                  </a:lnTo>
                  <a:lnTo>
                    <a:pt x="698118" y="27686"/>
                  </a:lnTo>
                  <a:lnTo>
                    <a:pt x="776710" y="27686"/>
                  </a:lnTo>
                  <a:lnTo>
                    <a:pt x="793368" y="8255"/>
                  </a:lnTo>
                  <a:lnTo>
                    <a:pt x="6657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69920" y="3393947"/>
              <a:ext cx="3512820" cy="2819400"/>
            </a:xfrm>
            <a:custGeom>
              <a:avLst/>
              <a:gdLst/>
              <a:ahLst/>
              <a:cxnLst/>
              <a:rect l="l" t="t" r="r" b="b"/>
              <a:pathLst>
                <a:path w="3512820" h="2819400">
                  <a:moveTo>
                    <a:pt x="0" y="2819400"/>
                  </a:moveTo>
                  <a:lnTo>
                    <a:pt x="3512820" y="2819400"/>
                  </a:lnTo>
                  <a:lnTo>
                    <a:pt x="3512820" y="0"/>
                  </a:lnTo>
                  <a:lnTo>
                    <a:pt x="0" y="0"/>
                  </a:lnTo>
                  <a:lnTo>
                    <a:pt x="0" y="281940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169920" y="2348483"/>
            <a:ext cx="3535679" cy="896619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6045" rIns="0" bIns="0" rtlCol="0" vert="horz">
            <a:spAutoFit/>
          </a:bodyPr>
          <a:lstStyle/>
          <a:p>
            <a:pPr algn="ctr" marL="19050">
              <a:lnSpc>
                <a:spcPct val="100000"/>
              </a:lnSpc>
              <a:spcBef>
                <a:spcPts val="835"/>
              </a:spcBef>
            </a:pPr>
            <a:r>
              <a:rPr dirty="0" sz="1600" spc="-5">
                <a:latin typeface="Cambria Math"/>
                <a:cs typeface="Cambria Math"/>
              </a:rPr>
              <a:t>f(g(x))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=10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-25">
                <a:latin typeface="Cambria Math"/>
                <a:cs typeface="Cambria Math"/>
              </a:rPr>
              <a:t> </a:t>
            </a:r>
            <a:r>
              <a:rPr dirty="0" sz="1600" spc="15">
                <a:latin typeface="Cambria Math"/>
                <a:cs typeface="Cambria Math"/>
              </a:rPr>
              <a:t>𝑔(𝑥)</a:t>
            </a:r>
            <a:r>
              <a:rPr dirty="0" baseline="28985" sz="1725" spc="22">
                <a:latin typeface="Cambria Math"/>
                <a:cs typeface="Cambria Math"/>
              </a:rPr>
              <a:t>2</a:t>
            </a:r>
            <a:r>
              <a:rPr dirty="0" baseline="28985" sz="1725" spc="382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9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10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(3</a:t>
            </a:r>
            <a:r>
              <a:rPr dirty="0" sz="1600" spc="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 </a:t>
            </a:r>
            <a:r>
              <a:rPr dirty="0" sz="1600" spc="25">
                <a:latin typeface="Cambria Math"/>
                <a:cs typeface="Cambria Math"/>
              </a:rPr>
              <a:t>𝑥)</a:t>
            </a:r>
            <a:r>
              <a:rPr dirty="0" baseline="28985" sz="1725" spc="37">
                <a:latin typeface="Cambria Math"/>
                <a:cs typeface="Cambria Math"/>
              </a:rPr>
              <a:t>2</a:t>
            </a:r>
            <a:endParaRPr baseline="28985" sz="1725">
              <a:latin typeface="Cambria Math"/>
              <a:cs typeface="Cambria Math"/>
            </a:endParaRPr>
          </a:p>
          <a:p>
            <a:pPr algn="ctr" marL="30480">
              <a:lnSpc>
                <a:spcPct val="100000"/>
              </a:lnSpc>
              <a:spcBef>
                <a:spcPts val="1200"/>
              </a:spcBef>
            </a:pPr>
            <a:r>
              <a:rPr dirty="0" sz="1600" spc="-10">
                <a:latin typeface="Cambria Math"/>
                <a:cs typeface="Cambria Math"/>
              </a:rPr>
              <a:t>g(f(x))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3</a:t>
            </a:r>
            <a:r>
              <a:rPr dirty="0" sz="1600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+f(x)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3</a:t>
            </a:r>
            <a:r>
              <a:rPr dirty="0" sz="16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25">
                <a:latin typeface="Cambria Math"/>
                <a:cs typeface="Cambria Math"/>
              </a:rPr>
              <a:t>(10+𝑥</a:t>
            </a:r>
            <a:r>
              <a:rPr dirty="0" baseline="28985" sz="1725" spc="37">
                <a:latin typeface="Cambria Math"/>
                <a:cs typeface="Cambria Math"/>
              </a:rPr>
              <a:t>2</a:t>
            </a:r>
            <a:r>
              <a:rPr dirty="0" sz="1600" spc="25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1516"/>
            <a:ext cx="7724394" cy="20192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6259" y="1840992"/>
            <a:ext cx="8789035" cy="3462654"/>
            <a:chOff x="556259" y="1840992"/>
            <a:chExt cx="8789035" cy="3462654"/>
          </a:xfrm>
        </p:grpSpPr>
        <p:sp>
          <p:nvSpPr>
            <p:cNvPr id="10" name="object 10"/>
            <p:cNvSpPr/>
            <p:nvPr/>
          </p:nvSpPr>
          <p:spPr>
            <a:xfrm>
              <a:off x="559307" y="1844040"/>
              <a:ext cx="8783320" cy="3456940"/>
            </a:xfrm>
            <a:custGeom>
              <a:avLst/>
              <a:gdLst/>
              <a:ahLst/>
              <a:cxnLst/>
              <a:rect l="l" t="t" r="r" b="b"/>
              <a:pathLst>
                <a:path w="8783320" h="3456940">
                  <a:moveTo>
                    <a:pt x="0" y="3456432"/>
                  </a:moveTo>
                  <a:lnTo>
                    <a:pt x="8782812" y="345643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45643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267" y="1927860"/>
              <a:ext cx="8721852" cy="32369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91411" y="4221479"/>
            <a:ext cx="1638300" cy="494030"/>
          </a:xfrm>
          <a:custGeom>
            <a:avLst/>
            <a:gdLst/>
            <a:ahLst/>
            <a:cxnLst/>
            <a:rect l="l" t="t" r="r" b="b"/>
            <a:pathLst>
              <a:path w="1638300" h="494029">
                <a:moveTo>
                  <a:pt x="1638300" y="0"/>
                </a:moveTo>
                <a:lnTo>
                  <a:pt x="0" y="0"/>
                </a:lnTo>
                <a:lnTo>
                  <a:pt x="0" y="493776"/>
                </a:lnTo>
                <a:lnTo>
                  <a:pt x="1638300" y="493776"/>
                </a:lnTo>
                <a:lnTo>
                  <a:pt x="16383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895855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918716"/>
            <a:ext cx="913637" cy="14401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261616"/>
            <a:ext cx="5071110" cy="212216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2571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2.5.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Concept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29401" y="2200148"/>
            <a:ext cx="2945130" cy="3001645"/>
            <a:chOff x="6129401" y="2200148"/>
            <a:chExt cx="2945130" cy="3001645"/>
          </a:xfrm>
        </p:grpSpPr>
        <p:sp>
          <p:nvSpPr>
            <p:cNvPr id="12" name="object 12"/>
            <p:cNvSpPr/>
            <p:nvPr/>
          </p:nvSpPr>
          <p:spPr>
            <a:xfrm>
              <a:off x="6276848" y="2585593"/>
              <a:ext cx="2649220" cy="0"/>
            </a:xfrm>
            <a:custGeom>
              <a:avLst/>
              <a:gdLst/>
              <a:ahLst/>
              <a:cxnLst/>
              <a:rect l="l" t="t" r="r" b="b"/>
              <a:pathLst>
                <a:path w="2649220" h="0">
                  <a:moveTo>
                    <a:pt x="0" y="0"/>
                  </a:moveTo>
                  <a:lnTo>
                    <a:pt x="264922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76848" y="2958465"/>
              <a:ext cx="2649220" cy="1864360"/>
            </a:xfrm>
            <a:custGeom>
              <a:avLst/>
              <a:gdLst/>
              <a:ahLst/>
              <a:cxnLst/>
              <a:rect l="l" t="t" r="r" b="b"/>
              <a:pathLst>
                <a:path w="2649220" h="1864360">
                  <a:moveTo>
                    <a:pt x="0" y="0"/>
                  </a:moveTo>
                  <a:lnTo>
                    <a:pt x="2649220" y="0"/>
                  </a:lnTo>
                </a:path>
                <a:path w="2649220" h="1864360">
                  <a:moveTo>
                    <a:pt x="0" y="372745"/>
                  </a:moveTo>
                  <a:lnTo>
                    <a:pt x="2649220" y="372745"/>
                  </a:lnTo>
                </a:path>
                <a:path w="2649220" h="1864360">
                  <a:moveTo>
                    <a:pt x="0" y="745490"/>
                  </a:moveTo>
                  <a:lnTo>
                    <a:pt x="2649220" y="745490"/>
                  </a:lnTo>
                </a:path>
                <a:path w="2649220" h="1864360">
                  <a:moveTo>
                    <a:pt x="0" y="1118235"/>
                  </a:moveTo>
                  <a:lnTo>
                    <a:pt x="2649220" y="1118235"/>
                  </a:lnTo>
                </a:path>
                <a:path w="2649220" h="1864360">
                  <a:moveTo>
                    <a:pt x="0" y="1491107"/>
                  </a:moveTo>
                  <a:lnTo>
                    <a:pt x="2649220" y="1491107"/>
                  </a:lnTo>
                </a:path>
                <a:path w="2649220" h="1864360">
                  <a:moveTo>
                    <a:pt x="0" y="1863852"/>
                  </a:moveTo>
                  <a:lnTo>
                    <a:pt x="2649220" y="186385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83198" y="2206498"/>
              <a:ext cx="2636520" cy="2988945"/>
            </a:xfrm>
            <a:custGeom>
              <a:avLst/>
              <a:gdLst/>
              <a:ahLst/>
              <a:cxnLst/>
              <a:rect l="l" t="t" r="r" b="b"/>
              <a:pathLst>
                <a:path w="2636520" h="2988945">
                  <a:moveTo>
                    <a:pt x="0" y="0"/>
                  </a:moveTo>
                  <a:lnTo>
                    <a:pt x="0" y="2988564"/>
                  </a:lnTo>
                </a:path>
                <a:path w="2636520" h="2988945">
                  <a:moveTo>
                    <a:pt x="2636520" y="0"/>
                  </a:moveTo>
                  <a:lnTo>
                    <a:pt x="2636520" y="298856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76848" y="2212848"/>
              <a:ext cx="2649220" cy="0"/>
            </a:xfrm>
            <a:custGeom>
              <a:avLst/>
              <a:gdLst/>
              <a:ahLst/>
              <a:cxnLst/>
              <a:rect l="l" t="t" r="r" b="b"/>
              <a:pathLst>
                <a:path w="2649220" h="0">
                  <a:moveTo>
                    <a:pt x="0" y="0"/>
                  </a:moveTo>
                  <a:lnTo>
                    <a:pt x="264922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32576" y="2479548"/>
              <a:ext cx="2938780" cy="2347595"/>
            </a:xfrm>
            <a:custGeom>
              <a:avLst/>
              <a:gdLst/>
              <a:ahLst/>
              <a:cxnLst/>
              <a:rect l="l" t="t" r="r" b="b"/>
              <a:pathLst>
                <a:path w="2938779" h="2347595">
                  <a:moveTo>
                    <a:pt x="151257" y="0"/>
                  </a:moveTo>
                  <a:lnTo>
                    <a:pt x="0" y="6350"/>
                  </a:lnTo>
                </a:path>
                <a:path w="2938779" h="2347595">
                  <a:moveTo>
                    <a:pt x="151257" y="266700"/>
                  </a:moveTo>
                  <a:lnTo>
                    <a:pt x="0" y="273050"/>
                  </a:lnTo>
                </a:path>
                <a:path w="2938779" h="2347595">
                  <a:moveTo>
                    <a:pt x="151257" y="565403"/>
                  </a:moveTo>
                  <a:lnTo>
                    <a:pt x="0" y="571753"/>
                  </a:lnTo>
                </a:path>
                <a:path w="2938779" h="2347595">
                  <a:moveTo>
                    <a:pt x="151257" y="806196"/>
                  </a:moveTo>
                  <a:lnTo>
                    <a:pt x="0" y="812546"/>
                  </a:lnTo>
                </a:path>
                <a:path w="2938779" h="2347595">
                  <a:moveTo>
                    <a:pt x="151257" y="1080515"/>
                  </a:moveTo>
                  <a:lnTo>
                    <a:pt x="0" y="1086865"/>
                  </a:lnTo>
                </a:path>
                <a:path w="2938779" h="2347595">
                  <a:moveTo>
                    <a:pt x="151257" y="1376171"/>
                  </a:moveTo>
                  <a:lnTo>
                    <a:pt x="0" y="1382521"/>
                  </a:lnTo>
                </a:path>
                <a:path w="2938779" h="2347595">
                  <a:moveTo>
                    <a:pt x="151257" y="1612391"/>
                  </a:moveTo>
                  <a:lnTo>
                    <a:pt x="0" y="1618741"/>
                  </a:lnTo>
                </a:path>
                <a:path w="2938779" h="2347595">
                  <a:moveTo>
                    <a:pt x="151257" y="1850135"/>
                  </a:moveTo>
                  <a:lnTo>
                    <a:pt x="0" y="1856485"/>
                  </a:lnTo>
                </a:path>
                <a:path w="2938779" h="2347595">
                  <a:moveTo>
                    <a:pt x="151257" y="2086356"/>
                  </a:moveTo>
                  <a:lnTo>
                    <a:pt x="0" y="2092706"/>
                  </a:lnTo>
                </a:path>
                <a:path w="2938779" h="2347595">
                  <a:moveTo>
                    <a:pt x="151257" y="2322576"/>
                  </a:moveTo>
                  <a:lnTo>
                    <a:pt x="0" y="2328926"/>
                  </a:lnTo>
                </a:path>
                <a:path w="2938779" h="2347595">
                  <a:moveTo>
                    <a:pt x="2938653" y="19812"/>
                  </a:moveTo>
                  <a:lnTo>
                    <a:pt x="2787396" y="26162"/>
                  </a:lnTo>
                </a:path>
                <a:path w="2938779" h="2347595">
                  <a:moveTo>
                    <a:pt x="2938653" y="284988"/>
                  </a:moveTo>
                  <a:lnTo>
                    <a:pt x="2787396" y="291338"/>
                  </a:lnTo>
                </a:path>
                <a:path w="2938779" h="2347595">
                  <a:moveTo>
                    <a:pt x="2938653" y="583691"/>
                  </a:moveTo>
                  <a:lnTo>
                    <a:pt x="2787396" y="590041"/>
                  </a:lnTo>
                </a:path>
                <a:path w="2938779" h="2347595">
                  <a:moveTo>
                    <a:pt x="2938653" y="826007"/>
                  </a:moveTo>
                  <a:lnTo>
                    <a:pt x="2787396" y="832357"/>
                  </a:lnTo>
                </a:path>
                <a:path w="2938779" h="2347595">
                  <a:moveTo>
                    <a:pt x="2938653" y="1098803"/>
                  </a:moveTo>
                  <a:lnTo>
                    <a:pt x="2787396" y="1105153"/>
                  </a:lnTo>
                </a:path>
                <a:path w="2938779" h="2347595">
                  <a:moveTo>
                    <a:pt x="2938653" y="1395983"/>
                  </a:moveTo>
                  <a:lnTo>
                    <a:pt x="2787396" y="1402333"/>
                  </a:lnTo>
                </a:path>
                <a:path w="2938779" h="2347595">
                  <a:moveTo>
                    <a:pt x="2938653" y="1632203"/>
                  </a:moveTo>
                  <a:lnTo>
                    <a:pt x="2787396" y="1638553"/>
                  </a:lnTo>
                </a:path>
                <a:path w="2938779" h="2347595">
                  <a:moveTo>
                    <a:pt x="2938653" y="1868424"/>
                  </a:moveTo>
                  <a:lnTo>
                    <a:pt x="2787396" y="1874774"/>
                  </a:lnTo>
                </a:path>
                <a:path w="2938779" h="2347595">
                  <a:moveTo>
                    <a:pt x="2938653" y="2104644"/>
                  </a:moveTo>
                  <a:lnTo>
                    <a:pt x="2787396" y="2110994"/>
                  </a:lnTo>
                </a:path>
                <a:path w="2938779" h="2347595">
                  <a:moveTo>
                    <a:pt x="2938653" y="2340864"/>
                  </a:moveTo>
                  <a:lnTo>
                    <a:pt x="2787396" y="2347214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84214" y="2923158"/>
              <a:ext cx="2639060" cy="1422400"/>
            </a:xfrm>
            <a:custGeom>
              <a:avLst/>
              <a:gdLst/>
              <a:ahLst/>
              <a:cxnLst/>
              <a:rect l="l" t="t" r="r" b="b"/>
              <a:pathLst>
                <a:path w="2639059" h="1422400">
                  <a:moveTo>
                    <a:pt x="2638171" y="37846"/>
                  </a:moveTo>
                  <a:lnTo>
                    <a:pt x="2634615" y="0"/>
                  </a:lnTo>
                  <a:lnTo>
                    <a:pt x="111963" y="239623"/>
                  </a:lnTo>
                  <a:lnTo>
                    <a:pt x="108331" y="201676"/>
                  </a:lnTo>
                  <a:lnTo>
                    <a:pt x="0" y="269367"/>
                  </a:lnTo>
                  <a:lnTo>
                    <a:pt x="119253" y="315468"/>
                  </a:lnTo>
                  <a:lnTo>
                    <a:pt x="115773" y="279273"/>
                  </a:lnTo>
                  <a:lnTo>
                    <a:pt x="115595" y="277482"/>
                  </a:lnTo>
                  <a:lnTo>
                    <a:pt x="2638171" y="37846"/>
                  </a:lnTo>
                  <a:close/>
                </a:path>
                <a:path w="2639059" h="1422400">
                  <a:moveTo>
                    <a:pt x="2639060" y="1384300"/>
                  </a:moveTo>
                  <a:lnTo>
                    <a:pt x="115811" y="1025029"/>
                  </a:lnTo>
                  <a:lnTo>
                    <a:pt x="116192" y="1022350"/>
                  </a:lnTo>
                  <a:lnTo>
                    <a:pt x="121158" y="987298"/>
                  </a:lnTo>
                  <a:lnTo>
                    <a:pt x="0" y="1027811"/>
                  </a:lnTo>
                  <a:lnTo>
                    <a:pt x="105156" y="1100455"/>
                  </a:lnTo>
                  <a:lnTo>
                    <a:pt x="110477" y="1062774"/>
                  </a:lnTo>
                  <a:lnTo>
                    <a:pt x="2633726" y="1422019"/>
                  </a:lnTo>
                  <a:lnTo>
                    <a:pt x="2639060" y="1384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042786" y="3021837"/>
            <a:ext cx="139700" cy="1101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28810" y="2794507"/>
            <a:ext cx="5740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spc="25">
                <a:latin typeface="Cambria Math"/>
                <a:cs typeface="Cambria Math"/>
              </a:rPr>
              <a:t>𝑓</a:t>
            </a:r>
            <a:r>
              <a:rPr dirty="0" baseline="27777" sz="1500" spc="37">
                <a:latin typeface="Cambria Math"/>
                <a:cs typeface="Cambria Math"/>
              </a:rPr>
              <a:t>−1</a:t>
            </a:r>
            <a:r>
              <a:rPr dirty="0" sz="1400" spc="25">
                <a:latin typeface="Cambria Math"/>
                <a:cs typeface="Cambria Math"/>
              </a:rPr>
              <a:t>(</a:t>
            </a:r>
            <a:r>
              <a:rPr dirty="0" sz="1400" spc="25">
                <a:latin typeface="Calibri"/>
                <a:cs typeface="Calibri"/>
              </a:rPr>
              <a:t>a)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74531" y="4213352"/>
            <a:ext cx="584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20">
                <a:latin typeface="Cambria Math"/>
                <a:cs typeface="Cambria Math"/>
              </a:rPr>
              <a:t>𝑓</a:t>
            </a:r>
            <a:r>
              <a:rPr dirty="0" baseline="27777" sz="1500" spc="30">
                <a:latin typeface="Cambria Math"/>
                <a:cs typeface="Cambria Math"/>
              </a:rPr>
              <a:t>−1</a:t>
            </a:r>
            <a:r>
              <a:rPr dirty="0" sz="1400" spc="20">
                <a:latin typeface="Cambria Math"/>
                <a:cs typeface="Cambria Math"/>
              </a:rPr>
              <a:t>(b</a:t>
            </a:r>
            <a:r>
              <a:rPr dirty="0" sz="1400" spc="2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22491" y="2889504"/>
            <a:ext cx="2753995" cy="1499870"/>
            <a:chOff x="6222491" y="2889504"/>
            <a:chExt cx="2753995" cy="149987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22491" y="3151632"/>
              <a:ext cx="112776" cy="1036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22491" y="3907536"/>
              <a:ext cx="112776" cy="1021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63583" y="2889504"/>
              <a:ext cx="112776" cy="1036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3583" y="4287012"/>
              <a:ext cx="112776" cy="102107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9580" y="1443164"/>
            <a:ext cx="3822954" cy="23399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222498" cy="18463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10584"/>
            <a:ext cx="3903725" cy="144094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750564" y="2575560"/>
            <a:ext cx="1975485" cy="455930"/>
          </a:xfrm>
          <a:custGeom>
            <a:avLst/>
            <a:gdLst/>
            <a:ahLst/>
            <a:cxnLst/>
            <a:rect l="l" t="t" r="r" b="b"/>
            <a:pathLst>
              <a:path w="1975485" h="455930">
                <a:moveTo>
                  <a:pt x="1975104" y="0"/>
                </a:moveTo>
                <a:lnTo>
                  <a:pt x="0" y="0"/>
                </a:lnTo>
                <a:lnTo>
                  <a:pt x="0" y="455675"/>
                </a:lnTo>
                <a:lnTo>
                  <a:pt x="1975104" y="455675"/>
                </a:lnTo>
                <a:lnTo>
                  <a:pt x="197510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55407"/>
            <a:ext cx="1354074" cy="28881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4048505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310371"/>
            <a:ext cx="6084570" cy="10599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7489" y="431419"/>
            <a:ext cx="4330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2.6.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Exponential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Logarithmic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8270" y="2647568"/>
            <a:ext cx="15830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15">
                <a:latin typeface="Cambria Math"/>
                <a:cs typeface="Cambria Math"/>
              </a:rPr>
              <a:t>2</a:t>
            </a:r>
            <a:r>
              <a:rPr dirty="0" baseline="28985" sz="1725" spc="22">
                <a:latin typeface="Cambria Math"/>
                <a:cs typeface="Cambria Math"/>
              </a:rPr>
              <a:t>3</a:t>
            </a:r>
            <a:r>
              <a:rPr dirty="0" baseline="28985" sz="1725" spc="367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2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55">
                <a:latin typeface="Cambria Math"/>
                <a:cs typeface="Cambria Math"/>
              </a:rPr>
              <a:t>∙</a:t>
            </a:r>
            <a:r>
              <a:rPr dirty="0" sz="16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2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55">
                <a:latin typeface="Cambria Math"/>
                <a:cs typeface="Cambria Math"/>
              </a:rPr>
              <a:t>∙</a:t>
            </a:r>
            <a:r>
              <a:rPr dirty="0" sz="16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2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335">
                <a:latin typeface="Cambria Math"/>
                <a:cs typeface="Cambria Math"/>
              </a:rPr>
              <a:t> </a:t>
            </a:r>
            <a:r>
              <a:rPr dirty="0" sz="1600" spc="-5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330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2.6.</a:t>
            </a:r>
            <a:r>
              <a:rPr dirty="0" spc="-10"/>
              <a:t> </a:t>
            </a:r>
            <a:r>
              <a:rPr dirty="0" spc="-5"/>
              <a:t>Exponential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 spc="-5"/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269998" cy="174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365222"/>
            <a:ext cx="8114538" cy="3634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60575" y="3177539"/>
            <a:ext cx="6781800" cy="299313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04948" y="3280028"/>
            <a:ext cx="7874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60" b="1">
                <a:solidFill>
                  <a:srgbClr val="252525"/>
                </a:solidFill>
                <a:latin typeface="Tahoma"/>
                <a:cs typeface="Tahoma"/>
              </a:rPr>
              <a:t>Exponentials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2095" y="3712209"/>
            <a:ext cx="1214120" cy="983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ts val="1895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8</a:t>
            </a:r>
            <a:r>
              <a:rPr dirty="0" sz="1600" spc="6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26455" sz="1575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endParaRPr baseline="26455" sz="1575">
              <a:latin typeface="Cambria Math"/>
              <a:cs typeface="Cambria Math"/>
            </a:endParaRPr>
          </a:p>
          <a:p>
            <a:pPr algn="ctr" marL="1270">
              <a:lnSpc>
                <a:spcPts val="1870"/>
              </a:lnSpc>
            </a:pPr>
            <a:r>
              <a:rPr dirty="0" sz="1600" spc="-5">
                <a:latin typeface="Cambria Math"/>
                <a:cs typeface="Cambria Math"/>
              </a:rPr>
              <a:t>100</a:t>
            </a:r>
            <a:r>
              <a:rPr dirty="0" sz="1600" spc="7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7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10</a:t>
            </a:r>
            <a:r>
              <a:rPr dirty="0" baseline="26455" sz="1575">
                <a:latin typeface="Cambria Math"/>
                <a:cs typeface="Cambria Math"/>
              </a:rPr>
              <a:t>2</a:t>
            </a:r>
            <a:endParaRPr baseline="26455" sz="1575">
              <a:latin typeface="Cambria Math"/>
              <a:cs typeface="Cambria Math"/>
            </a:endParaRPr>
          </a:p>
          <a:p>
            <a:pPr algn="ctr" marL="1270">
              <a:lnSpc>
                <a:spcPts val="1675"/>
              </a:lnSpc>
            </a:pPr>
            <a:r>
              <a:rPr dirty="0" sz="1600" spc="-5">
                <a:latin typeface="Cambria Math"/>
                <a:cs typeface="Cambria Math"/>
              </a:rPr>
              <a:t>81</a:t>
            </a:r>
            <a:r>
              <a:rPr dirty="0" sz="1600" spc="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7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3</a:t>
            </a:r>
            <a:r>
              <a:rPr dirty="0" baseline="26455" sz="1575">
                <a:latin typeface="Cambria Math"/>
                <a:cs typeface="Cambria Math"/>
              </a:rPr>
              <a:t>4</a:t>
            </a:r>
            <a:endParaRPr baseline="26455" sz="1575">
              <a:latin typeface="Cambria Math"/>
              <a:cs typeface="Cambria Math"/>
            </a:endParaRPr>
          </a:p>
          <a:p>
            <a:pPr algn="r" marR="30480">
              <a:lnSpc>
                <a:spcPts val="610"/>
              </a:lnSpc>
            </a:pPr>
            <a:r>
              <a:rPr dirty="0" sz="1050" spc="10">
                <a:latin typeface="Cambria Math"/>
                <a:cs typeface="Cambria Math"/>
              </a:rPr>
              <a:t>−</a:t>
            </a:r>
            <a:r>
              <a:rPr dirty="0" sz="1050" spc="70">
                <a:latin typeface="Cambria Math"/>
                <a:cs typeface="Cambria Math"/>
              </a:rPr>
              <a:t> </a:t>
            </a:r>
            <a:r>
              <a:rPr dirty="0" baseline="-26455" sz="1575" spc="15">
                <a:latin typeface="Cambria Math"/>
                <a:cs typeface="Cambria Math"/>
              </a:rPr>
              <a:t>2</a:t>
            </a:r>
            <a:endParaRPr baseline="-26455" sz="1575">
              <a:latin typeface="Cambria Math"/>
              <a:cs typeface="Cambria Math"/>
            </a:endParaRPr>
          </a:p>
          <a:p>
            <a:pPr marL="38100">
              <a:lnSpc>
                <a:spcPts val="1495"/>
              </a:lnSpc>
            </a:pPr>
            <a:r>
              <a:rPr dirty="0" sz="1600" spc="-5">
                <a:latin typeface="Cambria Math"/>
                <a:cs typeface="Cambria Math"/>
              </a:rPr>
              <a:t>0.01</a:t>
            </a:r>
            <a:r>
              <a:rPr dirty="0" sz="1600" spc="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7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10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6544" y="3280028"/>
            <a:ext cx="7131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60" b="1">
                <a:solidFill>
                  <a:srgbClr val="252525"/>
                </a:solidFill>
                <a:latin typeface="Tahoma"/>
                <a:cs typeface="Tahoma"/>
              </a:rPr>
              <a:t>Logarithms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0625" y="3709161"/>
            <a:ext cx="1236345" cy="758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600" spc="-1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lo</a:t>
            </a:r>
            <a:r>
              <a:rPr dirty="0" sz="1600" spc="60">
                <a:latin typeface="Cambria Math"/>
                <a:cs typeface="Cambria Math"/>
              </a:rPr>
              <a:t>g</a:t>
            </a:r>
            <a:r>
              <a:rPr dirty="0" baseline="-14492" sz="1725" spc="52">
                <a:latin typeface="Cambria Math"/>
                <a:cs typeface="Cambria Math"/>
              </a:rPr>
              <a:t>2</a:t>
            </a:r>
            <a:r>
              <a:rPr dirty="0" baseline="-14492" sz="1725" spc="1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8</a:t>
            </a:r>
            <a:endParaRPr sz="16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600" spc="-1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lo</a:t>
            </a:r>
            <a:r>
              <a:rPr dirty="0" sz="1600" spc="25">
                <a:latin typeface="Cambria Math"/>
                <a:cs typeface="Cambria Math"/>
              </a:rPr>
              <a:t>g</a:t>
            </a:r>
            <a:r>
              <a:rPr dirty="0" baseline="-14492" sz="1725" spc="44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0</a:t>
            </a:r>
            <a:r>
              <a:rPr dirty="0" baseline="-14492" sz="1725" spc="1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100</a:t>
            </a:r>
            <a:endParaRPr sz="16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r>
              <a:rPr dirty="0" sz="1600" spc="-1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lo</a:t>
            </a:r>
            <a:r>
              <a:rPr dirty="0" sz="1600" spc="60">
                <a:latin typeface="Cambria Math"/>
                <a:cs typeface="Cambria Math"/>
              </a:rPr>
              <a:t>g</a:t>
            </a:r>
            <a:r>
              <a:rPr dirty="0" baseline="-14492" sz="1725" spc="52">
                <a:latin typeface="Cambria Math"/>
                <a:cs typeface="Cambria Math"/>
              </a:rPr>
              <a:t>3</a:t>
            </a:r>
            <a:r>
              <a:rPr dirty="0" baseline="-14492" sz="1725" spc="12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81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6981" y="4538217"/>
            <a:ext cx="19621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30">
                <a:latin typeface="Cambria Math"/>
                <a:cs typeface="Cambria Math"/>
              </a:rPr>
              <a:t>10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6025" y="4442205"/>
            <a:ext cx="1410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6635" algn="l"/>
              </a:tabLst>
            </a:pP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600" spc="13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lo</a:t>
            </a:r>
            <a:r>
              <a:rPr dirty="0" sz="1600" spc="-5">
                <a:latin typeface="Cambria Math"/>
                <a:cs typeface="Cambria Math"/>
              </a:rPr>
              <a:t>g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0</a:t>
            </a:r>
            <a:r>
              <a:rPr dirty="0" sz="1600" spc="-10">
                <a:latin typeface="Cambria Math"/>
                <a:cs typeface="Cambria Math"/>
              </a:rPr>
              <a:t>.</a:t>
            </a:r>
            <a:r>
              <a:rPr dirty="0" sz="1600">
                <a:latin typeface="Cambria Math"/>
                <a:cs typeface="Cambria Math"/>
              </a:rPr>
              <a:t>01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4979" y="5089652"/>
            <a:ext cx="1183640" cy="1042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946150" algn="l"/>
              </a:tabLst>
            </a:pPr>
            <a:r>
              <a:rPr dirty="0" sz="1400" spc="-285" b="1">
                <a:solidFill>
                  <a:srgbClr val="FFFFFF"/>
                </a:solidFill>
                <a:latin typeface="Tahoma"/>
                <a:cs typeface="Tahoma"/>
              </a:rPr>
              <a:t>Exponents	</a:t>
            </a:r>
            <a:r>
              <a:rPr dirty="0" sz="1400" spc="-300" b="1">
                <a:solidFill>
                  <a:srgbClr val="FFFFFF"/>
                </a:solidFill>
                <a:latin typeface="Tahoma"/>
                <a:cs typeface="Tahoma"/>
              </a:rPr>
              <a:t>Log</a:t>
            </a:r>
            <a:endParaRPr sz="1400">
              <a:latin typeface="Tahoma"/>
              <a:cs typeface="Tahoma"/>
            </a:endParaRPr>
          </a:p>
          <a:p>
            <a:pPr algn="ctr" marL="390525" marR="367665" indent="-14604">
              <a:lnSpc>
                <a:spcPct val="178000"/>
              </a:lnSpc>
              <a:spcBef>
                <a:spcPts val="345"/>
              </a:spcBef>
            </a:pPr>
            <a:r>
              <a:rPr dirty="0" sz="1400" spc="-254" b="1">
                <a:solidFill>
                  <a:srgbClr val="252525"/>
                </a:solidFill>
                <a:latin typeface="Tahoma"/>
                <a:cs typeface="Tahoma"/>
              </a:rPr>
              <a:t>Base </a:t>
            </a:r>
            <a:r>
              <a:rPr dirty="0" sz="1400" spc="-25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35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32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400" spc="-20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400" spc="-150" b="1">
                <a:solidFill>
                  <a:srgbClr val="252525"/>
                </a:solidFill>
                <a:latin typeface="Tahoma"/>
                <a:cs typeface="Tahoma"/>
              </a:rPr>
              <a:t>il</a:t>
            </a:r>
            <a:r>
              <a:rPr dirty="0" sz="14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400" spc="-31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9935" y="1732788"/>
            <a:ext cx="1728470" cy="40259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6604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520"/>
              </a:spcBef>
            </a:pPr>
            <a:r>
              <a:rPr dirty="0" sz="1600" spc="15">
                <a:latin typeface="Cambria Math"/>
                <a:cs typeface="Cambria Math"/>
              </a:rPr>
              <a:t>2</a:t>
            </a:r>
            <a:r>
              <a:rPr dirty="0" baseline="28985" sz="1725" spc="22">
                <a:latin typeface="Cambria Math"/>
                <a:cs typeface="Cambria Math"/>
              </a:rPr>
              <a:t>3</a:t>
            </a:r>
            <a:r>
              <a:rPr dirty="0" baseline="28985" sz="1725" spc="367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2 </a:t>
            </a:r>
            <a:r>
              <a:rPr dirty="0" sz="1600" spc="55">
                <a:latin typeface="Cambria Math"/>
                <a:cs typeface="Cambria Math"/>
              </a:rPr>
              <a:t>∙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2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55">
                <a:latin typeface="Cambria Math"/>
                <a:cs typeface="Cambria Math"/>
              </a:rPr>
              <a:t>∙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2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335">
                <a:latin typeface="Cambria Math"/>
                <a:cs typeface="Cambria Math"/>
              </a:rPr>
              <a:t> </a:t>
            </a:r>
            <a:r>
              <a:rPr dirty="0" sz="1600" spc="-5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8795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528822" cy="75971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330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2.6.</a:t>
            </a:r>
            <a:r>
              <a:rPr dirty="0" spc="-10"/>
              <a:t> </a:t>
            </a:r>
            <a:r>
              <a:rPr dirty="0" spc="-5"/>
              <a:t>Exponential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 spc="-5"/>
              <a:t>Functions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5696" y="1897379"/>
            <a:ext cx="1203960" cy="38735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66675" rIns="0" bIns="0" rtlCol="0" vert="horz">
            <a:spAutoFit/>
          </a:bodyPr>
          <a:lstStyle/>
          <a:p>
            <a:pPr marL="206375">
              <a:lnSpc>
                <a:spcPct val="100000"/>
              </a:lnSpc>
              <a:spcBef>
                <a:spcPts val="525"/>
              </a:spcBef>
            </a:pPr>
            <a:r>
              <a:rPr dirty="0" sz="1600" spc="-10">
                <a:latin typeface="Cambria Math"/>
                <a:cs typeface="Cambria Math"/>
              </a:rPr>
              <a:t>f(x)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70">
                <a:latin typeface="Cambria Math"/>
                <a:cs typeface="Cambria Math"/>
              </a:rPr>
              <a:t>𝑎</a:t>
            </a:r>
            <a:r>
              <a:rPr dirty="0" baseline="28985" sz="1725" spc="104">
                <a:latin typeface="Cambria Math"/>
                <a:cs typeface="Cambria Math"/>
              </a:rPr>
              <a:t>𝑥</a:t>
            </a:r>
            <a:endParaRPr baseline="28985" sz="1725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9930" y="2666745"/>
            <a:ext cx="8531860" cy="3111500"/>
            <a:chOff x="709930" y="2666745"/>
            <a:chExt cx="8531860" cy="3111500"/>
          </a:xfrm>
        </p:grpSpPr>
        <p:sp>
          <p:nvSpPr>
            <p:cNvPr id="12" name="object 12"/>
            <p:cNvSpPr/>
            <p:nvPr/>
          </p:nvSpPr>
          <p:spPr>
            <a:xfrm>
              <a:off x="716280" y="2673095"/>
              <a:ext cx="8519160" cy="3098800"/>
            </a:xfrm>
            <a:custGeom>
              <a:avLst/>
              <a:gdLst/>
              <a:ahLst/>
              <a:cxnLst/>
              <a:rect l="l" t="t" r="r" b="b"/>
              <a:pathLst>
                <a:path w="8519160" h="3098800">
                  <a:moveTo>
                    <a:pt x="0" y="3098291"/>
                  </a:moveTo>
                  <a:lnTo>
                    <a:pt x="8519160" y="3098291"/>
                  </a:lnTo>
                  <a:lnTo>
                    <a:pt x="8519160" y="0"/>
                  </a:lnTo>
                  <a:lnTo>
                    <a:pt x="0" y="0"/>
                  </a:lnTo>
                  <a:lnTo>
                    <a:pt x="0" y="3098291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16658" y="3621785"/>
              <a:ext cx="2064385" cy="1577340"/>
            </a:xfrm>
            <a:custGeom>
              <a:avLst/>
              <a:gdLst/>
              <a:ahLst/>
              <a:cxnLst/>
              <a:rect l="l" t="t" r="r" b="b"/>
              <a:pathLst>
                <a:path w="2064385" h="1577339">
                  <a:moveTo>
                    <a:pt x="2064385" y="1280160"/>
                  </a:moveTo>
                  <a:lnTo>
                    <a:pt x="2044573" y="1270254"/>
                  </a:lnTo>
                  <a:lnTo>
                    <a:pt x="1988185" y="1242060"/>
                  </a:lnTo>
                  <a:lnTo>
                    <a:pt x="1988185" y="1270254"/>
                  </a:lnTo>
                  <a:lnTo>
                    <a:pt x="713994" y="1270254"/>
                  </a:lnTo>
                  <a:lnTo>
                    <a:pt x="713994" y="76200"/>
                  </a:lnTo>
                  <a:lnTo>
                    <a:pt x="742188" y="76200"/>
                  </a:lnTo>
                  <a:lnTo>
                    <a:pt x="735838" y="63500"/>
                  </a:lnTo>
                  <a:lnTo>
                    <a:pt x="704088" y="0"/>
                  </a:lnTo>
                  <a:lnTo>
                    <a:pt x="665988" y="76200"/>
                  </a:lnTo>
                  <a:lnTo>
                    <a:pt x="694182" y="76200"/>
                  </a:lnTo>
                  <a:lnTo>
                    <a:pt x="694182" y="1270254"/>
                  </a:lnTo>
                  <a:lnTo>
                    <a:pt x="0" y="1270254"/>
                  </a:lnTo>
                  <a:lnTo>
                    <a:pt x="0" y="1290066"/>
                  </a:lnTo>
                  <a:lnTo>
                    <a:pt x="694182" y="1290066"/>
                  </a:lnTo>
                  <a:lnTo>
                    <a:pt x="694182" y="1576832"/>
                  </a:lnTo>
                  <a:lnTo>
                    <a:pt x="713994" y="1576832"/>
                  </a:lnTo>
                  <a:lnTo>
                    <a:pt x="713994" y="1290066"/>
                  </a:lnTo>
                  <a:lnTo>
                    <a:pt x="1988185" y="1290066"/>
                  </a:lnTo>
                  <a:lnTo>
                    <a:pt x="1988185" y="1318260"/>
                  </a:lnTo>
                  <a:lnTo>
                    <a:pt x="2044573" y="1290066"/>
                  </a:lnTo>
                  <a:lnTo>
                    <a:pt x="2064385" y="1280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622169" y="3811268"/>
            <a:ext cx="229235" cy="639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9055" marR="30480" indent="-21590">
              <a:lnSpc>
                <a:spcPct val="138900"/>
              </a:lnSpc>
              <a:spcBef>
                <a:spcPts val="90"/>
              </a:spcBef>
            </a:pPr>
            <a:r>
              <a:rPr dirty="0" sz="1450" spc="-30">
                <a:latin typeface="Cambria Math"/>
                <a:cs typeface="Cambria Math"/>
              </a:rPr>
              <a:t>a</a:t>
            </a:r>
            <a:r>
              <a:rPr dirty="0" baseline="-20467" sz="1425" spc="-7">
                <a:latin typeface="Cambria Math"/>
                <a:cs typeface="Cambria Math"/>
              </a:rPr>
              <a:t>1  </a:t>
            </a:r>
            <a:r>
              <a:rPr dirty="0" sz="1450" spc="-3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19120" y="4930402"/>
            <a:ext cx="8636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latin typeface="Cambria Math"/>
                <a:cs typeface="Cambria Math"/>
              </a:rPr>
              <a:t>t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16783" y="4908050"/>
            <a:ext cx="12446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30">
                <a:latin typeface="Cambria Math"/>
                <a:cs typeface="Cambria Math"/>
              </a:rPr>
              <a:t>0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195" y="4765175"/>
            <a:ext cx="11176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5">
                <a:latin typeface="Cambria Math"/>
                <a:cs typeface="Cambria Math"/>
              </a:rPr>
              <a:t>x</a:t>
            </a:r>
            <a:endParaRPr sz="145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26310" y="3602482"/>
            <a:ext cx="5264785" cy="1596390"/>
            <a:chOff x="2226310" y="3602482"/>
            <a:chExt cx="5264785" cy="1596390"/>
          </a:xfrm>
        </p:grpSpPr>
        <p:sp>
          <p:nvSpPr>
            <p:cNvPr id="19" name="object 19"/>
            <p:cNvSpPr/>
            <p:nvPr/>
          </p:nvSpPr>
          <p:spPr>
            <a:xfrm>
              <a:off x="2923794" y="4039362"/>
              <a:ext cx="318135" cy="873760"/>
            </a:xfrm>
            <a:custGeom>
              <a:avLst/>
              <a:gdLst/>
              <a:ahLst/>
              <a:cxnLst/>
              <a:rect l="l" t="t" r="r" b="b"/>
              <a:pathLst>
                <a:path w="318135" h="873760">
                  <a:moveTo>
                    <a:pt x="0" y="0"/>
                  </a:moveTo>
                  <a:lnTo>
                    <a:pt x="317626" y="0"/>
                  </a:lnTo>
                </a:path>
                <a:path w="318135" h="873760">
                  <a:moveTo>
                    <a:pt x="309372" y="0"/>
                  </a:moveTo>
                  <a:lnTo>
                    <a:pt x="309372" y="873506"/>
                  </a:lnTo>
                </a:path>
              </a:pathLst>
            </a:custGeom>
            <a:ln w="19812">
              <a:solidFill>
                <a:srgbClr val="13299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4264" y="4303776"/>
              <a:ext cx="105155" cy="1036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32660" y="3608832"/>
              <a:ext cx="1313815" cy="1214755"/>
            </a:xfrm>
            <a:custGeom>
              <a:avLst/>
              <a:gdLst/>
              <a:ahLst/>
              <a:cxnLst/>
              <a:rect l="l" t="t" r="r" b="b"/>
              <a:pathLst>
                <a:path w="1313814" h="1214754">
                  <a:moveTo>
                    <a:pt x="0" y="1214628"/>
                  </a:moveTo>
                  <a:lnTo>
                    <a:pt x="49302" y="1183904"/>
                  </a:lnTo>
                  <a:lnTo>
                    <a:pt x="98456" y="1153246"/>
                  </a:lnTo>
                  <a:lnTo>
                    <a:pt x="147315" y="1122718"/>
                  </a:lnTo>
                  <a:lnTo>
                    <a:pt x="195732" y="1092385"/>
                  </a:lnTo>
                  <a:lnTo>
                    <a:pt x="243557" y="1062312"/>
                  </a:lnTo>
                  <a:lnTo>
                    <a:pt x="290645" y="1032564"/>
                  </a:lnTo>
                  <a:lnTo>
                    <a:pt x="336846" y="1003207"/>
                  </a:lnTo>
                  <a:lnTo>
                    <a:pt x="382014" y="974304"/>
                  </a:lnTo>
                  <a:lnTo>
                    <a:pt x="426000" y="945922"/>
                  </a:lnTo>
                  <a:lnTo>
                    <a:pt x="468658" y="918125"/>
                  </a:lnTo>
                  <a:lnTo>
                    <a:pt x="509839" y="890978"/>
                  </a:lnTo>
                  <a:lnTo>
                    <a:pt x="549395" y="864546"/>
                  </a:lnTo>
                  <a:lnTo>
                    <a:pt x="587180" y="838895"/>
                  </a:lnTo>
                  <a:lnTo>
                    <a:pt x="623045" y="814089"/>
                  </a:lnTo>
                  <a:lnTo>
                    <a:pt x="656844" y="790194"/>
                  </a:lnTo>
                  <a:lnTo>
                    <a:pt x="713249" y="750067"/>
                  </a:lnTo>
                  <a:lnTo>
                    <a:pt x="761118" y="715930"/>
                  </a:lnTo>
                  <a:lnTo>
                    <a:pt x="802451" y="685555"/>
                  </a:lnTo>
                  <a:lnTo>
                    <a:pt x="839247" y="656717"/>
                  </a:lnTo>
                  <a:lnTo>
                    <a:pt x="873507" y="627187"/>
                  </a:lnTo>
                  <a:lnTo>
                    <a:pt x="907232" y="594741"/>
                  </a:lnTo>
                  <a:lnTo>
                    <a:pt x="942421" y="557150"/>
                  </a:lnTo>
                  <a:lnTo>
                    <a:pt x="981075" y="512191"/>
                  </a:lnTo>
                  <a:lnTo>
                    <a:pt x="1079230" y="376600"/>
                  </a:lnTo>
                  <a:lnTo>
                    <a:pt x="1188434" y="206708"/>
                  </a:lnTo>
                  <a:lnTo>
                    <a:pt x="1277112" y="61509"/>
                  </a:lnTo>
                  <a:lnTo>
                    <a:pt x="1313688" y="0"/>
                  </a:lnTo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426202" y="3621785"/>
              <a:ext cx="2064385" cy="1577340"/>
            </a:xfrm>
            <a:custGeom>
              <a:avLst/>
              <a:gdLst/>
              <a:ahLst/>
              <a:cxnLst/>
              <a:rect l="l" t="t" r="r" b="b"/>
              <a:pathLst>
                <a:path w="2064384" h="1577339">
                  <a:moveTo>
                    <a:pt x="2064385" y="1280160"/>
                  </a:moveTo>
                  <a:lnTo>
                    <a:pt x="2044573" y="1270254"/>
                  </a:lnTo>
                  <a:lnTo>
                    <a:pt x="1988185" y="1242060"/>
                  </a:lnTo>
                  <a:lnTo>
                    <a:pt x="1988185" y="1270254"/>
                  </a:lnTo>
                  <a:lnTo>
                    <a:pt x="713994" y="1270254"/>
                  </a:lnTo>
                  <a:lnTo>
                    <a:pt x="713994" y="76200"/>
                  </a:lnTo>
                  <a:lnTo>
                    <a:pt x="742188" y="76200"/>
                  </a:lnTo>
                  <a:lnTo>
                    <a:pt x="735838" y="63500"/>
                  </a:lnTo>
                  <a:lnTo>
                    <a:pt x="704088" y="0"/>
                  </a:lnTo>
                  <a:lnTo>
                    <a:pt x="665988" y="76200"/>
                  </a:lnTo>
                  <a:lnTo>
                    <a:pt x="694182" y="76200"/>
                  </a:lnTo>
                  <a:lnTo>
                    <a:pt x="694182" y="1270254"/>
                  </a:lnTo>
                  <a:lnTo>
                    <a:pt x="0" y="1270254"/>
                  </a:lnTo>
                  <a:lnTo>
                    <a:pt x="0" y="1290066"/>
                  </a:lnTo>
                  <a:lnTo>
                    <a:pt x="694182" y="1290066"/>
                  </a:lnTo>
                  <a:lnTo>
                    <a:pt x="694182" y="1576832"/>
                  </a:lnTo>
                  <a:lnTo>
                    <a:pt x="713994" y="1576832"/>
                  </a:lnTo>
                  <a:lnTo>
                    <a:pt x="713994" y="1290066"/>
                  </a:lnTo>
                  <a:lnTo>
                    <a:pt x="1988185" y="1290066"/>
                  </a:lnTo>
                  <a:lnTo>
                    <a:pt x="1988185" y="1318260"/>
                  </a:lnTo>
                  <a:lnTo>
                    <a:pt x="2044573" y="1290066"/>
                  </a:lnTo>
                  <a:lnTo>
                    <a:pt x="2064385" y="1280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831713" y="4183124"/>
            <a:ext cx="229235" cy="50927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59690">
              <a:lnSpc>
                <a:spcPct val="100000"/>
              </a:lnSpc>
              <a:spcBef>
                <a:spcPts val="254"/>
              </a:spcBef>
            </a:pPr>
            <a:r>
              <a:rPr dirty="0" sz="1450" spc="-3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dirty="0" sz="1450" spc="-20">
                <a:latin typeface="Cambria Math"/>
                <a:cs typeface="Cambria Math"/>
              </a:rPr>
              <a:t>a</a:t>
            </a:r>
            <a:r>
              <a:rPr dirty="0" baseline="-20467" sz="1425" spc="-30">
                <a:latin typeface="Cambria Math"/>
                <a:cs typeface="Cambria Math"/>
              </a:rPr>
              <a:t>1</a:t>
            </a:r>
            <a:endParaRPr baseline="-20467" sz="1425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28917" y="4930402"/>
            <a:ext cx="8636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latin typeface="Cambria Math"/>
                <a:cs typeface="Cambria Math"/>
              </a:rPr>
              <a:t>t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6328" y="4908050"/>
            <a:ext cx="12446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30">
                <a:latin typeface="Cambria Math"/>
                <a:cs typeface="Cambria Math"/>
              </a:rPr>
              <a:t>0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63739" y="4765175"/>
            <a:ext cx="11176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5">
                <a:latin typeface="Cambria Math"/>
                <a:cs typeface="Cambria Math"/>
              </a:rPr>
              <a:t>x</a:t>
            </a:r>
            <a:endParaRPr sz="145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29255" y="3602735"/>
            <a:ext cx="4826635" cy="2312035"/>
            <a:chOff x="2429255" y="3602735"/>
            <a:chExt cx="4826635" cy="2312035"/>
          </a:xfrm>
        </p:grpSpPr>
        <p:sp>
          <p:nvSpPr>
            <p:cNvPr id="28" name="object 28"/>
            <p:cNvSpPr/>
            <p:nvPr/>
          </p:nvSpPr>
          <p:spPr>
            <a:xfrm>
              <a:off x="6131814" y="4603241"/>
              <a:ext cx="318135" cy="309880"/>
            </a:xfrm>
            <a:custGeom>
              <a:avLst/>
              <a:gdLst/>
              <a:ahLst/>
              <a:cxnLst/>
              <a:rect l="l" t="t" r="r" b="b"/>
              <a:pathLst>
                <a:path w="318135" h="309879">
                  <a:moveTo>
                    <a:pt x="0" y="0"/>
                  </a:moveTo>
                  <a:lnTo>
                    <a:pt x="317626" y="0"/>
                  </a:lnTo>
                </a:path>
                <a:path w="318135" h="309879">
                  <a:moveTo>
                    <a:pt x="310896" y="0"/>
                  </a:moveTo>
                  <a:lnTo>
                    <a:pt x="310896" y="309625"/>
                  </a:lnTo>
                </a:path>
              </a:pathLst>
            </a:custGeom>
            <a:ln w="19812">
              <a:solidFill>
                <a:srgbClr val="13299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83808" y="4303775"/>
              <a:ext cx="105156" cy="10363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440679" y="3608831"/>
              <a:ext cx="1690370" cy="1214755"/>
            </a:xfrm>
            <a:custGeom>
              <a:avLst/>
              <a:gdLst/>
              <a:ahLst/>
              <a:cxnLst/>
              <a:rect l="l" t="t" r="r" b="b"/>
              <a:pathLst>
                <a:path w="1690370" h="1214754">
                  <a:moveTo>
                    <a:pt x="1690116" y="1214628"/>
                  </a:moveTo>
                  <a:lnTo>
                    <a:pt x="1640020" y="1190369"/>
                  </a:lnTo>
                  <a:lnTo>
                    <a:pt x="1590017" y="1166143"/>
                  </a:lnTo>
                  <a:lnTo>
                    <a:pt x="1540202" y="1141980"/>
                  </a:lnTo>
                  <a:lnTo>
                    <a:pt x="1490668" y="1117914"/>
                  </a:lnTo>
                  <a:lnTo>
                    <a:pt x="1441509" y="1093976"/>
                  </a:lnTo>
                  <a:lnTo>
                    <a:pt x="1392818" y="1070197"/>
                  </a:lnTo>
                  <a:lnTo>
                    <a:pt x="1344689" y="1046611"/>
                  </a:lnTo>
                  <a:lnTo>
                    <a:pt x="1297215" y="1023248"/>
                  </a:lnTo>
                  <a:lnTo>
                    <a:pt x="1250491" y="1000142"/>
                  </a:lnTo>
                  <a:lnTo>
                    <a:pt x="1204609" y="977323"/>
                  </a:lnTo>
                  <a:lnTo>
                    <a:pt x="1159664" y="954825"/>
                  </a:lnTo>
                  <a:lnTo>
                    <a:pt x="1115749" y="932678"/>
                  </a:lnTo>
                  <a:lnTo>
                    <a:pt x="1072958" y="910915"/>
                  </a:lnTo>
                  <a:lnTo>
                    <a:pt x="1031385" y="889568"/>
                  </a:lnTo>
                  <a:lnTo>
                    <a:pt x="991122" y="868670"/>
                  </a:lnTo>
                  <a:lnTo>
                    <a:pt x="952265" y="848251"/>
                  </a:lnTo>
                  <a:lnTo>
                    <a:pt x="914906" y="828344"/>
                  </a:lnTo>
                  <a:lnTo>
                    <a:pt x="879139" y="808981"/>
                  </a:lnTo>
                  <a:lnTo>
                    <a:pt x="845058" y="790194"/>
                  </a:lnTo>
                  <a:lnTo>
                    <a:pt x="786073" y="757542"/>
                  </a:lnTo>
                  <a:lnTo>
                    <a:pt x="734430" y="729009"/>
                  </a:lnTo>
                  <a:lnTo>
                    <a:pt x="688815" y="703454"/>
                  </a:lnTo>
                  <a:lnTo>
                    <a:pt x="647913" y="679736"/>
                  </a:lnTo>
                  <a:lnTo>
                    <a:pt x="610409" y="656717"/>
                  </a:lnTo>
                  <a:lnTo>
                    <a:pt x="574989" y="633255"/>
                  </a:lnTo>
                  <a:lnTo>
                    <a:pt x="540339" y="608212"/>
                  </a:lnTo>
                  <a:lnTo>
                    <a:pt x="505145" y="580446"/>
                  </a:lnTo>
                  <a:lnTo>
                    <a:pt x="468090" y="548819"/>
                  </a:lnTo>
                  <a:lnTo>
                    <a:pt x="427863" y="512191"/>
                  </a:lnTo>
                  <a:lnTo>
                    <a:pt x="301591" y="376600"/>
                  </a:lnTo>
                  <a:lnTo>
                    <a:pt x="161115" y="206708"/>
                  </a:lnTo>
                  <a:lnTo>
                    <a:pt x="47047" y="61509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429255" y="5622035"/>
              <a:ext cx="4826635" cy="292735"/>
            </a:xfrm>
            <a:custGeom>
              <a:avLst/>
              <a:gdLst/>
              <a:ahLst/>
              <a:cxnLst/>
              <a:rect l="l" t="t" r="r" b="b"/>
              <a:pathLst>
                <a:path w="4826634" h="292735">
                  <a:moveTo>
                    <a:pt x="4826508" y="0"/>
                  </a:moveTo>
                  <a:lnTo>
                    <a:pt x="0" y="0"/>
                  </a:lnTo>
                  <a:lnTo>
                    <a:pt x="0" y="292607"/>
                  </a:lnTo>
                  <a:lnTo>
                    <a:pt x="4826508" y="292607"/>
                  </a:lnTo>
                  <a:lnTo>
                    <a:pt x="4826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301239" y="5251438"/>
            <a:ext cx="4704080" cy="6254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366135" algn="l"/>
              </a:tabLst>
            </a:pPr>
            <a:r>
              <a:rPr dirty="0" sz="1350" spc="-30">
                <a:latin typeface="Cambria Math"/>
                <a:cs typeface="Cambria Math"/>
              </a:rPr>
              <a:t>(a)</a:t>
            </a:r>
            <a:r>
              <a:rPr dirty="0" sz="1350" spc="-5">
                <a:latin typeface="Cambria Math"/>
                <a:cs typeface="Cambria Math"/>
              </a:rPr>
              <a:t> </a:t>
            </a:r>
            <a:r>
              <a:rPr dirty="0" sz="1350" spc="-35">
                <a:latin typeface="Cambria Math"/>
                <a:cs typeface="Cambria Math"/>
              </a:rPr>
              <a:t>When</a:t>
            </a:r>
            <a:r>
              <a:rPr dirty="0" sz="1350" spc="-10">
                <a:latin typeface="Cambria Math"/>
                <a:cs typeface="Cambria Math"/>
              </a:rPr>
              <a:t> </a:t>
            </a:r>
            <a:r>
              <a:rPr dirty="0" sz="1350" spc="-30">
                <a:latin typeface="Cambria Math"/>
                <a:cs typeface="Cambria Math"/>
              </a:rPr>
              <a:t>a</a:t>
            </a:r>
            <a:r>
              <a:rPr dirty="0" sz="1350" spc="-5">
                <a:latin typeface="Cambria Math"/>
                <a:cs typeface="Cambria Math"/>
              </a:rPr>
              <a:t> </a:t>
            </a:r>
            <a:r>
              <a:rPr dirty="0" sz="1350" spc="-40">
                <a:latin typeface="Cambria Math"/>
                <a:cs typeface="Cambria Math"/>
              </a:rPr>
              <a:t>&gt;1	</a:t>
            </a:r>
            <a:r>
              <a:rPr dirty="0" sz="1350" spc="-30">
                <a:latin typeface="Cambria Math"/>
                <a:cs typeface="Cambria Math"/>
              </a:rPr>
              <a:t>(b)</a:t>
            </a:r>
            <a:r>
              <a:rPr dirty="0" sz="1350" spc="250">
                <a:latin typeface="Cambria Math"/>
                <a:cs typeface="Cambria Math"/>
              </a:rPr>
              <a:t> </a:t>
            </a:r>
            <a:r>
              <a:rPr dirty="0" sz="1350" spc="-35">
                <a:latin typeface="Cambria Math"/>
                <a:cs typeface="Cambria Math"/>
              </a:rPr>
              <a:t>When</a:t>
            </a:r>
            <a:r>
              <a:rPr dirty="0" sz="1350" spc="-30">
                <a:latin typeface="Cambria Math"/>
                <a:cs typeface="Cambria Math"/>
              </a:rPr>
              <a:t> </a:t>
            </a:r>
            <a:r>
              <a:rPr dirty="0" sz="1350" spc="-35">
                <a:latin typeface="Cambria Math"/>
                <a:cs typeface="Cambria Math"/>
              </a:rPr>
              <a:t>0&lt;a</a:t>
            </a:r>
            <a:r>
              <a:rPr dirty="0" sz="1350" spc="-20">
                <a:latin typeface="Cambria Math"/>
                <a:cs typeface="Cambria Math"/>
              </a:rPr>
              <a:t> </a:t>
            </a:r>
            <a:r>
              <a:rPr dirty="0" sz="1350" spc="-40">
                <a:latin typeface="Cambria Math"/>
                <a:cs typeface="Cambria Math"/>
              </a:rPr>
              <a:t>&lt;1</a:t>
            </a:r>
            <a:endParaRPr sz="13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300">
              <a:latin typeface="Cambria Math"/>
              <a:cs typeface="Cambria Math"/>
            </a:endParaRPr>
          </a:p>
          <a:p>
            <a:pPr algn="ctr" marL="377825">
              <a:lnSpc>
                <a:spcPct val="100000"/>
              </a:lnSpc>
            </a:pPr>
            <a:r>
              <a:rPr dirty="0" sz="1300" spc="-2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300" spc="-325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300" spc="-8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305" b="1">
                <a:solidFill>
                  <a:srgbClr val="13299F"/>
                </a:solidFill>
                <a:latin typeface="Tahoma"/>
                <a:cs typeface="Tahoma"/>
              </a:rPr>
              <a:t>g</a:t>
            </a:r>
            <a:r>
              <a:rPr dirty="0" sz="1300" spc="-90" b="1">
                <a:solidFill>
                  <a:srgbClr val="13299F"/>
                </a:solidFill>
                <a:latin typeface="Tahoma"/>
                <a:cs typeface="Tahoma"/>
              </a:rPr>
              <a:t>r</a:t>
            </a:r>
            <a:r>
              <a:rPr dirty="0" sz="1300" spc="-27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300" spc="-300" b="1">
                <a:solidFill>
                  <a:srgbClr val="13299F"/>
                </a:solidFill>
                <a:latin typeface="Tahoma"/>
                <a:cs typeface="Tahoma"/>
              </a:rPr>
              <a:t>p</a:t>
            </a:r>
            <a:r>
              <a:rPr dirty="0" sz="1300" spc="-305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300" spc="-8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300" spc="-165" b="1">
                <a:solidFill>
                  <a:srgbClr val="13299F"/>
                </a:solidFill>
                <a:latin typeface="Tahoma"/>
                <a:cs typeface="Tahoma"/>
              </a:rPr>
              <a:t>f</a:t>
            </a:r>
            <a:r>
              <a:rPr dirty="0" sz="1300" spc="-114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0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300" spc="-7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75" b="1">
                <a:solidFill>
                  <a:srgbClr val="13299F"/>
                </a:solidFill>
                <a:latin typeface="Tahoma"/>
                <a:cs typeface="Tahoma"/>
              </a:rPr>
              <a:t>ex</a:t>
            </a:r>
            <a:r>
              <a:rPr dirty="0" sz="1300" spc="-310" b="1">
                <a:solidFill>
                  <a:srgbClr val="13299F"/>
                </a:solidFill>
                <a:latin typeface="Tahoma"/>
                <a:cs typeface="Tahoma"/>
              </a:rPr>
              <a:t>p</a:t>
            </a:r>
            <a:r>
              <a:rPr dirty="0" sz="1300" spc="-295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300" spc="-32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300" spc="-25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300" spc="-30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300" spc="-19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300" spc="-254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300" spc="-140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300" spc="-7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175" b="1">
                <a:solidFill>
                  <a:srgbClr val="13299F"/>
                </a:solidFill>
                <a:latin typeface="Tahoma"/>
                <a:cs typeface="Tahoma"/>
              </a:rPr>
              <a:t>f</a:t>
            </a:r>
            <a:r>
              <a:rPr dirty="0" sz="1300" spc="-310" b="1">
                <a:solidFill>
                  <a:srgbClr val="13299F"/>
                </a:solidFill>
                <a:latin typeface="Tahoma"/>
                <a:cs typeface="Tahoma"/>
              </a:rPr>
              <a:t>u</a:t>
            </a:r>
            <a:r>
              <a:rPr dirty="0" sz="1300" spc="-32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300" spc="-200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300" spc="-17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300" spc="-240" b="1">
                <a:solidFill>
                  <a:srgbClr val="13299F"/>
                </a:solidFill>
                <a:latin typeface="Tahoma"/>
                <a:cs typeface="Tahoma"/>
              </a:rPr>
              <a:t>ion</a:t>
            </a:r>
            <a:r>
              <a:rPr dirty="0" sz="1300" spc="-5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5">
                <a:solidFill>
                  <a:srgbClr val="13299F"/>
                </a:solidFill>
                <a:latin typeface="Cambria Math"/>
                <a:cs typeface="Cambria Math"/>
              </a:rPr>
              <a:t>𝒚</a:t>
            </a:r>
            <a:r>
              <a:rPr dirty="0" sz="1300" spc="65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13299F"/>
                </a:solidFill>
                <a:latin typeface="Cambria Math"/>
                <a:cs typeface="Cambria Math"/>
              </a:rPr>
              <a:t>=</a:t>
            </a:r>
            <a:r>
              <a:rPr dirty="0" sz="1300" spc="85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300" spc="-10">
                <a:solidFill>
                  <a:srgbClr val="13299F"/>
                </a:solidFill>
                <a:latin typeface="Cambria Math"/>
                <a:cs typeface="Cambria Math"/>
              </a:rPr>
              <a:t>𝒂</a:t>
            </a:r>
            <a:r>
              <a:rPr dirty="0" baseline="26143" sz="1275" spc="15">
                <a:solidFill>
                  <a:srgbClr val="13299F"/>
                </a:solidFill>
                <a:latin typeface="Cambria Math"/>
                <a:cs typeface="Cambria Math"/>
              </a:rPr>
              <a:t>𝟐</a:t>
            </a:r>
            <a:r>
              <a:rPr dirty="0" baseline="26143" sz="1275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baseline="26143" sz="1275" spc="97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300" spc="-465" b="1">
                <a:solidFill>
                  <a:srgbClr val="13299F"/>
                </a:solidFill>
                <a:latin typeface="Tahoma"/>
                <a:cs typeface="Tahoma"/>
              </a:rPr>
              <a:t>w</a:t>
            </a:r>
            <a:r>
              <a:rPr dirty="0" sz="1300" spc="-15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300" spc="-1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300" spc="-305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300" spc="-7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300" spc="-8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13299F"/>
                </a:solidFill>
                <a:latin typeface="Tahoma"/>
                <a:cs typeface="Tahoma"/>
              </a:rPr>
              <a:t>r</a:t>
            </a:r>
            <a:r>
              <a:rPr dirty="0" sz="1300" spc="-27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300" spc="-31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300" spc="-305" b="1">
                <a:solidFill>
                  <a:srgbClr val="13299F"/>
                </a:solidFill>
                <a:latin typeface="Tahoma"/>
                <a:cs typeface="Tahoma"/>
              </a:rPr>
              <a:t>g</a:t>
            </a:r>
            <a:r>
              <a:rPr dirty="0" sz="1300" spc="-254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300" spc="-7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5">
                <a:solidFill>
                  <a:srgbClr val="13299F"/>
                </a:solidFill>
                <a:latin typeface="Cambria Math"/>
                <a:cs typeface="Cambria Math"/>
              </a:rPr>
              <a:t>𝒂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97280" y="2753450"/>
            <a:ext cx="7201534" cy="88519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35"/>
              </a:spcBef>
            </a:pPr>
            <a:r>
              <a:rPr dirty="0" sz="1200" spc="-160">
                <a:solidFill>
                  <a:srgbClr val="252525"/>
                </a:solidFill>
                <a:latin typeface="Trebuchet MS"/>
                <a:cs typeface="Trebuchet MS"/>
              </a:rPr>
              <a:t>For</a:t>
            </a:r>
            <a:r>
              <a:rPr dirty="0" sz="1200" spc="-1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9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2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50">
                <a:solidFill>
                  <a:srgbClr val="252525"/>
                </a:solidFill>
                <a:latin typeface="Trebuchet MS"/>
                <a:cs typeface="Trebuchet MS"/>
              </a:rPr>
              <a:t>real</a:t>
            </a:r>
            <a:r>
              <a:rPr dirty="0" sz="12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200">
                <a:solidFill>
                  <a:srgbClr val="252525"/>
                </a:solidFill>
                <a:latin typeface="Trebuchet MS"/>
                <a:cs typeface="Trebuchet MS"/>
              </a:rPr>
              <a:t>number</a:t>
            </a:r>
            <a:r>
              <a:rPr dirty="0" sz="12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10">
                <a:solidFill>
                  <a:srgbClr val="252525"/>
                </a:solidFill>
                <a:latin typeface="Cambria Math"/>
                <a:cs typeface="Cambria Math"/>
              </a:rPr>
              <a:t>𝑎,</a:t>
            </a:r>
            <a:r>
              <a:rPr dirty="0" sz="1200" spc="-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 spc="-145">
                <a:solidFill>
                  <a:srgbClr val="252525"/>
                </a:solidFill>
                <a:latin typeface="Trebuchet MS"/>
                <a:cs typeface="Trebuchet MS"/>
              </a:rPr>
              <a:t>satisfying</a:t>
            </a:r>
            <a:r>
              <a:rPr dirty="0" sz="1200" spc="-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200" spc="10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&gt;</a:t>
            </a:r>
            <a:r>
              <a:rPr dirty="0" sz="1200" spc="6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0,</a:t>
            </a:r>
            <a:r>
              <a:rPr dirty="0" sz="1200" spc="-6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200" spc="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≠</a:t>
            </a:r>
            <a:r>
              <a:rPr dirty="0" sz="1200" spc="7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 spc="-12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200" spc="-12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2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9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2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65">
                <a:solidFill>
                  <a:srgbClr val="252525"/>
                </a:solidFill>
                <a:latin typeface="Trebuchet MS"/>
                <a:cs typeface="Trebuchet MS"/>
              </a:rPr>
              <a:t>graph</a:t>
            </a:r>
            <a:r>
              <a:rPr dirty="0" sz="12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75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2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9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2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90">
                <a:solidFill>
                  <a:srgbClr val="252525"/>
                </a:solidFill>
                <a:latin typeface="Trebuchet MS"/>
                <a:cs typeface="Trebuchet MS"/>
              </a:rPr>
              <a:t>exponential</a:t>
            </a:r>
            <a:r>
              <a:rPr dirty="0" sz="12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80">
                <a:solidFill>
                  <a:srgbClr val="252525"/>
                </a:solidFill>
                <a:latin typeface="Trebuchet MS"/>
                <a:cs typeface="Trebuchet MS"/>
              </a:rPr>
              <a:t>function</a:t>
            </a:r>
            <a:r>
              <a:rPr dirty="0" sz="12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r>
              <a:rPr dirty="0" sz="1200" spc="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200" spc="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𝑎𝑥</a:t>
            </a:r>
            <a:r>
              <a:rPr dirty="0" sz="1200" spc="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 spc="-200">
                <a:solidFill>
                  <a:srgbClr val="252525"/>
                </a:solidFill>
                <a:latin typeface="Trebuchet MS"/>
                <a:cs typeface="Trebuchet MS"/>
              </a:rPr>
              <a:t>with</a:t>
            </a:r>
            <a:r>
              <a:rPr dirty="0" sz="12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9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2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60">
                <a:solidFill>
                  <a:srgbClr val="252525"/>
                </a:solidFill>
                <a:latin typeface="Trebuchet MS"/>
                <a:cs typeface="Trebuchet MS"/>
              </a:rPr>
              <a:t>range</a:t>
            </a:r>
            <a:r>
              <a:rPr dirty="0" sz="1200" spc="1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200" spc="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200" spc="-175">
                <a:solidFill>
                  <a:srgbClr val="252525"/>
                </a:solidFill>
                <a:latin typeface="Trebuchet MS"/>
                <a:cs typeface="Trebuchet MS"/>
              </a:rPr>
              <a:t>can</a:t>
            </a:r>
            <a:r>
              <a:rPr dirty="0" sz="12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210">
                <a:solidFill>
                  <a:srgbClr val="252525"/>
                </a:solidFill>
                <a:latin typeface="Trebuchet MS"/>
                <a:cs typeface="Trebuchet MS"/>
              </a:rPr>
              <a:t>be</a:t>
            </a:r>
            <a:r>
              <a:rPr dirty="0" sz="12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90">
                <a:solidFill>
                  <a:srgbClr val="252525"/>
                </a:solidFill>
                <a:latin typeface="Trebuchet MS"/>
                <a:cs typeface="Trebuchet MS"/>
              </a:rPr>
              <a:t>drawn</a:t>
            </a:r>
            <a:r>
              <a:rPr dirty="0" sz="12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20">
                <a:solidFill>
                  <a:srgbClr val="252525"/>
                </a:solidFill>
                <a:latin typeface="Trebuchet MS"/>
                <a:cs typeface="Trebuchet MS"/>
              </a:rPr>
              <a:t>as</a:t>
            </a:r>
            <a:r>
              <a:rPr dirty="0" sz="12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185">
                <a:solidFill>
                  <a:srgbClr val="252525"/>
                </a:solidFill>
                <a:latin typeface="Trebuchet MS"/>
                <a:cs typeface="Trebuchet MS"/>
              </a:rPr>
              <a:t>shown</a:t>
            </a:r>
            <a:r>
              <a:rPr dirty="0" sz="12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252525"/>
                </a:solidFill>
                <a:latin typeface="Trebuchet MS"/>
                <a:cs typeface="Trebuchet MS"/>
              </a:rPr>
              <a:t>below.</a:t>
            </a:r>
            <a:endParaRPr sz="1200">
              <a:latin typeface="Trebuchet MS"/>
              <a:cs typeface="Trebuchet MS"/>
            </a:endParaRPr>
          </a:p>
          <a:p>
            <a:pPr algn="ctr" marR="121285">
              <a:lnSpc>
                <a:spcPts val="1714"/>
              </a:lnSpc>
              <a:spcBef>
                <a:spcPts val="1060"/>
              </a:spcBef>
              <a:tabLst>
                <a:tab pos="1621790" algn="l"/>
              </a:tabLst>
            </a:pPr>
            <a:r>
              <a:rPr dirty="0" sz="1450" spc="-25">
                <a:latin typeface="Cambria Math"/>
                <a:cs typeface="Cambria Math"/>
              </a:rPr>
              <a:t>y=a</a:t>
            </a:r>
            <a:r>
              <a:rPr dirty="0" baseline="23391" sz="1425" spc="-37">
                <a:latin typeface="Cambria Math"/>
                <a:cs typeface="Cambria Math"/>
              </a:rPr>
              <a:t>x	</a:t>
            </a:r>
            <a:r>
              <a:rPr dirty="0" sz="1450" spc="-25">
                <a:latin typeface="Cambria Math"/>
                <a:cs typeface="Cambria Math"/>
              </a:rPr>
              <a:t>y=a</a:t>
            </a:r>
            <a:r>
              <a:rPr dirty="0" baseline="23391" sz="1425" spc="-37">
                <a:latin typeface="Cambria Math"/>
                <a:cs typeface="Cambria Math"/>
              </a:rPr>
              <a:t>x</a:t>
            </a:r>
            <a:endParaRPr baseline="23391" sz="1425">
              <a:latin typeface="Cambria Math"/>
              <a:cs typeface="Cambria Math"/>
            </a:endParaRPr>
          </a:p>
          <a:p>
            <a:pPr algn="ctr" marR="544830">
              <a:lnSpc>
                <a:spcPts val="1714"/>
              </a:lnSpc>
              <a:tabLst>
                <a:tab pos="3209290" algn="l"/>
              </a:tabLst>
            </a:pPr>
            <a:r>
              <a:rPr dirty="0" sz="1450" spc="-25">
                <a:latin typeface="Cambria Math"/>
                <a:cs typeface="Cambria Math"/>
              </a:rPr>
              <a:t>y	y</a:t>
            </a:r>
            <a:endParaRPr sz="1450">
              <a:latin typeface="Cambria Math"/>
              <a:cs typeface="Cambria Math"/>
            </a:endParaRPr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0183" y="6082284"/>
            <a:ext cx="4356354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09473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6948" y="1795272"/>
            <a:ext cx="4917186" cy="19278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4330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2.6.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Exponential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Logarithmic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3983" y="2090927"/>
            <a:ext cx="8787384" cy="418338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31264" y="4526279"/>
            <a:ext cx="1801495" cy="14795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65"/>
              </a:lnSpc>
            </a:pPr>
            <a:r>
              <a:rPr dirty="0" sz="1150" spc="-35">
                <a:solidFill>
                  <a:srgbClr val="007C85"/>
                </a:solidFill>
                <a:latin typeface="Lucida Console"/>
                <a:cs typeface="Lucida Console"/>
              </a:rPr>
              <a:t>y2=2</a:t>
            </a:r>
            <a:r>
              <a:rPr dirty="0" baseline="25925" sz="1125" spc="-52">
                <a:solidFill>
                  <a:srgbClr val="007C85"/>
                </a:solidFill>
                <a:latin typeface="Lucida Console"/>
                <a:cs typeface="Lucida Console"/>
              </a:rPr>
              <a:t>**</a:t>
            </a:r>
            <a:r>
              <a:rPr dirty="0" sz="1150" spc="-35">
                <a:solidFill>
                  <a:srgbClr val="007C85"/>
                </a:solidFill>
                <a:latin typeface="Lucida Console"/>
                <a:cs typeface="Lucida Console"/>
              </a:rPr>
              <a:t>(-x-2)</a:t>
            </a:r>
            <a:endParaRPr sz="115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58255" y="5800344"/>
            <a:ext cx="737870" cy="149860"/>
          </a:xfrm>
          <a:custGeom>
            <a:avLst/>
            <a:gdLst/>
            <a:ahLst/>
            <a:cxnLst/>
            <a:rect l="l" t="t" r="r" b="b"/>
            <a:pathLst>
              <a:path w="737870" h="149860">
                <a:moveTo>
                  <a:pt x="737616" y="0"/>
                </a:moveTo>
                <a:lnTo>
                  <a:pt x="0" y="0"/>
                </a:lnTo>
                <a:lnTo>
                  <a:pt x="0" y="149351"/>
                </a:lnTo>
                <a:lnTo>
                  <a:pt x="737616" y="149351"/>
                </a:lnTo>
                <a:lnTo>
                  <a:pt x="737616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800471" y="5764783"/>
            <a:ext cx="853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C02F23"/>
                </a:solidFill>
                <a:latin typeface="Lucida Console"/>
                <a:cs typeface="Lucida Console"/>
              </a:rPr>
              <a:t>2^{-X-2}$</a:t>
            </a:r>
            <a:endParaRPr sz="12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09473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6948" y="1795272"/>
            <a:ext cx="4917186" cy="19278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330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2.6.</a:t>
            </a:r>
            <a:r>
              <a:rPr dirty="0" spc="-10"/>
              <a:t> </a:t>
            </a:r>
            <a:r>
              <a:rPr dirty="0" spc="-5"/>
              <a:t>Exponential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 spc="-5"/>
              <a:t>Functions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9201" y="2136520"/>
            <a:ext cx="3673475" cy="2527300"/>
            <a:chOff x="719201" y="2136520"/>
            <a:chExt cx="3673475" cy="2527300"/>
          </a:xfrm>
        </p:grpSpPr>
        <p:sp>
          <p:nvSpPr>
            <p:cNvPr id="11" name="object 11"/>
            <p:cNvSpPr/>
            <p:nvPr/>
          </p:nvSpPr>
          <p:spPr>
            <a:xfrm>
              <a:off x="722376" y="2139695"/>
              <a:ext cx="3667125" cy="2520950"/>
            </a:xfrm>
            <a:custGeom>
              <a:avLst/>
              <a:gdLst/>
              <a:ahLst/>
              <a:cxnLst/>
              <a:rect l="l" t="t" r="r" b="b"/>
              <a:pathLst>
                <a:path w="3667125" h="2520950">
                  <a:moveTo>
                    <a:pt x="0" y="2520696"/>
                  </a:moveTo>
                  <a:lnTo>
                    <a:pt x="3666744" y="2520696"/>
                  </a:lnTo>
                  <a:lnTo>
                    <a:pt x="3666744" y="0"/>
                  </a:lnTo>
                  <a:lnTo>
                    <a:pt x="0" y="0"/>
                  </a:lnTo>
                  <a:lnTo>
                    <a:pt x="0" y="252069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66800" y="2314955"/>
              <a:ext cx="3023870" cy="1945005"/>
            </a:xfrm>
            <a:custGeom>
              <a:avLst/>
              <a:gdLst/>
              <a:ahLst/>
              <a:cxnLst/>
              <a:rect l="l" t="t" r="r" b="b"/>
              <a:pathLst>
                <a:path w="3023870" h="1945004">
                  <a:moveTo>
                    <a:pt x="0" y="1944624"/>
                  </a:moveTo>
                  <a:lnTo>
                    <a:pt x="3023616" y="1944624"/>
                  </a:lnTo>
                  <a:lnTo>
                    <a:pt x="3023616" y="0"/>
                  </a:lnTo>
                  <a:lnTo>
                    <a:pt x="0" y="0"/>
                  </a:lnTo>
                  <a:lnTo>
                    <a:pt x="0" y="194462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953054" y="4324617"/>
            <a:ext cx="1113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433705" algn="l"/>
                <a:tab pos="899794" algn="l"/>
              </a:tabLst>
            </a:pPr>
            <a:r>
              <a:rPr dirty="0" sz="1250" spc="-35">
                <a:latin typeface="Cambria Math"/>
                <a:cs typeface="Cambria Math"/>
              </a:rPr>
              <a:t>1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1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2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endParaRPr sz="125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88822" y="2610357"/>
            <a:ext cx="2967990" cy="1738630"/>
            <a:chOff x="988822" y="2610357"/>
            <a:chExt cx="2967990" cy="1738630"/>
          </a:xfrm>
        </p:grpSpPr>
        <p:sp>
          <p:nvSpPr>
            <p:cNvPr id="15" name="object 15"/>
            <p:cNvSpPr/>
            <p:nvPr/>
          </p:nvSpPr>
          <p:spPr>
            <a:xfrm>
              <a:off x="1210056" y="4259579"/>
              <a:ext cx="2740660" cy="83185"/>
            </a:xfrm>
            <a:custGeom>
              <a:avLst/>
              <a:gdLst/>
              <a:ahLst/>
              <a:cxnLst/>
              <a:rect l="l" t="t" r="r" b="b"/>
              <a:pathLst>
                <a:path w="2740660" h="83185">
                  <a:moveTo>
                    <a:pt x="0" y="0"/>
                  </a:moveTo>
                  <a:lnTo>
                    <a:pt x="0" y="83058"/>
                  </a:lnTo>
                </a:path>
                <a:path w="2740660" h="83185">
                  <a:moveTo>
                    <a:pt x="504444" y="0"/>
                  </a:moveTo>
                  <a:lnTo>
                    <a:pt x="504444" y="83058"/>
                  </a:lnTo>
                </a:path>
                <a:path w="2740660" h="83185">
                  <a:moveTo>
                    <a:pt x="917448" y="0"/>
                  </a:moveTo>
                  <a:lnTo>
                    <a:pt x="917448" y="83058"/>
                  </a:lnTo>
                </a:path>
                <a:path w="2740660" h="83185">
                  <a:moveTo>
                    <a:pt x="1377695" y="0"/>
                  </a:moveTo>
                  <a:lnTo>
                    <a:pt x="1377695" y="83058"/>
                  </a:lnTo>
                </a:path>
                <a:path w="2740660" h="83185">
                  <a:moveTo>
                    <a:pt x="1871471" y="0"/>
                  </a:moveTo>
                  <a:lnTo>
                    <a:pt x="1871471" y="83058"/>
                  </a:lnTo>
                </a:path>
                <a:path w="2740660" h="83185">
                  <a:moveTo>
                    <a:pt x="2304288" y="0"/>
                  </a:moveTo>
                  <a:lnTo>
                    <a:pt x="2304288" y="83058"/>
                  </a:lnTo>
                </a:path>
                <a:path w="2740660" h="83185">
                  <a:moveTo>
                    <a:pt x="2740152" y="0"/>
                  </a:moveTo>
                  <a:lnTo>
                    <a:pt x="2740152" y="83058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95172" y="2616707"/>
              <a:ext cx="83185" cy="1242060"/>
            </a:xfrm>
            <a:custGeom>
              <a:avLst/>
              <a:gdLst/>
              <a:ahLst/>
              <a:cxnLst/>
              <a:rect l="l" t="t" r="r" b="b"/>
              <a:pathLst>
                <a:path w="83184" h="1242060">
                  <a:moveTo>
                    <a:pt x="83045" y="0"/>
                  </a:moveTo>
                  <a:lnTo>
                    <a:pt x="0" y="0"/>
                  </a:lnTo>
                </a:path>
                <a:path w="83184" h="1242060">
                  <a:moveTo>
                    <a:pt x="83045" y="419100"/>
                  </a:moveTo>
                  <a:lnTo>
                    <a:pt x="0" y="419100"/>
                  </a:lnTo>
                </a:path>
                <a:path w="83184" h="1242060">
                  <a:moveTo>
                    <a:pt x="83045" y="821436"/>
                  </a:moveTo>
                  <a:lnTo>
                    <a:pt x="0" y="821436"/>
                  </a:lnTo>
                </a:path>
                <a:path w="83184" h="1242060">
                  <a:moveTo>
                    <a:pt x="83045" y="1242059"/>
                  </a:moveTo>
                  <a:lnTo>
                    <a:pt x="0" y="1242059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41222" y="2497582"/>
            <a:ext cx="97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8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1222" y="2906594"/>
            <a:ext cx="97790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250" spc="-30">
                <a:latin typeface="Cambria Math"/>
                <a:cs typeface="Cambria Math"/>
              </a:rPr>
              <a:t>6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1222" y="3323348"/>
            <a:ext cx="97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4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1222" y="3739400"/>
            <a:ext cx="97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1222" y="4157231"/>
            <a:ext cx="1725295" cy="386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ts val="141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0</a:t>
            </a:r>
            <a:endParaRPr sz="1250">
              <a:latin typeface="Cambria Math"/>
              <a:cs typeface="Cambria Math"/>
            </a:endParaRPr>
          </a:p>
          <a:p>
            <a:pPr marL="79375">
              <a:lnSpc>
                <a:spcPts val="1410"/>
              </a:lnSpc>
              <a:tabLst>
                <a:tab pos="594360" algn="l"/>
                <a:tab pos="1045844" algn="l"/>
                <a:tab pos="1511935" algn="l"/>
              </a:tabLst>
            </a:pPr>
            <a:r>
              <a:rPr dirty="0" sz="1200">
                <a:latin typeface="Cambria Math"/>
                <a:cs typeface="Cambria Math"/>
              </a:rPr>
              <a:t>−</a:t>
            </a:r>
            <a:r>
              <a:rPr dirty="0" sz="1200" spc="-5">
                <a:latin typeface="Cambria Math"/>
                <a:cs typeface="Cambria Math"/>
              </a:rPr>
              <a:t>1</a:t>
            </a:r>
            <a:r>
              <a:rPr dirty="0" sz="1200" spc="5">
                <a:latin typeface="Cambria Math"/>
                <a:cs typeface="Cambria Math"/>
              </a:rPr>
              <a:t>.</a:t>
            </a:r>
            <a:r>
              <a:rPr dirty="0" sz="1200">
                <a:latin typeface="Cambria Math"/>
                <a:cs typeface="Cambria Math"/>
              </a:rPr>
              <a:t>0	</a:t>
            </a:r>
            <a:r>
              <a:rPr dirty="0" sz="1250" spc="-30">
                <a:latin typeface="Cambria Math"/>
                <a:cs typeface="Cambria Math"/>
              </a:rPr>
              <a:t>-0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0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0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endParaRPr sz="125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24585" y="2400173"/>
            <a:ext cx="2851785" cy="1806575"/>
            <a:chOff x="1124585" y="2400173"/>
            <a:chExt cx="2851785" cy="1806575"/>
          </a:xfrm>
        </p:grpSpPr>
        <p:sp>
          <p:nvSpPr>
            <p:cNvPr id="23" name="object 23"/>
            <p:cNvSpPr/>
            <p:nvPr/>
          </p:nvSpPr>
          <p:spPr>
            <a:xfrm>
              <a:off x="1139190" y="2414778"/>
              <a:ext cx="2811780" cy="1777364"/>
            </a:xfrm>
            <a:custGeom>
              <a:avLst/>
              <a:gdLst/>
              <a:ahLst/>
              <a:cxnLst/>
              <a:rect l="l" t="t" r="r" b="b"/>
              <a:pathLst>
                <a:path w="2811779" h="1777364">
                  <a:moveTo>
                    <a:pt x="64007" y="1776984"/>
                  </a:moveTo>
                  <a:lnTo>
                    <a:pt x="105526" y="1775492"/>
                  </a:lnTo>
                  <a:lnTo>
                    <a:pt x="147740" y="1773710"/>
                  </a:lnTo>
                  <a:lnTo>
                    <a:pt x="191346" y="1771353"/>
                  </a:lnTo>
                  <a:lnTo>
                    <a:pt x="237041" y="1768141"/>
                  </a:lnTo>
                  <a:lnTo>
                    <a:pt x="285521" y="1763790"/>
                  </a:lnTo>
                  <a:lnTo>
                    <a:pt x="337481" y="1758018"/>
                  </a:lnTo>
                  <a:lnTo>
                    <a:pt x="393618" y="1750544"/>
                  </a:lnTo>
                  <a:lnTo>
                    <a:pt x="454628" y="1741085"/>
                  </a:lnTo>
                  <a:lnTo>
                    <a:pt x="521208" y="1729359"/>
                  </a:lnTo>
                  <a:lnTo>
                    <a:pt x="562135" y="1721688"/>
                  </a:lnTo>
                  <a:lnTo>
                    <a:pt x="606365" y="1713280"/>
                  </a:lnTo>
                  <a:lnTo>
                    <a:pt x="653441" y="1704180"/>
                  </a:lnTo>
                  <a:lnTo>
                    <a:pt x="702905" y="1694434"/>
                  </a:lnTo>
                  <a:lnTo>
                    <a:pt x="754301" y="1684086"/>
                  </a:lnTo>
                  <a:lnTo>
                    <a:pt x="807172" y="1673182"/>
                  </a:lnTo>
                  <a:lnTo>
                    <a:pt x="861061" y="1661768"/>
                  </a:lnTo>
                  <a:lnTo>
                    <a:pt x="915511" y="1649888"/>
                  </a:lnTo>
                  <a:lnTo>
                    <a:pt x="970065" y="1637589"/>
                  </a:lnTo>
                  <a:lnTo>
                    <a:pt x="1024266" y="1624916"/>
                  </a:lnTo>
                  <a:lnTo>
                    <a:pt x="1077658" y="1611914"/>
                  </a:lnTo>
                  <a:lnTo>
                    <a:pt x="1129784" y="1598628"/>
                  </a:lnTo>
                  <a:lnTo>
                    <a:pt x="1180185" y="1585104"/>
                  </a:lnTo>
                  <a:lnTo>
                    <a:pt x="1228407" y="1571387"/>
                  </a:lnTo>
                  <a:lnTo>
                    <a:pt x="1273991" y="1557523"/>
                  </a:lnTo>
                  <a:lnTo>
                    <a:pt x="1316482" y="1543558"/>
                  </a:lnTo>
                  <a:lnTo>
                    <a:pt x="1374009" y="1522877"/>
                  </a:lnTo>
                  <a:lnTo>
                    <a:pt x="1428231" y="1501566"/>
                  </a:lnTo>
                  <a:lnTo>
                    <a:pt x="1479504" y="1479628"/>
                  </a:lnTo>
                  <a:lnTo>
                    <a:pt x="1528180" y="1457061"/>
                  </a:lnTo>
                  <a:lnTo>
                    <a:pt x="1574616" y="1433867"/>
                  </a:lnTo>
                  <a:lnTo>
                    <a:pt x="1619164" y="1410045"/>
                  </a:lnTo>
                  <a:lnTo>
                    <a:pt x="1662180" y="1385598"/>
                  </a:lnTo>
                  <a:lnTo>
                    <a:pt x="1704018" y="1360525"/>
                  </a:lnTo>
                  <a:lnTo>
                    <a:pt x="1745032" y="1334826"/>
                  </a:lnTo>
                  <a:lnTo>
                    <a:pt x="1785576" y="1308503"/>
                  </a:lnTo>
                  <a:lnTo>
                    <a:pt x="1826005" y="1281557"/>
                  </a:lnTo>
                  <a:lnTo>
                    <a:pt x="1869191" y="1251712"/>
                  </a:lnTo>
                  <a:lnTo>
                    <a:pt x="1909984" y="1221974"/>
                  </a:lnTo>
                  <a:lnTo>
                    <a:pt x="1948859" y="1191972"/>
                  </a:lnTo>
                  <a:lnTo>
                    <a:pt x="1986288" y="1161331"/>
                  </a:lnTo>
                  <a:lnTo>
                    <a:pt x="2022744" y="1129680"/>
                  </a:lnTo>
                  <a:lnTo>
                    <a:pt x="2058702" y="1096647"/>
                  </a:lnTo>
                  <a:lnTo>
                    <a:pt x="2094634" y="1061857"/>
                  </a:lnTo>
                  <a:lnTo>
                    <a:pt x="2131013" y="1024939"/>
                  </a:lnTo>
                  <a:lnTo>
                    <a:pt x="2168312" y="985521"/>
                  </a:lnTo>
                  <a:lnTo>
                    <a:pt x="2207006" y="943229"/>
                  </a:lnTo>
                  <a:lnTo>
                    <a:pt x="2238147" y="908020"/>
                  </a:lnTo>
                  <a:lnTo>
                    <a:pt x="2270566" y="870107"/>
                  </a:lnTo>
                  <a:lnTo>
                    <a:pt x="2303932" y="829946"/>
                  </a:lnTo>
                  <a:lnTo>
                    <a:pt x="2337911" y="787992"/>
                  </a:lnTo>
                  <a:lnTo>
                    <a:pt x="2372172" y="744702"/>
                  </a:lnTo>
                  <a:lnTo>
                    <a:pt x="2406383" y="700532"/>
                  </a:lnTo>
                  <a:lnTo>
                    <a:pt x="2440212" y="655937"/>
                  </a:lnTo>
                  <a:lnTo>
                    <a:pt x="2473327" y="611374"/>
                  </a:lnTo>
                  <a:lnTo>
                    <a:pt x="2505397" y="567300"/>
                  </a:lnTo>
                  <a:lnTo>
                    <a:pt x="2536089" y="524169"/>
                  </a:lnTo>
                  <a:lnTo>
                    <a:pt x="2565072" y="482439"/>
                  </a:lnTo>
                  <a:lnTo>
                    <a:pt x="2592013" y="442564"/>
                  </a:lnTo>
                  <a:lnTo>
                    <a:pt x="2616581" y="405002"/>
                  </a:lnTo>
                  <a:lnTo>
                    <a:pt x="2648244" y="353781"/>
                  </a:lnTo>
                  <a:lnTo>
                    <a:pt x="2676387" y="304751"/>
                  </a:lnTo>
                  <a:lnTo>
                    <a:pt x="2701449" y="257640"/>
                  </a:lnTo>
                  <a:lnTo>
                    <a:pt x="2723872" y="212176"/>
                  </a:lnTo>
                  <a:lnTo>
                    <a:pt x="2744094" y="168085"/>
                  </a:lnTo>
                  <a:lnTo>
                    <a:pt x="2762555" y="125095"/>
                  </a:lnTo>
                  <a:lnTo>
                    <a:pt x="2779697" y="82932"/>
                  </a:lnTo>
                  <a:lnTo>
                    <a:pt x="2795958" y="41325"/>
                  </a:lnTo>
                  <a:lnTo>
                    <a:pt x="2811780" y="0"/>
                  </a:lnTo>
                </a:path>
                <a:path w="2811779" h="1777364">
                  <a:moveTo>
                    <a:pt x="0" y="54863"/>
                  </a:moveTo>
                  <a:lnTo>
                    <a:pt x="216026" y="54863"/>
                  </a:lnTo>
                </a:path>
              </a:pathLst>
            </a:custGeom>
            <a:ln w="28956">
              <a:solidFill>
                <a:srgbClr val="64A0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07770" y="3224022"/>
              <a:ext cx="2753995" cy="600710"/>
            </a:xfrm>
            <a:custGeom>
              <a:avLst/>
              <a:gdLst/>
              <a:ahLst/>
              <a:cxnLst/>
              <a:rect l="l" t="t" r="r" b="b"/>
              <a:pathLst>
                <a:path w="2753995" h="600710">
                  <a:moveTo>
                    <a:pt x="0" y="600455"/>
                  </a:moveTo>
                  <a:lnTo>
                    <a:pt x="48919" y="598986"/>
                  </a:lnTo>
                  <a:lnTo>
                    <a:pt x="97863" y="597490"/>
                  </a:lnTo>
                  <a:lnTo>
                    <a:pt x="146849" y="595942"/>
                  </a:lnTo>
                  <a:lnTo>
                    <a:pt x="195897" y="594316"/>
                  </a:lnTo>
                  <a:lnTo>
                    <a:pt x="245026" y="592587"/>
                  </a:lnTo>
                  <a:lnTo>
                    <a:pt x="294255" y="590727"/>
                  </a:lnTo>
                  <a:lnTo>
                    <a:pt x="343602" y="588711"/>
                  </a:lnTo>
                  <a:lnTo>
                    <a:pt x="393088" y="586513"/>
                  </a:lnTo>
                  <a:lnTo>
                    <a:pt x="442731" y="584106"/>
                  </a:lnTo>
                  <a:lnTo>
                    <a:pt x="492550" y="581466"/>
                  </a:lnTo>
                  <a:lnTo>
                    <a:pt x="542564" y="578566"/>
                  </a:lnTo>
                  <a:lnTo>
                    <a:pt x="592792" y="575379"/>
                  </a:lnTo>
                  <a:lnTo>
                    <a:pt x="643255" y="571880"/>
                  </a:lnTo>
                  <a:lnTo>
                    <a:pt x="694339" y="568090"/>
                  </a:lnTo>
                  <a:lnTo>
                    <a:pt x="746334" y="564049"/>
                  </a:lnTo>
                  <a:lnTo>
                    <a:pt x="799017" y="559766"/>
                  </a:lnTo>
                  <a:lnTo>
                    <a:pt x="852167" y="555248"/>
                  </a:lnTo>
                  <a:lnTo>
                    <a:pt x="905563" y="550502"/>
                  </a:lnTo>
                  <a:lnTo>
                    <a:pt x="958982" y="545536"/>
                  </a:lnTo>
                  <a:lnTo>
                    <a:pt x="1012202" y="540356"/>
                  </a:lnTo>
                  <a:lnTo>
                    <a:pt x="1065004" y="534970"/>
                  </a:lnTo>
                  <a:lnTo>
                    <a:pt x="1117164" y="529386"/>
                  </a:lnTo>
                  <a:lnTo>
                    <a:pt x="1168460" y="523610"/>
                  </a:lnTo>
                  <a:lnTo>
                    <a:pt x="1218673" y="517649"/>
                  </a:lnTo>
                  <a:lnTo>
                    <a:pt x="1267579" y="511512"/>
                  </a:lnTo>
                  <a:lnTo>
                    <a:pt x="1314958" y="505205"/>
                  </a:lnTo>
                  <a:lnTo>
                    <a:pt x="1369303" y="497465"/>
                  </a:lnTo>
                  <a:lnTo>
                    <a:pt x="1422378" y="489420"/>
                  </a:lnTo>
                  <a:lnTo>
                    <a:pt x="1474246" y="481081"/>
                  </a:lnTo>
                  <a:lnTo>
                    <a:pt x="1524971" y="472461"/>
                  </a:lnTo>
                  <a:lnTo>
                    <a:pt x="1574618" y="463569"/>
                  </a:lnTo>
                  <a:lnTo>
                    <a:pt x="1623250" y="454417"/>
                  </a:lnTo>
                  <a:lnTo>
                    <a:pt x="1670932" y="445015"/>
                  </a:lnTo>
                  <a:lnTo>
                    <a:pt x="1717727" y="435375"/>
                  </a:lnTo>
                  <a:lnTo>
                    <a:pt x="1763701" y="425506"/>
                  </a:lnTo>
                  <a:lnTo>
                    <a:pt x="1808916" y="415421"/>
                  </a:lnTo>
                  <a:lnTo>
                    <a:pt x="1853438" y="405129"/>
                  </a:lnTo>
                  <a:lnTo>
                    <a:pt x="1906011" y="392870"/>
                  </a:lnTo>
                  <a:lnTo>
                    <a:pt x="1956160" y="381246"/>
                  </a:lnTo>
                  <a:lnTo>
                    <a:pt x="2004450" y="369767"/>
                  </a:lnTo>
                  <a:lnTo>
                    <a:pt x="2051448" y="357940"/>
                  </a:lnTo>
                  <a:lnTo>
                    <a:pt x="2097721" y="345272"/>
                  </a:lnTo>
                  <a:lnTo>
                    <a:pt x="2143835" y="331272"/>
                  </a:lnTo>
                  <a:lnTo>
                    <a:pt x="2190356" y="315447"/>
                  </a:lnTo>
                  <a:lnTo>
                    <a:pt x="2237852" y="297304"/>
                  </a:lnTo>
                  <a:lnTo>
                    <a:pt x="2286889" y="276351"/>
                  </a:lnTo>
                  <a:lnTo>
                    <a:pt x="2328030" y="257068"/>
                  </a:lnTo>
                  <a:lnTo>
                    <a:pt x="2369549" y="236114"/>
                  </a:lnTo>
                  <a:lnTo>
                    <a:pt x="2411407" y="213656"/>
                  </a:lnTo>
                  <a:lnTo>
                    <a:pt x="2453565" y="189862"/>
                  </a:lnTo>
                  <a:lnTo>
                    <a:pt x="2495986" y="164901"/>
                  </a:lnTo>
                  <a:lnTo>
                    <a:pt x="2538630" y="138939"/>
                  </a:lnTo>
                  <a:lnTo>
                    <a:pt x="2581460" y="112145"/>
                  </a:lnTo>
                  <a:lnTo>
                    <a:pt x="2624437" y="84686"/>
                  </a:lnTo>
                  <a:lnTo>
                    <a:pt x="2667523" y="56731"/>
                  </a:lnTo>
                  <a:lnTo>
                    <a:pt x="2710679" y="28446"/>
                  </a:lnTo>
                  <a:lnTo>
                    <a:pt x="2753868" y="0"/>
                  </a:lnTo>
                </a:path>
              </a:pathLst>
            </a:custGeom>
            <a:ln w="28956">
              <a:solidFill>
                <a:srgbClr val="FF92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113789" y="2388870"/>
            <a:ext cx="883919" cy="337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032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latin typeface="Cambria Math"/>
                <a:cs typeface="Cambria Math"/>
              </a:rPr>
              <a:t>𝑦</a:t>
            </a:r>
            <a:r>
              <a:rPr dirty="0" sz="800" spc="20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=</a:t>
            </a:r>
            <a:r>
              <a:rPr dirty="0" sz="800" spc="10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3</a:t>
            </a:r>
            <a:endParaRPr sz="8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455"/>
              </a:spcBef>
              <a:tabLst>
                <a:tab pos="250825" algn="l"/>
              </a:tabLst>
            </a:pPr>
            <a:r>
              <a:rPr dirty="0" u="heavy" baseline="6944" sz="1800">
                <a:uFill>
                  <a:solidFill>
                    <a:srgbClr val="FF9234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baseline="6944" sz="1800" spc="112">
                <a:latin typeface="Times New Roman"/>
                <a:cs typeface="Times New Roman"/>
              </a:rPr>
              <a:t> </a:t>
            </a:r>
            <a:r>
              <a:rPr dirty="0" sz="800">
                <a:latin typeface="Cambria Math"/>
                <a:cs typeface="Cambria Math"/>
              </a:rPr>
              <a:t>𝑦</a:t>
            </a:r>
            <a:r>
              <a:rPr dirty="0" sz="800" spc="3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=</a:t>
            </a:r>
            <a:r>
              <a:rPr dirty="0" sz="800" spc="35">
                <a:latin typeface="Cambria Math"/>
                <a:cs typeface="Cambria Math"/>
              </a:rPr>
              <a:t> </a:t>
            </a:r>
            <a:r>
              <a:rPr dirty="0" sz="800" spc="10">
                <a:latin typeface="Cambria Math"/>
                <a:cs typeface="Cambria Math"/>
              </a:rPr>
              <a:t>3</a:t>
            </a:r>
            <a:r>
              <a:rPr dirty="0" baseline="27777" sz="750" spc="15">
                <a:latin typeface="Cambria Math"/>
                <a:cs typeface="Cambria Math"/>
              </a:rPr>
              <a:t>𝑥</a:t>
            </a:r>
            <a:r>
              <a:rPr dirty="0" baseline="27777" sz="750" spc="15">
                <a:latin typeface="Calibri Light"/>
                <a:cs typeface="Calibri Light"/>
              </a:rPr>
              <a:t>-</a:t>
            </a:r>
            <a:r>
              <a:rPr dirty="0" baseline="27777" sz="750" spc="15">
                <a:latin typeface="Cambria Math"/>
                <a:cs typeface="Cambria Math"/>
              </a:rPr>
              <a:t>1</a:t>
            </a:r>
            <a:r>
              <a:rPr dirty="0" baseline="27777" sz="750" spc="7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+</a:t>
            </a:r>
            <a:r>
              <a:rPr dirty="0" sz="800" spc="-10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2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0327" y="2357627"/>
            <a:ext cx="891540" cy="393700"/>
          </a:xfrm>
          <a:custGeom>
            <a:avLst/>
            <a:gdLst/>
            <a:ahLst/>
            <a:cxnLst/>
            <a:rect l="l" t="t" r="r" b="b"/>
            <a:pathLst>
              <a:path w="891539" h="393700">
                <a:moveTo>
                  <a:pt x="0" y="393191"/>
                </a:moveTo>
                <a:lnTo>
                  <a:pt x="891540" y="393191"/>
                </a:lnTo>
                <a:lnTo>
                  <a:pt x="891540" y="0"/>
                </a:lnTo>
                <a:lnTo>
                  <a:pt x="0" y="0"/>
                </a:lnTo>
                <a:lnTo>
                  <a:pt x="0" y="393191"/>
                </a:lnTo>
                <a:close/>
              </a:path>
            </a:pathLst>
          </a:custGeom>
          <a:ln w="12191">
            <a:solidFill>
              <a:srgbClr val="006FC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4798948" y="2116708"/>
            <a:ext cx="3673475" cy="2527300"/>
            <a:chOff x="4798948" y="2116708"/>
            <a:chExt cx="3673475" cy="2527300"/>
          </a:xfrm>
        </p:grpSpPr>
        <p:sp>
          <p:nvSpPr>
            <p:cNvPr id="28" name="object 28"/>
            <p:cNvSpPr/>
            <p:nvPr/>
          </p:nvSpPr>
          <p:spPr>
            <a:xfrm>
              <a:off x="4802123" y="2119883"/>
              <a:ext cx="3667125" cy="2520950"/>
            </a:xfrm>
            <a:custGeom>
              <a:avLst/>
              <a:gdLst/>
              <a:ahLst/>
              <a:cxnLst/>
              <a:rect l="l" t="t" r="r" b="b"/>
              <a:pathLst>
                <a:path w="3667125" h="2520950">
                  <a:moveTo>
                    <a:pt x="0" y="2520696"/>
                  </a:moveTo>
                  <a:lnTo>
                    <a:pt x="3666744" y="2520696"/>
                  </a:lnTo>
                  <a:lnTo>
                    <a:pt x="3666744" y="0"/>
                  </a:lnTo>
                  <a:lnTo>
                    <a:pt x="0" y="0"/>
                  </a:lnTo>
                  <a:lnTo>
                    <a:pt x="0" y="252069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305043" y="2305811"/>
              <a:ext cx="3023870" cy="1945005"/>
            </a:xfrm>
            <a:custGeom>
              <a:avLst/>
              <a:gdLst/>
              <a:ahLst/>
              <a:cxnLst/>
              <a:rect l="l" t="t" r="r" b="b"/>
              <a:pathLst>
                <a:path w="3023870" h="1945004">
                  <a:moveTo>
                    <a:pt x="0" y="1944624"/>
                  </a:moveTo>
                  <a:lnTo>
                    <a:pt x="3023616" y="1944624"/>
                  </a:lnTo>
                  <a:lnTo>
                    <a:pt x="3023616" y="0"/>
                  </a:lnTo>
                  <a:lnTo>
                    <a:pt x="0" y="0"/>
                  </a:lnTo>
                  <a:lnTo>
                    <a:pt x="0" y="194462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259578" y="4315473"/>
            <a:ext cx="164528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514984" algn="l"/>
                <a:tab pos="965835" algn="l"/>
                <a:tab pos="1431925" algn="l"/>
              </a:tabLst>
            </a:pPr>
            <a:r>
              <a:rPr dirty="0" sz="1200">
                <a:latin typeface="Cambria Math"/>
                <a:cs typeface="Cambria Math"/>
              </a:rPr>
              <a:t>−</a:t>
            </a:r>
            <a:r>
              <a:rPr dirty="0" sz="1200" spc="-5">
                <a:latin typeface="Cambria Math"/>
                <a:cs typeface="Cambria Math"/>
              </a:rPr>
              <a:t>1</a:t>
            </a:r>
            <a:r>
              <a:rPr dirty="0" sz="1200" spc="5">
                <a:latin typeface="Cambria Math"/>
                <a:cs typeface="Cambria Math"/>
              </a:rPr>
              <a:t>.</a:t>
            </a:r>
            <a:r>
              <a:rPr dirty="0" sz="1200">
                <a:latin typeface="Cambria Math"/>
                <a:cs typeface="Cambria Math"/>
              </a:rPr>
              <a:t>0	</a:t>
            </a:r>
            <a:r>
              <a:rPr dirty="0" sz="1250" spc="-30">
                <a:latin typeface="Cambria Math"/>
                <a:cs typeface="Cambria Math"/>
              </a:rPr>
              <a:t>-0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0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0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91552" y="4315473"/>
            <a:ext cx="1113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433705" algn="l"/>
                <a:tab pos="899794" algn="l"/>
              </a:tabLst>
            </a:pPr>
            <a:r>
              <a:rPr dirty="0" sz="1250" spc="-35">
                <a:latin typeface="Cambria Math"/>
                <a:cs typeface="Cambria Math"/>
              </a:rPr>
              <a:t>1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1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r>
              <a:rPr dirty="0" sz="1250">
                <a:latin typeface="Cambria Math"/>
                <a:cs typeface="Cambria Math"/>
              </a:rPr>
              <a:t>	</a:t>
            </a:r>
            <a:r>
              <a:rPr dirty="0" sz="1250" spc="-35">
                <a:latin typeface="Cambria Math"/>
                <a:cs typeface="Cambria Math"/>
              </a:rPr>
              <a:t>2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endParaRPr sz="1250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227065" y="2445892"/>
            <a:ext cx="2967990" cy="1894205"/>
            <a:chOff x="5227065" y="2445892"/>
            <a:chExt cx="2967990" cy="1894205"/>
          </a:xfrm>
        </p:grpSpPr>
        <p:sp>
          <p:nvSpPr>
            <p:cNvPr id="33" name="object 33"/>
            <p:cNvSpPr/>
            <p:nvPr/>
          </p:nvSpPr>
          <p:spPr>
            <a:xfrm>
              <a:off x="5448299" y="4250435"/>
              <a:ext cx="2740660" cy="83185"/>
            </a:xfrm>
            <a:custGeom>
              <a:avLst/>
              <a:gdLst/>
              <a:ahLst/>
              <a:cxnLst/>
              <a:rect l="l" t="t" r="r" b="b"/>
              <a:pathLst>
                <a:path w="2740659" h="83185">
                  <a:moveTo>
                    <a:pt x="0" y="0"/>
                  </a:moveTo>
                  <a:lnTo>
                    <a:pt x="0" y="83057"/>
                  </a:lnTo>
                </a:path>
                <a:path w="2740659" h="83185">
                  <a:moveTo>
                    <a:pt x="502920" y="0"/>
                  </a:moveTo>
                  <a:lnTo>
                    <a:pt x="502920" y="83057"/>
                  </a:lnTo>
                </a:path>
                <a:path w="2740659" h="83185">
                  <a:moveTo>
                    <a:pt x="915924" y="0"/>
                  </a:moveTo>
                  <a:lnTo>
                    <a:pt x="915924" y="83057"/>
                  </a:lnTo>
                </a:path>
                <a:path w="2740659" h="83185">
                  <a:moveTo>
                    <a:pt x="1377696" y="0"/>
                  </a:moveTo>
                  <a:lnTo>
                    <a:pt x="1377696" y="83057"/>
                  </a:lnTo>
                </a:path>
                <a:path w="2740659" h="83185">
                  <a:moveTo>
                    <a:pt x="1871472" y="0"/>
                  </a:moveTo>
                  <a:lnTo>
                    <a:pt x="1871472" y="83057"/>
                  </a:lnTo>
                </a:path>
                <a:path w="2740659" h="83185">
                  <a:moveTo>
                    <a:pt x="2304288" y="0"/>
                  </a:moveTo>
                  <a:lnTo>
                    <a:pt x="2304288" y="83057"/>
                  </a:lnTo>
                </a:path>
                <a:path w="2740659" h="83185">
                  <a:moveTo>
                    <a:pt x="2740152" y="0"/>
                  </a:moveTo>
                  <a:lnTo>
                    <a:pt x="2740152" y="83057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233415" y="3400043"/>
              <a:ext cx="83185" cy="318770"/>
            </a:xfrm>
            <a:custGeom>
              <a:avLst/>
              <a:gdLst/>
              <a:ahLst/>
              <a:cxnLst/>
              <a:rect l="l" t="t" r="r" b="b"/>
              <a:pathLst>
                <a:path w="83185" h="318770">
                  <a:moveTo>
                    <a:pt x="83058" y="0"/>
                  </a:moveTo>
                  <a:lnTo>
                    <a:pt x="0" y="0"/>
                  </a:lnTo>
                </a:path>
                <a:path w="83185" h="318770">
                  <a:moveTo>
                    <a:pt x="83058" y="318515"/>
                  </a:moveTo>
                  <a:lnTo>
                    <a:pt x="0" y="318515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436357" y="2460497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4" h="0">
                  <a:moveTo>
                    <a:pt x="0" y="0"/>
                  </a:moveTo>
                  <a:lnTo>
                    <a:pt x="216026" y="0"/>
                  </a:lnTo>
                </a:path>
              </a:pathLst>
            </a:custGeom>
            <a:ln w="28956">
              <a:solidFill>
                <a:srgbClr val="64A0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436357" y="2634233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4" h="0">
                  <a:moveTo>
                    <a:pt x="0" y="0"/>
                  </a:moveTo>
                  <a:lnTo>
                    <a:pt x="216026" y="0"/>
                  </a:lnTo>
                </a:path>
              </a:pathLst>
            </a:custGeom>
            <a:ln w="28956">
              <a:solidFill>
                <a:srgbClr val="FF92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941442" y="2343403"/>
            <a:ext cx="213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Cambria Math"/>
                <a:cs typeface="Cambria Math"/>
              </a:rPr>
              <a:t>2</a:t>
            </a:r>
            <a:r>
              <a:rPr dirty="0" sz="1200" spc="5">
                <a:latin typeface="Cambria Math"/>
                <a:cs typeface="Cambria Math"/>
              </a:rPr>
              <a:t>.</a:t>
            </a:r>
            <a:r>
              <a:rPr dirty="0" sz="120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91151" y="2646057"/>
            <a:ext cx="263525" cy="14579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15"/>
              </a:spcBef>
            </a:pPr>
            <a:r>
              <a:rPr dirty="0" sz="1250" spc="-35">
                <a:latin typeface="Cambria Math"/>
                <a:cs typeface="Cambria Math"/>
              </a:rPr>
              <a:t>1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endParaRPr sz="1250">
              <a:latin typeface="Cambria Math"/>
              <a:cs typeface="Cambria Math"/>
            </a:endParaRPr>
          </a:p>
          <a:p>
            <a:pPr marL="50165">
              <a:lnSpc>
                <a:spcPct val="100000"/>
              </a:lnSpc>
              <a:spcBef>
                <a:spcPts val="935"/>
              </a:spcBef>
            </a:pPr>
            <a:r>
              <a:rPr dirty="0" sz="1250" spc="-35">
                <a:latin typeface="Cambria Math"/>
                <a:cs typeface="Cambria Math"/>
              </a:rPr>
              <a:t>1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endParaRPr sz="1250">
              <a:latin typeface="Cambria Math"/>
              <a:cs typeface="Cambria Math"/>
            </a:endParaRPr>
          </a:p>
          <a:p>
            <a:pPr marL="50165">
              <a:lnSpc>
                <a:spcPct val="100000"/>
              </a:lnSpc>
              <a:spcBef>
                <a:spcPts val="935"/>
              </a:spcBef>
            </a:pPr>
            <a:r>
              <a:rPr dirty="0" sz="1250" spc="-35">
                <a:latin typeface="Cambria Math"/>
                <a:cs typeface="Cambria Math"/>
              </a:rPr>
              <a:t>0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endParaRPr sz="1250">
              <a:latin typeface="Cambria Math"/>
              <a:cs typeface="Cambria Math"/>
            </a:endParaRPr>
          </a:p>
          <a:p>
            <a:pPr marL="50165">
              <a:lnSpc>
                <a:spcPct val="100000"/>
              </a:lnSpc>
              <a:spcBef>
                <a:spcPts val="950"/>
              </a:spcBef>
            </a:pPr>
            <a:r>
              <a:rPr dirty="0" sz="1250" spc="-35">
                <a:latin typeface="Cambria Math"/>
                <a:cs typeface="Cambria Math"/>
              </a:rPr>
              <a:t>0</a:t>
            </a:r>
            <a:r>
              <a:rPr dirty="0" sz="1250" spc="-20">
                <a:latin typeface="Cambria Math"/>
                <a:cs typeface="Cambria Math"/>
              </a:rPr>
              <a:t>.0</a:t>
            </a:r>
            <a:endParaRPr sz="12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r>
              <a:rPr dirty="0" sz="1250" spc="-30">
                <a:latin typeface="Cambria Math"/>
                <a:cs typeface="Cambria Math"/>
              </a:rPr>
              <a:t>-0</a:t>
            </a:r>
            <a:r>
              <a:rPr dirty="0" sz="1250" spc="-20">
                <a:latin typeface="Cambria Math"/>
                <a:cs typeface="Cambria Math"/>
              </a:rPr>
              <a:t>.5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11058" y="2350618"/>
            <a:ext cx="488315" cy="323215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dirty="0" sz="800">
                <a:latin typeface="Cambria Math"/>
                <a:cs typeface="Cambria Math"/>
              </a:rPr>
              <a:t>𝑦</a:t>
            </a:r>
            <a:r>
              <a:rPr dirty="0" sz="800" spc="2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=</a:t>
            </a:r>
            <a:r>
              <a:rPr dirty="0" sz="800" spc="20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2</a:t>
            </a:r>
            <a:r>
              <a:rPr dirty="0" baseline="27777" sz="750">
                <a:latin typeface="Calibri Light"/>
                <a:cs typeface="Calibri Light"/>
              </a:rPr>
              <a:t>-</a:t>
            </a:r>
            <a:r>
              <a:rPr dirty="0" baseline="27777" sz="750">
                <a:latin typeface="Cambria Math"/>
                <a:cs typeface="Cambria Math"/>
              </a:rPr>
              <a:t>𝑥</a:t>
            </a:r>
            <a:endParaRPr baseline="27777" sz="75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210"/>
              </a:spcBef>
            </a:pPr>
            <a:r>
              <a:rPr dirty="0" baseline="-17361" sz="1200">
                <a:latin typeface="Cambria Math"/>
                <a:cs typeface="Cambria Math"/>
              </a:rPr>
              <a:t>𝑦</a:t>
            </a:r>
            <a:r>
              <a:rPr dirty="0" baseline="-17361" sz="1200" spc="37">
                <a:latin typeface="Cambria Math"/>
                <a:cs typeface="Cambria Math"/>
              </a:rPr>
              <a:t> </a:t>
            </a:r>
            <a:r>
              <a:rPr dirty="0" baseline="-17361" sz="1200">
                <a:latin typeface="Cambria Math"/>
                <a:cs typeface="Cambria Math"/>
              </a:rPr>
              <a:t>=</a:t>
            </a:r>
            <a:r>
              <a:rPr dirty="0" baseline="-17361" sz="1200" spc="30">
                <a:latin typeface="Cambria Math"/>
                <a:cs typeface="Cambria Math"/>
              </a:rPr>
              <a:t> </a:t>
            </a:r>
            <a:r>
              <a:rPr dirty="0" baseline="-17361" sz="1200">
                <a:latin typeface="Cambria Math"/>
                <a:cs typeface="Cambria Math"/>
              </a:rPr>
              <a:t>−2</a:t>
            </a:r>
            <a:r>
              <a:rPr dirty="0" sz="500">
                <a:latin typeface="Calibri Light"/>
                <a:cs typeface="Calibri Light"/>
              </a:rPr>
              <a:t>-x-2</a:t>
            </a:r>
            <a:endParaRPr sz="500">
              <a:latin typeface="Calibri Light"/>
              <a:cs typeface="Calibri Ligh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233415" y="2342388"/>
            <a:ext cx="3061970" cy="1839595"/>
            <a:chOff x="5233415" y="2342388"/>
            <a:chExt cx="3061970" cy="1839595"/>
          </a:xfrm>
        </p:grpSpPr>
        <p:sp>
          <p:nvSpPr>
            <p:cNvPr id="41" name="object 41"/>
            <p:cNvSpPr/>
            <p:nvPr/>
          </p:nvSpPr>
          <p:spPr>
            <a:xfrm>
              <a:off x="7399019" y="2348484"/>
              <a:ext cx="890269" cy="393700"/>
            </a:xfrm>
            <a:custGeom>
              <a:avLst/>
              <a:gdLst/>
              <a:ahLst/>
              <a:cxnLst/>
              <a:rect l="l" t="t" r="r" b="b"/>
              <a:pathLst>
                <a:path w="890270" h="393700">
                  <a:moveTo>
                    <a:pt x="0" y="393191"/>
                  </a:moveTo>
                  <a:lnTo>
                    <a:pt x="890016" y="393191"/>
                  </a:lnTo>
                  <a:lnTo>
                    <a:pt x="890016" y="0"/>
                  </a:lnTo>
                  <a:lnTo>
                    <a:pt x="0" y="0"/>
                  </a:lnTo>
                  <a:lnTo>
                    <a:pt x="0" y="393191"/>
                  </a:lnTo>
                  <a:close/>
                </a:path>
              </a:pathLst>
            </a:custGeom>
            <a:ln w="12191">
              <a:solidFill>
                <a:srgbClr val="006FC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233415" y="2439924"/>
              <a:ext cx="85090" cy="1597660"/>
            </a:xfrm>
            <a:custGeom>
              <a:avLst/>
              <a:gdLst/>
              <a:ahLst/>
              <a:cxnLst/>
              <a:rect l="l" t="t" r="r" b="b"/>
              <a:pathLst>
                <a:path w="85089" h="1597660">
                  <a:moveTo>
                    <a:pt x="84582" y="323088"/>
                  </a:moveTo>
                  <a:lnTo>
                    <a:pt x="1524" y="323088"/>
                  </a:lnTo>
                </a:path>
                <a:path w="85089" h="1597660">
                  <a:moveTo>
                    <a:pt x="83058" y="641603"/>
                  </a:moveTo>
                  <a:lnTo>
                    <a:pt x="0" y="641603"/>
                  </a:lnTo>
                </a:path>
                <a:path w="85089" h="1597660">
                  <a:moveTo>
                    <a:pt x="83058" y="1597152"/>
                  </a:moveTo>
                  <a:lnTo>
                    <a:pt x="0" y="1597152"/>
                  </a:lnTo>
                </a:path>
                <a:path w="85089" h="1597660">
                  <a:moveTo>
                    <a:pt x="84582" y="0"/>
                  </a:moveTo>
                  <a:lnTo>
                    <a:pt x="1524" y="0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430773" y="2376678"/>
              <a:ext cx="2748280" cy="1262380"/>
            </a:xfrm>
            <a:custGeom>
              <a:avLst/>
              <a:gdLst/>
              <a:ahLst/>
              <a:cxnLst/>
              <a:rect l="l" t="t" r="r" b="b"/>
              <a:pathLst>
                <a:path w="2748279" h="1262379">
                  <a:moveTo>
                    <a:pt x="0" y="0"/>
                  </a:moveTo>
                  <a:lnTo>
                    <a:pt x="33980" y="35125"/>
                  </a:lnTo>
                  <a:lnTo>
                    <a:pt x="68175" y="70253"/>
                  </a:lnTo>
                  <a:lnTo>
                    <a:pt x="102808" y="105391"/>
                  </a:lnTo>
                  <a:lnTo>
                    <a:pt x="138100" y="140549"/>
                  </a:lnTo>
                  <a:lnTo>
                    <a:pt x="174275" y="175736"/>
                  </a:lnTo>
                  <a:lnTo>
                    <a:pt x="211555" y="210961"/>
                  </a:lnTo>
                  <a:lnTo>
                    <a:pt x="250162" y="246233"/>
                  </a:lnTo>
                  <a:lnTo>
                    <a:pt x="290319" y="281562"/>
                  </a:lnTo>
                  <a:lnTo>
                    <a:pt x="332249" y="316956"/>
                  </a:lnTo>
                  <a:lnTo>
                    <a:pt x="376174" y="352425"/>
                  </a:lnTo>
                  <a:lnTo>
                    <a:pt x="414957" y="382470"/>
                  </a:lnTo>
                  <a:lnTo>
                    <a:pt x="456034" y="413318"/>
                  </a:lnTo>
                  <a:lnTo>
                    <a:pt x="498981" y="444712"/>
                  </a:lnTo>
                  <a:lnTo>
                    <a:pt x="543376" y="476395"/>
                  </a:lnTo>
                  <a:lnTo>
                    <a:pt x="588798" y="508112"/>
                  </a:lnTo>
                  <a:lnTo>
                    <a:pt x="634825" y="539607"/>
                  </a:lnTo>
                  <a:lnTo>
                    <a:pt x="681034" y="570622"/>
                  </a:lnTo>
                  <a:lnTo>
                    <a:pt x="727004" y="600902"/>
                  </a:lnTo>
                  <a:lnTo>
                    <a:pt x="772312" y="630191"/>
                  </a:lnTo>
                  <a:lnTo>
                    <a:pt x="816537" y="658233"/>
                  </a:lnTo>
                  <a:lnTo>
                    <a:pt x="859257" y="684771"/>
                  </a:lnTo>
                  <a:lnTo>
                    <a:pt x="900049" y="709549"/>
                  </a:lnTo>
                  <a:lnTo>
                    <a:pt x="951725" y="740021"/>
                  </a:lnTo>
                  <a:lnTo>
                    <a:pt x="1001247" y="768137"/>
                  </a:lnTo>
                  <a:lnTo>
                    <a:pt x="1049104" y="794192"/>
                  </a:lnTo>
                  <a:lnTo>
                    <a:pt x="1095785" y="818481"/>
                  </a:lnTo>
                  <a:lnTo>
                    <a:pt x="1141780" y="841300"/>
                  </a:lnTo>
                  <a:lnTo>
                    <a:pt x="1187577" y="862946"/>
                  </a:lnTo>
                  <a:lnTo>
                    <a:pt x="1233665" y="883713"/>
                  </a:lnTo>
                  <a:lnTo>
                    <a:pt x="1280534" y="903899"/>
                  </a:lnTo>
                  <a:lnTo>
                    <a:pt x="1328674" y="923798"/>
                  </a:lnTo>
                  <a:lnTo>
                    <a:pt x="1377836" y="943026"/>
                  </a:lnTo>
                  <a:lnTo>
                    <a:pt x="1427411" y="961094"/>
                  </a:lnTo>
                  <a:lnTo>
                    <a:pt x="1477339" y="978139"/>
                  </a:lnTo>
                  <a:lnTo>
                    <a:pt x="1527561" y="994301"/>
                  </a:lnTo>
                  <a:lnTo>
                    <a:pt x="1578020" y="1009716"/>
                  </a:lnTo>
                  <a:lnTo>
                    <a:pt x="1628657" y="1024523"/>
                  </a:lnTo>
                  <a:lnTo>
                    <a:pt x="1679413" y="1038859"/>
                  </a:lnTo>
                  <a:lnTo>
                    <a:pt x="1730229" y="1052863"/>
                  </a:lnTo>
                  <a:lnTo>
                    <a:pt x="1781048" y="1066673"/>
                  </a:lnTo>
                  <a:lnTo>
                    <a:pt x="1831724" y="1080062"/>
                  </a:lnTo>
                  <a:lnTo>
                    <a:pt x="1882245" y="1092780"/>
                  </a:lnTo>
                  <a:lnTo>
                    <a:pt x="1932747" y="1104928"/>
                  </a:lnTo>
                  <a:lnTo>
                    <a:pt x="1983364" y="1116605"/>
                  </a:lnTo>
                  <a:lnTo>
                    <a:pt x="2034233" y="1127912"/>
                  </a:lnTo>
                  <a:lnTo>
                    <a:pt x="2085490" y="1138950"/>
                  </a:lnTo>
                  <a:lnTo>
                    <a:pt x="2137271" y="1149818"/>
                  </a:lnTo>
                  <a:lnTo>
                    <a:pt x="2189711" y="1160617"/>
                  </a:lnTo>
                  <a:lnTo>
                    <a:pt x="2242947" y="1171448"/>
                  </a:lnTo>
                  <a:lnTo>
                    <a:pt x="2291605" y="1181098"/>
                  </a:lnTo>
                  <a:lnTo>
                    <a:pt x="2340839" y="1190556"/>
                  </a:lnTo>
                  <a:lnTo>
                    <a:pt x="2390586" y="1199844"/>
                  </a:lnTo>
                  <a:lnTo>
                    <a:pt x="2440780" y="1208983"/>
                  </a:lnTo>
                  <a:lnTo>
                    <a:pt x="2491359" y="1217993"/>
                  </a:lnTo>
                  <a:lnTo>
                    <a:pt x="2542257" y="1226897"/>
                  </a:lnTo>
                  <a:lnTo>
                    <a:pt x="2593412" y="1235715"/>
                  </a:lnTo>
                  <a:lnTo>
                    <a:pt x="2644758" y="1244469"/>
                  </a:lnTo>
                  <a:lnTo>
                    <a:pt x="2696233" y="1253181"/>
                  </a:lnTo>
                  <a:lnTo>
                    <a:pt x="2747772" y="1261872"/>
                  </a:lnTo>
                </a:path>
              </a:pathLst>
            </a:custGeom>
            <a:ln w="28956">
              <a:solidFill>
                <a:srgbClr val="64A0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435345" y="3853434"/>
              <a:ext cx="2757170" cy="314325"/>
            </a:xfrm>
            <a:custGeom>
              <a:avLst/>
              <a:gdLst/>
              <a:ahLst/>
              <a:cxnLst/>
              <a:rect l="l" t="t" r="r" b="b"/>
              <a:pathLst>
                <a:path w="2757170" h="314325">
                  <a:moveTo>
                    <a:pt x="0" y="313944"/>
                  </a:moveTo>
                  <a:lnTo>
                    <a:pt x="43654" y="302370"/>
                  </a:lnTo>
                  <a:lnTo>
                    <a:pt x="87751" y="290814"/>
                  </a:lnTo>
                  <a:lnTo>
                    <a:pt x="132719" y="279305"/>
                  </a:lnTo>
                  <a:lnTo>
                    <a:pt x="178990" y="267874"/>
                  </a:lnTo>
                  <a:lnTo>
                    <a:pt x="226993" y="256550"/>
                  </a:lnTo>
                  <a:lnTo>
                    <a:pt x="277159" y="245364"/>
                  </a:lnTo>
                  <a:lnTo>
                    <a:pt x="329917" y="234343"/>
                  </a:lnTo>
                  <a:lnTo>
                    <a:pt x="385699" y="223520"/>
                  </a:lnTo>
                  <a:lnTo>
                    <a:pt x="533638" y="198897"/>
                  </a:lnTo>
                  <a:lnTo>
                    <a:pt x="709771" y="172466"/>
                  </a:lnTo>
                  <a:lnTo>
                    <a:pt x="857186" y="151368"/>
                  </a:lnTo>
                  <a:lnTo>
                    <a:pt x="918971" y="142748"/>
                  </a:lnTo>
                  <a:lnTo>
                    <a:pt x="969311" y="135343"/>
                  </a:lnTo>
                  <a:lnTo>
                    <a:pt x="1018613" y="127949"/>
                  </a:lnTo>
                  <a:lnTo>
                    <a:pt x="1067117" y="120625"/>
                  </a:lnTo>
                  <a:lnTo>
                    <a:pt x="1115066" y="113426"/>
                  </a:lnTo>
                  <a:lnTo>
                    <a:pt x="1162700" y="106410"/>
                  </a:lnTo>
                  <a:lnTo>
                    <a:pt x="1210263" y="99634"/>
                  </a:lnTo>
                  <a:lnTo>
                    <a:pt x="1257994" y="93155"/>
                  </a:lnTo>
                  <a:lnTo>
                    <a:pt x="1306137" y="87030"/>
                  </a:lnTo>
                  <a:lnTo>
                    <a:pt x="1354931" y="81317"/>
                  </a:lnTo>
                  <a:lnTo>
                    <a:pt x="1404620" y="76073"/>
                  </a:lnTo>
                  <a:lnTo>
                    <a:pt x="1556390" y="63855"/>
                  </a:lnTo>
                  <a:lnTo>
                    <a:pt x="1726961" y="53197"/>
                  </a:lnTo>
                  <a:lnTo>
                    <a:pt x="1866124" y="45658"/>
                  </a:lnTo>
                  <a:lnTo>
                    <a:pt x="1923669" y="42799"/>
                  </a:lnTo>
                  <a:lnTo>
                    <a:pt x="2437892" y="19050"/>
                  </a:lnTo>
                  <a:lnTo>
                    <a:pt x="2756915" y="0"/>
                  </a:lnTo>
                  <a:lnTo>
                    <a:pt x="2752217" y="0"/>
                  </a:lnTo>
                </a:path>
              </a:pathLst>
            </a:custGeom>
            <a:ln w="28956">
              <a:solidFill>
                <a:srgbClr val="FF92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360881"/>
            <a:ext cx="2161794" cy="3025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793748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816607"/>
            <a:ext cx="1936242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162555"/>
            <a:ext cx="7475982" cy="17449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330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2.6.</a:t>
            </a:r>
            <a:r>
              <a:rPr dirty="0" spc="-10"/>
              <a:t> </a:t>
            </a:r>
            <a:r>
              <a:rPr dirty="0" spc="-5"/>
              <a:t>Exponential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 spc="-5"/>
              <a:t>Functions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3044" y="2988551"/>
            <a:ext cx="8216646" cy="36501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122420" y="2436876"/>
            <a:ext cx="1478280" cy="355600"/>
            <a:chOff x="4122420" y="2436876"/>
            <a:chExt cx="1478280" cy="355600"/>
          </a:xfrm>
        </p:grpSpPr>
        <p:sp>
          <p:nvSpPr>
            <p:cNvPr id="13" name="object 13"/>
            <p:cNvSpPr/>
            <p:nvPr/>
          </p:nvSpPr>
          <p:spPr>
            <a:xfrm>
              <a:off x="4122420" y="2436876"/>
              <a:ext cx="1478280" cy="355600"/>
            </a:xfrm>
            <a:custGeom>
              <a:avLst/>
              <a:gdLst/>
              <a:ahLst/>
              <a:cxnLst/>
              <a:rect l="l" t="t" r="r" b="b"/>
              <a:pathLst>
                <a:path w="1478279" h="355600">
                  <a:moveTo>
                    <a:pt x="1478279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1478279" y="355091"/>
                  </a:lnTo>
                  <a:lnTo>
                    <a:pt x="147827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90517" y="2490470"/>
              <a:ext cx="246634" cy="18770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122420" y="2436876"/>
            <a:ext cx="1478280" cy="35560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0"/>
              </a:spcBef>
              <a:tabLst>
                <a:tab pos="590550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𝑓</a:t>
            </a:r>
            <a:r>
              <a:rPr dirty="0" sz="1600" spc="3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	=</a:t>
            </a:r>
            <a:r>
              <a:rPr dirty="0" sz="1600" spc="6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20">
                <a:solidFill>
                  <a:srgbClr val="252525"/>
                </a:solidFill>
                <a:latin typeface="Cambria Math"/>
                <a:cs typeface="Cambria Math"/>
              </a:rPr>
              <a:t>𝑙𝑜𝑔</a:t>
            </a:r>
            <a:r>
              <a:rPr dirty="0" baseline="-14492" sz="1725" spc="3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600" spc="2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22122" y="3480561"/>
            <a:ext cx="8531860" cy="2854960"/>
            <a:chOff x="722122" y="3480561"/>
            <a:chExt cx="8531860" cy="2854960"/>
          </a:xfrm>
        </p:grpSpPr>
        <p:sp>
          <p:nvSpPr>
            <p:cNvPr id="17" name="object 17"/>
            <p:cNvSpPr/>
            <p:nvPr/>
          </p:nvSpPr>
          <p:spPr>
            <a:xfrm>
              <a:off x="728472" y="3486911"/>
              <a:ext cx="8519160" cy="2722245"/>
            </a:xfrm>
            <a:custGeom>
              <a:avLst/>
              <a:gdLst/>
              <a:ahLst/>
              <a:cxnLst/>
              <a:rect l="l" t="t" r="r" b="b"/>
              <a:pathLst>
                <a:path w="8519160" h="2722245">
                  <a:moveTo>
                    <a:pt x="0" y="2721864"/>
                  </a:moveTo>
                  <a:lnTo>
                    <a:pt x="8519160" y="2721864"/>
                  </a:lnTo>
                  <a:lnTo>
                    <a:pt x="8519160" y="0"/>
                  </a:lnTo>
                  <a:lnTo>
                    <a:pt x="0" y="0"/>
                  </a:lnTo>
                  <a:lnTo>
                    <a:pt x="0" y="2721864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339339" y="6042660"/>
              <a:ext cx="5105400" cy="292735"/>
            </a:xfrm>
            <a:custGeom>
              <a:avLst/>
              <a:gdLst/>
              <a:ahLst/>
              <a:cxnLst/>
              <a:rect l="l" t="t" r="r" b="b"/>
              <a:pathLst>
                <a:path w="5105400" h="292735">
                  <a:moveTo>
                    <a:pt x="5105400" y="0"/>
                  </a:moveTo>
                  <a:lnTo>
                    <a:pt x="0" y="0"/>
                  </a:lnTo>
                  <a:lnTo>
                    <a:pt x="0" y="292607"/>
                  </a:lnTo>
                  <a:lnTo>
                    <a:pt x="5105400" y="292607"/>
                  </a:lnTo>
                  <a:lnTo>
                    <a:pt x="5105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565654" y="4664201"/>
              <a:ext cx="862965" cy="707390"/>
            </a:xfrm>
            <a:custGeom>
              <a:avLst/>
              <a:gdLst/>
              <a:ahLst/>
              <a:cxnLst/>
              <a:rect l="l" t="t" r="r" b="b"/>
              <a:pathLst>
                <a:path w="862964" h="707389">
                  <a:moveTo>
                    <a:pt x="0" y="707136"/>
                  </a:moveTo>
                  <a:lnTo>
                    <a:pt x="47394" y="703654"/>
                  </a:lnTo>
                  <a:lnTo>
                    <a:pt x="94713" y="699530"/>
                  </a:lnTo>
                  <a:lnTo>
                    <a:pt x="141881" y="694123"/>
                  </a:lnTo>
                  <a:lnTo>
                    <a:pt x="188823" y="686789"/>
                  </a:lnTo>
                  <a:lnTo>
                    <a:pt x="235462" y="676887"/>
                  </a:lnTo>
                  <a:lnTo>
                    <a:pt x="281724" y="663775"/>
                  </a:lnTo>
                  <a:lnTo>
                    <a:pt x="327532" y="646811"/>
                  </a:lnTo>
                  <a:lnTo>
                    <a:pt x="373824" y="625986"/>
                  </a:lnTo>
                  <a:lnTo>
                    <a:pt x="420980" y="601872"/>
                  </a:lnTo>
                  <a:lnTo>
                    <a:pt x="468092" y="574692"/>
                  </a:lnTo>
                  <a:lnTo>
                    <a:pt x="514250" y="544670"/>
                  </a:lnTo>
                  <a:lnTo>
                    <a:pt x="558547" y="512031"/>
                  </a:lnTo>
                  <a:lnTo>
                    <a:pt x="600073" y="477000"/>
                  </a:lnTo>
                  <a:lnTo>
                    <a:pt x="637920" y="439800"/>
                  </a:lnTo>
                  <a:lnTo>
                    <a:pt x="668456" y="403130"/>
                  </a:lnTo>
                  <a:lnTo>
                    <a:pt x="697444" y="361297"/>
                  </a:lnTo>
                  <a:lnTo>
                    <a:pt x="724681" y="316269"/>
                  </a:lnTo>
                  <a:lnTo>
                    <a:pt x="749966" y="270017"/>
                  </a:lnTo>
                  <a:lnTo>
                    <a:pt x="773096" y="224509"/>
                  </a:lnTo>
                  <a:lnTo>
                    <a:pt x="793869" y="181715"/>
                  </a:lnTo>
                  <a:lnTo>
                    <a:pt x="812081" y="143602"/>
                  </a:lnTo>
                  <a:lnTo>
                    <a:pt x="827532" y="112141"/>
                  </a:lnTo>
                  <a:lnTo>
                    <a:pt x="848877" y="66436"/>
                  </a:lnTo>
                  <a:lnTo>
                    <a:pt x="859329" y="35877"/>
                  </a:lnTo>
                  <a:lnTo>
                    <a:pt x="862518" y="15414"/>
                  </a:lnTo>
                  <a:lnTo>
                    <a:pt x="862075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00577" y="5008625"/>
              <a:ext cx="810895" cy="906780"/>
            </a:xfrm>
            <a:custGeom>
              <a:avLst/>
              <a:gdLst/>
              <a:ahLst/>
              <a:cxnLst/>
              <a:rect l="l" t="t" r="r" b="b"/>
              <a:pathLst>
                <a:path w="810895" h="906779">
                  <a:moveTo>
                    <a:pt x="0" y="906780"/>
                  </a:moveTo>
                  <a:lnTo>
                    <a:pt x="9072" y="858543"/>
                  </a:lnTo>
                  <a:lnTo>
                    <a:pt x="18819" y="810185"/>
                  </a:lnTo>
                  <a:lnTo>
                    <a:pt x="29892" y="761587"/>
                  </a:lnTo>
                  <a:lnTo>
                    <a:pt x="42944" y="712628"/>
                  </a:lnTo>
                  <a:lnTo>
                    <a:pt x="58628" y="663191"/>
                  </a:lnTo>
                  <a:lnTo>
                    <a:pt x="77597" y="613156"/>
                  </a:lnTo>
                  <a:lnTo>
                    <a:pt x="97101" y="568229"/>
                  </a:lnTo>
                  <a:lnTo>
                    <a:pt x="119455" y="520829"/>
                  </a:lnTo>
                  <a:lnTo>
                    <a:pt x="143980" y="472543"/>
                  </a:lnTo>
                  <a:lnTo>
                    <a:pt x="169996" y="424957"/>
                  </a:lnTo>
                  <a:lnTo>
                    <a:pt x="196823" y="379657"/>
                  </a:lnTo>
                  <a:lnTo>
                    <a:pt x="223781" y="338229"/>
                  </a:lnTo>
                  <a:lnTo>
                    <a:pt x="250189" y="302260"/>
                  </a:lnTo>
                  <a:lnTo>
                    <a:pt x="284114" y="262522"/>
                  </a:lnTo>
                  <a:lnTo>
                    <a:pt x="316118" y="232129"/>
                  </a:lnTo>
                  <a:lnTo>
                    <a:pt x="350133" y="206924"/>
                  </a:lnTo>
                  <a:lnTo>
                    <a:pt x="390093" y="182749"/>
                  </a:lnTo>
                  <a:lnTo>
                    <a:pt x="439927" y="155448"/>
                  </a:lnTo>
                  <a:lnTo>
                    <a:pt x="476974" y="136449"/>
                  </a:lnTo>
                  <a:lnTo>
                    <a:pt x="517749" y="117282"/>
                  </a:lnTo>
                  <a:lnTo>
                    <a:pt x="561717" y="97969"/>
                  </a:lnTo>
                  <a:lnTo>
                    <a:pt x="608345" y="78533"/>
                  </a:lnTo>
                  <a:lnTo>
                    <a:pt x="657099" y="58996"/>
                  </a:lnTo>
                  <a:lnTo>
                    <a:pt x="707443" y="39379"/>
                  </a:lnTo>
                  <a:lnTo>
                    <a:pt x="758844" y="19707"/>
                  </a:lnTo>
                  <a:lnTo>
                    <a:pt x="810768" y="0"/>
                  </a:lnTo>
                </a:path>
              </a:pathLst>
            </a:custGeom>
            <a:ln w="2895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39567" y="4533900"/>
              <a:ext cx="1351915" cy="1310640"/>
            </a:xfrm>
            <a:custGeom>
              <a:avLst/>
              <a:gdLst/>
              <a:ahLst/>
              <a:cxnLst/>
              <a:rect l="l" t="t" r="r" b="b"/>
              <a:pathLst>
                <a:path w="1351914" h="1310639">
                  <a:moveTo>
                    <a:pt x="0" y="1310424"/>
                  </a:moveTo>
                  <a:lnTo>
                    <a:pt x="1351407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19350" y="4306061"/>
              <a:ext cx="1858645" cy="1712595"/>
            </a:xfrm>
            <a:custGeom>
              <a:avLst/>
              <a:gdLst/>
              <a:ahLst/>
              <a:cxnLst/>
              <a:rect l="l" t="t" r="r" b="b"/>
              <a:pathLst>
                <a:path w="1858645" h="1712595">
                  <a:moveTo>
                    <a:pt x="1858137" y="1152144"/>
                  </a:moveTo>
                  <a:lnTo>
                    <a:pt x="1838325" y="1142238"/>
                  </a:lnTo>
                  <a:lnTo>
                    <a:pt x="1781937" y="1114044"/>
                  </a:lnTo>
                  <a:lnTo>
                    <a:pt x="1781937" y="1142238"/>
                  </a:lnTo>
                  <a:lnTo>
                    <a:pt x="643890" y="1142238"/>
                  </a:lnTo>
                  <a:lnTo>
                    <a:pt x="643890" y="76200"/>
                  </a:lnTo>
                  <a:lnTo>
                    <a:pt x="672084" y="76200"/>
                  </a:lnTo>
                  <a:lnTo>
                    <a:pt x="665734" y="63500"/>
                  </a:lnTo>
                  <a:lnTo>
                    <a:pt x="633984" y="0"/>
                  </a:lnTo>
                  <a:lnTo>
                    <a:pt x="595884" y="76200"/>
                  </a:lnTo>
                  <a:lnTo>
                    <a:pt x="624078" y="76200"/>
                  </a:lnTo>
                  <a:lnTo>
                    <a:pt x="624078" y="1142238"/>
                  </a:lnTo>
                  <a:lnTo>
                    <a:pt x="0" y="1142238"/>
                  </a:lnTo>
                  <a:lnTo>
                    <a:pt x="0" y="1162050"/>
                  </a:lnTo>
                  <a:lnTo>
                    <a:pt x="624078" y="1162050"/>
                  </a:lnTo>
                  <a:lnTo>
                    <a:pt x="624078" y="1712163"/>
                  </a:lnTo>
                  <a:lnTo>
                    <a:pt x="643890" y="1712163"/>
                  </a:lnTo>
                  <a:lnTo>
                    <a:pt x="643890" y="1162050"/>
                  </a:lnTo>
                  <a:lnTo>
                    <a:pt x="1781937" y="1162050"/>
                  </a:lnTo>
                  <a:lnTo>
                    <a:pt x="1781937" y="1190244"/>
                  </a:lnTo>
                  <a:lnTo>
                    <a:pt x="1838325" y="1162050"/>
                  </a:lnTo>
                  <a:lnTo>
                    <a:pt x="1858137" y="1152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838069" y="4987811"/>
            <a:ext cx="1098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1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40404" y="5489842"/>
            <a:ext cx="1098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1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78073" y="5469725"/>
            <a:ext cx="1098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0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51782" y="5341124"/>
            <a:ext cx="9969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5">
                <a:latin typeface="Cambria Math"/>
                <a:cs typeface="Cambria Math"/>
              </a:rPr>
              <a:t>x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07766" y="4328921"/>
            <a:ext cx="480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𝑦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=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𝑎𝑥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6487" y="5029593"/>
            <a:ext cx="98361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5">
                <a:latin typeface="Cambria Math"/>
                <a:cs typeface="Cambria Math"/>
              </a:rPr>
              <a:t>(</a:t>
            </a:r>
            <a:r>
              <a:rPr dirty="0" sz="1250" spc="-30">
                <a:latin typeface="Cambria Math"/>
                <a:cs typeface="Cambria Math"/>
              </a:rPr>
              <a:t>a</a:t>
            </a:r>
            <a:r>
              <a:rPr dirty="0" sz="1250" spc="-25">
                <a:latin typeface="Cambria Math"/>
                <a:cs typeface="Cambria Math"/>
              </a:rPr>
              <a:t>)</a:t>
            </a:r>
            <a:r>
              <a:rPr dirty="0" sz="1250" spc="-20">
                <a:latin typeface="Cambria Math"/>
                <a:cs typeface="Cambria Math"/>
              </a:rPr>
              <a:t> </a:t>
            </a:r>
            <a:r>
              <a:rPr dirty="0" sz="1250" spc="-45">
                <a:latin typeface="Cambria Math"/>
                <a:cs typeface="Cambria Math"/>
              </a:rPr>
              <a:t>Wh</a:t>
            </a:r>
            <a:r>
              <a:rPr dirty="0" sz="1250" spc="-30">
                <a:latin typeface="Cambria Math"/>
                <a:cs typeface="Cambria Math"/>
              </a:rPr>
              <a:t>en</a:t>
            </a:r>
            <a:r>
              <a:rPr dirty="0" sz="1250" spc="-10">
                <a:latin typeface="Cambria Math"/>
                <a:cs typeface="Cambria Math"/>
              </a:rPr>
              <a:t> </a:t>
            </a:r>
            <a:r>
              <a:rPr dirty="0" sz="1250" spc="-25">
                <a:latin typeface="Cambria Math"/>
                <a:cs typeface="Cambria Math"/>
              </a:rPr>
              <a:t>a</a:t>
            </a:r>
            <a:r>
              <a:rPr dirty="0" sz="1250" spc="-15">
                <a:latin typeface="Cambria Math"/>
                <a:cs typeface="Cambria Math"/>
              </a:rPr>
              <a:t> </a:t>
            </a:r>
            <a:r>
              <a:rPr dirty="0" sz="1250" spc="-35">
                <a:latin typeface="Cambria Math"/>
                <a:cs typeface="Cambria Math"/>
              </a:rPr>
              <a:t>&gt;1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02709" y="4250817"/>
            <a:ext cx="393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𝑦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=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24985" y="4786121"/>
            <a:ext cx="751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𝑦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=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25">
                <a:latin typeface="Cambria Math"/>
                <a:cs typeface="Cambria Math"/>
              </a:rPr>
              <a:t>log</a:t>
            </a:r>
            <a:r>
              <a:rPr dirty="0" baseline="-16339" sz="1275" spc="37">
                <a:latin typeface="Cambria Math"/>
                <a:cs typeface="Cambria Math"/>
              </a:rPr>
              <a:t>𝑎</a:t>
            </a:r>
            <a:r>
              <a:rPr dirty="0" baseline="-16339" sz="1275" spc="1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35097" y="5680049"/>
            <a:ext cx="4821555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𝑦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=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25">
                <a:latin typeface="Cambria Math"/>
                <a:cs typeface="Cambria Math"/>
              </a:rPr>
              <a:t>log</a:t>
            </a:r>
            <a:r>
              <a:rPr dirty="0" baseline="-16339" sz="1275" spc="37">
                <a:latin typeface="Cambria Math"/>
                <a:cs typeface="Cambria Math"/>
              </a:rPr>
              <a:t>𝑎</a:t>
            </a:r>
            <a:r>
              <a:rPr dirty="0" baseline="-16339" sz="1275" spc="1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</a:pPr>
            <a:r>
              <a:rPr dirty="0" sz="1300" spc="-295" b="1">
                <a:solidFill>
                  <a:srgbClr val="13299F"/>
                </a:solidFill>
                <a:latin typeface="Tahoma"/>
                <a:cs typeface="Tahoma"/>
              </a:rPr>
              <a:t>The</a:t>
            </a:r>
            <a:r>
              <a:rPr dirty="0" sz="1300" spc="-25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65" b="1">
                <a:solidFill>
                  <a:srgbClr val="13299F"/>
                </a:solidFill>
                <a:latin typeface="Tahoma"/>
                <a:cs typeface="Tahoma"/>
              </a:rPr>
              <a:t>Graph</a:t>
            </a:r>
            <a:r>
              <a:rPr dirty="0" sz="1300" spc="-21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29" b="1">
                <a:solidFill>
                  <a:srgbClr val="13299F"/>
                </a:solidFill>
                <a:latin typeface="Tahoma"/>
                <a:cs typeface="Tahoma"/>
              </a:rPr>
              <a:t>of</a:t>
            </a:r>
            <a:r>
              <a:rPr dirty="0" sz="1300" spc="-10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54" b="1">
                <a:solidFill>
                  <a:srgbClr val="13299F"/>
                </a:solidFill>
                <a:latin typeface="Tahoma"/>
                <a:cs typeface="Tahoma"/>
              </a:rPr>
              <a:t>the</a:t>
            </a:r>
            <a:r>
              <a:rPr dirty="0" sz="1300" spc="-8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40" b="1">
                <a:solidFill>
                  <a:srgbClr val="13299F"/>
                </a:solidFill>
                <a:latin typeface="Tahoma"/>
                <a:cs typeface="Tahoma"/>
              </a:rPr>
              <a:t>Logarithmic</a:t>
            </a:r>
            <a:r>
              <a:rPr dirty="0" sz="1300" spc="-6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50" b="1">
                <a:solidFill>
                  <a:srgbClr val="13299F"/>
                </a:solidFill>
                <a:latin typeface="Tahoma"/>
                <a:cs typeface="Tahoma"/>
              </a:rPr>
              <a:t>Function</a:t>
            </a:r>
            <a:r>
              <a:rPr dirty="0" sz="1300" spc="-4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13299F"/>
                </a:solidFill>
                <a:latin typeface="Cambria Math"/>
                <a:cs typeface="Cambria Math"/>
              </a:rPr>
              <a:t>𝒚</a:t>
            </a:r>
            <a:r>
              <a:rPr dirty="0" sz="1200" spc="60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13299F"/>
                </a:solidFill>
                <a:latin typeface="Cambria Math"/>
                <a:cs typeface="Cambria Math"/>
              </a:rPr>
              <a:t>=</a:t>
            </a:r>
            <a:r>
              <a:rPr dirty="0" sz="1200" spc="80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200" spc="-5">
                <a:solidFill>
                  <a:srgbClr val="13299F"/>
                </a:solidFill>
                <a:latin typeface="Cambria Math"/>
                <a:cs typeface="Cambria Math"/>
              </a:rPr>
              <a:t>𝒍𝒐𝒈𝒂𝒙</a:t>
            </a:r>
            <a:r>
              <a:rPr dirty="0" sz="1200" spc="-95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300" spc="-280" b="1">
                <a:solidFill>
                  <a:srgbClr val="13299F"/>
                </a:solidFill>
                <a:latin typeface="Tahoma"/>
                <a:cs typeface="Tahoma"/>
              </a:rPr>
              <a:t>with</a:t>
            </a:r>
            <a:r>
              <a:rPr dirty="0" sz="1300" spc="-8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54" b="1">
                <a:solidFill>
                  <a:srgbClr val="13299F"/>
                </a:solidFill>
                <a:latin typeface="Tahoma"/>
                <a:cs typeface="Tahoma"/>
              </a:rPr>
              <a:t>the</a:t>
            </a:r>
            <a:r>
              <a:rPr dirty="0" sz="1300" spc="-7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250" b="1">
                <a:solidFill>
                  <a:srgbClr val="13299F"/>
                </a:solidFill>
                <a:latin typeface="Tahoma"/>
                <a:cs typeface="Tahoma"/>
              </a:rPr>
              <a:t>range</a:t>
            </a:r>
            <a:r>
              <a:rPr dirty="0" sz="1300" spc="-8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300" spc="-5">
                <a:solidFill>
                  <a:srgbClr val="13299F"/>
                </a:solidFill>
                <a:latin typeface="Cambria Math"/>
                <a:cs typeface="Cambria Math"/>
              </a:rPr>
              <a:t>𝒂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24802" y="4350766"/>
            <a:ext cx="393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𝑦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=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95798" y="4433442"/>
            <a:ext cx="480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𝑦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=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𝑎𝑥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308854" y="4306061"/>
            <a:ext cx="1858645" cy="1682750"/>
          </a:xfrm>
          <a:custGeom>
            <a:avLst/>
            <a:gdLst/>
            <a:ahLst/>
            <a:cxnLst/>
            <a:rect l="l" t="t" r="r" b="b"/>
            <a:pathLst>
              <a:path w="1858645" h="1682750">
                <a:moveTo>
                  <a:pt x="1858137" y="1152144"/>
                </a:moveTo>
                <a:lnTo>
                  <a:pt x="1838325" y="1142238"/>
                </a:lnTo>
                <a:lnTo>
                  <a:pt x="1781937" y="1114044"/>
                </a:lnTo>
                <a:lnTo>
                  <a:pt x="1781937" y="1142238"/>
                </a:lnTo>
                <a:lnTo>
                  <a:pt x="643890" y="1142238"/>
                </a:lnTo>
                <a:lnTo>
                  <a:pt x="643890" y="76200"/>
                </a:lnTo>
                <a:lnTo>
                  <a:pt x="672084" y="76200"/>
                </a:lnTo>
                <a:lnTo>
                  <a:pt x="665734" y="63500"/>
                </a:lnTo>
                <a:lnTo>
                  <a:pt x="633984" y="0"/>
                </a:lnTo>
                <a:lnTo>
                  <a:pt x="595884" y="76200"/>
                </a:lnTo>
                <a:lnTo>
                  <a:pt x="624078" y="76200"/>
                </a:lnTo>
                <a:lnTo>
                  <a:pt x="624078" y="1142238"/>
                </a:lnTo>
                <a:lnTo>
                  <a:pt x="0" y="1142238"/>
                </a:lnTo>
                <a:lnTo>
                  <a:pt x="0" y="1162050"/>
                </a:lnTo>
                <a:lnTo>
                  <a:pt x="624078" y="1162050"/>
                </a:lnTo>
                <a:lnTo>
                  <a:pt x="624078" y="1682673"/>
                </a:lnTo>
                <a:lnTo>
                  <a:pt x="643890" y="1682673"/>
                </a:lnTo>
                <a:lnTo>
                  <a:pt x="643890" y="1162050"/>
                </a:lnTo>
                <a:lnTo>
                  <a:pt x="1781937" y="1162050"/>
                </a:lnTo>
                <a:lnTo>
                  <a:pt x="1781937" y="1190244"/>
                </a:lnTo>
                <a:lnTo>
                  <a:pt x="1838325" y="1162050"/>
                </a:lnTo>
                <a:lnTo>
                  <a:pt x="1858137" y="1152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115974" y="3610483"/>
            <a:ext cx="7867650" cy="7092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3620" marR="43180" indent="-3513454">
              <a:lnSpc>
                <a:spcPct val="100699"/>
              </a:lnSpc>
              <a:spcBef>
                <a:spcPts val="90"/>
              </a:spcBef>
            </a:pP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For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real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number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252525"/>
                </a:solidFill>
                <a:latin typeface="Cambria Math"/>
                <a:cs typeface="Cambria Math"/>
              </a:rPr>
              <a:t>𝑎,</a:t>
            </a:r>
            <a:r>
              <a:rPr dirty="0" sz="14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satisfying</a:t>
            </a:r>
            <a:r>
              <a:rPr dirty="0" sz="1400" spc="-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400" spc="1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&gt;</a:t>
            </a:r>
            <a:r>
              <a:rPr dirty="0" sz="1400" spc="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0,</a:t>
            </a:r>
            <a:r>
              <a:rPr dirty="0" sz="1400" spc="-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400" spc="1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≠</a:t>
            </a:r>
            <a:r>
              <a:rPr dirty="0" sz="1400" spc="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-14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graph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logarithmic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function</a:t>
            </a:r>
            <a:r>
              <a:rPr dirty="0" sz="1400" spc="-1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y</a:t>
            </a:r>
            <a:r>
              <a:rPr dirty="0" sz="1400" spc="6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30">
                <a:solidFill>
                  <a:srgbClr val="252525"/>
                </a:solidFill>
                <a:latin typeface="Cambria Math"/>
                <a:cs typeface="Cambria Math"/>
              </a:rPr>
              <a:t>log</a:t>
            </a:r>
            <a:r>
              <a:rPr dirty="0" baseline="-16666" sz="1500" spc="44">
                <a:solidFill>
                  <a:srgbClr val="252525"/>
                </a:solidFill>
                <a:latin typeface="Cambria Math"/>
                <a:cs typeface="Cambria Math"/>
              </a:rPr>
              <a:t>a</a:t>
            </a:r>
            <a:r>
              <a:rPr dirty="0" baseline="-16666" sz="1500" spc="89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x</a:t>
            </a:r>
            <a:r>
              <a:rPr dirty="0" sz="1400" spc="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with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0">
                <a:solidFill>
                  <a:srgbClr val="252525"/>
                </a:solidFill>
                <a:latin typeface="Trebuchet MS"/>
                <a:cs typeface="Trebuchet MS"/>
              </a:rPr>
              <a:t>range</a:t>
            </a:r>
            <a:r>
              <a:rPr dirty="0" sz="14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400" spc="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-200">
                <a:solidFill>
                  <a:srgbClr val="252525"/>
                </a:solidFill>
                <a:latin typeface="Trebuchet MS"/>
                <a:cs typeface="Trebuchet MS"/>
              </a:rPr>
              <a:t>can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be</a:t>
            </a:r>
            <a:r>
              <a:rPr dirty="0" sz="14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20">
                <a:solidFill>
                  <a:srgbClr val="252525"/>
                </a:solidFill>
                <a:latin typeface="Trebuchet MS"/>
                <a:cs typeface="Trebuchet MS"/>
              </a:rPr>
              <a:t>drawn</a:t>
            </a:r>
            <a:r>
              <a:rPr dirty="0" sz="14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40">
                <a:solidFill>
                  <a:srgbClr val="252525"/>
                </a:solidFill>
                <a:latin typeface="Trebuchet MS"/>
                <a:cs typeface="Trebuchet MS"/>
              </a:rPr>
              <a:t>as </a:t>
            </a:r>
            <a:r>
              <a:rPr dirty="0" sz="1400" spc="-409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shown</a:t>
            </a:r>
            <a:r>
              <a:rPr dirty="0" sz="1400" spc="-20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5">
                <a:solidFill>
                  <a:srgbClr val="252525"/>
                </a:solidFill>
                <a:latin typeface="Trebuchet MS"/>
                <a:cs typeface="Trebuchet MS"/>
              </a:rPr>
              <a:t>below.</a:t>
            </a:r>
            <a:endParaRPr sz="1400">
              <a:latin typeface="Trebuchet MS"/>
              <a:cs typeface="Trebuchet MS"/>
            </a:endParaRPr>
          </a:p>
          <a:p>
            <a:pPr marL="1812289">
              <a:lnSpc>
                <a:spcPct val="100000"/>
              </a:lnSpc>
              <a:spcBef>
                <a:spcPts val="505"/>
              </a:spcBef>
              <a:tabLst>
                <a:tab pos="4701540" algn="l"/>
              </a:tabLst>
            </a:pPr>
            <a:r>
              <a:rPr dirty="0" sz="1250" spc="-30">
                <a:latin typeface="Cambria Math"/>
                <a:cs typeface="Cambria Math"/>
              </a:rPr>
              <a:t>y	y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23890" y="4831727"/>
            <a:ext cx="1098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1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29020" y="5489842"/>
            <a:ext cx="1098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1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66942" y="5469725"/>
            <a:ext cx="1098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0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40651" y="5341124"/>
            <a:ext cx="9969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5">
                <a:latin typeface="Cambria Math"/>
                <a:cs typeface="Cambria Math"/>
              </a:rPr>
              <a:t>x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68869" y="5057025"/>
            <a:ext cx="1191260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5">
                <a:latin typeface="Cambria Math"/>
                <a:cs typeface="Cambria Math"/>
              </a:rPr>
              <a:t>(b)</a:t>
            </a:r>
            <a:r>
              <a:rPr dirty="0" sz="1250" spc="-45">
                <a:latin typeface="Cambria Math"/>
                <a:cs typeface="Cambria Math"/>
              </a:rPr>
              <a:t> </a:t>
            </a:r>
            <a:r>
              <a:rPr dirty="0" sz="1250" spc="-35">
                <a:latin typeface="Cambria Math"/>
                <a:cs typeface="Cambria Math"/>
              </a:rPr>
              <a:t>When</a:t>
            </a:r>
            <a:r>
              <a:rPr dirty="0" sz="1250" spc="-30">
                <a:latin typeface="Cambria Math"/>
                <a:cs typeface="Cambria Math"/>
              </a:rPr>
              <a:t> </a:t>
            </a:r>
            <a:r>
              <a:rPr dirty="0" sz="1250" spc="-35">
                <a:latin typeface="Cambria Math"/>
                <a:cs typeface="Cambria Math"/>
              </a:rPr>
              <a:t>0&lt;a</a:t>
            </a:r>
            <a:r>
              <a:rPr dirty="0" sz="1250" spc="-30">
                <a:latin typeface="Cambria Math"/>
                <a:cs typeface="Cambria Math"/>
              </a:rPr>
              <a:t> </a:t>
            </a:r>
            <a:r>
              <a:rPr dirty="0" sz="1250" spc="-35">
                <a:latin typeface="Cambria Math"/>
                <a:cs typeface="Cambria Math"/>
              </a:rPr>
              <a:t>&lt;1</a:t>
            </a:r>
            <a:endParaRPr sz="1250">
              <a:latin typeface="Cambria Math"/>
              <a:cs typeface="Cambria Math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478779" y="4588764"/>
            <a:ext cx="1475740" cy="1316990"/>
            <a:chOff x="5478779" y="4588764"/>
            <a:chExt cx="1475740" cy="1316990"/>
          </a:xfrm>
        </p:grpSpPr>
        <p:sp>
          <p:nvSpPr>
            <p:cNvPr id="42" name="object 42"/>
            <p:cNvSpPr/>
            <p:nvPr/>
          </p:nvSpPr>
          <p:spPr>
            <a:xfrm>
              <a:off x="5575553" y="4697730"/>
              <a:ext cx="1363980" cy="716915"/>
            </a:xfrm>
            <a:custGeom>
              <a:avLst/>
              <a:gdLst/>
              <a:ahLst/>
              <a:cxnLst/>
              <a:rect l="l" t="t" r="r" b="b"/>
              <a:pathLst>
                <a:path w="1363979" h="716914">
                  <a:moveTo>
                    <a:pt x="0" y="0"/>
                  </a:moveTo>
                  <a:lnTo>
                    <a:pt x="10092" y="48504"/>
                  </a:lnTo>
                  <a:lnTo>
                    <a:pt x="20758" y="96595"/>
                  </a:lnTo>
                  <a:lnTo>
                    <a:pt x="32582" y="143870"/>
                  </a:lnTo>
                  <a:lnTo>
                    <a:pt x="46148" y="189928"/>
                  </a:lnTo>
                  <a:lnTo>
                    <a:pt x="62042" y="234367"/>
                  </a:lnTo>
                  <a:lnTo>
                    <a:pt x="80849" y="276784"/>
                  </a:lnTo>
                  <a:lnTo>
                    <a:pt x="103153" y="316779"/>
                  </a:lnTo>
                  <a:lnTo>
                    <a:pt x="129540" y="353949"/>
                  </a:lnTo>
                  <a:lnTo>
                    <a:pt x="161262" y="388395"/>
                  </a:lnTo>
                  <a:lnTo>
                    <a:pt x="198370" y="420614"/>
                  </a:lnTo>
                  <a:lnTo>
                    <a:pt x="239495" y="450650"/>
                  </a:lnTo>
                  <a:lnTo>
                    <a:pt x="283273" y="478551"/>
                  </a:lnTo>
                  <a:lnTo>
                    <a:pt x="328337" y="504363"/>
                  </a:lnTo>
                  <a:lnTo>
                    <a:pt x="373320" y="528131"/>
                  </a:lnTo>
                  <a:lnTo>
                    <a:pt x="416857" y="549902"/>
                  </a:lnTo>
                  <a:lnTo>
                    <a:pt x="457581" y="569722"/>
                  </a:lnTo>
                  <a:lnTo>
                    <a:pt x="506564" y="591923"/>
                  </a:lnTo>
                  <a:lnTo>
                    <a:pt x="551847" y="609073"/>
                  </a:lnTo>
                  <a:lnTo>
                    <a:pt x="596185" y="622617"/>
                  </a:lnTo>
                  <a:lnTo>
                    <a:pt x="642333" y="634002"/>
                  </a:lnTo>
                  <a:lnTo>
                    <a:pt x="693045" y="644675"/>
                  </a:lnTo>
                  <a:lnTo>
                    <a:pt x="751078" y="656082"/>
                  </a:lnTo>
                  <a:lnTo>
                    <a:pt x="796539" y="664338"/>
                  </a:lnTo>
                  <a:lnTo>
                    <a:pt x="848151" y="672710"/>
                  </a:lnTo>
                  <a:lnTo>
                    <a:pt x="903854" y="680983"/>
                  </a:lnTo>
                  <a:lnTo>
                    <a:pt x="961585" y="688942"/>
                  </a:lnTo>
                  <a:lnTo>
                    <a:pt x="1019284" y="696373"/>
                  </a:lnTo>
                  <a:lnTo>
                    <a:pt x="1074890" y="703062"/>
                  </a:lnTo>
                  <a:lnTo>
                    <a:pt x="1126340" y="708795"/>
                  </a:lnTo>
                  <a:lnTo>
                    <a:pt x="1171575" y="713357"/>
                  </a:lnTo>
                  <a:lnTo>
                    <a:pt x="1268089" y="716835"/>
                  </a:lnTo>
                  <a:lnTo>
                    <a:pt x="1305131" y="710565"/>
                  </a:lnTo>
                  <a:lnTo>
                    <a:pt x="1324100" y="702960"/>
                  </a:lnTo>
                  <a:lnTo>
                    <a:pt x="1329436" y="699262"/>
                  </a:lnTo>
                  <a:lnTo>
                    <a:pt x="1363979" y="71653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971911" y="4680966"/>
              <a:ext cx="932815" cy="1149350"/>
            </a:xfrm>
            <a:custGeom>
              <a:avLst/>
              <a:gdLst/>
              <a:ahLst/>
              <a:cxnLst/>
              <a:rect l="l" t="t" r="r" b="b"/>
              <a:pathLst>
                <a:path w="932815" h="1149350">
                  <a:moveTo>
                    <a:pt x="517" y="0"/>
                  </a:moveTo>
                  <a:lnTo>
                    <a:pt x="0" y="45388"/>
                  </a:lnTo>
                  <a:lnTo>
                    <a:pt x="0" y="91103"/>
                  </a:lnTo>
                  <a:lnTo>
                    <a:pt x="1050" y="137486"/>
                  </a:lnTo>
                  <a:lnTo>
                    <a:pt x="3685" y="184880"/>
                  </a:lnTo>
                  <a:lnTo>
                    <a:pt x="8437" y="233628"/>
                  </a:lnTo>
                  <a:lnTo>
                    <a:pt x="15839" y="284070"/>
                  </a:lnTo>
                  <a:lnTo>
                    <a:pt x="26425" y="336549"/>
                  </a:lnTo>
                  <a:lnTo>
                    <a:pt x="35892" y="379619"/>
                  </a:lnTo>
                  <a:lnTo>
                    <a:pt x="45581" y="424919"/>
                  </a:lnTo>
                  <a:lnTo>
                    <a:pt x="56129" y="471814"/>
                  </a:lnTo>
                  <a:lnTo>
                    <a:pt x="68173" y="519665"/>
                  </a:lnTo>
                  <a:lnTo>
                    <a:pt x="82350" y="567835"/>
                  </a:lnTo>
                  <a:lnTo>
                    <a:pt x="99295" y="615686"/>
                  </a:lnTo>
                  <a:lnTo>
                    <a:pt x="119646" y="662581"/>
                  </a:lnTo>
                  <a:lnTo>
                    <a:pt x="144039" y="707881"/>
                  </a:lnTo>
                  <a:lnTo>
                    <a:pt x="173110" y="750950"/>
                  </a:lnTo>
                  <a:lnTo>
                    <a:pt x="201518" y="785493"/>
                  </a:lnTo>
                  <a:lnTo>
                    <a:pt x="234380" y="820590"/>
                  </a:lnTo>
                  <a:lnTo>
                    <a:pt x="270883" y="855792"/>
                  </a:lnTo>
                  <a:lnTo>
                    <a:pt x="310208" y="890653"/>
                  </a:lnTo>
                  <a:lnTo>
                    <a:pt x="351542" y="924724"/>
                  </a:lnTo>
                  <a:lnTo>
                    <a:pt x="394067" y="957558"/>
                  </a:lnTo>
                  <a:lnTo>
                    <a:pt x="436969" y="988707"/>
                  </a:lnTo>
                  <a:lnTo>
                    <a:pt x="479431" y="1017723"/>
                  </a:lnTo>
                  <a:lnTo>
                    <a:pt x="520637" y="1044160"/>
                  </a:lnTo>
                  <a:lnTo>
                    <a:pt x="559772" y="1067568"/>
                  </a:lnTo>
                  <a:lnTo>
                    <a:pt x="596020" y="1087500"/>
                  </a:lnTo>
                  <a:lnTo>
                    <a:pt x="648979" y="1111836"/>
                  </a:lnTo>
                  <a:lnTo>
                    <a:pt x="699686" y="1128924"/>
                  </a:lnTo>
                  <a:lnTo>
                    <a:pt x="748516" y="1139971"/>
                  </a:lnTo>
                  <a:lnTo>
                    <a:pt x="795843" y="1146187"/>
                  </a:lnTo>
                  <a:lnTo>
                    <a:pt x="842045" y="1148779"/>
                  </a:lnTo>
                  <a:lnTo>
                    <a:pt x="887495" y="1148957"/>
                  </a:lnTo>
                  <a:lnTo>
                    <a:pt x="932570" y="1147927"/>
                  </a:lnTo>
                </a:path>
              </a:pathLst>
            </a:custGeom>
            <a:ln w="2895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481827" y="4591812"/>
              <a:ext cx="1351915" cy="1310640"/>
            </a:xfrm>
            <a:custGeom>
              <a:avLst/>
              <a:gdLst/>
              <a:ahLst/>
              <a:cxnLst/>
              <a:rect l="l" t="t" r="r" b="b"/>
              <a:pathLst>
                <a:path w="1351915" h="1310639">
                  <a:moveTo>
                    <a:pt x="0" y="1310424"/>
                  </a:moveTo>
                  <a:lnTo>
                    <a:pt x="1351406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125218" cy="17449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9308" y="2133600"/>
            <a:ext cx="8783320" cy="3007360"/>
          </a:xfrm>
          <a:custGeom>
            <a:avLst/>
            <a:gdLst/>
            <a:ahLst/>
            <a:cxnLst/>
            <a:rect l="l" t="t" r="r" b="b"/>
            <a:pathLst>
              <a:path w="8783320" h="3007360">
                <a:moveTo>
                  <a:pt x="0" y="3006852"/>
                </a:moveTo>
                <a:lnTo>
                  <a:pt x="8782812" y="3006852"/>
                </a:lnTo>
                <a:lnTo>
                  <a:pt x="8782812" y="0"/>
                </a:lnTo>
                <a:lnTo>
                  <a:pt x="0" y="0"/>
                </a:lnTo>
                <a:lnTo>
                  <a:pt x="0" y="3006852"/>
                </a:lnTo>
                <a:close/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40992"/>
            <a:ext cx="3272790" cy="1684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799" y="2317457"/>
            <a:ext cx="8599224" cy="27020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7489" y="431419"/>
            <a:ext cx="4330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2.6.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Exponential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Logarithmic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125218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330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2.6.</a:t>
            </a:r>
            <a:r>
              <a:rPr dirty="0" spc="-10"/>
              <a:t> </a:t>
            </a:r>
            <a:r>
              <a:rPr dirty="0" spc="-5"/>
              <a:t>Exponential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 spc="-5"/>
              <a:t>Functions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40992"/>
            <a:ext cx="3272790" cy="16840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44169" y="2176145"/>
            <a:ext cx="3876040" cy="2599055"/>
            <a:chOff x="844169" y="2176145"/>
            <a:chExt cx="3876040" cy="2599055"/>
          </a:xfrm>
        </p:grpSpPr>
        <p:sp>
          <p:nvSpPr>
            <p:cNvPr id="11" name="object 11"/>
            <p:cNvSpPr/>
            <p:nvPr/>
          </p:nvSpPr>
          <p:spPr>
            <a:xfrm>
              <a:off x="847344" y="2179320"/>
              <a:ext cx="3869690" cy="2592705"/>
            </a:xfrm>
            <a:custGeom>
              <a:avLst/>
              <a:gdLst/>
              <a:ahLst/>
              <a:cxnLst/>
              <a:rect l="l" t="t" r="r" b="b"/>
              <a:pathLst>
                <a:path w="3869690" h="2592704">
                  <a:moveTo>
                    <a:pt x="0" y="2592323"/>
                  </a:moveTo>
                  <a:lnTo>
                    <a:pt x="3869435" y="2592323"/>
                  </a:lnTo>
                  <a:lnTo>
                    <a:pt x="3869435" y="0"/>
                  </a:lnTo>
                  <a:lnTo>
                    <a:pt x="0" y="0"/>
                  </a:lnTo>
                  <a:lnTo>
                    <a:pt x="0" y="2592323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14856" y="2383536"/>
              <a:ext cx="3023870" cy="1943100"/>
            </a:xfrm>
            <a:custGeom>
              <a:avLst/>
              <a:gdLst/>
              <a:ahLst/>
              <a:cxnLst/>
              <a:rect l="l" t="t" r="r" b="b"/>
              <a:pathLst>
                <a:path w="3023870" h="1943100">
                  <a:moveTo>
                    <a:pt x="0" y="1943100"/>
                  </a:moveTo>
                  <a:lnTo>
                    <a:pt x="3023616" y="1943100"/>
                  </a:lnTo>
                  <a:lnTo>
                    <a:pt x="3023616" y="0"/>
                  </a:lnTo>
                  <a:lnTo>
                    <a:pt x="0" y="0"/>
                  </a:lnTo>
                  <a:lnTo>
                    <a:pt x="0" y="1943100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37080" y="4428870"/>
            <a:ext cx="21145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−1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9541" y="4420629"/>
            <a:ext cx="97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0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7701" y="4420629"/>
            <a:ext cx="97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1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7864" y="4420629"/>
            <a:ext cx="97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89553" y="4420629"/>
            <a:ext cx="97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3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06189" y="4420629"/>
            <a:ext cx="9715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1250" spc="-30">
                <a:latin typeface="Cambria Math"/>
                <a:cs typeface="Cambria Math"/>
              </a:rPr>
              <a:t>4</a:t>
            </a:r>
            <a:endParaRPr sz="125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36877" y="2522092"/>
            <a:ext cx="2967990" cy="1894205"/>
            <a:chOff x="1436877" y="2522092"/>
            <a:chExt cx="2967990" cy="1894205"/>
          </a:xfrm>
        </p:grpSpPr>
        <p:sp>
          <p:nvSpPr>
            <p:cNvPr id="20" name="object 20"/>
            <p:cNvSpPr/>
            <p:nvPr/>
          </p:nvSpPr>
          <p:spPr>
            <a:xfrm>
              <a:off x="1658111" y="4326635"/>
              <a:ext cx="2740660" cy="83185"/>
            </a:xfrm>
            <a:custGeom>
              <a:avLst/>
              <a:gdLst/>
              <a:ahLst/>
              <a:cxnLst/>
              <a:rect l="l" t="t" r="r" b="b"/>
              <a:pathLst>
                <a:path w="2740660" h="83185">
                  <a:moveTo>
                    <a:pt x="0" y="0"/>
                  </a:moveTo>
                  <a:lnTo>
                    <a:pt x="0" y="83057"/>
                  </a:lnTo>
                </a:path>
                <a:path w="2740660" h="83185">
                  <a:moveTo>
                    <a:pt x="548639" y="0"/>
                  </a:moveTo>
                  <a:lnTo>
                    <a:pt x="548639" y="83057"/>
                  </a:lnTo>
                </a:path>
                <a:path w="2740660" h="83185">
                  <a:moveTo>
                    <a:pt x="1095756" y="0"/>
                  </a:moveTo>
                  <a:lnTo>
                    <a:pt x="1095756" y="83057"/>
                  </a:lnTo>
                </a:path>
                <a:path w="2740660" h="83185">
                  <a:moveTo>
                    <a:pt x="1644396" y="0"/>
                  </a:moveTo>
                  <a:lnTo>
                    <a:pt x="1644396" y="83057"/>
                  </a:lnTo>
                </a:path>
                <a:path w="2740660" h="83185">
                  <a:moveTo>
                    <a:pt x="2193036" y="0"/>
                  </a:moveTo>
                  <a:lnTo>
                    <a:pt x="2193036" y="83057"/>
                  </a:lnTo>
                </a:path>
                <a:path w="2740660" h="83185">
                  <a:moveTo>
                    <a:pt x="2740152" y="0"/>
                  </a:moveTo>
                  <a:lnTo>
                    <a:pt x="2740152" y="83057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43227" y="3314699"/>
              <a:ext cx="83185" cy="266700"/>
            </a:xfrm>
            <a:custGeom>
              <a:avLst/>
              <a:gdLst/>
              <a:ahLst/>
              <a:cxnLst/>
              <a:rect l="l" t="t" r="r" b="b"/>
              <a:pathLst>
                <a:path w="83184" h="266700">
                  <a:moveTo>
                    <a:pt x="83058" y="0"/>
                  </a:moveTo>
                  <a:lnTo>
                    <a:pt x="0" y="0"/>
                  </a:lnTo>
                </a:path>
                <a:path w="83184" h="266700">
                  <a:moveTo>
                    <a:pt x="83058" y="266700"/>
                  </a:moveTo>
                  <a:lnTo>
                    <a:pt x="0" y="266700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690877" y="2536697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 h="0">
                  <a:moveTo>
                    <a:pt x="0" y="0"/>
                  </a:moveTo>
                  <a:lnTo>
                    <a:pt x="216027" y="0"/>
                  </a:lnTo>
                </a:path>
              </a:pathLst>
            </a:custGeom>
            <a:ln w="28956">
              <a:solidFill>
                <a:srgbClr val="64A0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90877" y="2710433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 h="0">
                  <a:moveTo>
                    <a:pt x="0" y="0"/>
                  </a:moveTo>
                  <a:lnTo>
                    <a:pt x="216027" y="0"/>
                  </a:lnTo>
                </a:path>
              </a:pathLst>
            </a:custGeom>
            <a:ln w="28956">
              <a:solidFill>
                <a:srgbClr val="FF92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76805" y="2670428"/>
              <a:ext cx="302260" cy="94615"/>
            </a:xfrm>
            <a:custGeom>
              <a:avLst/>
              <a:gdLst/>
              <a:ahLst/>
              <a:cxnLst/>
              <a:rect l="l" t="t" r="r" b="b"/>
              <a:pathLst>
                <a:path w="302260" h="94614">
                  <a:moveTo>
                    <a:pt x="271652" y="0"/>
                  </a:moveTo>
                  <a:lnTo>
                    <a:pt x="270256" y="3810"/>
                  </a:lnTo>
                  <a:lnTo>
                    <a:pt x="278130" y="6350"/>
                  </a:lnTo>
                  <a:lnTo>
                    <a:pt x="283844" y="11430"/>
                  </a:lnTo>
                  <a:lnTo>
                    <a:pt x="293115" y="46862"/>
                  </a:lnTo>
                  <a:lnTo>
                    <a:pt x="292778" y="55169"/>
                  </a:lnTo>
                  <a:lnTo>
                    <a:pt x="270382" y="90678"/>
                  </a:lnTo>
                  <a:lnTo>
                    <a:pt x="271652" y="94615"/>
                  </a:lnTo>
                  <a:lnTo>
                    <a:pt x="299831" y="63992"/>
                  </a:lnTo>
                  <a:lnTo>
                    <a:pt x="301751" y="47244"/>
                  </a:lnTo>
                  <a:lnTo>
                    <a:pt x="301273" y="38602"/>
                  </a:lnTo>
                  <a:lnTo>
                    <a:pt x="278485" y="2472"/>
                  </a:lnTo>
                  <a:lnTo>
                    <a:pt x="271652" y="0"/>
                  </a:lnTo>
                  <a:close/>
                </a:path>
                <a:path w="302260" h="94614">
                  <a:moveTo>
                    <a:pt x="30099" y="0"/>
                  </a:moveTo>
                  <a:lnTo>
                    <a:pt x="1920" y="30591"/>
                  </a:lnTo>
                  <a:lnTo>
                    <a:pt x="0" y="47244"/>
                  </a:lnTo>
                  <a:lnTo>
                    <a:pt x="478" y="55957"/>
                  </a:lnTo>
                  <a:lnTo>
                    <a:pt x="23266" y="92086"/>
                  </a:lnTo>
                  <a:lnTo>
                    <a:pt x="30099" y="94615"/>
                  </a:lnTo>
                  <a:lnTo>
                    <a:pt x="31368" y="90678"/>
                  </a:lnTo>
                  <a:lnTo>
                    <a:pt x="23621" y="88137"/>
                  </a:lnTo>
                  <a:lnTo>
                    <a:pt x="17906" y="83058"/>
                  </a:lnTo>
                  <a:lnTo>
                    <a:pt x="8636" y="46862"/>
                  </a:lnTo>
                  <a:lnTo>
                    <a:pt x="8973" y="38762"/>
                  </a:lnTo>
                  <a:lnTo>
                    <a:pt x="31495" y="3810"/>
                  </a:lnTo>
                  <a:lnTo>
                    <a:pt x="300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198473" y="2373420"/>
            <a:ext cx="147955" cy="182943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  <a:p>
            <a:pPr marL="50165">
              <a:lnSpc>
                <a:spcPct val="100000"/>
              </a:lnSpc>
              <a:spcBef>
                <a:spcPts val="550"/>
              </a:spcBef>
            </a:pPr>
            <a:r>
              <a:rPr dirty="0" sz="1250" spc="-30">
                <a:latin typeface="Cambria Math"/>
                <a:cs typeface="Cambria Math"/>
              </a:rPr>
              <a:t>1</a:t>
            </a:r>
            <a:endParaRPr sz="1250">
              <a:latin typeface="Cambria Math"/>
              <a:cs typeface="Cambria Math"/>
            </a:endParaRPr>
          </a:p>
          <a:p>
            <a:pPr marL="50165">
              <a:lnSpc>
                <a:spcPct val="100000"/>
              </a:lnSpc>
              <a:spcBef>
                <a:spcPts val="540"/>
              </a:spcBef>
            </a:pPr>
            <a:r>
              <a:rPr dirty="0" sz="1250" spc="-30">
                <a:latin typeface="Cambria Math"/>
                <a:cs typeface="Cambria Math"/>
              </a:rPr>
              <a:t>0</a:t>
            </a:r>
            <a:endParaRPr sz="12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r>
              <a:rPr dirty="0" sz="1250" spc="-25">
                <a:latin typeface="Cambria Math"/>
                <a:cs typeface="Cambria Math"/>
              </a:rPr>
              <a:t>-</a:t>
            </a:r>
            <a:r>
              <a:rPr dirty="0" sz="1250" spc="-30">
                <a:latin typeface="Cambria Math"/>
                <a:cs typeface="Cambria Math"/>
              </a:rPr>
              <a:t>1</a:t>
            </a:r>
            <a:endParaRPr sz="12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1250" spc="-25">
                <a:latin typeface="Cambria Math"/>
                <a:cs typeface="Cambria Math"/>
              </a:rPr>
              <a:t>-</a:t>
            </a:r>
            <a:r>
              <a:rPr dirty="0" sz="1250" spc="-30"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1250" spc="-25">
                <a:latin typeface="Cambria Math"/>
                <a:cs typeface="Cambria Math"/>
              </a:rPr>
              <a:t>-</a:t>
            </a:r>
            <a:r>
              <a:rPr dirty="0" sz="1250" spc="-30">
                <a:latin typeface="Cambria Math"/>
                <a:cs typeface="Cambria Math"/>
              </a:rPr>
              <a:t>3</a:t>
            </a:r>
            <a:endParaRPr sz="12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1250" spc="-25">
                <a:latin typeface="Cambria Math"/>
                <a:cs typeface="Cambria Math"/>
              </a:rPr>
              <a:t>-</a:t>
            </a:r>
            <a:r>
              <a:rPr dirty="0" sz="1250" spc="-30">
                <a:latin typeface="Cambria Math"/>
                <a:cs typeface="Cambria Math"/>
              </a:rPr>
              <a:t>4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64689" y="2395830"/>
            <a:ext cx="937260" cy="38544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5"/>
              </a:spcBef>
            </a:pPr>
            <a:r>
              <a:rPr dirty="0" sz="800">
                <a:latin typeface="Cambria Math"/>
                <a:cs typeface="Cambria Math"/>
              </a:rPr>
              <a:t>𝑦</a:t>
            </a:r>
            <a:r>
              <a:rPr dirty="0" sz="800" spc="2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=</a:t>
            </a:r>
            <a:r>
              <a:rPr dirty="0" sz="800" spc="20">
                <a:latin typeface="Cambria Math"/>
                <a:cs typeface="Cambria Math"/>
              </a:rPr>
              <a:t> </a:t>
            </a:r>
            <a:r>
              <a:rPr dirty="0" sz="800" spc="15">
                <a:latin typeface="Cambria Math"/>
                <a:cs typeface="Cambria Math"/>
              </a:rPr>
              <a:t>log</a:t>
            </a:r>
            <a:r>
              <a:rPr dirty="0" baseline="-15151" sz="825" spc="22">
                <a:latin typeface="Cambria Math"/>
                <a:cs typeface="Cambria Math"/>
              </a:rPr>
              <a:t>2</a:t>
            </a:r>
            <a:r>
              <a:rPr dirty="0" sz="800" spc="15">
                <a:latin typeface="Cambria Math"/>
                <a:cs typeface="Cambria Math"/>
              </a:rPr>
              <a:t>(𝑥)</a:t>
            </a:r>
            <a:endParaRPr sz="8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455"/>
              </a:spcBef>
            </a:pPr>
            <a:r>
              <a:rPr dirty="0" sz="800">
                <a:latin typeface="Cambria Math"/>
                <a:cs typeface="Cambria Math"/>
              </a:rPr>
              <a:t>𝑦</a:t>
            </a:r>
            <a:r>
              <a:rPr dirty="0" sz="800" spc="4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=</a:t>
            </a:r>
            <a:r>
              <a:rPr dirty="0" sz="800" spc="40">
                <a:latin typeface="Cambria Math"/>
                <a:cs typeface="Cambria Math"/>
              </a:rPr>
              <a:t> </a:t>
            </a:r>
            <a:r>
              <a:rPr dirty="0" sz="800" spc="20">
                <a:latin typeface="Cambria Math"/>
                <a:cs typeface="Cambria Math"/>
              </a:rPr>
              <a:t>log</a:t>
            </a:r>
            <a:r>
              <a:rPr dirty="0" baseline="-15151" sz="825" spc="30">
                <a:latin typeface="Cambria Math"/>
                <a:cs typeface="Cambria Math"/>
              </a:rPr>
              <a:t>𝑥</a:t>
            </a:r>
            <a:r>
              <a:rPr dirty="0" baseline="-15151" sz="825" spc="150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𝑥</a:t>
            </a:r>
            <a:r>
              <a:rPr dirty="0" sz="800" spc="1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+</a:t>
            </a:r>
            <a:r>
              <a:rPr dirty="0" sz="800" spc="-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1</a:t>
            </a:r>
            <a:r>
              <a:rPr dirty="0" sz="800" spc="30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−</a:t>
            </a:r>
            <a:r>
              <a:rPr dirty="0" sz="800" spc="-15">
                <a:latin typeface="Cambria Math"/>
                <a:cs typeface="Cambria Math"/>
              </a:rPr>
              <a:t> </a:t>
            </a:r>
            <a:r>
              <a:rPr dirty="0" sz="800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43227" y="2420111"/>
            <a:ext cx="2967355" cy="1767839"/>
            <a:chOff x="1443227" y="2420111"/>
            <a:chExt cx="2967355" cy="1767839"/>
          </a:xfrm>
        </p:grpSpPr>
        <p:sp>
          <p:nvSpPr>
            <p:cNvPr id="28" name="object 28"/>
            <p:cNvSpPr/>
            <p:nvPr/>
          </p:nvSpPr>
          <p:spPr>
            <a:xfrm>
              <a:off x="1653539" y="2426207"/>
              <a:ext cx="1369060" cy="391795"/>
            </a:xfrm>
            <a:custGeom>
              <a:avLst/>
              <a:gdLst/>
              <a:ahLst/>
              <a:cxnLst/>
              <a:rect l="l" t="t" r="r" b="b"/>
              <a:pathLst>
                <a:path w="1369060" h="391794">
                  <a:moveTo>
                    <a:pt x="0" y="391667"/>
                  </a:moveTo>
                  <a:lnTo>
                    <a:pt x="1368552" y="391667"/>
                  </a:lnTo>
                  <a:lnTo>
                    <a:pt x="1368552" y="0"/>
                  </a:lnTo>
                  <a:lnTo>
                    <a:pt x="0" y="0"/>
                  </a:lnTo>
                  <a:lnTo>
                    <a:pt x="0" y="391667"/>
                  </a:lnTo>
                  <a:close/>
                </a:path>
              </a:pathLst>
            </a:custGeom>
            <a:ln w="12192">
              <a:solidFill>
                <a:srgbClr val="006FC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443227" y="2516123"/>
              <a:ext cx="85090" cy="1598930"/>
            </a:xfrm>
            <a:custGeom>
              <a:avLst/>
              <a:gdLst/>
              <a:ahLst/>
              <a:cxnLst/>
              <a:rect l="l" t="t" r="r" b="b"/>
              <a:pathLst>
                <a:path w="85090" h="1598929">
                  <a:moveTo>
                    <a:pt x="84581" y="266700"/>
                  </a:moveTo>
                  <a:lnTo>
                    <a:pt x="1524" y="266700"/>
                  </a:lnTo>
                </a:path>
                <a:path w="85090" h="1598929">
                  <a:moveTo>
                    <a:pt x="83058" y="533400"/>
                  </a:moveTo>
                  <a:lnTo>
                    <a:pt x="0" y="533400"/>
                  </a:lnTo>
                </a:path>
                <a:path w="85090" h="1598929">
                  <a:moveTo>
                    <a:pt x="83058" y="1598676"/>
                  </a:moveTo>
                  <a:lnTo>
                    <a:pt x="0" y="1598676"/>
                  </a:lnTo>
                </a:path>
                <a:path w="85090" h="1598929">
                  <a:moveTo>
                    <a:pt x="84581" y="0"/>
                  </a:moveTo>
                  <a:lnTo>
                    <a:pt x="1524" y="0"/>
                  </a:lnTo>
                </a:path>
                <a:path w="85090" h="1598929">
                  <a:moveTo>
                    <a:pt x="83058" y="1331976"/>
                  </a:moveTo>
                  <a:lnTo>
                    <a:pt x="0" y="1331976"/>
                  </a:lnTo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652777" y="2611373"/>
              <a:ext cx="2743200" cy="1562100"/>
            </a:xfrm>
            <a:custGeom>
              <a:avLst/>
              <a:gdLst/>
              <a:ahLst/>
              <a:cxnLst/>
              <a:rect l="l" t="t" r="r" b="b"/>
              <a:pathLst>
                <a:path w="2743200" h="1562100">
                  <a:moveTo>
                    <a:pt x="0" y="1562100"/>
                  </a:moveTo>
                  <a:lnTo>
                    <a:pt x="8466" y="1509754"/>
                  </a:lnTo>
                  <a:lnTo>
                    <a:pt x="17220" y="1457554"/>
                  </a:lnTo>
                  <a:lnTo>
                    <a:pt x="26543" y="1405646"/>
                  </a:lnTo>
                  <a:lnTo>
                    <a:pt x="36715" y="1354176"/>
                  </a:lnTo>
                  <a:lnTo>
                    <a:pt x="48018" y="1303290"/>
                  </a:lnTo>
                  <a:lnTo>
                    <a:pt x="60732" y="1253134"/>
                  </a:lnTo>
                  <a:lnTo>
                    <a:pt x="75140" y="1203854"/>
                  </a:lnTo>
                  <a:lnTo>
                    <a:pt x="91521" y="1155596"/>
                  </a:lnTo>
                  <a:lnTo>
                    <a:pt x="110158" y="1108505"/>
                  </a:lnTo>
                  <a:lnTo>
                    <a:pt x="131330" y="1062729"/>
                  </a:lnTo>
                  <a:lnTo>
                    <a:pt x="155321" y="1018413"/>
                  </a:lnTo>
                  <a:lnTo>
                    <a:pt x="180051" y="978758"/>
                  </a:lnTo>
                  <a:lnTo>
                    <a:pt x="207380" y="939686"/>
                  </a:lnTo>
                  <a:lnTo>
                    <a:pt x="237021" y="901301"/>
                  </a:lnTo>
                  <a:lnTo>
                    <a:pt x="268689" y="863708"/>
                  </a:lnTo>
                  <a:lnTo>
                    <a:pt x="302098" y="827013"/>
                  </a:lnTo>
                  <a:lnTo>
                    <a:pt x="336962" y="791321"/>
                  </a:lnTo>
                  <a:lnTo>
                    <a:pt x="372996" y="756737"/>
                  </a:lnTo>
                  <a:lnTo>
                    <a:pt x="409913" y="723368"/>
                  </a:lnTo>
                  <a:lnTo>
                    <a:pt x="447428" y="691318"/>
                  </a:lnTo>
                  <a:lnTo>
                    <a:pt x="485256" y="660693"/>
                  </a:lnTo>
                  <a:lnTo>
                    <a:pt x="523110" y="631598"/>
                  </a:lnTo>
                  <a:lnTo>
                    <a:pt x="560705" y="604138"/>
                  </a:lnTo>
                  <a:lnTo>
                    <a:pt x="600534" y="576676"/>
                  </a:lnTo>
                  <a:lnTo>
                    <a:pt x="639005" y="552027"/>
                  </a:lnTo>
                  <a:lnTo>
                    <a:pt x="676897" y="529725"/>
                  </a:lnTo>
                  <a:lnTo>
                    <a:pt x="714987" y="509302"/>
                  </a:lnTo>
                  <a:lnTo>
                    <a:pt x="754051" y="490292"/>
                  </a:lnTo>
                  <a:lnTo>
                    <a:pt x="794868" y="472227"/>
                  </a:lnTo>
                  <a:lnTo>
                    <a:pt x="838214" y="454640"/>
                  </a:lnTo>
                  <a:lnTo>
                    <a:pt x="884868" y="437064"/>
                  </a:lnTo>
                  <a:lnTo>
                    <a:pt x="935607" y="419032"/>
                  </a:lnTo>
                  <a:lnTo>
                    <a:pt x="991208" y="400076"/>
                  </a:lnTo>
                  <a:lnTo>
                    <a:pt x="1052449" y="379729"/>
                  </a:lnTo>
                  <a:lnTo>
                    <a:pt x="1091034" y="367276"/>
                  </a:lnTo>
                  <a:lnTo>
                    <a:pt x="1132186" y="354495"/>
                  </a:lnTo>
                  <a:lnTo>
                    <a:pt x="1175646" y="341440"/>
                  </a:lnTo>
                  <a:lnTo>
                    <a:pt x="1221158" y="328162"/>
                  </a:lnTo>
                  <a:lnTo>
                    <a:pt x="1268465" y="314714"/>
                  </a:lnTo>
                  <a:lnTo>
                    <a:pt x="1317311" y="301149"/>
                  </a:lnTo>
                  <a:lnTo>
                    <a:pt x="1367438" y="287519"/>
                  </a:lnTo>
                  <a:lnTo>
                    <a:pt x="1418590" y="273878"/>
                  </a:lnTo>
                  <a:lnTo>
                    <a:pt x="1470511" y="260276"/>
                  </a:lnTo>
                  <a:lnTo>
                    <a:pt x="1522942" y="246768"/>
                  </a:lnTo>
                  <a:lnTo>
                    <a:pt x="1575629" y="233405"/>
                  </a:lnTo>
                  <a:lnTo>
                    <a:pt x="1628314" y="220241"/>
                  </a:lnTo>
                  <a:lnTo>
                    <a:pt x="1680740" y="207327"/>
                  </a:lnTo>
                  <a:lnTo>
                    <a:pt x="1732650" y="194716"/>
                  </a:lnTo>
                  <a:lnTo>
                    <a:pt x="1783789" y="182461"/>
                  </a:lnTo>
                  <a:lnTo>
                    <a:pt x="1833898" y="170614"/>
                  </a:lnTo>
                  <a:lnTo>
                    <a:pt x="1882721" y="159228"/>
                  </a:lnTo>
                  <a:lnTo>
                    <a:pt x="1930003" y="148355"/>
                  </a:lnTo>
                  <a:lnTo>
                    <a:pt x="1975485" y="138049"/>
                  </a:lnTo>
                  <a:lnTo>
                    <a:pt x="2214330" y="89796"/>
                  </a:lnTo>
                  <a:lnTo>
                    <a:pt x="2465022" y="45307"/>
                  </a:lnTo>
                  <a:lnTo>
                    <a:pt x="2662874" y="12676"/>
                  </a:lnTo>
                  <a:lnTo>
                    <a:pt x="2743200" y="0"/>
                  </a:lnTo>
                </a:path>
              </a:pathLst>
            </a:custGeom>
            <a:ln w="28956">
              <a:solidFill>
                <a:srgbClr val="FF92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39518" y="2439161"/>
              <a:ext cx="2148840" cy="1484630"/>
            </a:xfrm>
            <a:custGeom>
              <a:avLst/>
              <a:gdLst/>
              <a:ahLst/>
              <a:cxnLst/>
              <a:rect l="l" t="t" r="r" b="b"/>
              <a:pathLst>
                <a:path w="2148840" h="1484629">
                  <a:moveTo>
                    <a:pt x="0" y="1484376"/>
                  </a:moveTo>
                  <a:lnTo>
                    <a:pt x="2249" y="1439583"/>
                  </a:lnTo>
                  <a:lnTo>
                    <a:pt x="5115" y="1394638"/>
                  </a:lnTo>
                  <a:lnTo>
                    <a:pt x="9202" y="1349390"/>
                  </a:lnTo>
                  <a:lnTo>
                    <a:pt x="15112" y="1303686"/>
                  </a:lnTo>
                  <a:lnTo>
                    <a:pt x="23452" y="1257375"/>
                  </a:lnTo>
                  <a:lnTo>
                    <a:pt x="34825" y="1210306"/>
                  </a:lnTo>
                  <a:lnTo>
                    <a:pt x="49836" y="1162325"/>
                  </a:lnTo>
                  <a:lnTo>
                    <a:pt x="69087" y="1113282"/>
                  </a:lnTo>
                  <a:lnTo>
                    <a:pt x="88662" y="1072119"/>
                  </a:lnTo>
                  <a:lnTo>
                    <a:pt x="112298" y="1028565"/>
                  </a:lnTo>
                  <a:lnTo>
                    <a:pt x="139142" y="983424"/>
                  </a:lnTo>
                  <a:lnTo>
                    <a:pt x="168341" y="937497"/>
                  </a:lnTo>
                  <a:lnTo>
                    <a:pt x="199040" y="891587"/>
                  </a:lnTo>
                  <a:lnTo>
                    <a:pt x="230388" y="846496"/>
                  </a:lnTo>
                  <a:lnTo>
                    <a:pt x="261529" y="803027"/>
                  </a:lnTo>
                  <a:lnTo>
                    <a:pt x="291612" y="761981"/>
                  </a:lnTo>
                  <a:lnTo>
                    <a:pt x="319782" y="724162"/>
                  </a:lnTo>
                  <a:lnTo>
                    <a:pt x="345186" y="690372"/>
                  </a:lnTo>
                  <a:lnTo>
                    <a:pt x="381470" y="642502"/>
                  </a:lnTo>
                  <a:lnTo>
                    <a:pt x="412961" y="602520"/>
                  </a:lnTo>
                  <a:lnTo>
                    <a:pt x="442293" y="568515"/>
                  </a:lnTo>
                  <a:lnTo>
                    <a:pt x="472101" y="538574"/>
                  </a:lnTo>
                  <a:lnTo>
                    <a:pt x="505020" y="510784"/>
                  </a:lnTo>
                  <a:lnTo>
                    <a:pt x="543687" y="483235"/>
                  </a:lnTo>
                  <a:lnTo>
                    <a:pt x="580588" y="461150"/>
                  </a:lnTo>
                  <a:lnTo>
                    <a:pt x="618979" y="442149"/>
                  </a:lnTo>
                  <a:lnTo>
                    <a:pt x="659459" y="425101"/>
                  </a:lnTo>
                  <a:lnTo>
                    <a:pt x="702633" y="408875"/>
                  </a:lnTo>
                  <a:lnTo>
                    <a:pt x="749101" y="392341"/>
                  </a:lnTo>
                  <a:lnTo>
                    <a:pt x="799465" y="374366"/>
                  </a:lnTo>
                  <a:lnTo>
                    <a:pt x="854329" y="353822"/>
                  </a:lnTo>
                  <a:lnTo>
                    <a:pt x="894775" y="337747"/>
                  </a:lnTo>
                  <a:lnTo>
                    <a:pt x="936134" y="320733"/>
                  </a:lnTo>
                  <a:lnTo>
                    <a:pt x="978791" y="302963"/>
                  </a:lnTo>
                  <a:lnTo>
                    <a:pt x="1023133" y="284616"/>
                  </a:lnTo>
                  <a:lnTo>
                    <a:pt x="1069546" y="265874"/>
                  </a:lnTo>
                  <a:lnTo>
                    <a:pt x="1118416" y="246919"/>
                  </a:lnTo>
                  <a:lnTo>
                    <a:pt x="1170131" y="227932"/>
                  </a:lnTo>
                  <a:lnTo>
                    <a:pt x="1225075" y="209094"/>
                  </a:lnTo>
                  <a:lnTo>
                    <a:pt x="1283636" y="190587"/>
                  </a:lnTo>
                  <a:lnTo>
                    <a:pt x="1346199" y="172592"/>
                  </a:lnTo>
                  <a:lnTo>
                    <a:pt x="1387549" y="161567"/>
                  </a:lnTo>
                  <a:lnTo>
                    <a:pt x="1430606" y="150586"/>
                  </a:lnTo>
                  <a:lnTo>
                    <a:pt x="1475256" y="139647"/>
                  </a:lnTo>
                  <a:lnTo>
                    <a:pt x="1521386" y="128748"/>
                  </a:lnTo>
                  <a:lnTo>
                    <a:pt x="1568882" y="117885"/>
                  </a:lnTo>
                  <a:lnTo>
                    <a:pt x="1617629" y="107055"/>
                  </a:lnTo>
                  <a:lnTo>
                    <a:pt x="1667513" y="96257"/>
                  </a:lnTo>
                  <a:lnTo>
                    <a:pt x="1718421" y="85486"/>
                  </a:lnTo>
                  <a:lnTo>
                    <a:pt x="1770238" y="74741"/>
                  </a:lnTo>
                  <a:lnTo>
                    <a:pt x="1822850" y="64019"/>
                  </a:lnTo>
                  <a:lnTo>
                    <a:pt x="1876144" y="53316"/>
                  </a:lnTo>
                  <a:lnTo>
                    <a:pt x="1930005" y="42630"/>
                  </a:lnTo>
                  <a:lnTo>
                    <a:pt x="1984319" y="31958"/>
                  </a:lnTo>
                  <a:lnTo>
                    <a:pt x="2038972" y="21298"/>
                  </a:lnTo>
                  <a:lnTo>
                    <a:pt x="2093850" y="10646"/>
                  </a:lnTo>
                  <a:lnTo>
                    <a:pt x="2148840" y="0"/>
                  </a:lnTo>
                </a:path>
              </a:pathLst>
            </a:custGeom>
            <a:ln w="28956">
              <a:solidFill>
                <a:srgbClr val="64A0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222498" cy="18463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06011"/>
            <a:ext cx="3230117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67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2.7.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Natural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Logarithms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5924" y="3179064"/>
            <a:ext cx="3228340" cy="3061970"/>
            <a:chOff x="915924" y="3179064"/>
            <a:chExt cx="3228340" cy="3061970"/>
          </a:xfrm>
        </p:grpSpPr>
        <p:sp>
          <p:nvSpPr>
            <p:cNvPr id="8" name="object 8"/>
            <p:cNvSpPr/>
            <p:nvPr/>
          </p:nvSpPr>
          <p:spPr>
            <a:xfrm>
              <a:off x="918972" y="3182112"/>
              <a:ext cx="3221990" cy="3055620"/>
            </a:xfrm>
            <a:custGeom>
              <a:avLst/>
              <a:gdLst/>
              <a:ahLst/>
              <a:cxnLst/>
              <a:rect l="l" t="t" r="r" b="b"/>
              <a:pathLst>
                <a:path w="3221990" h="3055620">
                  <a:moveTo>
                    <a:pt x="0" y="3055620"/>
                  </a:moveTo>
                  <a:lnTo>
                    <a:pt x="3221736" y="3055620"/>
                  </a:lnTo>
                  <a:lnTo>
                    <a:pt x="3221736" y="0"/>
                  </a:lnTo>
                  <a:lnTo>
                    <a:pt x="0" y="0"/>
                  </a:lnTo>
                  <a:lnTo>
                    <a:pt x="0" y="305562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188" y="3322320"/>
              <a:ext cx="2805684" cy="2805684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963223" y="1546352"/>
          <a:ext cx="4456430" cy="474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219"/>
                <a:gridCol w="998219"/>
                <a:gridCol w="457835"/>
                <a:gridCol w="998220"/>
                <a:gridCol w="998220"/>
              </a:tblGrid>
              <a:tr h="157607">
                <a:tc>
                  <a:txBody>
                    <a:bodyPr/>
                    <a:lstStyle/>
                    <a:p>
                      <a:pPr algn="ctr" marL="254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>
                          <a:latin typeface="Trebuchet MS"/>
                          <a:cs typeface="Trebuchet MS"/>
                        </a:rPr>
                        <a:t>x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0">
                          <a:latin typeface="Trebuchet MS"/>
                          <a:cs typeface="Trebuchet MS"/>
                        </a:rPr>
                        <a:t>(1+x)^(1/x)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>
                          <a:latin typeface="Trebuchet MS"/>
                          <a:cs typeface="Trebuchet MS"/>
                        </a:rPr>
                        <a:t>x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9972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0">
                          <a:latin typeface="Trebuchet MS"/>
                          <a:cs typeface="Trebuchet MS"/>
                        </a:rPr>
                        <a:t>(1+x)^(1/x)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0CECE"/>
                    </a:solidFill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0.01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2.70481383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0.0001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273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0">
                          <a:latin typeface="Trebuchet MS"/>
                          <a:cs typeface="Trebuchet MS"/>
                        </a:rPr>
                        <a:t>2.71814593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0.0099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2.7049473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0.00009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559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2.7181595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0.0098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2.70508079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0.00008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004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95">
                          <a:latin typeface="Trebuchet MS"/>
                          <a:cs typeface="Trebuchet MS"/>
                        </a:rPr>
                        <a:t>2.71817311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 marL="127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0.0097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2.70521431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0.00007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956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45">
                          <a:latin typeface="Trebuchet MS"/>
                          <a:cs typeface="Trebuchet MS"/>
                        </a:rPr>
                        <a:t>2.71818669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79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0.0096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20">
                          <a:latin typeface="Trebuchet MS"/>
                          <a:cs typeface="Trebuchet MS"/>
                        </a:rPr>
                        <a:t>2.70534785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0.00006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067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2.71820028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0.0095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40">
                          <a:latin typeface="Trebuchet MS"/>
                          <a:cs typeface="Trebuchet MS"/>
                        </a:rPr>
                        <a:t>2.70548142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0.00005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464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2.71821387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 marL="63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0.0094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0">
                          <a:latin typeface="Trebuchet MS"/>
                          <a:cs typeface="Trebuchet MS"/>
                        </a:rPr>
                        <a:t>2.70561501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0.00004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956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45">
                          <a:latin typeface="Trebuchet MS"/>
                          <a:cs typeface="Trebuchet MS"/>
                        </a:rPr>
                        <a:t>2.71822746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 marL="63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0.0093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20">
                          <a:latin typeface="Trebuchet MS"/>
                          <a:cs typeface="Trebuchet MS"/>
                        </a:rPr>
                        <a:t>2.70574863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0.00003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400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2.71824106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0.0092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20">
                          <a:latin typeface="Trebuchet MS"/>
                          <a:cs typeface="Trebuchet MS"/>
                        </a:rPr>
                        <a:t>2.70588227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0.00002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511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2.71825465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 marL="127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0.0091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2.70601593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0.00001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321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2.71826824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2.70614962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>
                          <a:latin typeface="Trebuchet MS"/>
                          <a:cs typeface="Trebuchet MS"/>
                        </a:rPr>
                        <a:t>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#DIV/0!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0.0089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2.70628333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-1.E-05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8290">
                        <a:lnSpc>
                          <a:spcPts val="1065"/>
                        </a:lnSpc>
                        <a:spcBef>
                          <a:spcPts val="75"/>
                        </a:spcBef>
                      </a:pPr>
                      <a:r>
                        <a:rPr dirty="0" sz="900" spc="-14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2.71829542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0.0088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45">
                          <a:latin typeface="Trebuchet MS"/>
                          <a:cs typeface="Trebuchet MS"/>
                        </a:rPr>
                        <a:t>2.70641707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-2.E-05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019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45">
                          <a:latin typeface="Trebuchet MS"/>
                          <a:cs typeface="Trebuchet MS"/>
                        </a:rPr>
                        <a:t>2.71830901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 marL="1270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0.0087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2.70655083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-3.E-05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0670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2.71832260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00">
                          <a:latin typeface="Trebuchet MS"/>
                          <a:cs typeface="Trebuchet MS"/>
                        </a:rPr>
                        <a:t>0.0086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2.70668461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-4.E-05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9400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2.71833620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0.0085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2.70681842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-5.E-05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40">
                          <a:latin typeface="Trebuchet MS"/>
                          <a:cs typeface="Trebuchet MS"/>
                        </a:rPr>
                        <a:t>2.71834979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 marL="635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0.0084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2.70695225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-6.E-05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8130">
                        <a:lnSpc>
                          <a:spcPts val="1060"/>
                        </a:lnSpc>
                        <a:spcBef>
                          <a:spcPts val="75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2.71836338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 marL="63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0.0083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50">
                          <a:latin typeface="Trebuchet MS"/>
                          <a:cs typeface="Trebuchet MS"/>
                        </a:rPr>
                        <a:t>2.70708611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0">
                          <a:latin typeface="Trebuchet MS"/>
                          <a:cs typeface="Trebuchet MS"/>
                        </a:rPr>
                        <a:t>-7.E-05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4480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40">
                          <a:latin typeface="Trebuchet MS"/>
                          <a:cs typeface="Trebuchet MS"/>
                        </a:rPr>
                        <a:t>2.71837697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0.0082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2.70722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-8.E-05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13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2.71839057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 marL="1270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0.0081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2.70735390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-9.E-05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527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2.71840416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0.008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2.70748783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-0.0001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289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65">
                          <a:latin typeface="Trebuchet MS"/>
                          <a:cs typeface="Trebuchet MS"/>
                        </a:rPr>
                        <a:t>2.71841776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0.0079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45">
                          <a:latin typeface="Trebuchet MS"/>
                          <a:cs typeface="Trebuchet MS"/>
                        </a:rPr>
                        <a:t>2.70762179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-0.0001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40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2.71843135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0.0078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2.70775577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-0.0001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40">
                          <a:latin typeface="Trebuchet MS"/>
                          <a:cs typeface="Trebuchet MS"/>
                        </a:rPr>
                        <a:t>2.71844494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 marL="317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0.0077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2.70788977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-0.0001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3210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2.71845854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0.0076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0">
                          <a:latin typeface="Trebuchet MS"/>
                          <a:cs typeface="Trebuchet MS"/>
                        </a:rPr>
                        <a:t>2.70802380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5">
                          <a:latin typeface="Trebuchet MS"/>
                          <a:cs typeface="Trebuchet MS"/>
                        </a:rPr>
                        <a:t>-0.0001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8450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60">
                          <a:latin typeface="Trebuchet MS"/>
                          <a:cs typeface="Trebuchet MS"/>
                        </a:rPr>
                        <a:t>2.71847213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0.0075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2.70815785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-0.0002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40">
                          <a:latin typeface="Trebuchet MS"/>
                          <a:cs typeface="Trebuchet MS"/>
                        </a:rPr>
                        <a:t>2.71848573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20">
                          <a:latin typeface="Trebuchet MS"/>
                          <a:cs typeface="Trebuchet MS"/>
                        </a:rPr>
                        <a:t>0.0074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2.70829193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-0.0002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3845">
                        <a:lnSpc>
                          <a:spcPts val="1060"/>
                        </a:lnSpc>
                        <a:spcBef>
                          <a:spcPts val="80"/>
                        </a:spcBef>
                      </a:pPr>
                      <a:r>
                        <a:rPr dirty="0" sz="900" spc="-135">
                          <a:latin typeface="Trebuchet MS"/>
                          <a:cs typeface="Trebuchet MS"/>
                        </a:rPr>
                        <a:t>2.71849932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594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0.0073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14">
                          <a:latin typeface="Trebuchet MS"/>
                          <a:cs typeface="Trebuchet MS"/>
                        </a:rPr>
                        <a:t>2.70842603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-0.0002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55">
                          <a:latin typeface="Trebuchet MS"/>
                          <a:cs typeface="Trebuchet MS"/>
                        </a:rPr>
                        <a:t>2.71851292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6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20">
                          <a:latin typeface="Trebuchet MS"/>
                          <a:cs typeface="Trebuchet MS"/>
                        </a:rPr>
                        <a:t>0.0072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30">
                          <a:latin typeface="Trebuchet MS"/>
                          <a:cs typeface="Trebuchet MS"/>
                        </a:rPr>
                        <a:t>2.70856016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05">
                          <a:latin typeface="Trebuchet MS"/>
                          <a:cs typeface="Trebuchet MS"/>
                        </a:rPr>
                        <a:t>-0.0002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3370">
                        <a:lnSpc>
                          <a:spcPts val="1055"/>
                        </a:lnSpc>
                        <a:spcBef>
                          <a:spcPts val="80"/>
                        </a:spcBef>
                      </a:pPr>
                      <a:r>
                        <a:rPr dirty="0" sz="900" spc="-150">
                          <a:latin typeface="Trebuchet MS"/>
                          <a:cs typeface="Trebuchet MS"/>
                        </a:rPr>
                        <a:t>2.71852651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580" y="1443164"/>
            <a:ext cx="3364229" cy="2339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8472" y="2316454"/>
            <a:ext cx="4028694" cy="55857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59308" y="1982723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9327" y="2007107"/>
            <a:ext cx="907541" cy="14401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979676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04060"/>
            <a:ext cx="1067561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380462"/>
            <a:ext cx="4555998" cy="4092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2367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2.7.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Natural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Logarithms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3177"/>
            <a:ext cx="4014978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667" y="6524434"/>
            <a:ext cx="813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979676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02535"/>
            <a:ext cx="2222754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367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2.7.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Natural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Logarithms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380475"/>
            <a:ext cx="8410194" cy="6073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2627" y="1440154"/>
            <a:ext cx="6236970" cy="305587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1205" y="6524434"/>
            <a:ext cx="5378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92786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952244"/>
            <a:ext cx="1137666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331720"/>
            <a:ext cx="8372094" cy="3589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2367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2.7.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Natural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Logarithms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3177"/>
            <a:ext cx="4261866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222498" cy="18463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06011"/>
            <a:ext cx="3230117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654552" y="3115055"/>
            <a:ext cx="2665730" cy="828040"/>
          </a:xfrm>
          <a:custGeom>
            <a:avLst/>
            <a:gdLst/>
            <a:ahLst/>
            <a:cxnLst/>
            <a:rect l="l" t="t" r="r" b="b"/>
            <a:pathLst>
              <a:path w="2665729" h="828039">
                <a:moveTo>
                  <a:pt x="2665476" y="0"/>
                </a:moveTo>
                <a:lnTo>
                  <a:pt x="0" y="0"/>
                </a:lnTo>
                <a:lnTo>
                  <a:pt x="0" y="827532"/>
                </a:lnTo>
                <a:lnTo>
                  <a:pt x="2665476" y="827532"/>
                </a:lnTo>
                <a:lnTo>
                  <a:pt x="266547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955292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979676"/>
            <a:ext cx="8501634" cy="1744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2296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2.8.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Sigmoid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543555"/>
            <a:ext cx="5368290" cy="172593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19" y="1443177"/>
            <a:ext cx="2458974" cy="30256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620261" y="4444746"/>
            <a:ext cx="2705100" cy="1679575"/>
          </a:xfrm>
          <a:custGeom>
            <a:avLst/>
            <a:gdLst/>
            <a:ahLst/>
            <a:cxnLst/>
            <a:rect l="l" t="t" r="r" b="b"/>
            <a:pathLst>
              <a:path w="2705100" h="1679575">
                <a:moveTo>
                  <a:pt x="0" y="1671777"/>
                </a:moveTo>
                <a:lnTo>
                  <a:pt x="47763" y="1674500"/>
                </a:lnTo>
                <a:lnTo>
                  <a:pt x="95595" y="1676900"/>
                </a:lnTo>
                <a:lnTo>
                  <a:pt x="143566" y="1678653"/>
                </a:lnTo>
                <a:lnTo>
                  <a:pt x="191743" y="1679435"/>
                </a:lnTo>
                <a:lnTo>
                  <a:pt x="240197" y="1678924"/>
                </a:lnTo>
                <a:lnTo>
                  <a:pt x="288995" y="1676796"/>
                </a:lnTo>
                <a:lnTo>
                  <a:pt x="338207" y="1672728"/>
                </a:lnTo>
                <a:lnTo>
                  <a:pt x="387902" y="1666396"/>
                </a:lnTo>
                <a:lnTo>
                  <a:pt x="438150" y="1657477"/>
                </a:lnTo>
                <a:lnTo>
                  <a:pt x="484940" y="1647405"/>
                </a:lnTo>
                <a:lnTo>
                  <a:pt x="533824" y="1635761"/>
                </a:lnTo>
                <a:lnTo>
                  <a:pt x="584047" y="1622545"/>
                </a:lnTo>
                <a:lnTo>
                  <a:pt x="634851" y="1607756"/>
                </a:lnTo>
                <a:lnTo>
                  <a:pt x="685482" y="1591395"/>
                </a:lnTo>
                <a:lnTo>
                  <a:pt x="735183" y="1573462"/>
                </a:lnTo>
                <a:lnTo>
                  <a:pt x="783199" y="1553958"/>
                </a:lnTo>
                <a:lnTo>
                  <a:pt x="828773" y="1532881"/>
                </a:lnTo>
                <a:lnTo>
                  <a:pt x="871150" y="1510233"/>
                </a:lnTo>
                <a:lnTo>
                  <a:pt x="909574" y="1486014"/>
                </a:lnTo>
                <a:lnTo>
                  <a:pt x="952134" y="1452422"/>
                </a:lnTo>
                <a:lnTo>
                  <a:pt x="989885" y="1414794"/>
                </a:lnTo>
                <a:lnTo>
                  <a:pt x="1023659" y="1374077"/>
                </a:lnTo>
                <a:lnTo>
                  <a:pt x="1054290" y="1331220"/>
                </a:lnTo>
                <a:lnTo>
                  <a:pt x="1082611" y="1287172"/>
                </a:lnTo>
                <a:lnTo>
                  <a:pt x="1109456" y="1242883"/>
                </a:lnTo>
                <a:lnTo>
                  <a:pt x="1135657" y="1199302"/>
                </a:lnTo>
                <a:lnTo>
                  <a:pt x="1162050" y="1157376"/>
                </a:lnTo>
                <a:lnTo>
                  <a:pt x="1190828" y="1111362"/>
                </a:lnTo>
                <a:lnTo>
                  <a:pt x="1216677" y="1066164"/>
                </a:lnTo>
                <a:lnTo>
                  <a:pt x="1240630" y="1021242"/>
                </a:lnTo>
                <a:lnTo>
                  <a:pt x="1263724" y="976054"/>
                </a:lnTo>
                <a:lnTo>
                  <a:pt x="1286993" y="930062"/>
                </a:lnTo>
                <a:lnTo>
                  <a:pt x="1311473" y="882724"/>
                </a:lnTo>
                <a:lnTo>
                  <a:pt x="1338199" y="833500"/>
                </a:lnTo>
                <a:lnTo>
                  <a:pt x="1360433" y="793128"/>
                </a:lnTo>
                <a:lnTo>
                  <a:pt x="1383194" y="750758"/>
                </a:lnTo>
                <a:lnTo>
                  <a:pt x="1406482" y="707037"/>
                </a:lnTo>
                <a:lnTo>
                  <a:pt x="1430297" y="662610"/>
                </a:lnTo>
                <a:lnTo>
                  <a:pt x="1454639" y="618123"/>
                </a:lnTo>
                <a:lnTo>
                  <a:pt x="1479507" y="574223"/>
                </a:lnTo>
                <a:lnTo>
                  <a:pt x="1504902" y="531555"/>
                </a:lnTo>
                <a:lnTo>
                  <a:pt x="1530825" y="490766"/>
                </a:lnTo>
                <a:lnTo>
                  <a:pt x="1557274" y="452500"/>
                </a:lnTo>
                <a:lnTo>
                  <a:pt x="1587018" y="411634"/>
                </a:lnTo>
                <a:lnTo>
                  <a:pt x="1616446" y="371957"/>
                </a:lnTo>
                <a:lnTo>
                  <a:pt x="1646144" y="333693"/>
                </a:lnTo>
                <a:lnTo>
                  <a:pt x="1676701" y="297068"/>
                </a:lnTo>
                <a:lnTo>
                  <a:pt x="1708705" y="262307"/>
                </a:lnTo>
                <a:lnTo>
                  <a:pt x="1742743" y="229633"/>
                </a:lnTo>
                <a:lnTo>
                  <a:pt x="1779404" y="199273"/>
                </a:lnTo>
                <a:lnTo>
                  <a:pt x="1819275" y="171449"/>
                </a:lnTo>
                <a:lnTo>
                  <a:pt x="1857564" y="148893"/>
                </a:lnTo>
                <a:lnTo>
                  <a:pt x="1898165" y="128234"/>
                </a:lnTo>
                <a:lnTo>
                  <a:pt x="1940804" y="109375"/>
                </a:lnTo>
                <a:lnTo>
                  <a:pt x="1985205" y="92218"/>
                </a:lnTo>
                <a:lnTo>
                  <a:pt x="2031094" y="76667"/>
                </a:lnTo>
                <a:lnTo>
                  <a:pt x="2078195" y="62625"/>
                </a:lnTo>
                <a:lnTo>
                  <a:pt x="2126233" y="49993"/>
                </a:lnTo>
                <a:lnTo>
                  <a:pt x="2174934" y="38675"/>
                </a:lnTo>
                <a:lnTo>
                  <a:pt x="2224024" y="28574"/>
                </a:lnTo>
                <a:lnTo>
                  <a:pt x="2268883" y="20831"/>
                </a:lnTo>
                <a:lnTo>
                  <a:pt x="2314764" y="14630"/>
                </a:lnTo>
                <a:lnTo>
                  <a:pt x="2361556" y="9801"/>
                </a:lnTo>
                <a:lnTo>
                  <a:pt x="2409145" y="6172"/>
                </a:lnTo>
                <a:lnTo>
                  <a:pt x="2457418" y="3571"/>
                </a:lnTo>
                <a:lnTo>
                  <a:pt x="2506262" y="1828"/>
                </a:lnTo>
                <a:lnTo>
                  <a:pt x="2555565" y="771"/>
                </a:lnTo>
                <a:lnTo>
                  <a:pt x="2605215" y="228"/>
                </a:lnTo>
                <a:lnTo>
                  <a:pt x="2655097" y="28"/>
                </a:lnTo>
                <a:lnTo>
                  <a:pt x="2705100" y="0"/>
                </a:lnTo>
              </a:path>
            </a:pathLst>
          </a:custGeom>
          <a:ln w="19812">
            <a:solidFill>
              <a:srgbClr val="6F2F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511041" y="6148222"/>
            <a:ext cx="24187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445" algn="l"/>
                <a:tab pos="783590" algn="l"/>
                <a:tab pos="1152525" algn="l"/>
                <a:tab pos="1540510" algn="l"/>
                <a:tab pos="1955164" algn="l"/>
                <a:tab pos="2335530" algn="l"/>
              </a:tabLst>
            </a:pP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6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4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4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6</a:t>
            </a:r>
            <a:endParaRPr sz="1300">
              <a:latin typeface="Trebuchet MS"/>
              <a:cs typeface="Trebuchet MS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589020" y="4437126"/>
          <a:ext cx="2753995" cy="171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/>
                <a:gridCol w="454025"/>
                <a:gridCol w="454659"/>
                <a:gridCol w="453390"/>
                <a:gridCol w="446405"/>
                <a:gridCol w="462915"/>
              </a:tblGrid>
              <a:tr h="8366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935">
                        <a:lnSpc>
                          <a:spcPts val="969"/>
                        </a:lnSpc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9525">
                      <a:solidFill>
                        <a:srgbClr val="7E7E7E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57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790"/>
                        </a:lnSpc>
                      </a:pPr>
                      <a:r>
                        <a:rPr dirty="0" sz="1300" spc="-18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27940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2572892" y="4718430"/>
            <a:ext cx="7620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og</a:t>
            </a:r>
            <a:r>
              <a:rPr dirty="0" sz="1300" spc="-9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0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Cu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679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027682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77542"/>
            <a:ext cx="4815078" cy="4092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9616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2.8.</a:t>
            </a:r>
            <a:r>
              <a:rPr dirty="0" spc="-40"/>
              <a:t> </a:t>
            </a:r>
            <a:r>
              <a:rPr dirty="0" spc="-5"/>
              <a:t>Sigmoid</a:t>
            </a:r>
            <a:r>
              <a:rPr dirty="0" spc="-30"/>
              <a:t> </a:t>
            </a:r>
            <a:r>
              <a:rPr dirty="0" spc="-5"/>
              <a:t>Functions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2563" y="2510027"/>
            <a:ext cx="1690370" cy="775970"/>
            <a:chOff x="702563" y="2510027"/>
            <a:chExt cx="1690370" cy="775970"/>
          </a:xfrm>
        </p:grpSpPr>
        <p:sp>
          <p:nvSpPr>
            <p:cNvPr id="11" name="object 11"/>
            <p:cNvSpPr/>
            <p:nvPr/>
          </p:nvSpPr>
          <p:spPr>
            <a:xfrm>
              <a:off x="702563" y="2510027"/>
              <a:ext cx="1690370" cy="775970"/>
            </a:xfrm>
            <a:custGeom>
              <a:avLst/>
              <a:gdLst/>
              <a:ahLst/>
              <a:cxnLst/>
              <a:rect l="l" t="t" r="r" b="b"/>
              <a:pathLst>
                <a:path w="1690370" h="775970">
                  <a:moveTo>
                    <a:pt x="1690116" y="0"/>
                  </a:moveTo>
                  <a:lnTo>
                    <a:pt x="0" y="0"/>
                  </a:lnTo>
                  <a:lnTo>
                    <a:pt x="0" y="775715"/>
                  </a:lnTo>
                  <a:lnTo>
                    <a:pt x="1690116" y="775715"/>
                  </a:lnTo>
                  <a:lnTo>
                    <a:pt x="169011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42924" y="2912744"/>
              <a:ext cx="1213485" cy="13970"/>
            </a:xfrm>
            <a:custGeom>
              <a:avLst/>
              <a:gdLst/>
              <a:ahLst/>
              <a:cxnLst/>
              <a:rect l="l" t="t" r="r" b="b"/>
              <a:pathLst>
                <a:path w="1213485" h="13969">
                  <a:moveTo>
                    <a:pt x="1213154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213154" y="13715"/>
                  </a:lnTo>
                  <a:lnTo>
                    <a:pt x="12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675632" y="2837688"/>
            <a:ext cx="4572000" cy="2203450"/>
            <a:chOff x="4675632" y="2837688"/>
            <a:chExt cx="4572000" cy="2203450"/>
          </a:xfrm>
        </p:grpSpPr>
        <p:sp>
          <p:nvSpPr>
            <p:cNvPr id="14" name="object 14"/>
            <p:cNvSpPr/>
            <p:nvPr/>
          </p:nvSpPr>
          <p:spPr>
            <a:xfrm>
              <a:off x="4680204" y="2842260"/>
              <a:ext cx="4563110" cy="2162810"/>
            </a:xfrm>
            <a:custGeom>
              <a:avLst/>
              <a:gdLst/>
              <a:ahLst/>
              <a:cxnLst/>
              <a:rect l="l" t="t" r="r" b="b"/>
              <a:pathLst>
                <a:path w="4563109" h="2162810">
                  <a:moveTo>
                    <a:pt x="0" y="1801367"/>
                  </a:moveTo>
                  <a:lnTo>
                    <a:pt x="4562856" y="1801367"/>
                  </a:lnTo>
                </a:path>
                <a:path w="4563109" h="2162810">
                  <a:moveTo>
                    <a:pt x="0" y="1441703"/>
                  </a:moveTo>
                  <a:lnTo>
                    <a:pt x="4562856" y="1441703"/>
                  </a:lnTo>
                </a:path>
                <a:path w="4563109" h="2162810">
                  <a:moveTo>
                    <a:pt x="0" y="1080515"/>
                  </a:moveTo>
                  <a:lnTo>
                    <a:pt x="4562856" y="1080515"/>
                  </a:lnTo>
                </a:path>
                <a:path w="4563109" h="2162810">
                  <a:moveTo>
                    <a:pt x="0" y="720851"/>
                  </a:moveTo>
                  <a:lnTo>
                    <a:pt x="4562856" y="720851"/>
                  </a:lnTo>
                </a:path>
                <a:path w="4563109" h="2162810">
                  <a:moveTo>
                    <a:pt x="0" y="359663"/>
                  </a:moveTo>
                  <a:lnTo>
                    <a:pt x="4562856" y="359663"/>
                  </a:lnTo>
                </a:path>
                <a:path w="4563109" h="2162810">
                  <a:moveTo>
                    <a:pt x="0" y="0"/>
                  </a:moveTo>
                  <a:lnTo>
                    <a:pt x="4562856" y="0"/>
                  </a:lnTo>
                </a:path>
                <a:path w="4563109" h="2162810">
                  <a:moveTo>
                    <a:pt x="0" y="0"/>
                  </a:moveTo>
                  <a:lnTo>
                    <a:pt x="0" y="2162556"/>
                  </a:lnTo>
                </a:path>
                <a:path w="4563109" h="2162810">
                  <a:moveTo>
                    <a:pt x="760476" y="0"/>
                  </a:moveTo>
                  <a:lnTo>
                    <a:pt x="760476" y="2162556"/>
                  </a:lnTo>
                </a:path>
                <a:path w="4563109" h="2162810">
                  <a:moveTo>
                    <a:pt x="1520952" y="0"/>
                  </a:moveTo>
                  <a:lnTo>
                    <a:pt x="1520952" y="2162556"/>
                  </a:lnTo>
                </a:path>
                <a:path w="4563109" h="2162810">
                  <a:moveTo>
                    <a:pt x="3041904" y="0"/>
                  </a:moveTo>
                  <a:lnTo>
                    <a:pt x="3041904" y="2162556"/>
                  </a:lnTo>
                </a:path>
                <a:path w="4563109" h="2162810">
                  <a:moveTo>
                    <a:pt x="3802379" y="0"/>
                  </a:moveTo>
                  <a:lnTo>
                    <a:pt x="3802379" y="2162556"/>
                  </a:lnTo>
                </a:path>
                <a:path w="4563109" h="2162810">
                  <a:moveTo>
                    <a:pt x="4562856" y="0"/>
                  </a:moveTo>
                  <a:lnTo>
                    <a:pt x="4562856" y="2162556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80204" y="2842260"/>
              <a:ext cx="4563110" cy="2162810"/>
            </a:xfrm>
            <a:custGeom>
              <a:avLst/>
              <a:gdLst/>
              <a:ahLst/>
              <a:cxnLst/>
              <a:rect l="l" t="t" r="r" b="b"/>
              <a:pathLst>
                <a:path w="4563109" h="2162810">
                  <a:moveTo>
                    <a:pt x="2281428" y="2162556"/>
                  </a:moveTo>
                  <a:lnTo>
                    <a:pt x="2281428" y="0"/>
                  </a:lnTo>
                </a:path>
                <a:path w="4563109" h="2162810">
                  <a:moveTo>
                    <a:pt x="0" y="2162556"/>
                  </a:moveTo>
                  <a:lnTo>
                    <a:pt x="4562856" y="2162556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04485" y="4967986"/>
              <a:ext cx="73151" cy="7315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6885" y="4967986"/>
              <a:ext cx="73151" cy="731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9285" y="4967986"/>
              <a:ext cx="73151" cy="731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1685" y="4967986"/>
              <a:ext cx="73151" cy="731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2561" y="4967986"/>
              <a:ext cx="73151" cy="7315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4961" y="4967986"/>
              <a:ext cx="73151" cy="7315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17361" y="4967986"/>
              <a:ext cx="73151" cy="731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9761" y="4967986"/>
              <a:ext cx="73152" cy="7315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2161" y="4967986"/>
              <a:ext cx="73152" cy="731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73036" y="4966461"/>
              <a:ext cx="73152" cy="7315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25436" y="4065777"/>
              <a:ext cx="73152" cy="731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77836" y="3166618"/>
              <a:ext cx="73152" cy="7315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0236" y="3165094"/>
              <a:ext cx="73152" cy="731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2636" y="3165094"/>
              <a:ext cx="73152" cy="731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33513" y="3165094"/>
              <a:ext cx="73152" cy="7315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85913" y="3165094"/>
              <a:ext cx="73152" cy="7315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38313" y="3165094"/>
              <a:ext cx="73152" cy="7315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90713" y="3165094"/>
              <a:ext cx="73152" cy="7315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43113" y="3165094"/>
              <a:ext cx="73152" cy="7315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95513" y="3165094"/>
              <a:ext cx="73152" cy="7315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46389" y="3165094"/>
              <a:ext cx="73152" cy="7315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587997" y="3433698"/>
            <a:ext cx="234315" cy="1664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13346" y="3072841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87997" y="2712847"/>
            <a:ext cx="2343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38598" y="5089905"/>
            <a:ext cx="2844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585858"/>
                </a:solidFill>
                <a:latin typeface="Calibri"/>
                <a:cs typeface="Calibri"/>
              </a:rPr>
              <a:t>-1.5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61813" y="5089905"/>
            <a:ext cx="1593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585858"/>
                </a:solidFill>
                <a:latin typeface="Calibri"/>
                <a:cs typeface="Calibri"/>
              </a:rPr>
              <a:t>-1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59804" y="5089905"/>
            <a:ext cx="2844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585858"/>
                </a:solidFill>
                <a:latin typeface="Calibri"/>
                <a:cs typeface="Calibri"/>
              </a:rPr>
              <a:t>-0.5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08418" y="5089905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06410" y="5089905"/>
            <a:ext cx="2343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0.5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429625" y="5089905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127617" y="5089905"/>
            <a:ext cx="2343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585858"/>
                </a:solidFill>
                <a:latin typeface="Calibri"/>
                <a:cs typeface="Calibri"/>
              </a:rPr>
              <a:t>1.5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71108" y="2420874"/>
            <a:ext cx="17570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585858"/>
                </a:solidFill>
                <a:latin typeface="Calibri"/>
                <a:cs typeface="Calibri"/>
              </a:rPr>
              <a:t>Sigmoid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585858"/>
                </a:solidFill>
                <a:latin typeface="Calibri"/>
                <a:cs typeface="Calibri"/>
              </a:rPr>
              <a:t>Function</a:t>
            </a:r>
            <a:r>
              <a:rPr dirty="0" sz="14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585858"/>
                </a:solidFill>
                <a:latin typeface="Calibri"/>
                <a:cs typeface="Calibri"/>
              </a:rPr>
              <a:t>Graph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2519362" y="2419286"/>
          <a:ext cx="1823085" cy="3802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960"/>
                <a:gridCol w="1121410"/>
              </a:tblGrid>
              <a:tr h="172720">
                <a:tc>
                  <a:txBody>
                    <a:bodyPr/>
                    <a:lstStyle/>
                    <a:p>
                      <a:pPr algn="ctr" marL="1270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y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 marL="635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204">
                          <a:latin typeface="Trebuchet MS"/>
                          <a:cs typeface="Trebuchet MS"/>
                        </a:rPr>
                        <a:t>-1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30">
                          <a:latin typeface="Trebuchet MS"/>
                          <a:cs typeface="Trebuchet MS"/>
                        </a:rPr>
                        <a:t>3.72008E-44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593"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14">
                          <a:latin typeface="Trebuchet MS"/>
                          <a:cs typeface="Trebuchet MS"/>
                        </a:rPr>
                        <a:t>-0.9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65">
                          <a:latin typeface="Trebuchet MS"/>
                          <a:cs typeface="Trebuchet MS"/>
                        </a:rPr>
                        <a:t>8.19401E-40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14">
                          <a:latin typeface="Trebuchet MS"/>
                          <a:cs typeface="Trebuchet MS"/>
                        </a:rPr>
                        <a:t>-0.8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40">
                          <a:latin typeface="Trebuchet MS"/>
                          <a:cs typeface="Trebuchet MS"/>
                        </a:rPr>
                        <a:t>1.80485E-35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35">
                          <a:latin typeface="Trebuchet MS"/>
                          <a:cs typeface="Trebuchet MS"/>
                        </a:rPr>
                        <a:t>-0.7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45">
                          <a:latin typeface="Trebuchet MS"/>
                          <a:cs typeface="Trebuchet MS"/>
                        </a:rPr>
                        <a:t>3.97545E-31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14">
                          <a:latin typeface="Trebuchet MS"/>
                          <a:cs typeface="Trebuchet MS"/>
                        </a:rPr>
                        <a:t>-0.6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50">
                          <a:latin typeface="Trebuchet MS"/>
                          <a:cs typeface="Trebuchet MS"/>
                        </a:rPr>
                        <a:t>8.75651E-27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593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 spc="-120">
                          <a:latin typeface="Trebuchet MS"/>
                          <a:cs typeface="Trebuchet MS"/>
                        </a:rPr>
                        <a:t>-0.5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 spc="-150">
                          <a:latin typeface="Trebuchet MS"/>
                          <a:cs typeface="Trebuchet MS"/>
                        </a:rPr>
                        <a:t>1.92875E-22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 spc="-130">
                          <a:latin typeface="Trebuchet MS"/>
                          <a:cs typeface="Trebuchet MS"/>
                        </a:rPr>
                        <a:t>-0.4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 spc="-145">
                          <a:latin typeface="Trebuchet MS"/>
                          <a:cs typeface="Trebuchet MS"/>
                        </a:rPr>
                        <a:t>4.24835E-18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20">
                          <a:latin typeface="Trebuchet MS"/>
                          <a:cs typeface="Trebuchet MS"/>
                        </a:rPr>
                        <a:t>-0.3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  <a:spcBef>
                          <a:spcPts val="80"/>
                        </a:spcBef>
                      </a:pPr>
                      <a:r>
                        <a:rPr dirty="0" sz="1000" spc="-150">
                          <a:latin typeface="Trebuchet MS"/>
                          <a:cs typeface="Trebuchet MS"/>
                        </a:rPr>
                        <a:t>9.35762E-14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 spc="-125">
                          <a:latin typeface="Trebuchet MS"/>
                          <a:cs typeface="Trebuchet MS"/>
                        </a:rPr>
                        <a:t>-0.2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 spc="-160">
                          <a:latin typeface="Trebuchet MS"/>
                          <a:cs typeface="Trebuchet MS"/>
                        </a:rPr>
                        <a:t>2.06115E-09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593">
                <a:tc>
                  <a:txBody>
                    <a:bodyPr/>
                    <a:lstStyle/>
                    <a:p>
                      <a:pPr algn="ctr" marL="635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70">
                          <a:latin typeface="Trebuchet MS"/>
                          <a:cs typeface="Trebuchet MS"/>
                        </a:rPr>
                        <a:t>-0.1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25">
                          <a:latin typeface="Trebuchet MS"/>
                          <a:cs typeface="Trebuchet MS"/>
                        </a:rPr>
                        <a:t>4.53979E-05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0"/>
                        </a:spcBef>
                      </a:pPr>
                      <a:r>
                        <a:rPr dirty="0" sz="1000" spc="-135">
                          <a:latin typeface="Trebuchet MS"/>
                          <a:cs typeface="Trebuchet MS"/>
                        </a:rPr>
                        <a:t>0.5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 marL="635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200">
                          <a:latin typeface="Trebuchet MS"/>
                          <a:cs typeface="Trebuchet MS"/>
                        </a:rPr>
                        <a:t>0.1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20">
                          <a:latin typeface="Trebuchet MS"/>
                          <a:cs typeface="Trebuchet MS"/>
                        </a:rPr>
                        <a:t>0.999954602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45">
                          <a:latin typeface="Trebuchet MS"/>
                          <a:cs typeface="Trebuchet MS"/>
                        </a:rPr>
                        <a:t>0.2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10">
                          <a:latin typeface="Trebuchet MS"/>
                          <a:cs typeface="Trebuchet MS"/>
                        </a:rPr>
                        <a:t>0.999999998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593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30">
                          <a:latin typeface="Trebuchet MS"/>
                          <a:cs typeface="Trebuchet MS"/>
                        </a:rPr>
                        <a:t>0.3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40">
                          <a:latin typeface="Trebuchet MS"/>
                          <a:cs typeface="Trebuchet MS"/>
                        </a:rPr>
                        <a:t>0.4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30">
                          <a:latin typeface="Trebuchet MS"/>
                          <a:cs typeface="Trebuchet MS"/>
                        </a:rPr>
                        <a:t>0.5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19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30">
                          <a:latin typeface="Trebuchet MS"/>
                          <a:cs typeface="Trebuchet MS"/>
                        </a:rPr>
                        <a:t>0.6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656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50">
                          <a:latin typeface="Trebuchet MS"/>
                          <a:cs typeface="Trebuchet MS"/>
                        </a:rPr>
                        <a:t>0.7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681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 spc="-125">
                          <a:latin typeface="Trebuchet MS"/>
                          <a:cs typeface="Trebuchet MS"/>
                        </a:rPr>
                        <a:t>0.8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694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  <a:spcBef>
                          <a:spcPts val="85"/>
                        </a:spcBef>
                      </a:pPr>
                      <a:r>
                        <a:rPr dirty="0" sz="1000" spc="-130">
                          <a:latin typeface="Trebuchet MS"/>
                          <a:cs typeface="Trebuchet MS"/>
                        </a:rPr>
                        <a:t>0.9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681">
                <a:tc>
                  <a:txBody>
                    <a:bodyPr/>
                    <a:lstStyle/>
                    <a:p>
                      <a:pPr algn="ctr" marL="635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9" name="object 49"/>
          <p:cNvSpPr/>
          <p:nvPr/>
        </p:nvSpPr>
        <p:spPr>
          <a:xfrm>
            <a:off x="2520950" y="2593619"/>
            <a:ext cx="1818005" cy="172720"/>
          </a:xfrm>
          <a:custGeom>
            <a:avLst/>
            <a:gdLst/>
            <a:ahLst/>
            <a:cxnLst/>
            <a:rect l="l" t="t" r="r" b="b"/>
            <a:pathLst>
              <a:path w="1818004" h="172719">
                <a:moveTo>
                  <a:pt x="1817928" y="0"/>
                </a:moveTo>
                <a:lnTo>
                  <a:pt x="696239" y="0"/>
                </a:lnTo>
                <a:lnTo>
                  <a:pt x="0" y="0"/>
                </a:lnTo>
                <a:lnTo>
                  <a:pt x="0" y="172694"/>
                </a:lnTo>
                <a:lnTo>
                  <a:pt x="696214" y="172694"/>
                </a:lnTo>
                <a:lnTo>
                  <a:pt x="1817928" y="172694"/>
                </a:lnTo>
                <a:lnTo>
                  <a:pt x="1817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02563" y="2510027"/>
            <a:ext cx="1690370" cy="77597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865"/>
              </a:spcBef>
            </a:pPr>
            <a:r>
              <a:rPr dirty="0" sz="1600" spc="-5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algn="ctr" marL="2540">
              <a:lnSpc>
                <a:spcPct val="100000"/>
              </a:lnSpc>
              <a:spcBef>
                <a:spcPts val="365"/>
              </a:spcBef>
            </a:pPr>
            <a:r>
              <a:rPr dirty="0" sz="1600" spc="-5">
                <a:latin typeface="Cambria Math"/>
                <a:cs typeface="Cambria Math"/>
              </a:rPr>
              <a:t>1</a:t>
            </a:r>
            <a:r>
              <a:rPr dirty="0" sz="1600" spc="-2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exp(−𝑎𝑥)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2603" y="3220199"/>
            <a:ext cx="4924806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222498" cy="18463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98135" y="3906011"/>
            <a:ext cx="3230117" cy="1442466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937004"/>
            <a:ext cx="8565642" cy="17602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8829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2.9.</a:t>
            </a:r>
            <a:r>
              <a:rPr dirty="0" spc="-20"/>
              <a:t> </a:t>
            </a:r>
            <a:r>
              <a:rPr dirty="0" spc="-5"/>
              <a:t>Trigonometric</a:t>
            </a:r>
            <a:r>
              <a:rPr dirty="0" spc="-20"/>
              <a:t> </a:t>
            </a:r>
            <a:r>
              <a:rPr dirty="0" spc="-5"/>
              <a:t>Functions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4069079"/>
            <a:ext cx="4559046" cy="16230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106424" y="2490216"/>
            <a:ext cx="3790315" cy="599440"/>
            <a:chOff x="1106424" y="2490216"/>
            <a:chExt cx="3790315" cy="599440"/>
          </a:xfrm>
        </p:grpSpPr>
        <p:sp>
          <p:nvSpPr>
            <p:cNvPr id="11" name="object 11"/>
            <p:cNvSpPr/>
            <p:nvPr/>
          </p:nvSpPr>
          <p:spPr>
            <a:xfrm>
              <a:off x="1106424" y="2490216"/>
              <a:ext cx="3790315" cy="599440"/>
            </a:xfrm>
            <a:custGeom>
              <a:avLst/>
              <a:gdLst/>
              <a:ahLst/>
              <a:cxnLst/>
              <a:rect l="l" t="t" r="r" b="b"/>
              <a:pathLst>
                <a:path w="3790315" h="599439">
                  <a:moveTo>
                    <a:pt x="3790188" y="0"/>
                  </a:moveTo>
                  <a:lnTo>
                    <a:pt x="0" y="0"/>
                  </a:lnTo>
                  <a:lnTo>
                    <a:pt x="0" y="598931"/>
                  </a:lnTo>
                  <a:lnTo>
                    <a:pt x="3790188" y="598931"/>
                  </a:lnTo>
                  <a:lnTo>
                    <a:pt x="379018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58466" y="2797175"/>
              <a:ext cx="117475" cy="13970"/>
            </a:xfrm>
            <a:custGeom>
              <a:avLst/>
              <a:gdLst/>
              <a:ahLst/>
              <a:cxnLst/>
              <a:rect l="l" t="t" r="r" b="b"/>
              <a:pathLst>
                <a:path w="117475" h="13969">
                  <a:moveTo>
                    <a:pt x="117348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17348" y="13715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958594" y="2492197"/>
            <a:ext cx="1263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66214" y="2782316"/>
            <a:ext cx="1092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1938" y="2646679"/>
            <a:ext cx="8820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27405" algn="l"/>
              </a:tabLst>
            </a:pPr>
            <a:r>
              <a:rPr dirty="0" sz="1600" spc="-5">
                <a:latin typeface="Cambria Math"/>
                <a:cs typeface="Cambria Math"/>
              </a:rPr>
              <a:t>sin</a:t>
            </a:r>
            <a:r>
              <a:rPr dirty="0" sz="1600" spc="-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𝜃</a:t>
            </a:r>
            <a:r>
              <a:rPr dirty="0" sz="1600" spc="1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,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61486" y="2797175"/>
            <a:ext cx="114300" cy="13970"/>
          </a:xfrm>
          <a:custGeom>
            <a:avLst/>
            <a:gdLst/>
            <a:ahLst/>
            <a:cxnLst/>
            <a:rect l="l" t="t" r="r" b="b"/>
            <a:pathLst>
              <a:path w="114300" h="13969">
                <a:moveTo>
                  <a:pt x="114300" y="0"/>
                </a:moveTo>
                <a:lnTo>
                  <a:pt x="0" y="0"/>
                </a:lnTo>
                <a:lnTo>
                  <a:pt x="0" y="13715"/>
                </a:lnTo>
                <a:lnTo>
                  <a:pt x="114300" y="13715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61995" y="2492197"/>
            <a:ext cx="121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8090" y="2782316"/>
            <a:ext cx="1092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57907" y="2646679"/>
            <a:ext cx="906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51535" algn="l"/>
              </a:tabLst>
            </a:pPr>
            <a:r>
              <a:rPr dirty="0" sz="1600" spc="-5">
                <a:latin typeface="Cambria Math"/>
                <a:cs typeface="Cambria Math"/>
              </a:rPr>
              <a:t>cos</a:t>
            </a:r>
            <a:r>
              <a:rPr dirty="0" sz="1600" spc="-9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𝜃</a:t>
            </a:r>
            <a:r>
              <a:rPr dirty="0" sz="1600" spc="1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,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56886" y="2797175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69">
                <a:moveTo>
                  <a:pt x="117348" y="0"/>
                </a:moveTo>
                <a:lnTo>
                  <a:pt x="0" y="0"/>
                </a:lnTo>
                <a:lnTo>
                  <a:pt x="0" y="13715"/>
                </a:lnTo>
                <a:lnTo>
                  <a:pt x="117348" y="13715"/>
                </a:lnTo>
                <a:lnTo>
                  <a:pt x="117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857878" y="2492197"/>
            <a:ext cx="82613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9770">
              <a:lnSpc>
                <a:spcPts val="1565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140"/>
              </a:lnSpc>
            </a:pPr>
            <a:r>
              <a:rPr dirty="0" sz="1600" spc="-10">
                <a:latin typeface="Cambria Math"/>
                <a:cs typeface="Cambria Math"/>
              </a:rPr>
              <a:t>ta</a:t>
            </a:r>
            <a:r>
              <a:rPr dirty="0" sz="1600" spc="-5">
                <a:latin typeface="Cambria Math"/>
                <a:cs typeface="Cambria Math"/>
              </a:rPr>
              <a:t>n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𝜃</a:t>
            </a:r>
            <a:r>
              <a:rPr dirty="0" sz="1600" spc="1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  <a:p>
            <a:pPr marL="701040">
              <a:lnSpc>
                <a:spcPts val="1495"/>
              </a:lnSpc>
            </a:pP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07947" y="3168395"/>
            <a:ext cx="3770629" cy="692150"/>
            <a:chOff x="1107947" y="3168395"/>
            <a:chExt cx="3770629" cy="692150"/>
          </a:xfrm>
        </p:grpSpPr>
        <p:sp>
          <p:nvSpPr>
            <p:cNvPr id="23" name="object 23"/>
            <p:cNvSpPr/>
            <p:nvPr/>
          </p:nvSpPr>
          <p:spPr>
            <a:xfrm>
              <a:off x="1107947" y="3168395"/>
              <a:ext cx="3770629" cy="692150"/>
            </a:xfrm>
            <a:custGeom>
              <a:avLst/>
              <a:gdLst/>
              <a:ahLst/>
              <a:cxnLst/>
              <a:rect l="l" t="t" r="r" b="b"/>
              <a:pathLst>
                <a:path w="3770629" h="692150">
                  <a:moveTo>
                    <a:pt x="3770376" y="0"/>
                  </a:moveTo>
                  <a:lnTo>
                    <a:pt x="0" y="0"/>
                  </a:lnTo>
                  <a:lnTo>
                    <a:pt x="0" y="691895"/>
                  </a:lnTo>
                  <a:lnTo>
                    <a:pt x="3770376" y="691895"/>
                  </a:lnTo>
                  <a:lnTo>
                    <a:pt x="37703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967611" y="3501008"/>
              <a:ext cx="117475" cy="13970"/>
            </a:xfrm>
            <a:custGeom>
              <a:avLst/>
              <a:gdLst/>
              <a:ahLst/>
              <a:cxnLst/>
              <a:rect l="l" t="t" r="r" b="b"/>
              <a:pathLst>
                <a:path w="117475" h="13970">
                  <a:moveTo>
                    <a:pt x="117348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17348" y="13715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975357" y="3196589"/>
            <a:ext cx="1092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67738" y="3486150"/>
            <a:ext cx="1263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81938" y="3350514"/>
            <a:ext cx="8915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36294" algn="l"/>
              </a:tabLst>
            </a:pPr>
            <a:r>
              <a:rPr dirty="0" sz="1600" spc="-5">
                <a:latin typeface="Cambria Math"/>
                <a:cs typeface="Cambria Math"/>
              </a:rPr>
              <a:t>csc</a:t>
            </a:r>
            <a:r>
              <a:rPr dirty="0" sz="1600" spc="-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𝜃</a:t>
            </a:r>
            <a:r>
              <a:rPr dirty="0" sz="1600" spc="1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,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259963" y="3501009"/>
            <a:ext cx="114300" cy="13970"/>
          </a:xfrm>
          <a:custGeom>
            <a:avLst/>
            <a:gdLst/>
            <a:ahLst/>
            <a:cxnLst/>
            <a:rect l="l" t="t" r="r" b="b"/>
            <a:pathLst>
              <a:path w="114300" h="13970">
                <a:moveTo>
                  <a:pt x="114300" y="0"/>
                </a:moveTo>
                <a:lnTo>
                  <a:pt x="0" y="0"/>
                </a:lnTo>
                <a:lnTo>
                  <a:pt x="0" y="13715"/>
                </a:lnTo>
                <a:lnTo>
                  <a:pt x="114300" y="13715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266566" y="3196589"/>
            <a:ext cx="1092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60471" y="3486150"/>
            <a:ext cx="120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67051" y="3350514"/>
            <a:ext cx="8959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40740" algn="l"/>
              </a:tabLst>
            </a:pPr>
            <a:r>
              <a:rPr dirty="0" sz="1600" spc="-5">
                <a:latin typeface="Cambria Math"/>
                <a:cs typeface="Cambria Math"/>
              </a:rPr>
              <a:t>sec</a:t>
            </a:r>
            <a:r>
              <a:rPr dirty="0" sz="1600" spc="-1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𝜃</a:t>
            </a:r>
            <a:r>
              <a:rPr dirty="0" sz="1600" spc="1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,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540122" y="3501009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70">
                <a:moveTo>
                  <a:pt x="117348" y="0"/>
                </a:moveTo>
                <a:lnTo>
                  <a:pt x="0" y="0"/>
                </a:lnTo>
                <a:lnTo>
                  <a:pt x="0" y="13715"/>
                </a:lnTo>
                <a:lnTo>
                  <a:pt x="117348" y="13715"/>
                </a:lnTo>
                <a:lnTo>
                  <a:pt x="117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856354" y="3196589"/>
            <a:ext cx="81089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85800">
              <a:lnSpc>
                <a:spcPts val="1565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140"/>
              </a:lnSpc>
            </a:pPr>
            <a:r>
              <a:rPr dirty="0" sz="1600" spc="-5">
                <a:latin typeface="Cambria Math"/>
                <a:cs typeface="Cambria Math"/>
              </a:rPr>
              <a:t>cot</a:t>
            </a:r>
            <a:r>
              <a:rPr dirty="0" sz="1600" spc="-1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𝜃</a:t>
            </a:r>
            <a:r>
              <a:rPr dirty="0" sz="1600" spc="1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  <a:p>
            <a:pPr marL="683895">
              <a:lnSpc>
                <a:spcPts val="1495"/>
              </a:lnSpc>
            </a:pPr>
            <a:r>
              <a:rPr dirty="0" sz="1600" spc="-5"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3177"/>
            <a:ext cx="4702302" cy="302564"/>
          </a:xfrm>
          <a:prstGeom prst="rect">
            <a:avLst/>
          </a:prstGeom>
        </p:spPr>
      </p:pic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5708903" y="2467355"/>
          <a:ext cx="3633470" cy="3162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6810"/>
                <a:gridCol w="673100"/>
                <a:gridCol w="389889"/>
                <a:gridCol w="224155"/>
                <a:gridCol w="1180465"/>
              </a:tblGrid>
              <a:tr h="277368">
                <a:tc gridSpan="5">
                  <a:txBody>
                    <a:bodyPr/>
                    <a:lstStyle/>
                    <a:p>
                      <a:pPr marL="7518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ef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ion</a:t>
                      </a:r>
                      <a:r>
                        <a:rPr dirty="0" sz="1300" spc="-6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</a:t>
                      </a:r>
                      <a:r>
                        <a:rPr dirty="0" sz="1300" spc="-1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00" spc="-1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1300" spc="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dirty="0" sz="1300" spc="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tr</a:t>
                      </a:r>
                      <a:r>
                        <a:rPr dirty="0" sz="13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dirty="0" sz="1300" spc="-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</a:t>
                      </a:r>
                      <a:r>
                        <a:rPr dirty="0" sz="1300" spc="-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un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ction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585858"/>
                      </a:solidFill>
                      <a:prstDash val="solid"/>
                    </a:lnL>
                    <a:lnR w="12700">
                      <a:solidFill>
                        <a:srgbClr val="585858"/>
                      </a:solidFill>
                      <a:prstDash val="solid"/>
                    </a:lnR>
                    <a:lnT w="12700">
                      <a:solidFill>
                        <a:srgbClr val="58585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72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L="92075">
                        <a:lnSpc>
                          <a:spcPct val="100000"/>
                        </a:lnSpc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−𝑟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585858"/>
                      </a:solidFill>
                      <a:prstDash val="solid"/>
                    </a:lnL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r" marR="14668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 marR="8763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30"/>
                        </a:lnSpc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123189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+𝑟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𝑟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215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𝜃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−𝑟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𝑥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066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(</a:t>
                      </a:r>
                      <a:r>
                        <a:rPr dirty="0" sz="1300" spc="4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1300" spc="-7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300" spc="1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)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R="80010">
                        <a:lnSpc>
                          <a:spcPct val="100000"/>
                        </a:lnSpc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𝑥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algn="ctr" marR="2222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+𝑟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12700">
                      <a:solidFill>
                        <a:srgbClr val="585858"/>
                      </a:solidFill>
                      <a:prstDash val="solid"/>
                    </a:lnR>
                    <a:lnB w="12700">
                      <a:solidFill>
                        <a:srgbClr val="58585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6171438" y="2864357"/>
            <a:ext cx="2751455" cy="2578100"/>
            <a:chOff x="6171438" y="2864357"/>
            <a:chExt cx="2751455" cy="2578100"/>
          </a:xfrm>
        </p:grpSpPr>
        <p:sp>
          <p:nvSpPr>
            <p:cNvPr id="37" name="object 37"/>
            <p:cNvSpPr/>
            <p:nvPr/>
          </p:nvSpPr>
          <p:spPr>
            <a:xfrm>
              <a:off x="6585966" y="3320033"/>
              <a:ext cx="1873250" cy="1911350"/>
            </a:xfrm>
            <a:custGeom>
              <a:avLst/>
              <a:gdLst/>
              <a:ahLst/>
              <a:cxnLst/>
              <a:rect l="l" t="t" r="r" b="b"/>
              <a:pathLst>
                <a:path w="1873250" h="1911350">
                  <a:moveTo>
                    <a:pt x="0" y="955547"/>
                  </a:moveTo>
                  <a:lnTo>
                    <a:pt x="1218" y="906379"/>
                  </a:lnTo>
                  <a:lnTo>
                    <a:pt x="4834" y="857856"/>
                  </a:lnTo>
                  <a:lnTo>
                    <a:pt x="10789" y="810038"/>
                  </a:lnTo>
                  <a:lnTo>
                    <a:pt x="19023" y="762985"/>
                  </a:lnTo>
                  <a:lnTo>
                    <a:pt x="29479" y="716758"/>
                  </a:lnTo>
                  <a:lnTo>
                    <a:pt x="42098" y="671415"/>
                  </a:lnTo>
                  <a:lnTo>
                    <a:pt x="56820" y="627018"/>
                  </a:lnTo>
                  <a:lnTo>
                    <a:pt x="73586" y="583626"/>
                  </a:lnTo>
                  <a:lnTo>
                    <a:pt x="92339" y="541300"/>
                  </a:lnTo>
                  <a:lnTo>
                    <a:pt x="113018" y="500099"/>
                  </a:lnTo>
                  <a:lnTo>
                    <a:pt x="135566" y="460083"/>
                  </a:lnTo>
                  <a:lnTo>
                    <a:pt x="159924" y="421313"/>
                  </a:lnTo>
                  <a:lnTo>
                    <a:pt x="186032" y="383849"/>
                  </a:lnTo>
                  <a:lnTo>
                    <a:pt x="213832" y="347751"/>
                  </a:lnTo>
                  <a:lnTo>
                    <a:pt x="243265" y="313078"/>
                  </a:lnTo>
                  <a:lnTo>
                    <a:pt x="274272" y="279892"/>
                  </a:lnTo>
                  <a:lnTo>
                    <a:pt x="306795" y="248251"/>
                  </a:lnTo>
                  <a:lnTo>
                    <a:pt x="340774" y="218216"/>
                  </a:lnTo>
                  <a:lnTo>
                    <a:pt x="376151" y="189848"/>
                  </a:lnTo>
                  <a:lnTo>
                    <a:pt x="412867" y="163205"/>
                  </a:lnTo>
                  <a:lnTo>
                    <a:pt x="450864" y="138349"/>
                  </a:lnTo>
                  <a:lnTo>
                    <a:pt x="490081" y="115339"/>
                  </a:lnTo>
                  <a:lnTo>
                    <a:pt x="530462" y="94235"/>
                  </a:lnTo>
                  <a:lnTo>
                    <a:pt x="571946" y="75098"/>
                  </a:lnTo>
                  <a:lnTo>
                    <a:pt x="614475" y="57987"/>
                  </a:lnTo>
                  <a:lnTo>
                    <a:pt x="657990" y="42963"/>
                  </a:lnTo>
                  <a:lnTo>
                    <a:pt x="702433" y="30086"/>
                  </a:lnTo>
                  <a:lnTo>
                    <a:pt x="747744" y="19415"/>
                  </a:lnTo>
                  <a:lnTo>
                    <a:pt x="793865" y="11011"/>
                  </a:lnTo>
                  <a:lnTo>
                    <a:pt x="840737" y="4933"/>
                  </a:lnTo>
                  <a:lnTo>
                    <a:pt x="888300" y="1243"/>
                  </a:lnTo>
                  <a:lnTo>
                    <a:pt x="936498" y="0"/>
                  </a:lnTo>
                  <a:lnTo>
                    <a:pt x="984695" y="1243"/>
                  </a:lnTo>
                  <a:lnTo>
                    <a:pt x="1032258" y="4933"/>
                  </a:lnTo>
                  <a:lnTo>
                    <a:pt x="1079130" y="11011"/>
                  </a:lnTo>
                  <a:lnTo>
                    <a:pt x="1125251" y="19415"/>
                  </a:lnTo>
                  <a:lnTo>
                    <a:pt x="1170562" y="30086"/>
                  </a:lnTo>
                  <a:lnTo>
                    <a:pt x="1215005" y="42963"/>
                  </a:lnTo>
                  <a:lnTo>
                    <a:pt x="1258520" y="57987"/>
                  </a:lnTo>
                  <a:lnTo>
                    <a:pt x="1301049" y="75098"/>
                  </a:lnTo>
                  <a:lnTo>
                    <a:pt x="1342533" y="94235"/>
                  </a:lnTo>
                  <a:lnTo>
                    <a:pt x="1382914" y="115339"/>
                  </a:lnTo>
                  <a:lnTo>
                    <a:pt x="1422131" y="138349"/>
                  </a:lnTo>
                  <a:lnTo>
                    <a:pt x="1460128" y="163205"/>
                  </a:lnTo>
                  <a:lnTo>
                    <a:pt x="1496844" y="189848"/>
                  </a:lnTo>
                  <a:lnTo>
                    <a:pt x="1532221" y="218216"/>
                  </a:lnTo>
                  <a:lnTo>
                    <a:pt x="1566200" y="248251"/>
                  </a:lnTo>
                  <a:lnTo>
                    <a:pt x="1598723" y="279892"/>
                  </a:lnTo>
                  <a:lnTo>
                    <a:pt x="1629730" y="313078"/>
                  </a:lnTo>
                  <a:lnTo>
                    <a:pt x="1659163" y="347751"/>
                  </a:lnTo>
                  <a:lnTo>
                    <a:pt x="1686963" y="383849"/>
                  </a:lnTo>
                  <a:lnTo>
                    <a:pt x="1713071" y="421313"/>
                  </a:lnTo>
                  <a:lnTo>
                    <a:pt x="1737429" y="460083"/>
                  </a:lnTo>
                  <a:lnTo>
                    <a:pt x="1759977" y="500099"/>
                  </a:lnTo>
                  <a:lnTo>
                    <a:pt x="1780656" y="541300"/>
                  </a:lnTo>
                  <a:lnTo>
                    <a:pt x="1799409" y="583626"/>
                  </a:lnTo>
                  <a:lnTo>
                    <a:pt x="1816175" y="627018"/>
                  </a:lnTo>
                  <a:lnTo>
                    <a:pt x="1830897" y="671415"/>
                  </a:lnTo>
                  <a:lnTo>
                    <a:pt x="1843516" y="716758"/>
                  </a:lnTo>
                  <a:lnTo>
                    <a:pt x="1853972" y="762985"/>
                  </a:lnTo>
                  <a:lnTo>
                    <a:pt x="1862206" y="810038"/>
                  </a:lnTo>
                  <a:lnTo>
                    <a:pt x="1868161" y="857856"/>
                  </a:lnTo>
                  <a:lnTo>
                    <a:pt x="1871777" y="906379"/>
                  </a:lnTo>
                  <a:lnTo>
                    <a:pt x="1872995" y="955547"/>
                  </a:lnTo>
                  <a:lnTo>
                    <a:pt x="1871777" y="1004716"/>
                  </a:lnTo>
                  <a:lnTo>
                    <a:pt x="1868161" y="1053239"/>
                  </a:lnTo>
                  <a:lnTo>
                    <a:pt x="1862206" y="1101057"/>
                  </a:lnTo>
                  <a:lnTo>
                    <a:pt x="1853972" y="1148110"/>
                  </a:lnTo>
                  <a:lnTo>
                    <a:pt x="1843516" y="1194337"/>
                  </a:lnTo>
                  <a:lnTo>
                    <a:pt x="1830897" y="1239680"/>
                  </a:lnTo>
                  <a:lnTo>
                    <a:pt x="1816175" y="1284077"/>
                  </a:lnTo>
                  <a:lnTo>
                    <a:pt x="1799409" y="1327469"/>
                  </a:lnTo>
                  <a:lnTo>
                    <a:pt x="1780656" y="1369795"/>
                  </a:lnTo>
                  <a:lnTo>
                    <a:pt x="1759977" y="1410996"/>
                  </a:lnTo>
                  <a:lnTo>
                    <a:pt x="1737429" y="1451012"/>
                  </a:lnTo>
                  <a:lnTo>
                    <a:pt x="1713071" y="1489782"/>
                  </a:lnTo>
                  <a:lnTo>
                    <a:pt x="1686963" y="1527246"/>
                  </a:lnTo>
                  <a:lnTo>
                    <a:pt x="1659163" y="1563344"/>
                  </a:lnTo>
                  <a:lnTo>
                    <a:pt x="1629730" y="1598017"/>
                  </a:lnTo>
                  <a:lnTo>
                    <a:pt x="1598723" y="1631203"/>
                  </a:lnTo>
                  <a:lnTo>
                    <a:pt x="1566200" y="1662844"/>
                  </a:lnTo>
                  <a:lnTo>
                    <a:pt x="1532221" y="1692879"/>
                  </a:lnTo>
                  <a:lnTo>
                    <a:pt x="1496844" y="1721247"/>
                  </a:lnTo>
                  <a:lnTo>
                    <a:pt x="1460128" y="1747890"/>
                  </a:lnTo>
                  <a:lnTo>
                    <a:pt x="1422131" y="1772746"/>
                  </a:lnTo>
                  <a:lnTo>
                    <a:pt x="1382914" y="1795756"/>
                  </a:lnTo>
                  <a:lnTo>
                    <a:pt x="1342533" y="1816860"/>
                  </a:lnTo>
                  <a:lnTo>
                    <a:pt x="1301049" y="1835997"/>
                  </a:lnTo>
                  <a:lnTo>
                    <a:pt x="1258520" y="1853108"/>
                  </a:lnTo>
                  <a:lnTo>
                    <a:pt x="1215005" y="1868132"/>
                  </a:lnTo>
                  <a:lnTo>
                    <a:pt x="1170562" y="1881009"/>
                  </a:lnTo>
                  <a:lnTo>
                    <a:pt x="1125251" y="1891680"/>
                  </a:lnTo>
                  <a:lnTo>
                    <a:pt x="1079130" y="1900084"/>
                  </a:lnTo>
                  <a:lnTo>
                    <a:pt x="1032258" y="1906162"/>
                  </a:lnTo>
                  <a:lnTo>
                    <a:pt x="984695" y="1909852"/>
                  </a:lnTo>
                  <a:lnTo>
                    <a:pt x="936498" y="1911095"/>
                  </a:lnTo>
                  <a:lnTo>
                    <a:pt x="888300" y="1909852"/>
                  </a:lnTo>
                  <a:lnTo>
                    <a:pt x="840737" y="1906162"/>
                  </a:lnTo>
                  <a:lnTo>
                    <a:pt x="793865" y="1900084"/>
                  </a:lnTo>
                  <a:lnTo>
                    <a:pt x="747744" y="1891680"/>
                  </a:lnTo>
                  <a:lnTo>
                    <a:pt x="702433" y="1881009"/>
                  </a:lnTo>
                  <a:lnTo>
                    <a:pt x="657990" y="1868132"/>
                  </a:lnTo>
                  <a:lnTo>
                    <a:pt x="614475" y="1853108"/>
                  </a:lnTo>
                  <a:lnTo>
                    <a:pt x="571946" y="1835997"/>
                  </a:lnTo>
                  <a:lnTo>
                    <a:pt x="530462" y="1816860"/>
                  </a:lnTo>
                  <a:lnTo>
                    <a:pt x="490081" y="1795756"/>
                  </a:lnTo>
                  <a:lnTo>
                    <a:pt x="450864" y="1772746"/>
                  </a:lnTo>
                  <a:lnTo>
                    <a:pt x="412867" y="1747890"/>
                  </a:lnTo>
                  <a:lnTo>
                    <a:pt x="376151" y="1721247"/>
                  </a:lnTo>
                  <a:lnTo>
                    <a:pt x="340774" y="1692879"/>
                  </a:lnTo>
                  <a:lnTo>
                    <a:pt x="306795" y="1662844"/>
                  </a:lnTo>
                  <a:lnTo>
                    <a:pt x="274272" y="1631203"/>
                  </a:lnTo>
                  <a:lnTo>
                    <a:pt x="243265" y="1598017"/>
                  </a:lnTo>
                  <a:lnTo>
                    <a:pt x="213832" y="1563344"/>
                  </a:lnTo>
                  <a:lnTo>
                    <a:pt x="186032" y="1527246"/>
                  </a:lnTo>
                  <a:lnTo>
                    <a:pt x="159924" y="1489782"/>
                  </a:lnTo>
                  <a:lnTo>
                    <a:pt x="135566" y="1451012"/>
                  </a:lnTo>
                  <a:lnTo>
                    <a:pt x="113018" y="1410996"/>
                  </a:lnTo>
                  <a:lnTo>
                    <a:pt x="92339" y="1369795"/>
                  </a:lnTo>
                  <a:lnTo>
                    <a:pt x="73586" y="1327469"/>
                  </a:lnTo>
                  <a:lnTo>
                    <a:pt x="56820" y="1284077"/>
                  </a:lnTo>
                  <a:lnTo>
                    <a:pt x="42098" y="1239680"/>
                  </a:lnTo>
                  <a:lnTo>
                    <a:pt x="29479" y="1194337"/>
                  </a:lnTo>
                  <a:lnTo>
                    <a:pt x="19023" y="1148110"/>
                  </a:lnTo>
                  <a:lnTo>
                    <a:pt x="10789" y="1101057"/>
                  </a:lnTo>
                  <a:lnTo>
                    <a:pt x="4834" y="1053239"/>
                  </a:lnTo>
                  <a:lnTo>
                    <a:pt x="1218" y="1004716"/>
                  </a:lnTo>
                  <a:lnTo>
                    <a:pt x="0" y="955547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466076" y="2864357"/>
              <a:ext cx="114300" cy="2578100"/>
            </a:xfrm>
            <a:custGeom>
              <a:avLst/>
              <a:gdLst/>
              <a:ahLst/>
              <a:cxnLst/>
              <a:rect l="l" t="t" r="r" b="b"/>
              <a:pathLst>
                <a:path w="114300" h="257810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577972"/>
                  </a:lnTo>
                  <a:lnTo>
                    <a:pt x="76200" y="2577972"/>
                  </a:lnTo>
                  <a:lnTo>
                    <a:pt x="76200" y="95250"/>
                  </a:lnTo>
                  <a:close/>
                </a:path>
                <a:path w="114300" h="257810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57810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535418" y="3490721"/>
              <a:ext cx="431800" cy="742315"/>
            </a:xfrm>
            <a:custGeom>
              <a:avLst/>
              <a:gdLst/>
              <a:ahLst/>
              <a:cxnLst/>
              <a:rect l="l" t="t" r="r" b="b"/>
              <a:pathLst>
                <a:path w="431800" h="742314">
                  <a:moveTo>
                    <a:pt x="0" y="742188"/>
                  </a:moveTo>
                  <a:lnTo>
                    <a:pt x="9484" y="688577"/>
                  </a:lnTo>
                  <a:lnTo>
                    <a:pt x="19298" y="635347"/>
                  </a:lnTo>
                  <a:lnTo>
                    <a:pt x="29769" y="582875"/>
                  </a:lnTo>
                  <a:lnTo>
                    <a:pt x="41227" y="531542"/>
                  </a:lnTo>
                  <a:lnTo>
                    <a:pt x="54001" y="481727"/>
                  </a:lnTo>
                  <a:lnTo>
                    <a:pt x="68419" y="433810"/>
                  </a:lnTo>
                  <a:lnTo>
                    <a:pt x="84810" y="388169"/>
                  </a:lnTo>
                  <a:lnTo>
                    <a:pt x="103504" y="345185"/>
                  </a:lnTo>
                  <a:lnTo>
                    <a:pt x="129339" y="298519"/>
                  </a:lnTo>
                  <a:lnTo>
                    <a:pt x="159975" y="253794"/>
                  </a:lnTo>
                  <a:lnTo>
                    <a:pt x="193525" y="211538"/>
                  </a:lnTo>
                  <a:lnTo>
                    <a:pt x="228104" y="172276"/>
                  </a:lnTo>
                  <a:lnTo>
                    <a:pt x="261825" y="136535"/>
                  </a:lnTo>
                  <a:lnTo>
                    <a:pt x="292803" y="104842"/>
                  </a:lnTo>
                  <a:lnTo>
                    <a:pt x="319150" y="77724"/>
                  </a:lnTo>
                  <a:lnTo>
                    <a:pt x="355675" y="42719"/>
                  </a:lnTo>
                  <a:lnTo>
                    <a:pt x="384936" y="21050"/>
                  </a:lnTo>
                  <a:lnTo>
                    <a:pt x="409340" y="8286"/>
                  </a:lnTo>
                  <a:lnTo>
                    <a:pt x="431291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636763" y="3619499"/>
              <a:ext cx="119380" cy="200025"/>
            </a:xfrm>
            <a:custGeom>
              <a:avLst/>
              <a:gdLst/>
              <a:ahLst/>
              <a:cxnLst/>
              <a:rect l="l" t="t" r="r" b="b"/>
              <a:pathLst>
                <a:path w="119379" h="200025">
                  <a:moveTo>
                    <a:pt x="118872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118872" y="199644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78674" y="4100321"/>
              <a:ext cx="86232" cy="15265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41564" y="3422903"/>
              <a:ext cx="143255" cy="14173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546848" y="3564635"/>
              <a:ext cx="429259" cy="681355"/>
            </a:xfrm>
            <a:custGeom>
              <a:avLst/>
              <a:gdLst/>
              <a:ahLst/>
              <a:cxnLst/>
              <a:rect l="l" t="t" r="r" b="b"/>
              <a:pathLst>
                <a:path w="429259" h="681354">
                  <a:moveTo>
                    <a:pt x="0" y="681355"/>
                  </a:moveTo>
                  <a:lnTo>
                    <a:pt x="428751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508748" y="3479291"/>
              <a:ext cx="504825" cy="767080"/>
            </a:xfrm>
            <a:custGeom>
              <a:avLst/>
              <a:gdLst/>
              <a:ahLst/>
              <a:cxnLst/>
              <a:rect l="l" t="t" r="r" b="b"/>
              <a:pathLst>
                <a:path w="504825" h="767079">
                  <a:moveTo>
                    <a:pt x="504444" y="766699"/>
                  </a:moveTo>
                  <a:lnTo>
                    <a:pt x="504444" y="85344"/>
                  </a:lnTo>
                </a:path>
                <a:path w="504825" h="767079">
                  <a:moveTo>
                    <a:pt x="0" y="0"/>
                  </a:moveTo>
                  <a:lnTo>
                    <a:pt x="433197" y="13588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171438" y="4218431"/>
              <a:ext cx="2751455" cy="114300"/>
            </a:xfrm>
            <a:custGeom>
              <a:avLst/>
              <a:gdLst/>
              <a:ahLst/>
              <a:cxnLst/>
              <a:rect l="l" t="t" r="r" b="b"/>
              <a:pathLst>
                <a:path w="2751454" h="114300">
                  <a:moveTo>
                    <a:pt x="2636773" y="0"/>
                  </a:moveTo>
                  <a:lnTo>
                    <a:pt x="2636773" y="114300"/>
                  </a:lnTo>
                  <a:lnTo>
                    <a:pt x="2712973" y="76200"/>
                  </a:lnTo>
                  <a:lnTo>
                    <a:pt x="2655823" y="76200"/>
                  </a:lnTo>
                  <a:lnTo>
                    <a:pt x="2655823" y="38100"/>
                  </a:lnTo>
                  <a:lnTo>
                    <a:pt x="2712973" y="38100"/>
                  </a:lnTo>
                  <a:lnTo>
                    <a:pt x="2636773" y="0"/>
                  </a:lnTo>
                  <a:close/>
                </a:path>
                <a:path w="2751454" h="114300">
                  <a:moveTo>
                    <a:pt x="263677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636773" y="76200"/>
                  </a:lnTo>
                  <a:lnTo>
                    <a:pt x="2636773" y="38100"/>
                  </a:lnTo>
                  <a:close/>
                </a:path>
                <a:path w="2751454" h="114300">
                  <a:moveTo>
                    <a:pt x="2712973" y="38100"/>
                  </a:moveTo>
                  <a:lnTo>
                    <a:pt x="2655823" y="38100"/>
                  </a:lnTo>
                  <a:lnTo>
                    <a:pt x="2655823" y="76200"/>
                  </a:lnTo>
                  <a:lnTo>
                    <a:pt x="2712973" y="76200"/>
                  </a:lnTo>
                  <a:lnTo>
                    <a:pt x="2751073" y="57150"/>
                  </a:lnTo>
                  <a:lnTo>
                    <a:pt x="271297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7" y="6524434"/>
            <a:ext cx="767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0154"/>
            <a:ext cx="4517898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935479"/>
            <a:ext cx="2273046" cy="18211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8829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2.9.</a:t>
            </a:r>
            <a:r>
              <a:rPr dirty="0" spc="-20"/>
              <a:t> </a:t>
            </a:r>
            <a:r>
              <a:rPr dirty="0" spc="-5"/>
              <a:t>Trigonometric</a:t>
            </a:r>
            <a:r>
              <a:rPr dirty="0" spc="-20"/>
              <a:t> </a:t>
            </a:r>
            <a:r>
              <a:rPr dirty="0" spc="-5"/>
              <a:t>Functions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2248" y="2267585"/>
            <a:ext cx="8417560" cy="4037329"/>
            <a:chOff x="722248" y="2267585"/>
            <a:chExt cx="8417560" cy="4037329"/>
          </a:xfrm>
        </p:grpSpPr>
        <p:sp>
          <p:nvSpPr>
            <p:cNvPr id="11" name="object 11"/>
            <p:cNvSpPr/>
            <p:nvPr/>
          </p:nvSpPr>
          <p:spPr>
            <a:xfrm>
              <a:off x="725423" y="2270760"/>
              <a:ext cx="8411210" cy="4030979"/>
            </a:xfrm>
            <a:custGeom>
              <a:avLst/>
              <a:gdLst/>
              <a:ahLst/>
              <a:cxnLst/>
              <a:rect l="l" t="t" r="r" b="b"/>
              <a:pathLst>
                <a:path w="8411210" h="4030979">
                  <a:moveTo>
                    <a:pt x="0" y="4030979"/>
                  </a:moveTo>
                  <a:lnTo>
                    <a:pt x="8410956" y="4030979"/>
                  </a:lnTo>
                  <a:lnTo>
                    <a:pt x="8410956" y="0"/>
                  </a:lnTo>
                  <a:lnTo>
                    <a:pt x="0" y="0"/>
                  </a:lnTo>
                  <a:lnTo>
                    <a:pt x="0" y="4030979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2327" y="2593848"/>
              <a:ext cx="6995159" cy="14935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73401" y="2414778"/>
              <a:ext cx="76200" cy="1773555"/>
            </a:xfrm>
            <a:custGeom>
              <a:avLst/>
              <a:gdLst/>
              <a:ahLst/>
              <a:cxnLst/>
              <a:rect l="l" t="t" r="r" b="b"/>
              <a:pathLst>
                <a:path w="76200" h="1773554">
                  <a:moveTo>
                    <a:pt x="48006" y="63500"/>
                  </a:moveTo>
                  <a:lnTo>
                    <a:pt x="28193" y="63500"/>
                  </a:lnTo>
                  <a:lnTo>
                    <a:pt x="28193" y="1773047"/>
                  </a:lnTo>
                  <a:lnTo>
                    <a:pt x="48006" y="1773047"/>
                  </a:lnTo>
                  <a:lnTo>
                    <a:pt x="48006" y="63500"/>
                  </a:lnTo>
                  <a:close/>
                </a:path>
                <a:path w="76200" h="1773554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773554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73095" y="2519172"/>
              <a:ext cx="5366385" cy="1649730"/>
            </a:xfrm>
            <a:custGeom>
              <a:avLst/>
              <a:gdLst/>
              <a:ahLst/>
              <a:cxnLst/>
              <a:rect l="l" t="t" r="r" b="b"/>
              <a:pathLst>
                <a:path w="5366384" h="1649729">
                  <a:moveTo>
                    <a:pt x="0" y="0"/>
                  </a:moveTo>
                  <a:lnTo>
                    <a:pt x="0" y="1649348"/>
                  </a:lnTo>
                </a:path>
                <a:path w="5366384" h="1649729">
                  <a:moveTo>
                    <a:pt x="262128" y="0"/>
                  </a:moveTo>
                  <a:lnTo>
                    <a:pt x="262128" y="1649348"/>
                  </a:lnTo>
                </a:path>
                <a:path w="5366384" h="1649729">
                  <a:moveTo>
                    <a:pt x="531876" y="0"/>
                  </a:moveTo>
                  <a:lnTo>
                    <a:pt x="531876" y="1649348"/>
                  </a:lnTo>
                </a:path>
                <a:path w="5366384" h="1649729">
                  <a:moveTo>
                    <a:pt x="1601724" y="0"/>
                  </a:moveTo>
                  <a:lnTo>
                    <a:pt x="1601724" y="1649348"/>
                  </a:lnTo>
                </a:path>
                <a:path w="5366384" h="1649729">
                  <a:moveTo>
                    <a:pt x="1868424" y="0"/>
                  </a:moveTo>
                  <a:lnTo>
                    <a:pt x="1868424" y="1649348"/>
                  </a:lnTo>
                </a:path>
                <a:path w="5366384" h="1649729">
                  <a:moveTo>
                    <a:pt x="2133600" y="0"/>
                  </a:moveTo>
                  <a:lnTo>
                    <a:pt x="2133600" y="1649348"/>
                  </a:lnTo>
                </a:path>
                <a:path w="5366384" h="1649729">
                  <a:moveTo>
                    <a:pt x="3227832" y="0"/>
                  </a:moveTo>
                  <a:lnTo>
                    <a:pt x="3227832" y="1649348"/>
                  </a:lnTo>
                </a:path>
                <a:path w="5366384" h="1649729">
                  <a:moveTo>
                    <a:pt x="3494531" y="0"/>
                  </a:moveTo>
                  <a:lnTo>
                    <a:pt x="3494531" y="1649348"/>
                  </a:lnTo>
                </a:path>
                <a:path w="5366384" h="1649729">
                  <a:moveTo>
                    <a:pt x="3759707" y="0"/>
                  </a:moveTo>
                  <a:lnTo>
                    <a:pt x="3759707" y="1649348"/>
                  </a:lnTo>
                </a:path>
                <a:path w="5366384" h="1649729">
                  <a:moveTo>
                    <a:pt x="4835652" y="0"/>
                  </a:moveTo>
                  <a:lnTo>
                    <a:pt x="4835652" y="1649348"/>
                  </a:lnTo>
                </a:path>
                <a:path w="5366384" h="1649729">
                  <a:moveTo>
                    <a:pt x="5100828" y="0"/>
                  </a:moveTo>
                  <a:lnTo>
                    <a:pt x="5100828" y="1649348"/>
                  </a:lnTo>
                </a:path>
                <a:path w="5366384" h="1649729">
                  <a:moveTo>
                    <a:pt x="5366004" y="0"/>
                  </a:moveTo>
                  <a:lnTo>
                    <a:pt x="5366004" y="1649348"/>
                  </a:lnTo>
                </a:path>
              </a:pathLst>
            </a:custGeom>
            <a:ln w="9144">
              <a:solidFill>
                <a:srgbClr val="58585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35323" y="2519172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348"/>
                  </a:lnTo>
                </a:path>
              </a:pathLst>
            </a:custGeom>
            <a:ln w="1219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43906" y="2519934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348"/>
                  </a:lnTo>
                </a:path>
              </a:pathLst>
            </a:custGeom>
            <a:ln w="1981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967727" y="2519172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348"/>
                  </a:lnTo>
                </a:path>
              </a:pathLst>
            </a:custGeom>
            <a:ln w="1219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577833" y="2519934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348"/>
                  </a:lnTo>
                </a:path>
              </a:pathLst>
            </a:custGeom>
            <a:ln w="1981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84248" y="2599944"/>
              <a:ext cx="6264910" cy="1472565"/>
            </a:xfrm>
            <a:custGeom>
              <a:avLst/>
              <a:gdLst/>
              <a:ahLst/>
              <a:cxnLst/>
              <a:rect l="l" t="t" r="r" b="b"/>
              <a:pathLst>
                <a:path w="6264909" h="1472564">
                  <a:moveTo>
                    <a:pt x="0" y="0"/>
                  </a:moveTo>
                  <a:lnTo>
                    <a:pt x="2088261" y="0"/>
                  </a:lnTo>
                </a:path>
                <a:path w="6264909" h="1472564">
                  <a:moveTo>
                    <a:pt x="0" y="105155"/>
                  </a:moveTo>
                  <a:lnTo>
                    <a:pt x="2419350" y="105155"/>
                  </a:lnTo>
                </a:path>
                <a:path w="6264909" h="1472564">
                  <a:moveTo>
                    <a:pt x="0" y="225551"/>
                  </a:moveTo>
                  <a:lnTo>
                    <a:pt x="2736341" y="225551"/>
                  </a:lnTo>
                </a:path>
                <a:path w="6264909" h="1472564">
                  <a:moveTo>
                    <a:pt x="0" y="374903"/>
                  </a:moveTo>
                  <a:lnTo>
                    <a:pt x="3240404" y="374903"/>
                  </a:lnTo>
                </a:path>
                <a:path w="6264909" h="1472564">
                  <a:moveTo>
                    <a:pt x="0" y="1098803"/>
                  </a:moveTo>
                  <a:lnTo>
                    <a:pt x="6264656" y="1098803"/>
                  </a:lnTo>
                </a:path>
                <a:path w="6264909" h="1472564">
                  <a:moveTo>
                    <a:pt x="0" y="1252727"/>
                  </a:moveTo>
                  <a:lnTo>
                    <a:pt x="5904610" y="1252727"/>
                  </a:lnTo>
                </a:path>
                <a:path w="6264909" h="1472564">
                  <a:moveTo>
                    <a:pt x="0" y="1368551"/>
                  </a:moveTo>
                  <a:lnTo>
                    <a:pt x="5616575" y="1368551"/>
                  </a:lnTo>
                </a:path>
                <a:path w="6264909" h="1472564">
                  <a:moveTo>
                    <a:pt x="0" y="1472183"/>
                  </a:moveTo>
                  <a:lnTo>
                    <a:pt x="5328538" y="1472183"/>
                  </a:lnTo>
                </a:path>
              </a:pathLst>
            </a:custGeom>
            <a:ln w="9144">
              <a:solidFill>
                <a:srgbClr val="58585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863090" y="3341370"/>
              <a:ext cx="6993890" cy="0"/>
            </a:xfrm>
            <a:custGeom>
              <a:avLst/>
              <a:gdLst/>
              <a:ahLst/>
              <a:cxnLst/>
              <a:rect l="l" t="t" r="r" b="b"/>
              <a:pathLst>
                <a:path w="6993890" h="0">
                  <a:moveTo>
                    <a:pt x="0" y="0"/>
                  </a:moveTo>
                  <a:lnTo>
                    <a:pt x="6993890" y="0"/>
                  </a:lnTo>
                </a:path>
              </a:pathLst>
            </a:custGeom>
            <a:ln w="1981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1115" y="3293363"/>
              <a:ext cx="89915" cy="899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375" y="2927604"/>
              <a:ext cx="89916" cy="899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87979" y="2781300"/>
              <a:ext cx="89915" cy="899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94175" y="2554224"/>
              <a:ext cx="89915" cy="8991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0775" y="2667000"/>
              <a:ext cx="88392" cy="899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30623" y="2660904"/>
              <a:ext cx="89915" cy="8839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4276" y="2781300"/>
              <a:ext cx="89915" cy="899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57927" y="2923032"/>
              <a:ext cx="89916" cy="899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2159" y="3649980"/>
              <a:ext cx="89915" cy="899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1995" y="3288792"/>
              <a:ext cx="89915" cy="8991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18859" y="3800856"/>
              <a:ext cx="89915" cy="899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91656" y="3919727"/>
              <a:ext cx="89916" cy="899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23532" y="4034027"/>
              <a:ext cx="89916" cy="899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26680" y="3794760"/>
              <a:ext cx="88392" cy="8991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52359" y="3921252"/>
              <a:ext cx="89916" cy="899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94904" y="3654552"/>
              <a:ext cx="89916" cy="899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31352" y="3290316"/>
              <a:ext cx="89916" cy="8991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523744" y="3374135"/>
              <a:ext cx="820419" cy="294640"/>
            </a:xfrm>
            <a:custGeom>
              <a:avLst/>
              <a:gdLst/>
              <a:ahLst/>
              <a:cxnLst/>
              <a:rect l="l" t="t" r="r" b="b"/>
              <a:pathLst>
                <a:path w="820420" h="294639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20420" h="294639">
                  <a:moveTo>
                    <a:pt x="550164" y="213372"/>
                  </a:moveTo>
                  <a:lnTo>
                    <a:pt x="538835" y="181940"/>
                  </a:lnTo>
                  <a:lnTo>
                    <a:pt x="507961" y="156260"/>
                  </a:lnTo>
                  <a:lnTo>
                    <a:pt x="462178" y="138950"/>
                  </a:lnTo>
                  <a:lnTo>
                    <a:pt x="406146" y="132588"/>
                  </a:lnTo>
                  <a:lnTo>
                    <a:pt x="350100" y="138950"/>
                  </a:lnTo>
                  <a:lnTo>
                    <a:pt x="304317" y="156260"/>
                  </a:lnTo>
                  <a:lnTo>
                    <a:pt x="273443" y="181940"/>
                  </a:lnTo>
                  <a:lnTo>
                    <a:pt x="262128" y="213372"/>
                  </a:lnTo>
                  <a:lnTo>
                    <a:pt x="273443" y="244792"/>
                  </a:lnTo>
                  <a:lnTo>
                    <a:pt x="304317" y="270471"/>
                  </a:lnTo>
                  <a:lnTo>
                    <a:pt x="350100" y="287782"/>
                  </a:lnTo>
                  <a:lnTo>
                    <a:pt x="406146" y="294132"/>
                  </a:lnTo>
                  <a:lnTo>
                    <a:pt x="462178" y="287782"/>
                  </a:lnTo>
                  <a:lnTo>
                    <a:pt x="507961" y="270471"/>
                  </a:lnTo>
                  <a:lnTo>
                    <a:pt x="538835" y="244792"/>
                  </a:lnTo>
                  <a:lnTo>
                    <a:pt x="550164" y="213372"/>
                  </a:lnTo>
                  <a:close/>
                </a:path>
                <a:path w="820420" h="294639">
                  <a:moveTo>
                    <a:pt x="819912" y="80772"/>
                  </a:moveTo>
                  <a:lnTo>
                    <a:pt x="808583" y="49352"/>
                  </a:lnTo>
                  <a:lnTo>
                    <a:pt x="777709" y="23672"/>
                  </a:lnTo>
                  <a:lnTo>
                    <a:pt x="731926" y="6362"/>
                  </a:lnTo>
                  <a:lnTo>
                    <a:pt x="675894" y="0"/>
                  </a:lnTo>
                  <a:lnTo>
                    <a:pt x="619848" y="6362"/>
                  </a:lnTo>
                  <a:lnTo>
                    <a:pt x="574065" y="23672"/>
                  </a:lnTo>
                  <a:lnTo>
                    <a:pt x="543191" y="49352"/>
                  </a:lnTo>
                  <a:lnTo>
                    <a:pt x="531876" y="80772"/>
                  </a:lnTo>
                  <a:lnTo>
                    <a:pt x="543191" y="112204"/>
                  </a:lnTo>
                  <a:lnTo>
                    <a:pt x="574065" y="137883"/>
                  </a:lnTo>
                  <a:lnTo>
                    <a:pt x="619848" y="155194"/>
                  </a:lnTo>
                  <a:lnTo>
                    <a:pt x="675894" y="161544"/>
                  </a:lnTo>
                  <a:lnTo>
                    <a:pt x="731926" y="155194"/>
                  </a:lnTo>
                  <a:lnTo>
                    <a:pt x="777709" y="137883"/>
                  </a:lnTo>
                  <a:lnTo>
                    <a:pt x="808583" y="112204"/>
                  </a:lnTo>
                  <a:lnTo>
                    <a:pt x="819912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596640" y="3374136"/>
              <a:ext cx="288290" cy="161925"/>
            </a:xfrm>
            <a:custGeom>
              <a:avLst/>
              <a:gdLst/>
              <a:ahLst/>
              <a:cxnLst/>
              <a:rect l="l" t="t" r="r" b="b"/>
              <a:pathLst>
                <a:path w="288289" h="161925">
                  <a:moveTo>
                    <a:pt x="144018" y="0"/>
                  </a:moveTo>
                  <a:lnTo>
                    <a:pt x="87975" y="6351"/>
                  </a:lnTo>
                  <a:lnTo>
                    <a:pt x="42195" y="23669"/>
                  </a:lnTo>
                  <a:lnTo>
                    <a:pt x="11322" y="49345"/>
                  </a:lnTo>
                  <a:lnTo>
                    <a:pt x="0" y="80772"/>
                  </a:lnTo>
                  <a:lnTo>
                    <a:pt x="11322" y="112198"/>
                  </a:lnTo>
                  <a:lnTo>
                    <a:pt x="42195" y="137874"/>
                  </a:lnTo>
                  <a:lnTo>
                    <a:pt x="87975" y="155192"/>
                  </a:lnTo>
                  <a:lnTo>
                    <a:pt x="144018" y="161543"/>
                  </a:lnTo>
                  <a:lnTo>
                    <a:pt x="200060" y="155192"/>
                  </a:lnTo>
                  <a:lnTo>
                    <a:pt x="245840" y="137874"/>
                  </a:lnTo>
                  <a:lnTo>
                    <a:pt x="276713" y="112198"/>
                  </a:lnTo>
                  <a:lnTo>
                    <a:pt x="288036" y="80772"/>
                  </a:lnTo>
                  <a:lnTo>
                    <a:pt x="276713" y="49345"/>
                  </a:lnTo>
                  <a:lnTo>
                    <a:pt x="245840" y="23669"/>
                  </a:lnTo>
                  <a:lnTo>
                    <a:pt x="200060" y="6351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130040" y="3374135"/>
              <a:ext cx="829310" cy="294640"/>
            </a:xfrm>
            <a:custGeom>
              <a:avLst/>
              <a:gdLst/>
              <a:ahLst/>
              <a:cxnLst/>
              <a:rect l="l" t="t" r="r" b="b"/>
              <a:pathLst>
                <a:path w="829310" h="294639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29310" h="294639">
                  <a:moveTo>
                    <a:pt x="553212" y="213372"/>
                  </a:moveTo>
                  <a:lnTo>
                    <a:pt x="541883" y="181940"/>
                  </a:lnTo>
                  <a:lnTo>
                    <a:pt x="511009" y="156260"/>
                  </a:lnTo>
                  <a:lnTo>
                    <a:pt x="465226" y="138950"/>
                  </a:lnTo>
                  <a:lnTo>
                    <a:pt x="409194" y="132588"/>
                  </a:lnTo>
                  <a:lnTo>
                    <a:pt x="353148" y="138950"/>
                  </a:lnTo>
                  <a:lnTo>
                    <a:pt x="307365" y="156260"/>
                  </a:lnTo>
                  <a:lnTo>
                    <a:pt x="276491" y="181940"/>
                  </a:lnTo>
                  <a:lnTo>
                    <a:pt x="265176" y="213372"/>
                  </a:lnTo>
                  <a:lnTo>
                    <a:pt x="276491" y="244792"/>
                  </a:lnTo>
                  <a:lnTo>
                    <a:pt x="307365" y="270471"/>
                  </a:lnTo>
                  <a:lnTo>
                    <a:pt x="353148" y="287782"/>
                  </a:lnTo>
                  <a:lnTo>
                    <a:pt x="409194" y="294132"/>
                  </a:lnTo>
                  <a:lnTo>
                    <a:pt x="465226" y="287782"/>
                  </a:lnTo>
                  <a:lnTo>
                    <a:pt x="511009" y="270471"/>
                  </a:lnTo>
                  <a:lnTo>
                    <a:pt x="541883" y="244792"/>
                  </a:lnTo>
                  <a:lnTo>
                    <a:pt x="553212" y="213372"/>
                  </a:lnTo>
                  <a:close/>
                </a:path>
                <a:path w="829310" h="294639">
                  <a:moveTo>
                    <a:pt x="829056" y="80772"/>
                  </a:moveTo>
                  <a:lnTo>
                    <a:pt x="817727" y="49352"/>
                  </a:lnTo>
                  <a:lnTo>
                    <a:pt x="786853" y="23672"/>
                  </a:lnTo>
                  <a:lnTo>
                    <a:pt x="741070" y="6362"/>
                  </a:lnTo>
                  <a:lnTo>
                    <a:pt x="685038" y="0"/>
                  </a:lnTo>
                  <a:lnTo>
                    <a:pt x="628992" y="6362"/>
                  </a:lnTo>
                  <a:lnTo>
                    <a:pt x="583209" y="23672"/>
                  </a:lnTo>
                  <a:lnTo>
                    <a:pt x="552335" y="49352"/>
                  </a:lnTo>
                  <a:lnTo>
                    <a:pt x="541020" y="80772"/>
                  </a:lnTo>
                  <a:lnTo>
                    <a:pt x="552335" y="112204"/>
                  </a:lnTo>
                  <a:lnTo>
                    <a:pt x="583209" y="137883"/>
                  </a:lnTo>
                  <a:lnTo>
                    <a:pt x="628992" y="155194"/>
                  </a:lnTo>
                  <a:lnTo>
                    <a:pt x="685038" y="161544"/>
                  </a:lnTo>
                  <a:lnTo>
                    <a:pt x="741070" y="155194"/>
                  </a:lnTo>
                  <a:lnTo>
                    <a:pt x="786853" y="137883"/>
                  </a:lnTo>
                  <a:lnTo>
                    <a:pt x="817727" y="112204"/>
                  </a:lnTo>
                  <a:lnTo>
                    <a:pt x="829056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21223" y="3506724"/>
              <a:ext cx="360045" cy="161925"/>
            </a:xfrm>
            <a:custGeom>
              <a:avLst/>
              <a:gdLst/>
              <a:ahLst/>
              <a:cxnLst/>
              <a:rect l="l" t="t" r="r" b="b"/>
              <a:pathLst>
                <a:path w="360045" h="161925">
                  <a:moveTo>
                    <a:pt x="179831" y="0"/>
                  </a:moveTo>
                  <a:lnTo>
                    <a:pt x="122992" y="4120"/>
                  </a:lnTo>
                  <a:lnTo>
                    <a:pt x="73627" y="15593"/>
                  </a:lnTo>
                  <a:lnTo>
                    <a:pt x="34698" y="33082"/>
                  </a:lnTo>
                  <a:lnTo>
                    <a:pt x="0" y="80772"/>
                  </a:lnTo>
                  <a:lnTo>
                    <a:pt x="9168" y="106289"/>
                  </a:lnTo>
                  <a:lnTo>
                    <a:pt x="34698" y="128461"/>
                  </a:lnTo>
                  <a:lnTo>
                    <a:pt x="73627" y="145950"/>
                  </a:lnTo>
                  <a:lnTo>
                    <a:pt x="122992" y="157423"/>
                  </a:lnTo>
                  <a:lnTo>
                    <a:pt x="179831" y="161544"/>
                  </a:lnTo>
                  <a:lnTo>
                    <a:pt x="236671" y="157423"/>
                  </a:lnTo>
                  <a:lnTo>
                    <a:pt x="286036" y="145950"/>
                  </a:lnTo>
                  <a:lnTo>
                    <a:pt x="324965" y="128461"/>
                  </a:lnTo>
                  <a:lnTo>
                    <a:pt x="350495" y="106289"/>
                  </a:lnTo>
                  <a:lnTo>
                    <a:pt x="359663" y="80772"/>
                  </a:lnTo>
                  <a:lnTo>
                    <a:pt x="350495" y="55254"/>
                  </a:lnTo>
                  <a:lnTo>
                    <a:pt x="324965" y="33082"/>
                  </a:lnTo>
                  <a:lnTo>
                    <a:pt x="286036" y="15593"/>
                  </a:lnTo>
                  <a:lnTo>
                    <a:pt x="236671" y="4120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756148" y="3374135"/>
              <a:ext cx="814069" cy="294640"/>
            </a:xfrm>
            <a:custGeom>
              <a:avLst/>
              <a:gdLst/>
              <a:ahLst/>
              <a:cxnLst/>
              <a:rect l="l" t="t" r="r" b="b"/>
              <a:pathLst>
                <a:path w="814070" h="294639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14070" h="294639">
                  <a:moveTo>
                    <a:pt x="551688" y="213372"/>
                  </a:moveTo>
                  <a:lnTo>
                    <a:pt x="540359" y="181940"/>
                  </a:lnTo>
                  <a:lnTo>
                    <a:pt x="509485" y="156260"/>
                  </a:lnTo>
                  <a:lnTo>
                    <a:pt x="463702" y="138950"/>
                  </a:lnTo>
                  <a:lnTo>
                    <a:pt x="407670" y="132588"/>
                  </a:lnTo>
                  <a:lnTo>
                    <a:pt x="351624" y="138950"/>
                  </a:lnTo>
                  <a:lnTo>
                    <a:pt x="305841" y="156260"/>
                  </a:lnTo>
                  <a:lnTo>
                    <a:pt x="274967" y="181940"/>
                  </a:lnTo>
                  <a:lnTo>
                    <a:pt x="263652" y="213372"/>
                  </a:lnTo>
                  <a:lnTo>
                    <a:pt x="274967" y="244792"/>
                  </a:lnTo>
                  <a:lnTo>
                    <a:pt x="305841" y="270471"/>
                  </a:lnTo>
                  <a:lnTo>
                    <a:pt x="351624" y="287782"/>
                  </a:lnTo>
                  <a:lnTo>
                    <a:pt x="407670" y="294132"/>
                  </a:lnTo>
                  <a:lnTo>
                    <a:pt x="463702" y="287782"/>
                  </a:lnTo>
                  <a:lnTo>
                    <a:pt x="509485" y="270471"/>
                  </a:lnTo>
                  <a:lnTo>
                    <a:pt x="540359" y="244792"/>
                  </a:lnTo>
                  <a:lnTo>
                    <a:pt x="551688" y="213372"/>
                  </a:lnTo>
                  <a:close/>
                </a:path>
                <a:path w="814070" h="294639">
                  <a:moveTo>
                    <a:pt x="813816" y="80772"/>
                  </a:moveTo>
                  <a:lnTo>
                    <a:pt x="802487" y="49352"/>
                  </a:lnTo>
                  <a:lnTo>
                    <a:pt x="771613" y="23672"/>
                  </a:lnTo>
                  <a:lnTo>
                    <a:pt x="725830" y="6362"/>
                  </a:lnTo>
                  <a:lnTo>
                    <a:pt x="669798" y="0"/>
                  </a:lnTo>
                  <a:lnTo>
                    <a:pt x="613752" y="6362"/>
                  </a:lnTo>
                  <a:lnTo>
                    <a:pt x="567969" y="23672"/>
                  </a:lnTo>
                  <a:lnTo>
                    <a:pt x="537095" y="49352"/>
                  </a:lnTo>
                  <a:lnTo>
                    <a:pt x="525780" y="80772"/>
                  </a:lnTo>
                  <a:lnTo>
                    <a:pt x="537095" y="112204"/>
                  </a:lnTo>
                  <a:lnTo>
                    <a:pt x="567969" y="137883"/>
                  </a:lnTo>
                  <a:lnTo>
                    <a:pt x="613752" y="155194"/>
                  </a:lnTo>
                  <a:lnTo>
                    <a:pt x="669798" y="161544"/>
                  </a:lnTo>
                  <a:lnTo>
                    <a:pt x="725830" y="155194"/>
                  </a:lnTo>
                  <a:lnTo>
                    <a:pt x="771613" y="137883"/>
                  </a:lnTo>
                  <a:lnTo>
                    <a:pt x="802487" y="112204"/>
                  </a:lnTo>
                  <a:lnTo>
                    <a:pt x="813816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819900" y="3374136"/>
              <a:ext cx="288290" cy="161925"/>
            </a:xfrm>
            <a:custGeom>
              <a:avLst/>
              <a:gdLst/>
              <a:ahLst/>
              <a:cxnLst/>
              <a:rect l="l" t="t" r="r" b="b"/>
              <a:pathLst>
                <a:path w="288290" h="161925">
                  <a:moveTo>
                    <a:pt x="144018" y="0"/>
                  </a:moveTo>
                  <a:lnTo>
                    <a:pt x="87975" y="6351"/>
                  </a:lnTo>
                  <a:lnTo>
                    <a:pt x="42195" y="23669"/>
                  </a:lnTo>
                  <a:lnTo>
                    <a:pt x="11322" y="49345"/>
                  </a:lnTo>
                  <a:lnTo>
                    <a:pt x="0" y="80772"/>
                  </a:lnTo>
                  <a:lnTo>
                    <a:pt x="11322" y="112198"/>
                  </a:lnTo>
                  <a:lnTo>
                    <a:pt x="42195" y="137874"/>
                  </a:lnTo>
                  <a:lnTo>
                    <a:pt x="87975" y="155192"/>
                  </a:lnTo>
                  <a:lnTo>
                    <a:pt x="144018" y="161543"/>
                  </a:lnTo>
                  <a:lnTo>
                    <a:pt x="200060" y="155192"/>
                  </a:lnTo>
                  <a:lnTo>
                    <a:pt x="245840" y="137874"/>
                  </a:lnTo>
                  <a:lnTo>
                    <a:pt x="276713" y="112198"/>
                  </a:lnTo>
                  <a:lnTo>
                    <a:pt x="288035" y="80772"/>
                  </a:lnTo>
                  <a:lnTo>
                    <a:pt x="276713" y="49345"/>
                  </a:lnTo>
                  <a:lnTo>
                    <a:pt x="245840" y="23669"/>
                  </a:lnTo>
                  <a:lnTo>
                    <a:pt x="200060" y="6351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359396" y="3374135"/>
              <a:ext cx="818515" cy="294640"/>
            </a:xfrm>
            <a:custGeom>
              <a:avLst/>
              <a:gdLst/>
              <a:ahLst/>
              <a:cxnLst/>
              <a:rect l="l" t="t" r="r" b="b"/>
              <a:pathLst>
                <a:path w="818515" h="294639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18515" h="294639">
                  <a:moveTo>
                    <a:pt x="553212" y="213372"/>
                  </a:moveTo>
                  <a:lnTo>
                    <a:pt x="541883" y="181940"/>
                  </a:lnTo>
                  <a:lnTo>
                    <a:pt x="511009" y="156260"/>
                  </a:lnTo>
                  <a:lnTo>
                    <a:pt x="465226" y="138950"/>
                  </a:lnTo>
                  <a:lnTo>
                    <a:pt x="409194" y="132588"/>
                  </a:lnTo>
                  <a:lnTo>
                    <a:pt x="353148" y="138950"/>
                  </a:lnTo>
                  <a:lnTo>
                    <a:pt x="307365" y="156260"/>
                  </a:lnTo>
                  <a:lnTo>
                    <a:pt x="276491" y="181940"/>
                  </a:lnTo>
                  <a:lnTo>
                    <a:pt x="265176" y="213372"/>
                  </a:lnTo>
                  <a:lnTo>
                    <a:pt x="276491" y="244792"/>
                  </a:lnTo>
                  <a:lnTo>
                    <a:pt x="307365" y="270471"/>
                  </a:lnTo>
                  <a:lnTo>
                    <a:pt x="353148" y="287782"/>
                  </a:lnTo>
                  <a:lnTo>
                    <a:pt x="409194" y="294132"/>
                  </a:lnTo>
                  <a:lnTo>
                    <a:pt x="465226" y="287782"/>
                  </a:lnTo>
                  <a:lnTo>
                    <a:pt x="511009" y="270471"/>
                  </a:lnTo>
                  <a:lnTo>
                    <a:pt x="541883" y="244792"/>
                  </a:lnTo>
                  <a:lnTo>
                    <a:pt x="553212" y="213372"/>
                  </a:lnTo>
                  <a:close/>
                </a:path>
                <a:path w="818515" h="294639">
                  <a:moveTo>
                    <a:pt x="818388" y="80772"/>
                  </a:moveTo>
                  <a:lnTo>
                    <a:pt x="807059" y="49352"/>
                  </a:lnTo>
                  <a:lnTo>
                    <a:pt x="776185" y="23672"/>
                  </a:lnTo>
                  <a:lnTo>
                    <a:pt x="730402" y="6362"/>
                  </a:lnTo>
                  <a:lnTo>
                    <a:pt x="674370" y="0"/>
                  </a:lnTo>
                  <a:lnTo>
                    <a:pt x="618324" y="6362"/>
                  </a:lnTo>
                  <a:lnTo>
                    <a:pt x="572541" y="23672"/>
                  </a:lnTo>
                  <a:lnTo>
                    <a:pt x="541667" y="49352"/>
                  </a:lnTo>
                  <a:lnTo>
                    <a:pt x="530352" y="80772"/>
                  </a:lnTo>
                  <a:lnTo>
                    <a:pt x="541667" y="112204"/>
                  </a:lnTo>
                  <a:lnTo>
                    <a:pt x="572541" y="137883"/>
                  </a:lnTo>
                  <a:lnTo>
                    <a:pt x="618324" y="155194"/>
                  </a:lnTo>
                  <a:lnTo>
                    <a:pt x="674370" y="161544"/>
                  </a:lnTo>
                  <a:lnTo>
                    <a:pt x="730402" y="155194"/>
                  </a:lnTo>
                  <a:lnTo>
                    <a:pt x="776185" y="137883"/>
                  </a:lnTo>
                  <a:lnTo>
                    <a:pt x="807059" y="112204"/>
                  </a:lnTo>
                  <a:lnTo>
                    <a:pt x="818388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433816" y="3424427"/>
              <a:ext cx="288290" cy="161925"/>
            </a:xfrm>
            <a:custGeom>
              <a:avLst/>
              <a:gdLst/>
              <a:ahLst/>
              <a:cxnLst/>
              <a:rect l="l" t="t" r="r" b="b"/>
              <a:pathLst>
                <a:path w="288290" h="161925">
                  <a:moveTo>
                    <a:pt x="144017" y="0"/>
                  </a:moveTo>
                  <a:lnTo>
                    <a:pt x="87975" y="6351"/>
                  </a:lnTo>
                  <a:lnTo>
                    <a:pt x="42195" y="23669"/>
                  </a:lnTo>
                  <a:lnTo>
                    <a:pt x="11322" y="49345"/>
                  </a:lnTo>
                  <a:lnTo>
                    <a:pt x="0" y="80772"/>
                  </a:lnTo>
                  <a:lnTo>
                    <a:pt x="11322" y="112198"/>
                  </a:lnTo>
                  <a:lnTo>
                    <a:pt x="42195" y="137874"/>
                  </a:lnTo>
                  <a:lnTo>
                    <a:pt x="87975" y="155192"/>
                  </a:lnTo>
                  <a:lnTo>
                    <a:pt x="144017" y="161544"/>
                  </a:lnTo>
                  <a:lnTo>
                    <a:pt x="200060" y="155192"/>
                  </a:lnTo>
                  <a:lnTo>
                    <a:pt x="245840" y="137874"/>
                  </a:lnTo>
                  <a:lnTo>
                    <a:pt x="276713" y="112198"/>
                  </a:lnTo>
                  <a:lnTo>
                    <a:pt x="288035" y="80772"/>
                  </a:lnTo>
                  <a:lnTo>
                    <a:pt x="276713" y="49345"/>
                  </a:lnTo>
                  <a:lnTo>
                    <a:pt x="245840" y="23669"/>
                  </a:lnTo>
                  <a:lnTo>
                    <a:pt x="200060" y="6351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15184" y="3421380"/>
              <a:ext cx="105918" cy="7391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78835" y="3555492"/>
              <a:ext cx="104393" cy="7543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35523" y="3555492"/>
              <a:ext cx="127253" cy="7543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0107" y="3421380"/>
              <a:ext cx="105918" cy="7391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98747" y="3421380"/>
              <a:ext cx="105917" cy="7391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15383" y="3421380"/>
              <a:ext cx="124205" cy="7391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54879" y="3421380"/>
              <a:ext cx="125729" cy="7391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83608" y="3555492"/>
              <a:ext cx="124205" cy="7543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32347" y="3421380"/>
              <a:ext cx="122682" cy="7391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62700" y="3421380"/>
              <a:ext cx="140970" cy="7391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091427" y="3555492"/>
              <a:ext cx="140970" cy="7543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8851772" y="3293999"/>
              <a:ext cx="51435" cy="102235"/>
            </a:xfrm>
            <a:custGeom>
              <a:avLst/>
              <a:gdLst/>
              <a:ahLst/>
              <a:cxnLst/>
              <a:rect l="l" t="t" r="r" b="b"/>
              <a:pathLst>
                <a:path w="51434" h="102235">
                  <a:moveTo>
                    <a:pt x="0" y="0"/>
                  </a:moveTo>
                  <a:lnTo>
                    <a:pt x="0" y="101853"/>
                  </a:lnTo>
                  <a:lnTo>
                    <a:pt x="50926" y="50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03720" y="3421380"/>
              <a:ext cx="137922" cy="75437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434071" y="3421380"/>
              <a:ext cx="145542" cy="7391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955280" y="3421380"/>
              <a:ext cx="147066" cy="7391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94676" y="3555492"/>
              <a:ext cx="124205" cy="7543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508492" y="3471672"/>
              <a:ext cx="147066" cy="7543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833104" y="3459480"/>
              <a:ext cx="55624" cy="8458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96147" y="2423190"/>
              <a:ext cx="50990" cy="11045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36259" y="3288895"/>
              <a:ext cx="39962" cy="9819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09571" y="2552700"/>
              <a:ext cx="19050" cy="10287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25751" y="4055364"/>
              <a:ext cx="54101" cy="10439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073401" y="4400550"/>
              <a:ext cx="76200" cy="1773555"/>
            </a:xfrm>
            <a:custGeom>
              <a:avLst/>
              <a:gdLst/>
              <a:ahLst/>
              <a:cxnLst/>
              <a:rect l="l" t="t" r="r" b="b"/>
              <a:pathLst>
                <a:path w="76200" h="1773554">
                  <a:moveTo>
                    <a:pt x="48006" y="63500"/>
                  </a:moveTo>
                  <a:lnTo>
                    <a:pt x="28193" y="63500"/>
                  </a:lnTo>
                  <a:lnTo>
                    <a:pt x="28193" y="1773110"/>
                  </a:lnTo>
                  <a:lnTo>
                    <a:pt x="48006" y="1773110"/>
                  </a:lnTo>
                  <a:lnTo>
                    <a:pt x="48006" y="63500"/>
                  </a:lnTo>
                  <a:close/>
                </a:path>
                <a:path w="76200" h="1773554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773554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673095" y="4506467"/>
              <a:ext cx="5366385" cy="1649730"/>
            </a:xfrm>
            <a:custGeom>
              <a:avLst/>
              <a:gdLst/>
              <a:ahLst/>
              <a:cxnLst/>
              <a:rect l="l" t="t" r="r" b="b"/>
              <a:pathLst>
                <a:path w="5366384" h="1649729">
                  <a:moveTo>
                    <a:pt x="0" y="0"/>
                  </a:moveTo>
                  <a:lnTo>
                    <a:pt x="0" y="1649412"/>
                  </a:lnTo>
                </a:path>
                <a:path w="5366384" h="1649729">
                  <a:moveTo>
                    <a:pt x="262128" y="0"/>
                  </a:moveTo>
                  <a:lnTo>
                    <a:pt x="262128" y="1649412"/>
                  </a:lnTo>
                </a:path>
                <a:path w="5366384" h="1649729">
                  <a:moveTo>
                    <a:pt x="531876" y="0"/>
                  </a:moveTo>
                  <a:lnTo>
                    <a:pt x="531876" y="1649412"/>
                  </a:lnTo>
                </a:path>
                <a:path w="5366384" h="1649729">
                  <a:moveTo>
                    <a:pt x="1601724" y="0"/>
                  </a:moveTo>
                  <a:lnTo>
                    <a:pt x="1601724" y="1649412"/>
                  </a:lnTo>
                </a:path>
                <a:path w="5366384" h="1649729">
                  <a:moveTo>
                    <a:pt x="1868424" y="0"/>
                  </a:moveTo>
                  <a:lnTo>
                    <a:pt x="1868424" y="1649412"/>
                  </a:lnTo>
                </a:path>
                <a:path w="5366384" h="1649729">
                  <a:moveTo>
                    <a:pt x="2133600" y="0"/>
                  </a:moveTo>
                  <a:lnTo>
                    <a:pt x="2133600" y="1649412"/>
                  </a:lnTo>
                </a:path>
                <a:path w="5366384" h="1649729">
                  <a:moveTo>
                    <a:pt x="3227832" y="0"/>
                  </a:moveTo>
                  <a:lnTo>
                    <a:pt x="3227832" y="1649412"/>
                  </a:lnTo>
                </a:path>
                <a:path w="5366384" h="1649729">
                  <a:moveTo>
                    <a:pt x="3494531" y="0"/>
                  </a:moveTo>
                  <a:lnTo>
                    <a:pt x="3494531" y="1649412"/>
                  </a:lnTo>
                </a:path>
                <a:path w="5366384" h="1649729">
                  <a:moveTo>
                    <a:pt x="3759707" y="0"/>
                  </a:moveTo>
                  <a:lnTo>
                    <a:pt x="3759707" y="1649412"/>
                  </a:lnTo>
                </a:path>
                <a:path w="5366384" h="1649729">
                  <a:moveTo>
                    <a:pt x="4835652" y="0"/>
                  </a:moveTo>
                  <a:lnTo>
                    <a:pt x="4835652" y="1649412"/>
                  </a:lnTo>
                </a:path>
                <a:path w="5366384" h="1649729">
                  <a:moveTo>
                    <a:pt x="5100828" y="0"/>
                  </a:moveTo>
                  <a:lnTo>
                    <a:pt x="5100828" y="1649412"/>
                  </a:lnTo>
                </a:path>
                <a:path w="5366384" h="1649729">
                  <a:moveTo>
                    <a:pt x="5366004" y="0"/>
                  </a:moveTo>
                  <a:lnTo>
                    <a:pt x="5366004" y="1649412"/>
                  </a:lnTo>
                </a:path>
              </a:pathLst>
            </a:custGeom>
            <a:ln w="9144">
              <a:solidFill>
                <a:srgbClr val="58585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735323" y="4506467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412"/>
                  </a:lnTo>
                </a:path>
              </a:pathLst>
            </a:custGeom>
            <a:ln w="1219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343906" y="4507230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412"/>
                  </a:lnTo>
                </a:path>
              </a:pathLst>
            </a:custGeom>
            <a:ln w="1981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967727" y="4506467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412"/>
                  </a:lnTo>
                </a:path>
              </a:pathLst>
            </a:custGeom>
            <a:ln w="1219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577833" y="4507230"/>
              <a:ext cx="0" cy="1649730"/>
            </a:xfrm>
            <a:custGeom>
              <a:avLst/>
              <a:gdLst/>
              <a:ahLst/>
              <a:cxnLst/>
              <a:rect l="l" t="t" r="r" b="b"/>
              <a:pathLst>
                <a:path w="0" h="1649729">
                  <a:moveTo>
                    <a:pt x="0" y="0"/>
                  </a:moveTo>
                  <a:lnTo>
                    <a:pt x="0" y="1649412"/>
                  </a:lnTo>
                </a:path>
              </a:pathLst>
            </a:custGeom>
            <a:ln w="1981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984248" y="4585716"/>
              <a:ext cx="6637655" cy="1473835"/>
            </a:xfrm>
            <a:custGeom>
              <a:avLst/>
              <a:gdLst/>
              <a:ahLst/>
              <a:cxnLst/>
              <a:rect l="l" t="t" r="r" b="b"/>
              <a:pathLst>
                <a:path w="6637655" h="1473835">
                  <a:moveTo>
                    <a:pt x="7619" y="888"/>
                  </a:moveTo>
                  <a:lnTo>
                    <a:pt x="6637274" y="0"/>
                  </a:lnTo>
                </a:path>
                <a:path w="6637655" h="1473835">
                  <a:moveTo>
                    <a:pt x="0" y="105155"/>
                  </a:moveTo>
                  <a:lnTo>
                    <a:pt x="6264656" y="105155"/>
                  </a:lnTo>
                </a:path>
                <a:path w="6637655" h="1473835">
                  <a:moveTo>
                    <a:pt x="0" y="227075"/>
                  </a:moveTo>
                  <a:lnTo>
                    <a:pt x="6053582" y="227075"/>
                  </a:lnTo>
                </a:path>
                <a:path w="6637655" h="1473835">
                  <a:moveTo>
                    <a:pt x="0" y="374903"/>
                  </a:moveTo>
                  <a:lnTo>
                    <a:pt x="5789676" y="374903"/>
                  </a:lnTo>
                </a:path>
                <a:path w="6637655" h="1473835">
                  <a:moveTo>
                    <a:pt x="0" y="1100327"/>
                  </a:moveTo>
                  <a:lnTo>
                    <a:pt x="4717033" y="1100327"/>
                  </a:lnTo>
                </a:path>
                <a:path w="6637655" h="1473835">
                  <a:moveTo>
                    <a:pt x="0" y="1252727"/>
                  </a:moveTo>
                  <a:lnTo>
                    <a:pt x="4400804" y="1252727"/>
                  </a:lnTo>
                </a:path>
                <a:path w="6637655" h="1473835">
                  <a:moveTo>
                    <a:pt x="0" y="1370075"/>
                  </a:moveTo>
                  <a:lnTo>
                    <a:pt x="4182617" y="1370075"/>
                  </a:lnTo>
                </a:path>
                <a:path w="6637655" h="1473835">
                  <a:moveTo>
                    <a:pt x="0" y="1473707"/>
                  </a:moveTo>
                  <a:lnTo>
                    <a:pt x="3595497" y="1473707"/>
                  </a:lnTo>
                </a:path>
              </a:pathLst>
            </a:custGeom>
            <a:ln w="9144">
              <a:solidFill>
                <a:srgbClr val="58585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863090" y="5327142"/>
              <a:ext cx="6993890" cy="0"/>
            </a:xfrm>
            <a:custGeom>
              <a:avLst/>
              <a:gdLst/>
              <a:ahLst/>
              <a:cxnLst/>
              <a:rect l="l" t="t" r="r" b="b"/>
              <a:pathLst>
                <a:path w="6993890" h="0">
                  <a:moveTo>
                    <a:pt x="0" y="0"/>
                  </a:moveTo>
                  <a:lnTo>
                    <a:pt x="6993890" y="0"/>
                  </a:lnTo>
                </a:path>
              </a:pathLst>
            </a:custGeom>
            <a:ln w="1981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1115" y="4530852"/>
              <a:ext cx="89915" cy="8991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375" y="4646676"/>
              <a:ext cx="89916" cy="8991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87979" y="4760976"/>
              <a:ext cx="89915" cy="8991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0775" y="4919472"/>
              <a:ext cx="88392" cy="8991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94175" y="5277611"/>
              <a:ext cx="89915" cy="8991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30623" y="5643372"/>
              <a:ext cx="89915" cy="8991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494276" y="5785104"/>
              <a:ext cx="89915" cy="8991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757927" y="5905500"/>
              <a:ext cx="89916" cy="8839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301995" y="6016751"/>
              <a:ext cx="89915" cy="8991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85559" y="5629656"/>
              <a:ext cx="89915" cy="8991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118859" y="5786627"/>
              <a:ext cx="89915" cy="8991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852159" y="5905500"/>
              <a:ext cx="89915" cy="8991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23532" y="5285232"/>
              <a:ext cx="89916" cy="8991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4552" y="4911852"/>
              <a:ext cx="89916" cy="8991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2776" y="4771644"/>
              <a:ext cx="89916" cy="8991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994904" y="4663439"/>
              <a:ext cx="89916" cy="8839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31352" y="5271516"/>
              <a:ext cx="89916" cy="89915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2523744" y="5359907"/>
              <a:ext cx="820419" cy="295910"/>
            </a:xfrm>
            <a:custGeom>
              <a:avLst/>
              <a:gdLst/>
              <a:ahLst/>
              <a:cxnLst/>
              <a:rect l="l" t="t" r="r" b="b"/>
              <a:pathLst>
                <a:path w="820420" h="295910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20420" h="295910">
                  <a:moveTo>
                    <a:pt x="550164" y="214122"/>
                  </a:moveTo>
                  <a:lnTo>
                    <a:pt x="538835" y="182372"/>
                  </a:lnTo>
                  <a:lnTo>
                    <a:pt x="507961" y="156451"/>
                  </a:lnTo>
                  <a:lnTo>
                    <a:pt x="462178" y="138988"/>
                  </a:lnTo>
                  <a:lnTo>
                    <a:pt x="406146" y="132588"/>
                  </a:lnTo>
                  <a:lnTo>
                    <a:pt x="350100" y="138988"/>
                  </a:lnTo>
                  <a:lnTo>
                    <a:pt x="304317" y="156451"/>
                  </a:lnTo>
                  <a:lnTo>
                    <a:pt x="273443" y="182372"/>
                  </a:lnTo>
                  <a:lnTo>
                    <a:pt x="262128" y="214122"/>
                  </a:lnTo>
                  <a:lnTo>
                    <a:pt x="273443" y="245872"/>
                  </a:lnTo>
                  <a:lnTo>
                    <a:pt x="304317" y="271780"/>
                  </a:lnTo>
                  <a:lnTo>
                    <a:pt x="350100" y="289255"/>
                  </a:lnTo>
                  <a:lnTo>
                    <a:pt x="406146" y="295656"/>
                  </a:lnTo>
                  <a:lnTo>
                    <a:pt x="462178" y="289255"/>
                  </a:lnTo>
                  <a:lnTo>
                    <a:pt x="507961" y="271780"/>
                  </a:lnTo>
                  <a:lnTo>
                    <a:pt x="538835" y="245872"/>
                  </a:lnTo>
                  <a:lnTo>
                    <a:pt x="550164" y="214122"/>
                  </a:lnTo>
                  <a:close/>
                </a:path>
                <a:path w="820420" h="295910">
                  <a:moveTo>
                    <a:pt x="819912" y="80772"/>
                  </a:moveTo>
                  <a:lnTo>
                    <a:pt x="808583" y="49352"/>
                  </a:lnTo>
                  <a:lnTo>
                    <a:pt x="777709" y="23672"/>
                  </a:lnTo>
                  <a:lnTo>
                    <a:pt x="731926" y="6362"/>
                  </a:lnTo>
                  <a:lnTo>
                    <a:pt x="675894" y="0"/>
                  </a:lnTo>
                  <a:lnTo>
                    <a:pt x="619848" y="6362"/>
                  </a:lnTo>
                  <a:lnTo>
                    <a:pt x="574065" y="23672"/>
                  </a:lnTo>
                  <a:lnTo>
                    <a:pt x="543191" y="49352"/>
                  </a:lnTo>
                  <a:lnTo>
                    <a:pt x="531876" y="80772"/>
                  </a:lnTo>
                  <a:lnTo>
                    <a:pt x="543191" y="112204"/>
                  </a:lnTo>
                  <a:lnTo>
                    <a:pt x="574065" y="137883"/>
                  </a:lnTo>
                  <a:lnTo>
                    <a:pt x="619848" y="155194"/>
                  </a:lnTo>
                  <a:lnTo>
                    <a:pt x="675894" y="161544"/>
                  </a:lnTo>
                  <a:lnTo>
                    <a:pt x="731926" y="155194"/>
                  </a:lnTo>
                  <a:lnTo>
                    <a:pt x="777709" y="137883"/>
                  </a:lnTo>
                  <a:lnTo>
                    <a:pt x="808583" y="112204"/>
                  </a:lnTo>
                  <a:lnTo>
                    <a:pt x="819912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596640" y="5359908"/>
              <a:ext cx="288290" cy="161925"/>
            </a:xfrm>
            <a:custGeom>
              <a:avLst/>
              <a:gdLst/>
              <a:ahLst/>
              <a:cxnLst/>
              <a:rect l="l" t="t" r="r" b="b"/>
              <a:pathLst>
                <a:path w="288289" h="161925">
                  <a:moveTo>
                    <a:pt x="144018" y="0"/>
                  </a:moveTo>
                  <a:lnTo>
                    <a:pt x="87975" y="6351"/>
                  </a:lnTo>
                  <a:lnTo>
                    <a:pt x="42195" y="23669"/>
                  </a:lnTo>
                  <a:lnTo>
                    <a:pt x="11322" y="49345"/>
                  </a:lnTo>
                  <a:lnTo>
                    <a:pt x="0" y="80771"/>
                  </a:lnTo>
                  <a:lnTo>
                    <a:pt x="11322" y="112198"/>
                  </a:lnTo>
                  <a:lnTo>
                    <a:pt x="42195" y="137874"/>
                  </a:lnTo>
                  <a:lnTo>
                    <a:pt x="87975" y="155192"/>
                  </a:lnTo>
                  <a:lnTo>
                    <a:pt x="144018" y="161543"/>
                  </a:lnTo>
                  <a:lnTo>
                    <a:pt x="200060" y="155192"/>
                  </a:lnTo>
                  <a:lnTo>
                    <a:pt x="245840" y="137874"/>
                  </a:lnTo>
                  <a:lnTo>
                    <a:pt x="276713" y="112198"/>
                  </a:lnTo>
                  <a:lnTo>
                    <a:pt x="288036" y="80771"/>
                  </a:lnTo>
                  <a:lnTo>
                    <a:pt x="276713" y="49345"/>
                  </a:lnTo>
                  <a:lnTo>
                    <a:pt x="245840" y="23669"/>
                  </a:lnTo>
                  <a:lnTo>
                    <a:pt x="200060" y="6351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30040" y="5359907"/>
              <a:ext cx="829310" cy="295910"/>
            </a:xfrm>
            <a:custGeom>
              <a:avLst/>
              <a:gdLst/>
              <a:ahLst/>
              <a:cxnLst/>
              <a:rect l="l" t="t" r="r" b="b"/>
              <a:pathLst>
                <a:path w="829310" h="295910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29310" h="295910">
                  <a:moveTo>
                    <a:pt x="553212" y="214122"/>
                  </a:moveTo>
                  <a:lnTo>
                    <a:pt x="541883" y="182372"/>
                  </a:lnTo>
                  <a:lnTo>
                    <a:pt x="511009" y="156451"/>
                  </a:lnTo>
                  <a:lnTo>
                    <a:pt x="465226" y="138988"/>
                  </a:lnTo>
                  <a:lnTo>
                    <a:pt x="409194" y="132588"/>
                  </a:lnTo>
                  <a:lnTo>
                    <a:pt x="353148" y="138988"/>
                  </a:lnTo>
                  <a:lnTo>
                    <a:pt x="307365" y="156451"/>
                  </a:lnTo>
                  <a:lnTo>
                    <a:pt x="276491" y="182372"/>
                  </a:lnTo>
                  <a:lnTo>
                    <a:pt x="265176" y="214122"/>
                  </a:lnTo>
                  <a:lnTo>
                    <a:pt x="276491" y="245872"/>
                  </a:lnTo>
                  <a:lnTo>
                    <a:pt x="307365" y="271780"/>
                  </a:lnTo>
                  <a:lnTo>
                    <a:pt x="353148" y="289255"/>
                  </a:lnTo>
                  <a:lnTo>
                    <a:pt x="409194" y="295656"/>
                  </a:lnTo>
                  <a:lnTo>
                    <a:pt x="465226" y="289255"/>
                  </a:lnTo>
                  <a:lnTo>
                    <a:pt x="511009" y="271780"/>
                  </a:lnTo>
                  <a:lnTo>
                    <a:pt x="541883" y="245872"/>
                  </a:lnTo>
                  <a:lnTo>
                    <a:pt x="553212" y="214122"/>
                  </a:lnTo>
                  <a:close/>
                </a:path>
                <a:path w="829310" h="295910">
                  <a:moveTo>
                    <a:pt x="829056" y="80772"/>
                  </a:moveTo>
                  <a:lnTo>
                    <a:pt x="817727" y="49352"/>
                  </a:lnTo>
                  <a:lnTo>
                    <a:pt x="786853" y="23672"/>
                  </a:lnTo>
                  <a:lnTo>
                    <a:pt x="741070" y="6362"/>
                  </a:lnTo>
                  <a:lnTo>
                    <a:pt x="685038" y="0"/>
                  </a:lnTo>
                  <a:lnTo>
                    <a:pt x="628992" y="6362"/>
                  </a:lnTo>
                  <a:lnTo>
                    <a:pt x="583209" y="23672"/>
                  </a:lnTo>
                  <a:lnTo>
                    <a:pt x="552335" y="49352"/>
                  </a:lnTo>
                  <a:lnTo>
                    <a:pt x="541020" y="80772"/>
                  </a:lnTo>
                  <a:lnTo>
                    <a:pt x="552335" y="112204"/>
                  </a:lnTo>
                  <a:lnTo>
                    <a:pt x="583209" y="137883"/>
                  </a:lnTo>
                  <a:lnTo>
                    <a:pt x="628992" y="155194"/>
                  </a:lnTo>
                  <a:lnTo>
                    <a:pt x="685038" y="161544"/>
                  </a:lnTo>
                  <a:lnTo>
                    <a:pt x="741070" y="155194"/>
                  </a:lnTo>
                  <a:lnTo>
                    <a:pt x="786853" y="137883"/>
                  </a:lnTo>
                  <a:lnTo>
                    <a:pt x="817727" y="112204"/>
                  </a:lnTo>
                  <a:lnTo>
                    <a:pt x="829056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5221223" y="5492495"/>
              <a:ext cx="360045" cy="163195"/>
            </a:xfrm>
            <a:custGeom>
              <a:avLst/>
              <a:gdLst/>
              <a:ahLst/>
              <a:cxnLst/>
              <a:rect l="l" t="t" r="r" b="b"/>
              <a:pathLst>
                <a:path w="360045" h="163195">
                  <a:moveTo>
                    <a:pt x="179831" y="0"/>
                  </a:moveTo>
                  <a:lnTo>
                    <a:pt x="122992" y="4151"/>
                  </a:lnTo>
                  <a:lnTo>
                    <a:pt x="73627" y="15715"/>
                  </a:lnTo>
                  <a:lnTo>
                    <a:pt x="34698" y="33357"/>
                  </a:lnTo>
                  <a:lnTo>
                    <a:pt x="0" y="81533"/>
                  </a:lnTo>
                  <a:lnTo>
                    <a:pt x="9168" y="107306"/>
                  </a:lnTo>
                  <a:lnTo>
                    <a:pt x="34698" y="129688"/>
                  </a:lnTo>
                  <a:lnTo>
                    <a:pt x="73627" y="147337"/>
                  </a:lnTo>
                  <a:lnTo>
                    <a:pt x="122992" y="158911"/>
                  </a:lnTo>
                  <a:lnTo>
                    <a:pt x="179831" y="163067"/>
                  </a:lnTo>
                  <a:lnTo>
                    <a:pt x="236671" y="158911"/>
                  </a:lnTo>
                  <a:lnTo>
                    <a:pt x="286036" y="147337"/>
                  </a:lnTo>
                  <a:lnTo>
                    <a:pt x="324965" y="129688"/>
                  </a:lnTo>
                  <a:lnTo>
                    <a:pt x="350495" y="107306"/>
                  </a:lnTo>
                  <a:lnTo>
                    <a:pt x="359663" y="81533"/>
                  </a:lnTo>
                  <a:lnTo>
                    <a:pt x="350495" y="55741"/>
                  </a:lnTo>
                  <a:lnTo>
                    <a:pt x="324965" y="33357"/>
                  </a:lnTo>
                  <a:lnTo>
                    <a:pt x="286036" y="15715"/>
                  </a:lnTo>
                  <a:lnTo>
                    <a:pt x="236671" y="4151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5756148" y="5359907"/>
              <a:ext cx="814069" cy="295910"/>
            </a:xfrm>
            <a:custGeom>
              <a:avLst/>
              <a:gdLst/>
              <a:ahLst/>
              <a:cxnLst/>
              <a:rect l="l" t="t" r="r" b="b"/>
              <a:pathLst>
                <a:path w="814070" h="295910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14070" h="295910">
                  <a:moveTo>
                    <a:pt x="551688" y="214122"/>
                  </a:moveTo>
                  <a:lnTo>
                    <a:pt x="540359" y="182372"/>
                  </a:lnTo>
                  <a:lnTo>
                    <a:pt x="509485" y="156451"/>
                  </a:lnTo>
                  <a:lnTo>
                    <a:pt x="463702" y="138988"/>
                  </a:lnTo>
                  <a:lnTo>
                    <a:pt x="407670" y="132588"/>
                  </a:lnTo>
                  <a:lnTo>
                    <a:pt x="351624" y="138988"/>
                  </a:lnTo>
                  <a:lnTo>
                    <a:pt x="305841" y="156451"/>
                  </a:lnTo>
                  <a:lnTo>
                    <a:pt x="274967" y="182372"/>
                  </a:lnTo>
                  <a:lnTo>
                    <a:pt x="263652" y="214122"/>
                  </a:lnTo>
                  <a:lnTo>
                    <a:pt x="274967" y="245872"/>
                  </a:lnTo>
                  <a:lnTo>
                    <a:pt x="305841" y="271780"/>
                  </a:lnTo>
                  <a:lnTo>
                    <a:pt x="351624" y="289255"/>
                  </a:lnTo>
                  <a:lnTo>
                    <a:pt x="407670" y="295656"/>
                  </a:lnTo>
                  <a:lnTo>
                    <a:pt x="463702" y="289255"/>
                  </a:lnTo>
                  <a:lnTo>
                    <a:pt x="509485" y="271780"/>
                  </a:lnTo>
                  <a:lnTo>
                    <a:pt x="540359" y="245872"/>
                  </a:lnTo>
                  <a:lnTo>
                    <a:pt x="551688" y="214122"/>
                  </a:lnTo>
                  <a:close/>
                </a:path>
                <a:path w="814070" h="295910">
                  <a:moveTo>
                    <a:pt x="813816" y="80772"/>
                  </a:moveTo>
                  <a:lnTo>
                    <a:pt x="802487" y="49352"/>
                  </a:lnTo>
                  <a:lnTo>
                    <a:pt x="771613" y="23672"/>
                  </a:lnTo>
                  <a:lnTo>
                    <a:pt x="725830" y="6362"/>
                  </a:lnTo>
                  <a:lnTo>
                    <a:pt x="669798" y="0"/>
                  </a:lnTo>
                  <a:lnTo>
                    <a:pt x="613752" y="6362"/>
                  </a:lnTo>
                  <a:lnTo>
                    <a:pt x="567969" y="23672"/>
                  </a:lnTo>
                  <a:lnTo>
                    <a:pt x="537095" y="49352"/>
                  </a:lnTo>
                  <a:lnTo>
                    <a:pt x="525780" y="80772"/>
                  </a:lnTo>
                  <a:lnTo>
                    <a:pt x="537095" y="112204"/>
                  </a:lnTo>
                  <a:lnTo>
                    <a:pt x="567969" y="137883"/>
                  </a:lnTo>
                  <a:lnTo>
                    <a:pt x="613752" y="155194"/>
                  </a:lnTo>
                  <a:lnTo>
                    <a:pt x="669798" y="161544"/>
                  </a:lnTo>
                  <a:lnTo>
                    <a:pt x="725830" y="155194"/>
                  </a:lnTo>
                  <a:lnTo>
                    <a:pt x="771613" y="137883"/>
                  </a:lnTo>
                  <a:lnTo>
                    <a:pt x="802487" y="112204"/>
                  </a:lnTo>
                  <a:lnTo>
                    <a:pt x="813816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6819900" y="5359908"/>
              <a:ext cx="288290" cy="161925"/>
            </a:xfrm>
            <a:custGeom>
              <a:avLst/>
              <a:gdLst/>
              <a:ahLst/>
              <a:cxnLst/>
              <a:rect l="l" t="t" r="r" b="b"/>
              <a:pathLst>
                <a:path w="288290" h="161925">
                  <a:moveTo>
                    <a:pt x="144018" y="0"/>
                  </a:moveTo>
                  <a:lnTo>
                    <a:pt x="87975" y="6351"/>
                  </a:lnTo>
                  <a:lnTo>
                    <a:pt x="42195" y="23669"/>
                  </a:lnTo>
                  <a:lnTo>
                    <a:pt x="11322" y="49345"/>
                  </a:lnTo>
                  <a:lnTo>
                    <a:pt x="0" y="80771"/>
                  </a:lnTo>
                  <a:lnTo>
                    <a:pt x="11322" y="112198"/>
                  </a:lnTo>
                  <a:lnTo>
                    <a:pt x="42195" y="137874"/>
                  </a:lnTo>
                  <a:lnTo>
                    <a:pt x="87975" y="155192"/>
                  </a:lnTo>
                  <a:lnTo>
                    <a:pt x="144018" y="161543"/>
                  </a:lnTo>
                  <a:lnTo>
                    <a:pt x="200060" y="155192"/>
                  </a:lnTo>
                  <a:lnTo>
                    <a:pt x="245840" y="137874"/>
                  </a:lnTo>
                  <a:lnTo>
                    <a:pt x="276713" y="112198"/>
                  </a:lnTo>
                  <a:lnTo>
                    <a:pt x="288035" y="80771"/>
                  </a:lnTo>
                  <a:lnTo>
                    <a:pt x="276713" y="49345"/>
                  </a:lnTo>
                  <a:lnTo>
                    <a:pt x="245840" y="23669"/>
                  </a:lnTo>
                  <a:lnTo>
                    <a:pt x="200060" y="6351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359396" y="5359907"/>
              <a:ext cx="818515" cy="295910"/>
            </a:xfrm>
            <a:custGeom>
              <a:avLst/>
              <a:gdLst/>
              <a:ahLst/>
              <a:cxnLst/>
              <a:rect l="l" t="t" r="r" b="b"/>
              <a:pathLst>
                <a:path w="818515" h="295910">
                  <a:moveTo>
                    <a:pt x="288036" y="80772"/>
                  </a:moveTo>
                  <a:lnTo>
                    <a:pt x="276707" y="49352"/>
                  </a:lnTo>
                  <a:lnTo>
                    <a:pt x="245833" y="23672"/>
                  </a:lnTo>
                  <a:lnTo>
                    <a:pt x="200050" y="6362"/>
                  </a:lnTo>
                  <a:lnTo>
                    <a:pt x="144018" y="0"/>
                  </a:lnTo>
                  <a:lnTo>
                    <a:pt x="87972" y="6362"/>
                  </a:lnTo>
                  <a:lnTo>
                    <a:pt x="42189" y="23672"/>
                  </a:lnTo>
                  <a:lnTo>
                    <a:pt x="11315" y="49352"/>
                  </a:lnTo>
                  <a:lnTo>
                    <a:pt x="0" y="80772"/>
                  </a:lnTo>
                  <a:lnTo>
                    <a:pt x="11315" y="112204"/>
                  </a:lnTo>
                  <a:lnTo>
                    <a:pt x="42189" y="137883"/>
                  </a:lnTo>
                  <a:lnTo>
                    <a:pt x="87972" y="155194"/>
                  </a:lnTo>
                  <a:lnTo>
                    <a:pt x="144018" y="161544"/>
                  </a:lnTo>
                  <a:lnTo>
                    <a:pt x="200050" y="155194"/>
                  </a:lnTo>
                  <a:lnTo>
                    <a:pt x="245833" y="137883"/>
                  </a:lnTo>
                  <a:lnTo>
                    <a:pt x="276707" y="112204"/>
                  </a:lnTo>
                  <a:lnTo>
                    <a:pt x="288036" y="80772"/>
                  </a:lnTo>
                  <a:close/>
                </a:path>
                <a:path w="818515" h="295910">
                  <a:moveTo>
                    <a:pt x="553212" y="214122"/>
                  </a:moveTo>
                  <a:lnTo>
                    <a:pt x="541883" y="182372"/>
                  </a:lnTo>
                  <a:lnTo>
                    <a:pt x="511009" y="156451"/>
                  </a:lnTo>
                  <a:lnTo>
                    <a:pt x="465226" y="138988"/>
                  </a:lnTo>
                  <a:lnTo>
                    <a:pt x="409194" y="132588"/>
                  </a:lnTo>
                  <a:lnTo>
                    <a:pt x="353148" y="138988"/>
                  </a:lnTo>
                  <a:lnTo>
                    <a:pt x="307365" y="156451"/>
                  </a:lnTo>
                  <a:lnTo>
                    <a:pt x="276491" y="182372"/>
                  </a:lnTo>
                  <a:lnTo>
                    <a:pt x="265176" y="214122"/>
                  </a:lnTo>
                  <a:lnTo>
                    <a:pt x="276491" y="245872"/>
                  </a:lnTo>
                  <a:lnTo>
                    <a:pt x="307365" y="271780"/>
                  </a:lnTo>
                  <a:lnTo>
                    <a:pt x="353148" y="289255"/>
                  </a:lnTo>
                  <a:lnTo>
                    <a:pt x="409194" y="295656"/>
                  </a:lnTo>
                  <a:lnTo>
                    <a:pt x="465226" y="289255"/>
                  </a:lnTo>
                  <a:lnTo>
                    <a:pt x="511009" y="271780"/>
                  </a:lnTo>
                  <a:lnTo>
                    <a:pt x="541883" y="245872"/>
                  </a:lnTo>
                  <a:lnTo>
                    <a:pt x="553212" y="214122"/>
                  </a:lnTo>
                  <a:close/>
                </a:path>
                <a:path w="818515" h="295910">
                  <a:moveTo>
                    <a:pt x="818388" y="80772"/>
                  </a:moveTo>
                  <a:lnTo>
                    <a:pt x="807059" y="49352"/>
                  </a:lnTo>
                  <a:lnTo>
                    <a:pt x="776185" y="23672"/>
                  </a:lnTo>
                  <a:lnTo>
                    <a:pt x="730402" y="6362"/>
                  </a:lnTo>
                  <a:lnTo>
                    <a:pt x="674370" y="0"/>
                  </a:lnTo>
                  <a:lnTo>
                    <a:pt x="618324" y="6362"/>
                  </a:lnTo>
                  <a:lnTo>
                    <a:pt x="572541" y="23672"/>
                  </a:lnTo>
                  <a:lnTo>
                    <a:pt x="541667" y="49352"/>
                  </a:lnTo>
                  <a:lnTo>
                    <a:pt x="530352" y="80772"/>
                  </a:lnTo>
                  <a:lnTo>
                    <a:pt x="541667" y="112204"/>
                  </a:lnTo>
                  <a:lnTo>
                    <a:pt x="572541" y="137883"/>
                  </a:lnTo>
                  <a:lnTo>
                    <a:pt x="618324" y="155194"/>
                  </a:lnTo>
                  <a:lnTo>
                    <a:pt x="674370" y="161544"/>
                  </a:lnTo>
                  <a:lnTo>
                    <a:pt x="730402" y="155194"/>
                  </a:lnTo>
                  <a:lnTo>
                    <a:pt x="776185" y="137883"/>
                  </a:lnTo>
                  <a:lnTo>
                    <a:pt x="807059" y="112204"/>
                  </a:lnTo>
                  <a:lnTo>
                    <a:pt x="818388" y="80772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433816" y="5410200"/>
              <a:ext cx="288290" cy="163195"/>
            </a:xfrm>
            <a:custGeom>
              <a:avLst/>
              <a:gdLst/>
              <a:ahLst/>
              <a:cxnLst/>
              <a:rect l="l" t="t" r="r" b="b"/>
              <a:pathLst>
                <a:path w="288290" h="163195">
                  <a:moveTo>
                    <a:pt x="144017" y="0"/>
                  </a:moveTo>
                  <a:lnTo>
                    <a:pt x="87975" y="6399"/>
                  </a:lnTo>
                  <a:lnTo>
                    <a:pt x="42195" y="23860"/>
                  </a:lnTo>
                  <a:lnTo>
                    <a:pt x="11322" y="49774"/>
                  </a:lnTo>
                  <a:lnTo>
                    <a:pt x="0" y="81534"/>
                  </a:lnTo>
                  <a:lnTo>
                    <a:pt x="11322" y="113293"/>
                  </a:lnTo>
                  <a:lnTo>
                    <a:pt x="42195" y="139207"/>
                  </a:lnTo>
                  <a:lnTo>
                    <a:pt x="87975" y="156668"/>
                  </a:lnTo>
                  <a:lnTo>
                    <a:pt x="144017" y="163068"/>
                  </a:lnTo>
                  <a:lnTo>
                    <a:pt x="200060" y="156668"/>
                  </a:lnTo>
                  <a:lnTo>
                    <a:pt x="245840" y="139207"/>
                  </a:lnTo>
                  <a:lnTo>
                    <a:pt x="276713" y="113293"/>
                  </a:lnTo>
                  <a:lnTo>
                    <a:pt x="288035" y="81534"/>
                  </a:lnTo>
                  <a:lnTo>
                    <a:pt x="276713" y="49774"/>
                  </a:lnTo>
                  <a:lnTo>
                    <a:pt x="245840" y="23860"/>
                  </a:lnTo>
                  <a:lnTo>
                    <a:pt x="200060" y="6399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15184" y="5407152"/>
              <a:ext cx="105918" cy="73914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878835" y="5542788"/>
              <a:ext cx="104393" cy="7391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335523" y="5542788"/>
              <a:ext cx="127253" cy="73914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0107" y="5407152"/>
              <a:ext cx="105918" cy="73914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98747" y="5407152"/>
              <a:ext cx="105917" cy="73914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15383" y="5407152"/>
              <a:ext cx="124205" cy="73914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54879" y="5407152"/>
              <a:ext cx="125729" cy="73914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483608" y="5542788"/>
              <a:ext cx="124205" cy="73914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32347" y="5407152"/>
              <a:ext cx="122682" cy="73914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62700" y="5407152"/>
              <a:ext cx="140970" cy="7391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091427" y="5542788"/>
              <a:ext cx="140970" cy="73914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8851772" y="5280533"/>
              <a:ext cx="51435" cy="102235"/>
            </a:xfrm>
            <a:custGeom>
              <a:avLst/>
              <a:gdLst/>
              <a:ahLst/>
              <a:cxnLst/>
              <a:rect l="l" t="t" r="r" b="b"/>
              <a:pathLst>
                <a:path w="51434" h="102235">
                  <a:moveTo>
                    <a:pt x="0" y="0"/>
                  </a:moveTo>
                  <a:lnTo>
                    <a:pt x="0" y="101853"/>
                  </a:lnTo>
                  <a:lnTo>
                    <a:pt x="50926" y="50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903720" y="5408676"/>
              <a:ext cx="137922" cy="73914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434071" y="5407152"/>
              <a:ext cx="145542" cy="7391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955280" y="5407152"/>
              <a:ext cx="147066" cy="7391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94676" y="5542788"/>
              <a:ext cx="124205" cy="73914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508492" y="5458967"/>
              <a:ext cx="147066" cy="7391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837739" y="5450035"/>
              <a:ext cx="50989" cy="81322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96147" y="4408962"/>
              <a:ext cx="50990" cy="11045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45056" y="5265523"/>
              <a:ext cx="41833" cy="9819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886902" y="4492855"/>
              <a:ext cx="14287" cy="9819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853530" y="6054955"/>
              <a:ext cx="49183" cy="98194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31352" y="4541520"/>
              <a:ext cx="89916" cy="8991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897379" y="4567427"/>
              <a:ext cx="6870192" cy="1498091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1062875" y="2546223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19">
                  <a:moveTo>
                    <a:pt x="138684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138684" y="7619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64831" y="2395220"/>
              <a:ext cx="136728" cy="109981"/>
            </a:xfrm>
            <a:prstGeom prst="rect">
              <a:avLst/>
            </a:prstGeom>
          </p:spPr>
        </p:pic>
      </p:grpSp>
      <p:sp>
        <p:nvSpPr>
          <p:cNvPr id="127" name="object 127"/>
          <p:cNvSpPr txBox="1"/>
          <p:nvPr/>
        </p:nvSpPr>
        <p:spPr>
          <a:xfrm>
            <a:off x="1609344" y="2369565"/>
            <a:ext cx="2374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24154" algn="l"/>
              </a:tabLst>
            </a:pPr>
            <a:r>
              <a:rPr dirty="0" u="dash" sz="900">
                <a:solidFill>
                  <a:srgbClr val="25252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099718" y="2343657"/>
            <a:ext cx="114300" cy="3517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endParaRPr sz="9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1229893" y="2496057"/>
            <a:ext cx="732790" cy="589915"/>
            <a:chOff x="1229893" y="2496057"/>
            <a:chExt cx="732790" cy="589915"/>
          </a:xfrm>
        </p:grpSpPr>
        <p:sp>
          <p:nvSpPr>
            <p:cNvPr id="130" name="object 130"/>
            <p:cNvSpPr/>
            <p:nvPr/>
          </p:nvSpPr>
          <p:spPr>
            <a:xfrm>
              <a:off x="1229893" y="2496057"/>
              <a:ext cx="477520" cy="541655"/>
            </a:xfrm>
            <a:custGeom>
              <a:avLst/>
              <a:gdLst/>
              <a:ahLst/>
              <a:cxnLst/>
              <a:rect l="l" t="t" r="r" b="b"/>
              <a:pathLst>
                <a:path w="477519" h="541655">
                  <a:moveTo>
                    <a:pt x="35267" y="4318"/>
                  </a:moveTo>
                  <a:lnTo>
                    <a:pt x="33769" y="0"/>
                  </a:lnTo>
                  <a:lnTo>
                    <a:pt x="26085" y="2743"/>
                  </a:lnTo>
                  <a:lnTo>
                    <a:pt x="19354" y="6756"/>
                  </a:lnTo>
                  <a:lnTo>
                    <a:pt x="533" y="43307"/>
                  </a:lnTo>
                  <a:lnTo>
                    <a:pt x="0" y="52959"/>
                  </a:lnTo>
                  <a:lnTo>
                    <a:pt x="533" y="62687"/>
                  </a:lnTo>
                  <a:lnTo>
                    <a:pt x="19316" y="99072"/>
                  </a:lnTo>
                  <a:lnTo>
                    <a:pt x="33769" y="105791"/>
                  </a:lnTo>
                  <a:lnTo>
                    <a:pt x="35102" y="101600"/>
                  </a:lnTo>
                  <a:lnTo>
                    <a:pt x="29057" y="98907"/>
                  </a:lnTo>
                  <a:lnTo>
                    <a:pt x="23863" y="95186"/>
                  </a:lnTo>
                  <a:lnTo>
                    <a:pt x="9652" y="52324"/>
                  </a:lnTo>
                  <a:lnTo>
                    <a:pt x="10045" y="43243"/>
                  </a:lnTo>
                  <a:lnTo>
                    <a:pt x="29159" y="6946"/>
                  </a:lnTo>
                  <a:lnTo>
                    <a:pt x="35267" y="4318"/>
                  </a:lnTo>
                  <a:close/>
                </a:path>
                <a:path w="477519" h="541655">
                  <a:moveTo>
                    <a:pt x="355066" y="52959"/>
                  </a:moveTo>
                  <a:lnTo>
                    <a:pt x="341439" y="12026"/>
                  </a:lnTo>
                  <a:lnTo>
                    <a:pt x="321284" y="0"/>
                  </a:lnTo>
                  <a:lnTo>
                    <a:pt x="319760" y="4318"/>
                  </a:lnTo>
                  <a:lnTo>
                    <a:pt x="325882" y="6946"/>
                  </a:lnTo>
                  <a:lnTo>
                    <a:pt x="331114" y="10617"/>
                  </a:lnTo>
                  <a:lnTo>
                    <a:pt x="345287" y="52324"/>
                  </a:lnTo>
                  <a:lnTo>
                    <a:pt x="344893" y="61709"/>
                  </a:lnTo>
                  <a:lnTo>
                    <a:pt x="325932" y="98907"/>
                  </a:lnTo>
                  <a:lnTo>
                    <a:pt x="319887" y="101600"/>
                  </a:lnTo>
                  <a:lnTo>
                    <a:pt x="321284" y="105791"/>
                  </a:lnTo>
                  <a:lnTo>
                    <a:pt x="350126" y="79883"/>
                  </a:lnTo>
                  <a:lnTo>
                    <a:pt x="354507" y="62687"/>
                  </a:lnTo>
                  <a:lnTo>
                    <a:pt x="355066" y="52959"/>
                  </a:lnTo>
                  <a:close/>
                </a:path>
                <a:path w="477519" h="541655">
                  <a:moveTo>
                    <a:pt x="476986" y="533781"/>
                  </a:moveTo>
                  <a:lnTo>
                    <a:pt x="412978" y="533781"/>
                  </a:lnTo>
                  <a:lnTo>
                    <a:pt x="412978" y="541401"/>
                  </a:lnTo>
                  <a:lnTo>
                    <a:pt x="476986" y="541401"/>
                  </a:lnTo>
                  <a:lnTo>
                    <a:pt x="476986" y="533781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735201" y="2979673"/>
              <a:ext cx="227075" cy="105917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1424178" y="2827909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19">
                  <a:moveTo>
                    <a:pt x="138684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138684" y="7619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26083" y="2676905"/>
              <a:ext cx="136778" cy="109982"/>
            </a:xfrm>
            <a:prstGeom prst="rect">
              <a:avLst/>
            </a:prstGeom>
          </p:spPr>
        </p:pic>
      </p:grpSp>
      <p:sp>
        <p:nvSpPr>
          <p:cNvPr id="134" name="object 134"/>
          <p:cNvSpPr txBox="1"/>
          <p:nvPr/>
        </p:nvSpPr>
        <p:spPr>
          <a:xfrm>
            <a:off x="1267358" y="2398776"/>
            <a:ext cx="307975" cy="57848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r" marR="19050">
              <a:lnSpc>
                <a:spcPct val="100000"/>
              </a:lnSpc>
              <a:spcBef>
                <a:spcPts val="550"/>
              </a:spcBef>
            </a:pPr>
            <a:r>
              <a:rPr dirty="0" sz="900" spc="5">
                <a:solidFill>
                  <a:srgbClr val="252525"/>
                </a:solidFill>
                <a:latin typeface="Cambria Math"/>
                <a:cs typeface="Cambria Math"/>
              </a:rPr>
              <a:t>0.866</a:t>
            </a:r>
            <a:endParaRPr sz="9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455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  <a:p>
            <a:pPr algn="r" marR="43180">
              <a:lnSpc>
                <a:spcPct val="100000"/>
              </a:lnSpc>
              <a:spcBef>
                <a:spcPts val="204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1591183" y="2777744"/>
            <a:ext cx="354965" cy="106045"/>
          </a:xfrm>
          <a:custGeom>
            <a:avLst/>
            <a:gdLst/>
            <a:ahLst/>
            <a:cxnLst/>
            <a:rect l="l" t="t" r="r" b="b"/>
            <a:pathLst>
              <a:path w="354964" h="106044">
                <a:moveTo>
                  <a:pt x="321183" y="0"/>
                </a:moveTo>
                <a:lnTo>
                  <a:pt x="319785" y="4317"/>
                </a:lnTo>
                <a:lnTo>
                  <a:pt x="325856" y="6937"/>
                </a:lnTo>
                <a:lnTo>
                  <a:pt x="331104" y="10604"/>
                </a:lnTo>
                <a:lnTo>
                  <a:pt x="345312" y="52323"/>
                </a:lnTo>
                <a:lnTo>
                  <a:pt x="344930" y="61704"/>
                </a:lnTo>
                <a:lnTo>
                  <a:pt x="325963" y="98905"/>
                </a:lnTo>
                <a:lnTo>
                  <a:pt x="319912" y="101600"/>
                </a:lnTo>
                <a:lnTo>
                  <a:pt x="321183" y="105790"/>
                </a:lnTo>
                <a:lnTo>
                  <a:pt x="350089" y="79873"/>
                </a:lnTo>
                <a:lnTo>
                  <a:pt x="354965" y="52958"/>
                </a:lnTo>
                <a:lnTo>
                  <a:pt x="354417" y="43241"/>
                </a:lnTo>
                <a:lnTo>
                  <a:pt x="335645" y="6746"/>
                </a:lnTo>
                <a:lnTo>
                  <a:pt x="328896" y="2736"/>
                </a:lnTo>
                <a:lnTo>
                  <a:pt x="321183" y="0"/>
                </a:lnTo>
                <a:close/>
              </a:path>
              <a:path w="354964" h="106044">
                <a:moveTo>
                  <a:pt x="33781" y="0"/>
                </a:moveTo>
                <a:lnTo>
                  <a:pt x="4929" y="26044"/>
                </a:lnTo>
                <a:lnTo>
                  <a:pt x="0" y="52958"/>
                </a:lnTo>
                <a:lnTo>
                  <a:pt x="545" y="62676"/>
                </a:lnTo>
                <a:lnTo>
                  <a:pt x="19303" y="99059"/>
                </a:lnTo>
                <a:lnTo>
                  <a:pt x="33781" y="105790"/>
                </a:lnTo>
                <a:lnTo>
                  <a:pt x="35052" y="101600"/>
                </a:lnTo>
                <a:lnTo>
                  <a:pt x="29055" y="98905"/>
                </a:lnTo>
                <a:lnTo>
                  <a:pt x="23844" y="95186"/>
                </a:lnTo>
                <a:lnTo>
                  <a:pt x="9651" y="52323"/>
                </a:lnTo>
                <a:lnTo>
                  <a:pt x="10043" y="43241"/>
                </a:lnTo>
                <a:lnTo>
                  <a:pt x="29162" y="6937"/>
                </a:lnTo>
                <a:lnTo>
                  <a:pt x="35305" y="4317"/>
                </a:lnTo>
                <a:lnTo>
                  <a:pt x="33781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 txBox="1"/>
          <p:nvPr/>
        </p:nvSpPr>
        <p:spPr>
          <a:xfrm>
            <a:off x="1603121" y="2738120"/>
            <a:ext cx="359410" cy="36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ts val="994"/>
              </a:lnSpc>
              <a:spcBef>
                <a:spcPts val="100"/>
              </a:spcBef>
            </a:pPr>
            <a:r>
              <a:rPr dirty="0" sz="900" spc="5">
                <a:solidFill>
                  <a:srgbClr val="252525"/>
                </a:solidFill>
                <a:latin typeface="Cambria Math"/>
                <a:cs typeface="Cambria Math"/>
              </a:rPr>
              <a:t>0.707</a:t>
            </a:r>
            <a:endParaRPr sz="900">
              <a:latin typeface="Cambria Math"/>
              <a:cs typeface="Cambria Math"/>
            </a:endParaRPr>
          </a:p>
          <a:p>
            <a:pPr marL="40005">
              <a:lnSpc>
                <a:spcPts val="795"/>
              </a:lnSpc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900">
              <a:latin typeface="Cambria Math"/>
              <a:cs typeface="Cambria Math"/>
            </a:endParaRPr>
          </a:p>
          <a:p>
            <a:pPr marL="40005">
              <a:lnSpc>
                <a:spcPts val="880"/>
              </a:lnSpc>
            </a:pPr>
            <a:r>
              <a:rPr dirty="0" baseline="-37037" sz="135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-37037" sz="1350" spc="3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0.5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348105" y="3688460"/>
            <a:ext cx="139065" cy="158750"/>
            <a:chOff x="1348105" y="3688460"/>
            <a:chExt cx="139065" cy="158750"/>
          </a:xfrm>
        </p:grpSpPr>
        <p:sp>
          <p:nvSpPr>
            <p:cNvPr id="138" name="object 138"/>
            <p:cNvSpPr/>
            <p:nvPr/>
          </p:nvSpPr>
          <p:spPr>
            <a:xfrm>
              <a:off x="1348105" y="3839463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20">
                  <a:moveTo>
                    <a:pt x="138684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38684" y="762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50010" y="3688460"/>
              <a:ext cx="136778" cy="109981"/>
            </a:xfrm>
            <a:prstGeom prst="rect">
              <a:avLst/>
            </a:prstGeom>
          </p:spPr>
        </p:pic>
      </p:grpSp>
      <p:sp>
        <p:nvSpPr>
          <p:cNvPr id="140" name="object 140"/>
          <p:cNvSpPr txBox="1"/>
          <p:nvPr/>
        </p:nvSpPr>
        <p:spPr>
          <a:xfrm>
            <a:off x="1422780" y="3663188"/>
            <a:ext cx="76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1516633" y="3789298"/>
            <a:ext cx="438784" cy="106045"/>
          </a:xfrm>
          <a:custGeom>
            <a:avLst/>
            <a:gdLst/>
            <a:ahLst/>
            <a:cxnLst/>
            <a:rect l="l" t="t" r="r" b="b"/>
            <a:pathLst>
              <a:path w="438785" h="106045">
                <a:moveTo>
                  <a:pt x="405003" y="0"/>
                </a:moveTo>
                <a:lnTo>
                  <a:pt x="403478" y="4318"/>
                </a:lnTo>
                <a:lnTo>
                  <a:pt x="409622" y="6937"/>
                </a:lnTo>
                <a:lnTo>
                  <a:pt x="414909" y="10604"/>
                </a:lnTo>
                <a:lnTo>
                  <a:pt x="429133" y="52450"/>
                </a:lnTo>
                <a:lnTo>
                  <a:pt x="428750" y="61757"/>
                </a:lnTo>
                <a:lnTo>
                  <a:pt x="409729" y="98905"/>
                </a:lnTo>
                <a:lnTo>
                  <a:pt x="403733" y="101600"/>
                </a:lnTo>
                <a:lnTo>
                  <a:pt x="405003" y="105918"/>
                </a:lnTo>
                <a:lnTo>
                  <a:pt x="433909" y="79873"/>
                </a:lnTo>
                <a:lnTo>
                  <a:pt x="438784" y="52958"/>
                </a:lnTo>
                <a:lnTo>
                  <a:pt x="438237" y="43241"/>
                </a:lnTo>
                <a:lnTo>
                  <a:pt x="419417" y="6794"/>
                </a:lnTo>
                <a:lnTo>
                  <a:pt x="412698" y="2790"/>
                </a:lnTo>
                <a:lnTo>
                  <a:pt x="405003" y="0"/>
                </a:lnTo>
                <a:close/>
              </a:path>
              <a:path w="438785" h="106045">
                <a:moveTo>
                  <a:pt x="33781" y="0"/>
                </a:moveTo>
                <a:lnTo>
                  <a:pt x="4929" y="26044"/>
                </a:lnTo>
                <a:lnTo>
                  <a:pt x="0" y="52958"/>
                </a:lnTo>
                <a:lnTo>
                  <a:pt x="545" y="62676"/>
                </a:lnTo>
                <a:lnTo>
                  <a:pt x="19303" y="99123"/>
                </a:lnTo>
                <a:lnTo>
                  <a:pt x="33781" y="105918"/>
                </a:lnTo>
                <a:lnTo>
                  <a:pt x="35052" y="101600"/>
                </a:lnTo>
                <a:lnTo>
                  <a:pt x="29055" y="98905"/>
                </a:lnTo>
                <a:lnTo>
                  <a:pt x="23844" y="95186"/>
                </a:lnTo>
                <a:lnTo>
                  <a:pt x="9652" y="52450"/>
                </a:lnTo>
                <a:lnTo>
                  <a:pt x="10034" y="43406"/>
                </a:lnTo>
                <a:lnTo>
                  <a:pt x="29162" y="6937"/>
                </a:lnTo>
                <a:lnTo>
                  <a:pt x="35306" y="4318"/>
                </a:lnTo>
                <a:lnTo>
                  <a:pt x="33781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 txBox="1"/>
          <p:nvPr/>
        </p:nvSpPr>
        <p:spPr>
          <a:xfrm>
            <a:off x="1217574" y="3750055"/>
            <a:ext cx="739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900" spc="2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37037" sz="135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-37037" sz="1350" spc="59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−0.707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1638807" y="3651757"/>
            <a:ext cx="64135" cy="7620"/>
          </a:xfrm>
          <a:custGeom>
            <a:avLst/>
            <a:gdLst/>
            <a:ahLst/>
            <a:cxnLst/>
            <a:rect l="l" t="t" r="r" b="b"/>
            <a:pathLst>
              <a:path w="64135" h="7620">
                <a:moveTo>
                  <a:pt x="64007" y="0"/>
                </a:moveTo>
                <a:lnTo>
                  <a:pt x="0" y="0"/>
                </a:lnTo>
                <a:lnTo>
                  <a:pt x="0" y="7620"/>
                </a:lnTo>
                <a:lnTo>
                  <a:pt x="64007" y="7620"/>
                </a:lnTo>
                <a:lnTo>
                  <a:pt x="64007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 txBox="1"/>
          <p:nvPr/>
        </p:nvSpPr>
        <p:spPr>
          <a:xfrm>
            <a:off x="1638935" y="3475482"/>
            <a:ext cx="76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638935" y="3638550"/>
            <a:ext cx="76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pic>
        <p:nvPicPr>
          <p:cNvPr id="146" name="object 146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731136" y="3601592"/>
            <a:ext cx="227075" cy="105791"/>
          </a:xfrm>
          <a:prstGeom prst="rect">
            <a:avLst/>
          </a:prstGeom>
        </p:spPr>
      </p:pic>
      <p:sp>
        <p:nvSpPr>
          <p:cNvPr id="147" name="object 147"/>
          <p:cNvSpPr txBox="1"/>
          <p:nvPr/>
        </p:nvSpPr>
        <p:spPr>
          <a:xfrm>
            <a:off x="1535302" y="3562350"/>
            <a:ext cx="3981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33045" algn="l"/>
              </a:tabLst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	</a:t>
            </a:r>
            <a:r>
              <a:rPr dirty="0" sz="900" spc="5">
                <a:solidFill>
                  <a:srgbClr val="252525"/>
                </a:solidFill>
                <a:latin typeface="Cambria Math"/>
                <a:cs typeface="Cambria Math"/>
              </a:rPr>
              <a:t>0.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994054" y="3901566"/>
            <a:ext cx="139065" cy="158750"/>
            <a:chOff x="994054" y="3901566"/>
            <a:chExt cx="139065" cy="158750"/>
          </a:xfrm>
        </p:grpSpPr>
        <p:sp>
          <p:nvSpPr>
            <p:cNvPr id="149" name="object 149"/>
            <p:cNvSpPr/>
            <p:nvPr/>
          </p:nvSpPr>
          <p:spPr>
            <a:xfrm>
              <a:off x="994054" y="4052569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20">
                  <a:moveTo>
                    <a:pt x="138684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38684" y="762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95997" y="3901566"/>
              <a:ext cx="136740" cy="109981"/>
            </a:xfrm>
            <a:prstGeom prst="rect">
              <a:avLst/>
            </a:prstGeom>
          </p:spPr>
        </p:pic>
      </p:grpSp>
      <p:sp>
        <p:nvSpPr>
          <p:cNvPr id="151" name="object 151"/>
          <p:cNvSpPr txBox="1"/>
          <p:nvPr/>
        </p:nvSpPr>
        <p:spPr>
          <a:xfrm>
            <a:off x="1068933" y="3876294"/>
            <a:ext cx="773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58165" algn="l"/>
                <a:tab pos="760095" algn="l"/>
              </a:tabLst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3	</a:t>
            </a:r>
            <a:r>
              <a:rPr dirty="0" u="dash" sz="900">
                <a:solidFill>
                  <a:srgbClr val="25252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1162596" y="4002404"/>
            <a:ext cx="439420" cy="106045"/>
          </a:xfrm>
          <a:custGeom>
            <a:avLst/>
            <a:gdLst/>
            <a:ahLst/>
            <a:cxnLst/>
            <a:rect l="l" t="t" r="r" b="b"/>
            <a:pathLst>
              <a:path w="439419" h="106045">
                <a:moveTo>
                  <a:pt x="405091" y="0"/>
                </a:moveTo>
                <a:lnTo>
                  <a:pt x="403567" y="4318"/>
                </a:lnTo>
                <a:lnTo>
                  <a:pt x="409709" y="6937"/>
                </a:lnTo>
                <a:lnTo>
                  <a:pt x="414982" y="10604"/>
                </a:lnTo>
                <a:lnTo>
                  <a:pt x="429221" y="52451"/>
                </a:lnTo>
                <a:lnTo>
                  <a:pt x="428819" y="61757"/>
                </a:lnTo>
                <a:lnTo>
                  <a:pt x="409745" y="98905"/>
                </a:lnTo>
                <a:lnTo>
                  <a:pt x="403694" y="101600"/>
                </a:lnTo>
                <a:lnTo>
                  <a:pt x="405091" y="105918"/>
                </a:lnTo>
                <a:lnTo>
                  <a:pt x="433944" y="79873"/>
                </a:lnTo>
                <a:lnTo>
                  <a:pt x="438873" y="52959"/>
                </a:lnTo>
                <a:lnTo>
                  <a:pt x="438326" y="43241"/>
                </a:lnTo>
                <a:lnTo>
                  <a:pt x="419458" y="6794"/>
                </a:lnTo>
                <a:lnTo>
                  <a:pt x="412733" y="2790"/>
                </a:lnTo>
                <a:lnTo>
                  <a:pt x="405091" y="0"/>
                </a:lnTo>
                <a:close/>
              </a:path>
              <a:path w="439419" h="106045">
                <a:moveTo>
                  <a:pt x="33756" y="0"/>
                </a:moveTo>
                <a:lnTo>
                  <a:pt x="4907" y="26044"/>
                </a:lnTo>
                <a:lnTo>
                  <a:pt x="0" y="52959"/>
                </a:lnTo>
                <a:lnTo>
                  <a:pt x="543" y="62676"/>
                </a:lnTo>
                <a:lnTo>
                  <a:pt x="19318" y="99123"/>
                </a:lnTo>
                <a:lnTo>
                  <a:pt x="33756" y="105918"/>
                </a:lnTo>
                <a:lnTo>
                  <a:pt x="35102" y="101600"/>
                </a:lnTo>
                <a:lnTo>
                  <a:pt x="29068" y="98905"/>
                </a:lnTo>
                <a:lnTo>
                  <a:pt x="23861" y="95186"/>
                </a:lnTo>
                <a:lnTo>
                  <a:pt x="9651" y="52451"/>
                </a:lnTo>
                <a:lnTo>
                  <a:pt x="10044" y="43406"/>
                </a:lnTo>
                <a:lnTo>
                  <a:pt x="29159" y="6937"/>
                </a:lnTo>
                <a:lnTo>
                  <a:pt x="35267" y="4318"/>
                </a:lnTo>
                <a:lnTo>
                  <a:pt x="3375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 txBox="1"/>
          <p:nvPr/>
        </p:nvSpPr>
        <p:spPr>
          <a:xfrm>
            <a:off x="863701" y="3963161"/>
            <a:ext cx="739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900" spc="2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37037" sz="135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-37037" sz="1350" spc="59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−0.866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1440561" y="4525771"/>
            <a:ext cx="139065" cy="158750"/>
            <a:chOff x="1440561" y="4525771"/>
            <a:chExt cx="139065" cy="158750"/>
          </a:xfrm>
        </p:grpSpPr>
        <p:sp>
          <p:nvSpPr>
            <p:cNvPr id="155" name="object 155"/>
            <p:cNvSpPr/>
            <p:nvPr/>
          </p:nvSpPr>
          <p:spPr>
            <a:xfrm>
              <a:off x="1440561" y="4676774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20">
                  <a:moveTo>
                    <a:pt x="138684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38684" y="762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442593" y="4525771"/>
              <a:ext cx="136651" cy="110108"/>
            </a:xfrm>
            <a:prstGeom prst="rect">
              <a:avLst/>
            </a:prstGeom>
          </p:spPr>
        </p:pic>
      </p:grpSp>
      <p:sp>
        <p:nvSpPr>
          <p:cNvPr id="157" name="object 157"/>
          <p:cNvSpPr txBox="1"/>
          <p:nvPr/>
        </p:nvSpPr>
        <p:spPr>
          <a:xfrm>
            <a:off x="1515491" y="4500753"/>
            <a:ext cx="76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58" name="object 158"/>
          <p:cNvSpPr/>
          <p:nvPr/>
        </p:nvSpPr>
        <p:spPr>
          <a:xfrm>
            <a:off x="1607566" y="4626609"/>
            <a:ext cx="355600" cy="106045"/>
          </a:xfrm>
          <a:custGeom>
            <a:avLst/>
            <a:gdLst/>
            <a:ahLst/>
            <a:cxnLst/>
            <a:rect l="l" t="t" r="r" b="b"/>
            <a:pathLst>
              <a:path w="355600" h="106045">
                <a:moveTo>
                  <a:pt x="321309" y="0"/>
                </a:moveTo>
                <a:lnTo>
                  <a:pt x="319785" y="4317"/>
                </a:lnTo>
                <a:lnTo>
                  <a:pt x="325927" y="7008"/>
                </a:lnTo>
                <a:lnTo>
                  <a:pt x="331200" y="10699"/>
                </a:lnTo>
                <a:lnTo>
                  <a:pt x="345440" y="52450"/>
                </a:lnTo>
                <a:lnTo>
                  <a:pt x="345037" y="61757"/>
                </a:lnTo>
                <a:lnTo>
                  <a:pt x="325963" y="98905"/>
                </a:lnTo>
                <a:lnTo>
                  <a:pt x="319913" y="101600"/>
                </a:lnTo>
                <a:lnTo>
                  <a:pt x="321309" y="105917"/>
                </a:lnTo>
                <a:lnTo>
                  <a:pt x="350162" y="79926"/>
                </a:lnTo>
                <a:lnTo>
                  <a:pt x="355091" y="52958"/>
                </a:lnTo>
                <a:lnTo>
                  <a:pt x="354544" y="43241"/>
                </a:lnTo>
                <a:lnTo>
                  <a:pt x="335676" y="6794"/>
                </a:lnTo>
                <a:lnTo>
                  <a:pt x="328951" y="2790"/>
                </a:lnTo>
                <a:lnTo>
                  <a:pt x="321309" y="0"/>
                </a:lnTo>
                <a:close/>
              </a:path>
              <a:path w="355600" h="106045">
                <a:moveTo>
                  <a:pt x="33782" y="0"/>
                </a:moveTo>
                <a:lnTo>
                  <a:pt x="4929" y="26044"/>
                </a:lnTo>
                <a:lnTo>
                  <a:pt x="0" y="52958"/>
                </a:lnTo>
                <a:lnTo>
                  <a:pt x="547" y="62694"/>
                </a:lnTo>
                <a:lnTo>
                  <a:pt x="19319" y="99123"/>
                </a:lnTo>
                <a:lnTo>
                  <a:pt x="33782" y="105917"/>
                </a:lnTo>
                <a:lnTo>
                  <a:pt x="35178" y="101600"/>
                </a:lnTo>
                <a:lnTo>
                  <a:pt x="29128" y="98905"/>
                </a:lnTo>
                <a:lnTo>
                  <a:pt x="23923" y="95186"/>
                </a:lnTo>
                <a:lnTo>
                  <a:pt x="9652" y="52450"/>
                </a:lnTo>
                <a:lnTo>
                  <a:pt x="10054" y="43424"/>
                </a:lnTo>
                <a:lnTo>
                  <a:pt x="29182" y="7008"/>
                </a:lnTo>
                <a:lnTo>
                  <a:pt x="35306" y="4317"/>
                </a:lnTo>
                <a:lnTo>
                  <a:pt x="3378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 txBox="1"/>
          <p:nvPr/>
        </p:nvSpPr>
        <p:spPr>
          <a:xfrm>
            <a:off x="1645030" y="4587620"/>
            <a:ext cx="2933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252525"/>
                </a:solidFill>
                <a:latin typeface="Cambria Math"/>
                <a:cs typeface="Cambria Math"/>
              </a:rPr>
              <a:t>0.866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1084160" y="4715890"/>
            <a:ext cx="139065" cy="158750"/>
            <a:chOff x="1084160" y="4715890"/>
            <a:chExt cx="139065" cy="158750"/>
          </a:xfrm>
        </p:grpSpPr>
        <p:sp>
          <p:nvSpPr>
            <p:cNvPr id="161" name="object 161"/>
            <p:cNvSpPr/>
            <p:nvPr/>
          </p:nvSpPr>
          <p:spPr>
            <a:xfrm>
              <a:off x="1084160" y="4866893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20">
                  <a:moveTo>
                    <a:pt x="138684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38684" y="762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86103" y="4715890"/>
              <a:ext cx="136740" cy="110108"/>
            </a:xfrm>
            <a:prstGeom prst="rect">
              <a:avLst/>
            </a:prstGeom>
          </p:spPr>
        </p:pic>
      </p:grpSp>
      <p:sp>
        <p:nvSpPr>
          <p:cNvPr id="163" name="object 163"/>
          <p:cNvSpPr txBox="1"/>
          <p:nvPr/>
        </p:nvSpPr>
        <p:spPr>
          <a:xfrm>
            <a:off x="1120749" y="4664014"/>
            <a:ext cx="114300" cy="353060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1251178" y="4811140"/>
            <a:ext cx="724535" cy="243204"/>
            <a:chOff x="1251178" y="4811140"/>
            <a:chExt cx="724535" cy="243204"/>
          </a:xfrm>
        </p:grpSpPr>
        <p:sp>
          <p:nvSpPr>
            <p:cNvPr id="165" name="object 165"/>
            <p:cNvSpPr/>
            <p:nvPr/>
          </p:nvSpPr>
          <p:spPr>
            <a:xfrm>
              <a:off x="1251178" y="4816728"/>
              <a:ext cx="355600" cy="106045"/>
            </a:xfrm>
            <a:custGeom>
              <a:avLst/>
              <a:gdLst/>
              <a:ahLst/>
              <a:cxnLst/>
              <a:rect l="l" t="t" r="r" b="b"/>
              <a:pathLst>
                <a:path w="355600" h="106045">
                  <a:moveTo>
                    <a:pt x="321208" y="0"/>
                  </a:moveTo>
                  <a:lnTo>
                    <a:pt x="319684" y="4318"/>
                  </a:lnTo>
                  <a:lnTo>
                    <a:pt x="325828" y="7008"/>
                  </a:lnTo>
                  <a:lnTo>
                    <a:pt x="331114" y="10699"/>
                  </a:lnTo>
                  <a:lnTo>
                    <a:pt x="345338" y="52451"/>
                  </a:lnTo>
                  <a:lnTo>
                    <a:pt x="344955" y="61757"/>
                  </a:lnTo>
                  <a:lnTo>
                    <a:pt x="325935" y="98905"/>
                  </a:lnTo>
                  <a:lnTo>
                    <a:pt x="319938" y="101600"/>
                  </a:lnTo>
                  <a:lnTo>
                    <a:pt x="321208" y="105918"/>
                  </a:lnTo>
                  <a:lnTo>
                    <a:pt x="350114" y="79926"/>
                  </a:lnTo>
                  <a:lnTo>
                    <a:pt x="354990" y="52959"/>
                  </a:lnTo>
                  <a:lnTo>
                    <a:pt x="354442" y="43241"/>
                  </a:lnTo>
                  <a:lnTo>
                    <a:pt x="335622" y="6794"/>
                  </a:lnTo>
                  <a:lnTo>
                    <a:pt x="328903" y="2790"/>
                  </a:lnTo>
                  <a:lnTo>
                    <a:pt x="321208" y="0"/>
                  </a:lnTo>
                  <a:close/>
                </a:path>
                <a:path w="355600" h="106045">
                  <a:moveTo>
                    <a:pt x="33807" y="0"/>
                  </a:moveTo>
                  <a:lnTo>
                    <a:pt x="4907" y="26044"/>
                  </a:lnTo>
                  <a:lnTo>
                    <a:pt x="0" y="52959"/>
                  </a:lnTo>
                  <a:lnTo>
                    <a:pt x="543" y="62694"/>
                  </a:lnTo>
                  <a:lnTo>
                    <a:pt x="19334" y="99123"/>
                  </a:lnTo>
                  <a:lnTo>
                    <a:pt x="33807" y="105918"/>
                  </a:lnTo>
                  <a:lnTo>
                    <a:pt x="35077" y="101600"/>
                  </a:lnTo>
                  <a:lnTo>
                    <a:pt x="29081" y="98905"/>
                  </a:lnTo>
                  <a:lnTo>
                    <a:pt x="23872" y="95186"/>
                  </a:lnTo>
                  <a:lnTo>
                    <a:pt x="9652" y="52451"/>
                  </a:lnTo>
                  <a:lnTo>
                    <a:pt x="10044" y="43424"/>
                  </a:lnTo>
                  <a:lnTo>
                    <a:pt x="29188" y="7008"/>
                  </a:lnTo>
                  <a:lnTo>
                    <a:pt x="35331" y="4318"/>
                  </a:lnTo>
                  <a:lnTo>
                    <a:pt x="3380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618487" y="4814315"/>
              <a:ext cx="353695" cy="53975"/>
            </a:xfrm>
            <a:custGeom>
              <a:avLst/>
              <a:gdLst/>
              <a:ahLst/>
              <a:cxnLst/>
              <a:rect l="l" t="t" r="r" b="b"/>
              <a:pathLst>
                <a:path w="353694" h="53975">
                  <a:moveTo>
                    <a:pt x="353187" y="0"/>
                  </a:moveTo>
                  <a:lnTo>
                    <a:pt x="176530" y="0"/>
                  </a:lnTo>
                  <a:lnTo>
                    <a:pt x="176530" y="53847"/>
                  </a:lnTo>
                  <a:lnTo>
                    <a:pt x="0" y="53847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656079" y="4998211"/>
              <a:ext cx="64135" cy="7620"/>
            </a:xfrm>
            <a:custGeom>
              <a:avLst/>
              <a:gdLst/>
              <a:ahLst/>
              <a:cxnLst/>
              <a:rect l="l" t="t" r="r" b="b"/>
              <a:pathLst>
                <a:path w="64135" h="7620">
                  <a:moveTo>
                    <a:pt x="64007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4007" y="762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48408" y="4948046"/>
              <a:ext cx="226949" cy="105917"/>
            </a:xfrm>
            <a:prstGeom prst="rect">
              <a:avLst/>
            </a:prstGeom>
          </p:spPr>
        </p:pic>
      </p:grpSp>
      <p:sp>
        <p:nvSpPr>
          <p:cNvPr id="169" name="object 169"/>
          <p:cNvSpPr txBox="1"/>
          <p:nvPr/>
        </p:nvSpPr>
        <p:spPr>
          <a:xfrm>
            <a:off x="1263269" y="4663820"/>
            <a:ext cx="712470" cy="408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12725">
              <a:lnSpc>
                <a:spcPts val="99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  <a:p>
            <a:pPr algn="ctr" marR="222885">
              <a:lnSpc>
                <a:spcPts val="965"/>
              </a:lnSpc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0.707</a:t>
            </a:r>
            <a:r>
              <a:rPr dirty="0" sz="900" spc="2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21604" sz="135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baseline="-21604" sz="1350">
              <a:latin typeface="Cambria Math"/>
              <a:cs typeface="Cambria Math"/>
            </a:endParaRPr>
          </a:p>
          <a:p>
            <a:pPr marL="392430">
              <a:lnSpc>
                <a:spcPts val="1055"/>
              </a:lnSpc>
            </a:pPr>
            <a:r>
              <a:rPr dirty="0" baseline="-37037" sz="135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-37037" sz="1350" spc="104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0.5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70" name="object 170"/>
          <p:cNvSpPr/>
          <p:nvPr/>
        </p:nvSpPr>
        <p:spPr>
          <a:xfrm>
            <a:off x="1651507" y="5633491"/>
            <a:ext cx="64135" cy="7620"/>
          </a:xfrm>
          <a:custGeom>
            <a:avLst/>
            <a:gdLst/>
            <a:ahLst/>
            <a:cxnLst/>
            <a:rect l="l" t="t" r="r" b="b"/>
            <a:pathLst>
              <a:path w="64135" h="7620">
                <a:moveTo>
                  <a:pt x="64007" y="0"/>
                </a:moveTo>
                <a:lnTo>
                  <a:pt x="0" y="0"/>
                </a:lnTo>
                <a:lnTo>
                  <a:pt x="0" y="7620"/>
                </a:lnTo>
                <a:lnTo>
                  <a:pt x="64007" y="7620"/>
                </a:lnTo>
                <a:lnTo>
                  <a:pt x="64007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 txBox="1"/>
          <p:nvPr/>
        </p:nvSpPr>
        <p:spPr>
          <a:xfrm>
            <a:off x="1651761" y="5431688"/>
            <a:ext cx="76200" cy="3517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9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pic>
        <p:nvPicPr>
          <p:cNvPr id="172" name="object 172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743836" y="5583301"/>
            <a:ext cx="226949" cy="105892"/>
          </a:xfrm>
          <a:prstGeom prst="rect">
            <a:avLst/>
          </a:prstGeom>
        </p:spPr>
      </p:pic>
      <p:sp>
        <p:nvSpPr>
          <p:cNvPr id="173" name="object 173"/>
          <p:cNvSpPr txBox="1"/>
          <p:nvPr/>
        </p:nvSpPr>
        <p:spPr>
          <a:xfrm>
            <a:off x="1548130" y="5544413"/>
            <a:ext cx="3981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33045" algn="l"/>
              </a:tabLst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	</a:t>
            </a:r>
            <a:r>
              <a:rPr dirty="0" sz="900" spc="5">
                <a:solidFill>
                  <a:srgbClr val="252525"/>
                </a:solidFill>
                <a:latin typeface="Cambria Math"/>
                <a:cs typeface="Cambria Math"/>
              </a:rPr>
              <a:t>0.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1323466" y="5679427"/>
            <a:ext cx="139065" cy="158750"/>
            <a:chOff x="1323466" y="5679427"/>
            <a:chExt cx="139065" cy="158750"/>
          </a:xfrm>
        </p:grpSpPr>
        <p:sp>
          <p:nvSpPr>
            <p:cNvPr id="175" name="object 175"/>
            <p:cNvSpPr/>
            <p:nvPr/>
          </p:nvSpPr>
          <p:spPr>
            <a:xfrm>
              <a:off x="1323466" y="5830404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20">
                  <a:moveTo>
                    <a:pt x="138684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38684" y="762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325498" y="5679427"/>
              <a:ext cx="136651" cy="110007"/>
            </a:xfrm>
            <a:prstGeom prst="rect">
              <a:avLst/>
            </a:prstGeom>
          </p:spPr>
        </p:pic>
      </p:grpSp>
      <p:sp>
        <p:nvSpPr>
          <p:cNvPr id="177" name="object 177"/>
          <p:cNvSpPr txBox="1"/>
          <p:nvPr/>
        </p:nvSpPr>
        <p:spPr>
          <a:xfrm>
            <a:off x="1398397" y="5654446"/>
            <a:ext cx="76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1491996" y="5780239"/>
            <a:ext cx="439420" cy="106045"/>
          </a:xfrm>
          <a:custGeom>
            <a:avLst/>
            <a:gdLst/>
            <a:ahLst/>
            <a:cxnLst/>
            <a:rect l="l" t="t" r="r" b="b"/>
            <a:pathLst>
              <a:path w="439419" h="106045">
                <a:moveTo>
                  <a:pt x="405129" y="0"/>
                </a:moveTo>
                <a:lnTo>
                  <a:pt x="403605" y="4305"/>
                </a:lnTo>
                <a:lnTo>
                  <a:pt x="409749" y="6960"/>
                </a:lnTo>
                <a:lnTo>
                  <a:pt x="415035" y="10639"/>
                </a:lnTo>
                <a:lnTo>
                  <a:pt x="429259" y="52412"/>
                </a:lnTo>
                <a:lnTo>
                  <a:pt x="428857" y="61747"/>
                </a:lnTo>
                <a:lnTo>
                  <a:pt x="409783" y="98905"/>
                </a:lnTo>
                <a:lnTo>
                  <a:pt x="403733" y="101574"/>
                </a:lnTo>
                <a:lnTo>
                  <a:pt x="405129" y="105879"/>
                </a:lnTo>
                <a:lnTo>
                  <a:pt x="433982" y="79896"/>
                </a:lnTo>
                <a:lnTo>
                  <a:pt x="438911" y="52971"/>
                </a:lnTo>
                <a:lnTo>
                  <a:pt x="438364" y="43263"/>
                </a:lnTo>
                <a:lnTo>
                  <a:pt x="419496" y="6791"/>
                </a:lnTo>
                <a:lnTo>
                  <a:pt x="412771" y="2774"/>
                </a:lnTo>
                <a:lnTo>
                  <a:pt x="405129" y="0"/>
                </a:lnTo>
                <a:close/>
              </a:path>
              <a:path w="439419" h="106045">
                <a:moveTo>
                  <a:pt x="33781" y="0"/>
                </a:moveTo>
                <a:lnTo>
                  <a:pt x="4929" y="26055"/>
                </a:lnTo>
                <a:lnTo>
                  <a:pt x="0" y="52971"/>
                </a:lnTo>
                <a:lnTo>
                  <a:pt x="547" y="62694"/>
                </a:lnTo>
                <a:lnTo>
                  <a:pt x="19367" y="99099"/>
                </a:lnTo>
                <a:lnTo>
                  <a:pt x="33781" y="105879"/>
                </a:lnTo>
                <a:lnTo>
                  <a:pt x="35178" y="101574"/>
                </a:lnTo>
                <a:lnTo>
                  <a:pt x="29128" y="98905"/>
                </a:lnTo>
                <a:lnTo>
                  <a:pt x="23923" y="95186"/>
                </a:lnTo>
                <a:lnTo>
                  <a:pt x="9651" y="52412"/>
                </a:lnTo>
                <a:lnTo>
                  <a:pt x="10071" y="43263"/>
                </a:lnTo>
                <a:lnTo>
                  <a:pt x="29235" y="6960"/>
                </a:lnTo>
                <a:lnTo>
                  <a:pt x="35306" y="4305"/>
                </a:lnTo>
                <a:lnTo>
                  <a:pt x="33781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 txBox="1"/>
          <p:nvPr/>
        </p:nvSpPr>
        <p:spPr>
          <a:xfrm>
            <a:off x="1193190" y="5741009"/>
            <a:ext cx="7391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900" spc="2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37037" sz="135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-37037" sz="1350" spc="5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−0.707</a:t>
            </a:r>
            <a:endParaRPr sz="900">
              <a:latin typeface="Cambria Math"/>
              <a:cs typeface="Cambria Math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1088593" y="5871006"/>
            <a:ext cx="139065" cy="158750"/>
            <a:chOff x="1088593" y="5871006"/>
            <a:chExt cx="139065" cy="158750"/>
          </a:xfrm>
        </p:grpSpPr>
        <p:sp>
          <p:nvSpPr>
            <p:cNvPr id="181" name="object 181"/>
            <p:cNvSpPr/>
            <p:nvPr/>
          </p:nvSpPr>
          <p:spPr>
            <a:xfrm>
              <a:off x="1088593" y="6021984"/>
              <a:ext cx="139065" cy="7620"/>
            </a:xfrm>
            <a:custGeom>
              <a:avLst/>
              <a:gdLst/>
              <a:ahLst/>
              <a:cxnLst/>
              <a:rect l="l" t="t" r="r" b="b"/>
              <a:pathLst>
                <a:path w="139065" h="7620">
                  <a:moveTo>
                    <a:pt x="138684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38684" y="762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90536" y="5871006"/>
              <a:ext cx="136740" cy="110007"/>
            </a:xfrm>
            <a:prstGeom prst="rect">
              <a:avLst/>
            </a:prstGeom>
          </p:spPr>
        </p:pic>
      </p:grpSp>
      <p:sp>
        <p:nvSpPr>
          <p:cNvPr id="183" name="object 183"/>
          <p:cNvSpPr txBox="1"/>
          <p:nvPr/>
        </p:nvSpPr>
        <p:spPr>
          <a:xfrm>
            <a:off x="1163421" y="5846165"/>
            <a:ext cx="721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58165" algn="l"/>
              </a:tabLst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3	</a:t>
            </a:r>
            <a:r>
              <a:rPr dirty="0" u="dash" sz="900">
                <a:solidFill>
                  <a:srgbClr val="25252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dash" sz="900" spc="55">
                <a:solidFill>
                  <a:srgbClr val="25252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4" name="object 184"/>
          <p:cNvSpPr/>
          <p:nvPr/>
        </p:nvSpPr>
        <p:spPr>
          <a:xfrm>
            <a:off x="1257134" y="5971819"/>
            <a:ext cx="439420" cy="106045"/>
          </a:xfrm>
          <a:custGeom>
            <a:avLst/>
            <a:gdLst/>
            <a:ahLst/>
            <a:cxnLst/>
            <a:rect l="l" t="t" r="r" b="b"/>
            <a:pathLst>
              <a:path w="439419" h="106045">
                <a:moveTo>
                  <a:pt x="405041" y="0"/>
                </a:moveTo>
                <a:lnTo>
                  <a:pt x="403517" y="4292"/>
                </a:lnTo>
                <a:lnTo>
                  <a:pt x="409660" y="6955"/>
                </a:lnTo>
                <a:lnTo>
                  <a:pt x="414947" y="10637"/>
                </a:lnTo>
                <a:lnTo>
                  <a:pt x="429171" y="52412"/>
                </a:lnTo>
                <a:lnTo>
                  <a:pt x="428770" y="61747"/>
                </a:lnTo>
                <a:lnTo>
                  <a:pt x="409767" y="98905"/>
                </a:lnTo>
                <a:lnTo>
                  <a:pt x="403771" y="101574"/>
                </a:lnTo>
                <a:lnTo>
                  <a:pt x="405041" y="105879"/>
                </a:lnTo>
                <a:lnTo>
                  <a:pt x="433893" y="79896"/>
                </a:lnTo>
                <a:lnTo>
                  <a:pt x="438823" y="52971"/>
                </a:lnTo>
                <a:lnTo>
                  <a:pt x="438275" y="43263"/>
                </a:lnTo>
                <a:lnTo>
                  <a:pt x="419455" y="6791"/>
                </a:lnTo>
                <a:lnTo>
                  <a:pt x="412736" y="2774"/>
                </a:lnTo>
                <a:lnTo>
                  <a:pt x="405041" y="0"/>
                </a:lnTo>
                <a:close/>
              </a:path>
              <a:path w="439419" h="106045">
                <a:moveTo>
                  <a:pt x="33820" y="0"/>
                </a:moveTo>
                <a:lnTo>
                  <a:pt x="4907" y="26055"/>
                </a:lnTo>
                <a:lnTo>
                  <a:pt x="0" y="52971"/>
                </a:lnTo>
                <a:lnTo>
                  <a:pt x="543" y="62694"/>
                </a:lnTo>
                <a:lnTo>
                  <a:pt x="19345" y="99099"/>
                </a:lnTo>
                <a:lnTo>
                  <a:pt x="33820" y="105879"/>
                </a:lnTo>
                <a:lnTo>
                  <a:pt x="35090" y="101574"/>
                </a:lnTo>
                <a:lnTo>
                  <a:pt x="29039" y="98905"/>
                </a:lnTo>
                <a:lnTo>
                  <a:pt x="23834" y="95186"/>
                </a:lnTo>
                <a:lnTo>
                  <a:pt x="9652" y="52412"/>
                </a:lnTo>
                <a:lnTo>
                  <a:pt x="10060" y="43263"/>
                </a:lnTo>
                <a:lnTo>
                  <a:pt x="29146" y="6955"/>
                </a:lnTo>
                <a:lnTo>
                  <a:pt x="35217" y="4292"/>
                </a:lnTo>
                <a:lnTo>
                  <a:pt x="3382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 txBox="1"/>
          <p:nvPr/>
        </p:nvSpPr>
        <p:spPr>
          <a:xfrm>
            <a:off x="958189" y="5933033"/>
            <a:ext cx="739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900" spc="2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37037" sz="135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-37037" sz="1350" spc="59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900">
                <a:solidFill>
                  <a:srgbClr val="252525"/>
                </a:solidFill>
                <a:latin typeface="Cambria Math"/>
                <a:cs typeface="Cambria Math"/>
              </a:rPr>
              <a:t>−0.866</a:t>
            </a:r>
            <a:endParaRPr sz="9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401562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64864"/>
            <a:ext cx="1989582" cy="224256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0180"/>
            <a:ext cx="2551938" cy="30403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971550" cy="14401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091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Vector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304288"/>
            <a:ext cx="7376922" cy="65608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2556" y="3416917"/>
            <a:ext cx="2280379" cy="220591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1249" y="3515362"/>
            <a:ext cx="1726060" cy="199685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83835" y="3447288"/>
            <a:ext cx="4750307" cy="21336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530845" y="5561787"/>
            <a:ext cx="197548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4200" marR="5080" indent="-572135"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lat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on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hip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ee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3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im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nd  </a:t>
            </a:r>
            <a:r>
              <a:rPr dirty="0" sz="1300" spc="-30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igh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8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17892" y="3517391"/>
            <a:ext cx="1717675" cy="303530"/>
          </a:xfrm>
          <a:custGeom>
            <a:avLst/>
            <a:gdLst/>
            <a:ahLst/>
            <a:cxnLst/>
            <a:rect l="l" t="t" r="r" b="b"/>
            <a:pathLst>
              <a:path w="1717675" h="303529">
                <a:moveTo>
                  <a:pt x="1717548" y="0"/>
                </a:moveTo>
                <a:lnTo>
                  <a:pt x="0" y="0"/>
                </a:lnTo>
                <a:lnTo>
                  <a:pt x="0" y="303276"/>
                </a:lnTo>
                <a:lnTo>
                  <a:pt x="1717548" y="303276"/>
                </a:lnTo>
                <a:lnTo>
                  <a:pt x="17175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091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Vector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4147" y="1440154"/>
            <a:ext cx="3854962" cy="23700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937004"/>
            <a:ext cx="1229106" cy="16078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10183" y="2286000"/>
            <a:ext cx="6494145" cy="3196590"/>
            <a:chOff x="710183" y="2286000"/>
            <a:chExt cx="6494145" cy="3196590"/>
          </a:xfrm>
        </p:grpSpPr>
        <p:sp>
          <p:nvSpPr>
            <p:cNvPr id="11" name="object 11"/>
            <p:cNvSpPr/>
            <p:nvPr/>
          </p:nvSpPr>
          <p:spPr>
            <a:xfrm>
              <a:off x="2702051" y="2772155"/>
              <a:ext cx="4502150" cy="1370330"/>
            </a:xfrm>
            <a:custGeom>
              <a:avLst/>
              <a:gdLst/>
              <a:ahLst/>
              <a:cxnLst/>
              <a:rect l="l" t="t" r="r" b="b"/>
              <a:pathLst>
                <a:path w="4502150" h="1370329">
                  <a:moveTo>
                    <a:pt x="4501896" y="0"/>
                  </a:moveTo>
                  <a:lnTo>
                    <a:pt x="0" y="0"/>
                  </a:lnTo>
                  <a:lnTo>
                    <a:pt x="0" y="1370076"/>
                  </a:lnTo>
                  <a:lnTo>
                    <a:pt x="4501896" y="1370076"/>
                  </a:lnTo>
                  <a:lnTo>
                    <a:pt x="45018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0183" y="2286000"/>
              <a:ext cx="6224777" cy="319659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72378" y="4331115"/>
            <a:ext cx="1513701" cy="161620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11708" y="2689860"/>
            <a:ext cx="8415655" cy="2108200"/>
          </a:xfrm>
          <a:custGeom>
            <a:avLst/>
            <a:gdLst/>
            <a:ahLst/>
            <a:cxnLst/>
            <a:rect l="l" t="t" r="r" b="b"/>
            <a:pathLst>
              <a:path w="8415655" h="2108200">
                <a:moveTo>
                  <a:pt x="8415528" y="0"/>
                </a:moveTo>
                <a:lnTo>
                  <a:pt x="0" y="0"/>
                </a:lnTo>
                <a:lnTo>
                  <a:pt x="0" y="2107692"/>
                </a:lnTo>
                <a:lnTo>
                  <a:pt x="8415528" y="2107692"/>
                </a:lnTo>
                <a:lnTo>
                  <a:pt x="84155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262634" cy="1592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77555"/>
            <a:ext cx="8378190" cy="6576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1091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Vector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35448" y="3565397"/>
            <a:ext cx="263525" cy="48895"/>
          </a:xfrm>
          <a:custGeom>
            <a:avLst/>
            <a:gdLst/>
            <a:ahLst/>
            <a:cxnLst/>
            <a:rect l="l" t="t" r="r" b="b"/>
            <a:pathLst>
              <a:path w="263525" h="48895">
                <a:moveTo>
                  <a:pt x="238760" y="0"/>
                </a:moveTo>
                <a:lnTo>
                  <a:pt x="233425" y="5841"/>
                </a:lnTo>
                <a:lnTo>
                  <a:pt x="249300" y="19685"/>
                </a:lnTo>
                <a:lnTo>
                  <a:pt x="0" y="19685"/>
                </a:lnTo>
                <a:lnTo>
                  <a:pt x="0" y="28955"/>
                </a:lnTo>
                <a:lnTo>
                  <a:pt x="249300" y="28955"/>
                </a:lnTo>
                <a:lnTo>
                  <a:pt x="233425" y="42671"/>
                </a:lnTo>
                <a:lnTo>
                  <a:pt x="238760" y="48640"/>
                </a:lnTo>
                <a:lnTo>
                  <a:pt x="263525" y="27177"/>
                </a:lnTo>
                <a:lnTo>
                  <a:pt x="263525" y="21462"/>
                </a:lnTo>
                <a:lnTo>
                  <a:pt x="2387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06466" y="3542029"/>
            <a:ext cx="47625" cy="332740"/>
          </a:xfrm>
          <a:custGeom>
            <a:avLst/>
            <a:gdLst/>
            <a:ahLst/>
            <a:cxnLst/>
            <a:rect l="l" t="t" r="r" b="b"/>
            <a:pathLst>
              <a:path w="47625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28702" y="8890"/>
                </a:lnTo>
                <a:lnTo>
                  <a:pt x="28702" y="32385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36921" y="3542029"/>
            <a:ext cx="47625" cy="332740"/>
          </a:xfrm>
          <a:custGeom>
            <a:avLst/>
            <a:gdLst/>
            <a:ahLst/>
            <a:cxnLst/>
            <a:rect l="l" t="t" r="r" b="b"/>
            <a:pathLst>
              <a:path w="47625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415" y="323850"/>
                </a:lnTo>
                <a:lnTo>
                  <a:pt x="18415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27546" y="3542029"/>
            <a:ext cx="47625" cy="332740"/>
          </a:xfrm>
          <a:custGeom>
            <a:avLst/>
            <a:gdLst/>
            <a:ahLst/>
            <a:cxnLst/>
            <a:rect l="l" t="t" r="r" b="b"/>
            <a:pathLst>
              <a:path w="47625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28702" y="8890"/>
                </a:lnTo>
                <a:lnTo>
                  <a:pt x="28702" y="32385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58001" y="3542029"/>
            <a:ext cx="47625" cy="332740"/>
          </a:xfrm>
          <a:custGeom>
            <a:avLst/>
            <a:gdLst/>
            <a:ahLst/>
            <a:cxnLst/>
            <a:rect l="l" t="t" r="r" b="b"/>
            <a:pathLst>
              <a:path w="47625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415" y="323850"/>
                </a:lnTo>
                <a:lnTo>
                  <a:pt x="18415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710557" y="3551682"/>
            <a:ext cx="1851025" cy="400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475"/>
              </a:lnSpc>
              <a:spcBef>
                <a:spcPts val="95"/>
              </a:spcBef>
              <a:tabLst>
                <a:tab pos="678815" algn="l"/>
                <a:tab pos="944244" algn="l"/>
                <a:tab pos="1700530" algn="l"/>
              </a:tabLst>
            </a:pPr>
            <a:r>
              <a:rPr dirty="0" sz="1600" spc="-10">
                <a:latin typeface="Cambria Math"/>
                <a:cs typeface="Cambria Math"/>
              </a:rPr>
              <a:t>𝑃𝑄</a:t>
            </a:r>
            <a:r>
              <a:rPr dirty="0" sz="1600" spc="15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	</a:t>
            </a:r>
            <a:r>
              <a:rPr dirty="0" baseline="29513" sz="2400" spc="-7">
                <a:latin typeface="Cambria Math"/>
                <a:cs typeface="Cambria Math"/>
              </a:rPr>
              <a:t>5	</a:t>
            </a:r>
            <a:r>
              <a:rPr dirty="0" sz="1600" spc="-5">
                <a:latin typeface="Cambria Math"/>
                <a:cs typeface="Cambria Math"/>
              </a:rPr>
              <a:t>𝑜𝑟</a:t>
            </a:r>
            <a:r>
              <a:rPr dirty="0" sz="1600" spc="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𝑣</a:t>
            </a:r>
            <a:r>
              <a:rPr dirty="0" sz="1600" spc="14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	</a:t>
            </a:r>
            <a:r>
              <a:rPr dirty="0" baseline="29513" sz="2400" spc="-7">
                <a:latin typeface="Cambria Math"/>
                <a:cs typeface="Cambria Math"/>
              </a:rPr>
              <a:t>5</a:t>
            </a:r>
            <a:endParaRPr baseline="29513" sz="2400">
              <a:latin typeface="Cambria Math"/>
              <a:cs typeface="Cambria Math"/>
            </a:endParaRPr>
          </a:p>
          <a:p>
            <a:pPr marL="678815">
              <a:lnSpc>
                <a:spcPts val="1475"/>
              </a:lnSpc>
              <a:tabLst>
                <a:tab pos="1700530" algn="l"/>
              </a:tabLst>
            </a:pPr>
            <a:r>
              <a:rPr dirty="0" sz="1600" spc="-5">
                <a:latin typeface="Cambria Math"/>
                <a:cs typeface="Cambria Math"/>
              </a:rPr>
              <a:t>3	3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35223" y="3054095"/>
            <a:ext cx="1061085" cy="1262380"/>
            <a:chOff x="2935223" y="3054095"/>
            <a:chExt cx="1061085" cy="126238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5223" y="4171187"/>
              <a:ext cx="143256" cy="1447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2671" y="3054095"/>
              <a:ext cx="143255" cy="14325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048126" y="3178301"/>
              <a:ext cx="826769" cy="1025525"/>
            </a:xfrm>
            <a:custGeom>
              <a:avLst/>
              <a:gdLst/>
              <a:ahLst/>
              <a:cxnLst/>
              <a:rect l="l" t="t" r="r" b="b"/>
              <a:pathLst>
                <a:path w="826770" h="1025525">
                  <a:moveTo>
                    <a:pt x="760935" y="58668"/>
                  </a:moveTo>
                  <a:lnTo>
                    <a:pt x="0" y="1006983"/>
                  </a:lnTo>
                  <a:lnTo>
                    <a:pt x="22606" y="1025017"/>
                  </a:lnTo>
                  <a:lnTo>
                    <a:pt x="783524" y="76850"/>
                  </a:lnTo>
                  <a:lnTo>
                    <a:pt x="760935" y="58668"/>
                  </a:lnTo>
                  <a:close/>
                </a:path>
                <a:path w="826770" h="1025525">
                  <a:moveTo>
                    <a:pt x="816383" y="47371"/>
                  </a:moveTo>
                  <a:lnTo>
                    <a:pt x="770001" y="47371"/>
                  </a:lnTo>
                  <a:lnTo>
                    <a:pt x="792607" y="65532"/>
                  </a:lnTo>
                  <a:lnTo>
                    <a:pt x="783524" y="76850"/>
                  </a:lnTo>
                  <a:lnTo>
                    <a:pt x="806069" y="94996"/>
                  </a:lnTo>
                  <a:lnTo>
                    <a:pt x="816383" y="47371"/>
                  </a:lnTo>
                  <a:close/>
                </a:path>
                <a:path w="826770" h="1025525">
                  <a:moveTo>
                    <a:pt x="770001" y="47371"/>
                  </a:moveTo>
                  <a:lnTo>
                    <a:pt x="760935" y="58668"/>
                  </a:lnTo>
                  <a:lnTo>
                    <a:pt x="783524" y="76850"/>
                  </a:lnTo>
                  <a:lnTo>
                    <a:pt x="792607" y="65532"/>
                  </a:lnTo>
                  <a:lnTo>
                    <a:pt x="770001" y="47371"/>
                  </a:lnTo>
                  <a:close/>
                </a:path>
                <a:path w="826770" h="1025525">
                  <a:moveTo>
                    <a:pt x="826643" y="0"/>
                  </a:moveTo>
                  <a:lnTo>
                    <a:pt x="738377" y="40512"/>
                  </a:lnTo>
                  <a:lnTo>
                    <a:pt x="760935" y="58668"/>
                  </a:lnTo>
                  <a:lnTo>
                    <a:pt x="770001" y="47371"/>
                  </a:lnTo>
                  <a:lnTo>
                    <a:pt x="816383" y="47371"/>
                  </a:lnTo>
                  <a:lnTo>
                    <a:pt x="82664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131566" y="4146550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51428" y="3708019"/>
            <a:ext cx="294640" cy="55244"/>
          </a:xfrm>
          <a:custGeom>
            <a:avLst/>
            <a:gdLst/>
            <a:ahLst/>
            <a:cxnLst/>
            <a:rect l="l" t="t" r="r" b="b"/>
            <a:pathLst>
              <a:path w="294639" h="55245">
                <a:moveTo>
                  <a:pt x="266446" y="0"/>
                </a:moveTo>
                <a:lnTo>
                  <a:pt x="260476" y="6603"/>
                </a:lnTo>
                <a:lnTo>
                  <a:pt x="278384" y="22224"/>
                </a:lnTo>
                <a:lnTo>
                  <a:pt x="0" y="22224"/>
                </a:lnTo>
                <a:lnTo>
                  <a:pt x="0" y="32638"/>
                </a:lnTo>
                <a:lnTo>
                  <a:pt x="278384" y="32638"/>
                </a:lnTo>
                <a:lnTo>
                  <a:pt x="260476" y="48132"/>
                </a:lnTo>
                <a:lnTo>
                  <a:pt x="266446" y="54863"/>
                </a:lnTo>
                <a:lnTo>
                  <a:pt x="294386" y="30606"/>
                </a:lnTo>
                <a:lnTo>
                  <a:pt x="294386" y="24129"/>
                </a:lnTo>
                <a:lnTo>
                  <a:pt x="266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550284" y="3693414"/>
            <a:ext cx="3092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mbria Math"/>
                <a:cs typeface="Cambria Math"/>
              </a:rPr>
              <a:t>𝑃𝑄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33673" y="3012694"/>
            <a:ext cx="95821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057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𝑄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4563"/>
            <a:ext cx="742950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77555"/>
            <a:ext cx="8210550" cy="6576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091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dirty="0" sz="1800" spc="-6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Vector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54963" y="2909316"/>
          <a:ext cx="2738755" cy="2745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78764"/>
                <a:gridCol w="1621155"/>
                <a:gridCol w="269239"/>
                <a:gridCol w="278130"/>
              </a:tblGrid>
              <a:tr h="281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81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90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𝑷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3690">
                        <a:lnSpc>
                          <a:spcPts val="1730"/>
                        </a:lnSpc>
                        <a:spcBef>
                          <a:spcPts val="390"/>
                        </a:spcBef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𝑣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4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O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𝑥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1905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94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861822" y="2914650"/>
            <a:ext cx="2720340" cy="2736215"/>
            <a:chOff x="861822" y="2914650"/>
            <a:chExt cx="2720340" cy="2736215"/>
          </a:xfrm>
        </p:grpSpPr>
        <p:sp>
          <p:nvSpPr>
            <p:cNvPr id="12" name="object 12"/>
            <p:cNvSpPr/>
            <p:nvPr/>
          </p:nvSpPr>
          <p:spPr>
            <a:xfrm>
              <a:off x="861822" y="2914649"/>
              <a:ext cx="2720340" cy="2736215"/>
            </a:xfrm>
            <a:custGeom>
              <a:avLst/>
              <a:gdLst/>
              <a:ahLst/>
              <a:cxnLst/>
              <a:rect l="l" t="t" r="r" b="b"/>
              <a:pathLst>
                <a:path w="2720340" h="2736215">
                  <a:moveTo>
                    <a:pt x="2720340" y="1883664"/>
                  </a:moveTo>
                  <a:lnTo>
                    <a:pt x="2691384" y="1869186"/>
                  </a:lnTo>
                  <a:lnTo>
                    <a:pt x="2633472" y="1840230"/>
                  </a:lnTo>
                  <a:lnTo>
                    <a:pt x="2633472" y="1869186"/>
                  </a:lnTo>
                  <a:lnTo>
                    <a:pt x="843534" y="1869186"/>
                  </a:lnTo>
                  <a:lnTo>
                    <a:pt x="843534" y="86868"/>
                  </a:lnTo>
                  <a:lnTo>
                    <a:pt x="872490" y="86868"/>
                  </a:lnTo>
                  <a:lnTo>
                    <a:pt x="865251" y="72390"/>
                  </a:lnTo>
                  <a:lnTo>
                    <a:pt x="829056" y="0"/>
                  </a:lnTo>
                  <a:lnTo>
                    <a:pt x="785622" y="86868"/>
                  </a:lnTo>
                  <a:lnTo>
                    <a:pt x="814578" y="86868"/>
                  </a:lnTo>
                  <a:lnTo>
                    <a:pt x="814578" y="1869186"/>
                  </a:lnTo>
                  <a:lnTo>
                    <a:pt x="0" y="1869186"/>
                  </a:lnTo>
                  <a:lnTo>
                    <a:pt x="0" y="1898142"/>
                  </a:lnTo>
                  <a:lnTo>
                    <a:pt x="814578" y="1898142"/>
                  </a:lnTo>
                  <a:lnTo>
                    <a:pt x="814578" y="2735961"/>
                  </a:lnTo>
                  <a:lnTo>
                    <a:pt x="843534" y="2735961"/>
                  </a:lnTo>
                  <a:lnTo>
                    <a:pt x="843534" y="1898142"/>
                  </a:lnTo>
                  <a:lnTo>
                    <a:pt x="2633472" y="1898142"/>
                  </a:lnTo>
                  <a:lnTo>
                    <a:pt x="2633472" y="1927098"/>
                  </a:lnTo>
                  <a:lnTo>
                    <a:pt x="2691384" y="1898142"/>
                  </a:lnTo>
                  <a:lnTo>
                    <a:pt x="2720340" y="1883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83511" y="3996689"/>
              <a:ext cx="1349375" cy="813435"/>
            </a:xfrm>
            <a:custGeom>
              <a:avLst/>
              <a:gdLst/>
              <a:ahLst/>
              <a:cxnLst/>
              <a:rect l="l" t="t" r="r" b="b"/>
              <a:pathLst>
                <a:path w="1349375" h="813435">
                  <a:moveTo>
                    <a:pt x="1267069" y="32072"/>
                  </a:moveTo>
                  <a:lnTo>
                    <a:pt x="0" y="788289"/>
                  </a:lnTo>
                  <a:lnTo>
                    <a:pt x="14731" y="813181"/>
                  </a:lnTo>
                  <a:lnTo>
                    <a:pt x="1281946" y="56952"/>
                  </a:lnTo>
                  <a:lnTo>
                    <a:pt x="1267069" y="32072"/>
                  </a:lnTo>
                  <a:close/>
                </a:path>
                <a:path w="1349375" h="813435">
                  <a:moveTo>
                    <a:pt x="1333358" y="24637"/>
                  </a:moveTo>
                  <a:lnTo>
                    <a:pt x="1279525" y="24637"/>
                  </a:lnTo>
                  <a:lnTo>
                    <a:pt x="1294383" y="49530"/>
                  </a:lnTo>
                  <a:lnTo>
                    <a:pt x="1281946" y="56952"/>
                  </a:lnTo>
                  <a:lnTo>
                    <a:pt x="1296796" y="81787"/>
                  </a:lnTo>
                  <a:lnTo>
                    <a:pt x="1333358" y="24637"/>
                  </a:lnTo>
                  <a:close/>
                </a:path>
                <a:path w="1349375" h="813435">
                  <a:moveTo>
                    <a:pt x="1279525" y="24637"/>
                  </a:moveTo>
                  <a:lnTo>
                    <a:pt x="1267069" y="32072"/>
                  </a:lnTo>
                  <a:lnTo>
                    <a:pt x="1281946" y="56952"/>
                  </a:lnTo>
                  <a:lnTo>
                    <a:pt x="1294383" y="49530"/>
                  </a:lnTo>
                  <a:lnTo>
                    <a:pt x="1279525" y="24637"/>
                  </a:lnTo>
                  <a:close/>
                </a:path>
                <a:path w="1349375" h="813435">
                  <a:moveTo>
                    <a:pt x="1349120" y="0"/>
                  </a:moveTo>
                  <a:lnTo>
                    <a:pt x="1252220" y="7239"/>
                  </a:lnTo>
                  <a:lnTo>
                    <a:pt x="1267069" y="32072"/>
                  </a:lnTo>
                  <a:lnTo>
                    <a:pt x="1279525" y="24637"/>
                  </a:lnTo>
                  <a:lnTo>
                    <a:pt x="1333358" y="24637"/>
                  </a:lnTo>
                  <a:lnTo>
                    <a:pt x="134912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09900" y="397763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20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19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09900" y="397763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19" y="22860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20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846576" y="3621023"/>
            <a:ext cx="935990" cy="518159"/>
            <a:chOff x="3846576" y="3621023"/>
            <a:chExt cx="935990" cy="518159"/>
          </a:xfrm>
        </p:grpSpPr>
        <p:sp>
          <p:nvSpPr>
            <p:cNvPr id="17" name="object 17"/>
            <p:cNvSpPr/>
            <p:nvPr/>
          </p:nvSpPr>
          <p:spPr>
            <a:xfrm>
              <a:off x="3846576" y="3621023"/>
              <a:ext cx="935990" cy="518159"/>
            </a:xfrm>
            <a:custGeom>
              <a:avLst/>
              <a:gdLst/>
              <a:ahLst/>
              <a:cxnLst/>
              <a:rect l="l" t="t" r="r" b="b"/>
              <a:pathLst>
                <a:path w="935989" h="518160">
                  <a:moveTo>
                    <a:pt x="935736" y="0"/>
                  </a:moveTo>
                  <a:lnTo>
                    <a:pt x="0" y="0"/>
                  </a:lnTo>
                  <a:lnTo>
                    <a:pt x="0" y="518159"/>
                  </a:lnTo>
                  <a:lnTo>
                    <a:pt x="935736" y="518159"/>
                  </a:lnTo>
                  <a:lnTo>
                    <a:pt x="9357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408551" y="3719829"/>
              <a:ext cx="216535" cy="332740"/>
            </a:xfrm>
            <a:custGeom>
              <a:avLst/>
              <a:gdLst/>
              <a:ahLst/>
              <a:cxnLst/>
              <a:rect l="l" t="t" r="r" b="b"/>
              <a:pathLst>
                <a:path w="216535" h="332739">
                  <a:moveTo>
                    <a:pt x="47117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323850"/>
                  </a:lnTo>
                  <a:lnTo>
                    <a:pt x="0" y="332740"/>
                  </a:lnTo>
                  <a:lnTo>
                    <a:pt x="47117" y="332740"/>
                  </a:lnTo>
                  <a:lnTo>
                    <a:pt x="47117" y="323850"/>
                  </a:lnTo>
                  <a:lnTo>
                    <a:pt x="18288" y="323850"/>
                  </a:lnTo>
                  <a:lnTo>
                    <a:pt x="18288" y="8890"/>
                  </a:lnTo>
                  <a:lnTo>
                    <a:pt x="47117" y="8890"/>
                  </a:lnTo>
                  <a:lnTo>
                    <a:pt x="47117" y="0"/>
                  </a:lnTo>
                  <a:close/>
                </a:path>
                <a:path w="216535" h="332739">
                  <a:moveTo>
                    <a:pt x="216535" y="0"/>
                  </a:moveTo>
                  <a:lnTo>
                    <a:pt x="169418" y="0"/>
                  </a:lnTo>
                  <a:lnTo>
                    <a:pt x="169418" y="8890"/>
                  </a:lnTo>
                  <a:lnTo>
                    <a:pt x="198247" y="8890"/>
                  </a:lnTo>
                  <a:lnTo>
                    <a:pt x="198247" y="323850"/>
                  </a:lnTo>
                  <a:lnTo>
                    <a:pt x="169418" y="323850"/>
                  </a:lnTo>
                  <a:lnTo>
                    <a:pt x="169418" y="332740"/>
                  </a:lnTo>
                  <a:lnTo>
                    <a:pt x="216535" y="332740"/>
                  </a:lnTo>
                  <a:lnTo>
                    <a:pt x="216535" y="323850"/>
                  </a:lnTo>
                  <a:lnTo>
                    <a:pt x="216535" y="8890"/>
                  </a:lnTo>
                  <a:lnTo>
                    <a:pt x="2165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846576" y="3621023"/>
            <a:ext cx="935990" cy="518159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13030">
              <a:lnSpc>
                <a:spcPts val="1475"/>
              </a:lnSpc>
              <a:spcBef>
                <a:spcPts val="950"/>
              </a:spcBef>
              <a:tabLst>
                <a:tab pos="614680" algn="l"/>
              </a:tabLst>
            </a:pPr>
            <a:r>
              <a:rPr dirty="0" sz="1600" spc="-5">
                <a:latin typeface="Cambria Math"/>
                <a:cs typeface="Cambria Math"/>
              </a:rPr>
              <a:t>𝑣</a:t>
            </a:r>
            <a:r>
              <a:rPr dirty="0" sz="1600" spc="14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	</a:t>
            </a:r>
            <a:r>
              <a:rPr dirty="0" baseline="29513" sz="2400" spc="-7">
                <a:latin typeface="Cambria Math"/>
                <a:cs typeface="Cambria Math"/>
              </a:rPr>
              <a:t>5</a:t>
            </a:r>
            <a:endParaRPr baseline="29513" sz="2400">
              <a:latin typeface="Cambria Math"/>
              <a:cs typeface="Cambria Math"/>
            </a:endParaRPr>
          </a:p>
          <a:p>
            <a:pPr marL="614680">
              <a:lnSpc>
                <a:spcPts val="1475"/>
              </a:lnSpc>
            </a:pPr>
            <a:r>
              <a:rPr dirty="0" sz="1600" spc="-5">
                <a:latin typeface="Cambria Math"/>
                <a:cs typeface="Cambria Math"/>
              </a:rPr>
              <a:t>3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401562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60291"/>
            <a:ext cx="1989582" cy="224713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11708" y="2865120"/>
            <a:ext cx="8415655" cy="2235835"/>
          </a:xfrm>
          <a:custGeom>
            <a:avLst/>
            <a:gdLst/>
            <a:ahLst/>
            <a:cxnLst/>
            <a:rect l="l" t="t" r="r" b="b"/>
            <a:pathLst>
              <a:path w="8415655" h="2235835">
                <a:moveTo>
                  <a:pt x="8415528" y="0"/>
                </a:moveTo>
                <a:lnTo>
                  <a:pt x="0" y="0"/>
                </a:lnTo>
                <a:lnTo>
                  <a:pt x="0" y="2235707"/>
                </a:lnTo>
                <a:lnTo>
                  <a:pt x="8415528" y="2235707"/>
                </a:lnTo>
                <a:lnTo>
                  <a:pt x="84155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55369"/>
            <a:ext cx="1718310" cy="22179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709422" cy="14401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1734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Vector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Norm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380488"/>
            <a:ext cx="8084058" cy="2463546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401562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60291"/>
            <a:ext cx="1989582" cy="224713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11708" y="3044951"/>
            <a:ext cx="8415655" cy="2185670"/>
          </a:xfrm>
          <a:custGeom>
            <a:avLst/>
            <a:gdLst/>
            <a:ahLst/>
            <a:cxnLst/>
            <a:rect l="l" t="t" r="r" b="b"/>
            <a:pathLst>
              <a:path w="8415655" h="2185670">
                <a:moveTo>
                  <a:pt x="8415528" y="0"/>
                </a:moveTo>
                <a:lnTo>
                  <a:pt x="0" y="0"/>
                </a:lnTo>
                <a:lnTo>
                  <a:pt x="0" y="2185416"/>
                </a:lnTo>
                <a:lnTo>
                  <a:pt x="8415528" y="2185416"/>
                </a:lnTo>
                <a:lnTo>
                  <a:pt x="84155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2627" y="1440154"/>
            <a:ext cx="3266694" cy="23700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9308" y="19187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1943100"/>
            <a:ext cx="8250174" cy="17602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79895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3.3.</a:t>
            </a:r>
            <a:r>
              <a:rPr dirty="0" spc="-40"/>
              <a:t> </a:t>
            </a:r>
            <a:r>
              <a:rPr dirty="0" spc="-5"/>
              <a:t>Inner</a:t>
            </a:r>
            <a:r>
              <a:rPr dirty="0" spc="-60"/>
              <a:t> </a:t>
            </a:r>
            <a:r>
              <a:rPr dirty="0" spc="-5"/>
              <a:t>Product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4568" y="2484120"/>
            <a:ext cx="5011674" cy="251841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176009" y="3348990"/>
            <a:ext cx="2162175" cy="1504315"/>
            <a:chOff x="6176009" y="3348990"/>
            <a:chExt cx="2162175" cy="1504315"/>
          </a:xfrm>
        </p:grpSpPr>
        <p:sp>
          <p:nvSpPr>
            <p:cNvPr id="13" name="object 13"/>
            <p:cNvSpPr/>
            <p:nvPr/>
          </p:nvSpPr>
          <p:spPr>
            <a:xfrm>
              <a:off x="6176010" y="3348989"/>
              <a:ext cx="2162175" cy="1504315"/>
            </a:xfrm>
            <a:custGeom>
              <a:avLst/>
              <a:gdLst/>
              <a:ahLst/>
              <a:cxnLst/>
              <a:rect l="l" t="t" r="r" b="b"/>
              <a:pathLst>
                <a:path w="2162175" h="1504314">
                  <a:moveTo>
                    <a:pt x="2162175" y="1191768"/>
                  </a:moveTo>
                  <a:lnTo>
                    <a:pt x="2133219" y="1177290"/>
                  </a:lnTo>
                  <a:lnTo>
                    <a:pt x="2075307" y="1148334"/>
                  </a:lnTo>
                  <a:lnTo>
                    <a:pt x="2075307" y="1177290"/>
                  </a:lnTo>
                  <a:lnTo>
                    <a:pt x="337566" y="1177290"/>
                  </a:lnTo>
                  <a:lnTo>
                    <a:pt x="337566" y="86868"/>
                  </a:lnTo>
                  <a:lnTo>
                    <a:pt x="366509" y="86868"/>
                  </a:lnTo>
                  <a:lnTo>
                    <a:pt x="359270" y="72390"/>
                  </a:lnTo>
                  <a:lnTo>
                    <a:pt x="323088" y="0"/>
                  </a:lnTo>
                  <a:lnTo>
                    <a:pt x="279654" y="86868"/>
                  </a:lnTo>
                  <a:lnTo>
                    <a:pt x="308610" y="86868"/>
                  </a:lnTo>
                  <a:lnTo>
                    <a:pt x="308610" y="1177290"/>
                  </a:lnTo>
                  <a:lnTo>
                    <a:pt x="0" y="1177290"/>
                  </a:lnTo>
                  <a:lnTo>
                    <a:pt x="0" y="1206246"/>
                  </a:lnTo>
                  <a:lnTo>
                    <a:pt x="308610" y="1206246"/>
                  </a:lnTo>
                  <a:lnTo>
                    <a:pt x="308610" y="1503807"/>
                  </a:lnTo>
                  <a:lnTo>
                    <a:pt x="337566" y="1503807"/>
                  </a:lnTo>
                  <a:lnTo>
                    <a:pt x="337566" y="1206246"/>
                  </a:lnTo>
                  <a:lnTo>
                    <a:pt x="2075307" y="1206246"/>
                  </a:lnTo>
                  <a:lnTo>
                    <a:pt x="2075307" y="1235202"/>
                  </a:lnTo>
                  <a:lnTo>
                    <a:pt x="2133219" y="1206246"/>
                  </a:lnTo>
                  <a:lnTo>
                    <a:pt x="2162175" y="1191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91097" y="3864102"/>
              <a:ext cx="828040" cy="686435"/>
            </a:xfrm>
            <a:custGeom>
              <a:avLst/>
              <a:gdLst/>
              <a:ahLst/>
              <a:cxnLst/>
              <a:rect l="l" t="t" r="r" b="b"/>
              <a:pathLst>
                <a:path w="828040" h="686435">
                  <a:moveTo>
                    <a:pt x="827913" y="371856"/>
                  </a:moveTo>
                  <a:lnTo>
                    <a:pt x="743077" y="363347"/>
                  </a:lnTo>
                  <a:lnTo>
                    <a:pt x="753135" y="389737"/>
                  </a:lnTo>
                  <a:lnTo>
                    <a:pt x="27762" y="666051"/>
                  </a:lnTo>
                  <a:lnTo>
                    <a:pt x="466178" y="67310"/>
                  </a:lnTo>
                  <a:lnTo>
                    <a:pt x="488950" y="83947"/>
                  </a:lnTo>
                  <a:lnTo>
                    <a:pt x="495541" y="45339"/>
                  </a:lnTo>
                  <a:lnTo>
                    <a:pt x="503301" y="0"/>
                  </a:lnTo>
                  <a:lnTo>
                    <a:pt x="427482" y="38989"/>
                  </a:lnTo>
                  <a:lnTo>
                    <a:pt x="450265" y="55664"/>
                  </a:lnTo>
                  <a:lnTo>
                    <a:pt x="0" y="670433"/>
                  </a:lnTo>
                  <a:lnTo>
                    <a:pt x="16002" y="682117"/>
                  </a:lnTo>
                  <a:lnTo>
                    <a:pt x="25120" y="669658"/>
                  </a:lnTo>
                  <a:lnTo>
                    <a:pt x="31369" y="685927"/>
                  </a:lnTo>
                  <a:lnTo>
                    <a:pt x="760209" y="408292"/>
                  </a:lnTo>
                  <a:lnTo>
                    <a:pt x="770255" y="434594"/>
                  </a:lnTo>
                  <a:lnTo>
                    <a:pt x="815657" y="385191"/>
                  </a:lnTo>
                  <a:lnTo>
                    <a:pt x="827913" y="371856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836920" y="3261359"/>
            <a:ext cx="2834640" cy="1751330"/>
          </a:xfrm>
          <a:prstGeom prst="rect">
            <a:avLst/>
          </a:prstGeom>
          <a:solidFill>
            <a:srgbClr val="F1F1F1"/>
          </a:solidFill>
          <a:ln w="12192">
            <a:solidFill>
              <a:srgbClr val="58585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67460">
              <a:lnSpc>
                <a:spcPct val="100000"/>
              </a:lnSpc>
              <a:spcBef>
                <a:spcPts val="865"/>
              </a:spcBef>
            </a:pPr>
            <a:r>
              <a:rPr dirty="0" sz="1400">
                <a:latin typeface="Cambria Math"/>
                <a:cs typeface="Cambria Math"/>
              </a:rPr>
              <a:t>𝑏</a:t>
            </a:r>
            <a:r>
              <a:rPr dirty="0" sz="1400" spc="6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(2,3)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Cambria Math"/>
              <a:cs typeface="Cambria Math"/>
            </a:endParaRPr>
          </a:p>
          <a:p>
            <a:pPr marL="163576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ambria Math"/>
                <a:cs typeface="Cambria Math"/>
              </a:rPr>
              <a:t>𝑎</a:t>
            </a:r>
            <a:r>
              <a:rPr dirty="0" sz="1400" spc="7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(3,1)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1057" y="5271261"/>
            <a:ext cx="6068695" cy="92329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890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result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vector’s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inner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product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form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real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number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(size)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rather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than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form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vector.</a:t>
            </a:r>
            <a:endParaRPr sz="1300">
              <a:latin typeface="Trebuchet MS"/>
              <a:cs typeface="Trebuchet MS"/>
            </a:endParaRPr>
          </a:p>
          <a:p>
            <a:pPr marL="195580" indent="-182880">
              <a:lnSpc>
                <a:spcPct val="100000"/>
              </a:lnSpc>
              <a:spcBef>
                <a:spcPts val="795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This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real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number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sometimes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referred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as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scalar,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so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this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process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often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called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scalar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multiplication.</a:t>
            </a:r>
            <a:endParaRPr sz="1300">
              <a:latin typeface="Trebuchet MS"/>
              <a:cs typeface="Trebuchet MS"/>
            </a:endParaRPr>
          </a:p>
          <a:p>
            <a:pPr marL="195580" indent="-182880">
              <a:lnSpc>
                <a:spcPct val="100000"/>
              </a:lnSpc>
              <a:spcBef>
                <a:spcPts val="805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operator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symbol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inner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product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not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x,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but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70">
                <a:solidFill>
                  <a:srgbClr val="252525"/>
                </a:solidFill>
                <a:latin typeface="Trebuchet MS"/>
                <a:cs typeface="Trebuchet MS"/>
              </a:rPr>
              <a:t>∙,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it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called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“dot.”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11708" y="1836420"/>
            <a:ext cx="8624570" cy="2097405"/>
          </a:xfrm>
          <a:custGeom>
            <a:avLst/>
            <a:gdLst/>
            <a:ahLst/>
            <a:cxnLst/>
            <a:rect l="l" t="t" r="r" b="b"/>
            <a:pathLst>
              <a:path w="8624570" h="2097404">
                <a:moveTo>
                  <a:pt x="8624316" y="0"/>
                </a:moveTo>
                <a:lnTo>
                  <a:pt x="0" y="0"/>
                </a:lnTo>
                <a:lnTo>
                  <a:pt x="0" y="2097023"/>
                </a:lnTo>
                <a:lnTo>
                  <a:pt x="8624316" y="2097023"/>
                </a:lnTo>
                <a:lnTo>
                  <a:pt x="86243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308" y="1511808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534667"/>
            <a:ext cx="5453634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0619" y="2075688"/>
            <a:ext cx="3620261" cy="153543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17989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Inner</a:t>
            </a:r>
            <a:r>
              <a:rPr dirty="0" sz="1800" spc="-6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Product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41185" y="2129789"/>
            <a:ext cx="2162175" cy="1504315"/>
            <a:chOff x="6441185" y="2129789"/>
            <a:chExt cx="2162175" cy="1504315"/>
          </a:xfrm>
        </p:grpSpPr>
        <p:sp>
          <p:nvSpPr>
            <p:cNvPr id="12" name="object 12"/>
            <p:cNvSpPr/>
            <p:nvPr/>
          </p:nvSpPr>
          <p:spPr>
            <a:xfrm>
              <a:off x="6441186" y="2129789"/>
              <a:ext cx="2162175" cy="1504315"/>
            </a:xfrm>
            <a:custGeom>
              <a:avLst/>
              <a:gdLst/>
              <a:ahLst/>
              <a:cxnLst/>
              <a:rect l="l" t="t" r="r" b="b"/>
              <a:pathLst>
                <a:path w="2162175" h="1504314">
                  <a:moveTo>
                    <a:pt x="2162175" y="1190244"/>
                  </a:moveTo>
                  <a:lnTo>
                    <a:pt x="2133206" y="1175766"/>
                  </a:lnTo>
                  <a:lnTo>
                    <a:pt x="2075307" y="1146810"/>
                  </a:lnTo>
                  <a:lnTo>
                    <a:pt x="2075307" y="1175766"/>
                  </a:lnTo>
                  <a:lnTo>
                    <a:pt x="339090" y="1175766"/>
                  </a:lnTo>
                  <a:lnTo>
                    <a:pt x="339090" y="86868"/>
                  </a:lnTo>
                  <a:lnTo>
                    <a:pt x="368046" y="86868"/>
                  </a:lnTo>
                  <a:lnTo>
                    <a:pt x="360794" y="72390"/>
                  </a:lnTo>
                  <a:lnTo>
                    <a:pt x="324612" y="0"/>
                  </a:lnTo>
                  <a:lnTo>
                    <a:pt x="281178" y="86868"/>
                  </a:lnTo>
                  <a:lnTo>
                    <a:pt x="310134" y="86868"/>
                  </a:lnTo>
                  <a:lnTo>
                    <a:pt x="310134" y="1175766"/>
                  </a:lnTo>
                  <a:lnTo>
                    <a:pt x="0" y="1175766"/>
                  </a:lnTo>
                  <a:lnTo>
                    <a:pt x="0" y="1204722"/>
                  </a:lnTo>
                  <a:lnTo>
                    <a:pt x="310134" y="1204722"/>
                  </a:lnTo>
                  <a:lnTo>
                    <a:pt x="310134" y="1503807"/>
                  </a:lnTo>
                  <a:lnTo>
                    <a:pt x="339090" y="1503807"/>
                  </a:lnTo>
                  <a:lnTo>
                    <a:pt x="339090" y="1204722"/>
                  </a:lnTo>
                  <a:lnTo>
                    <a:pt x="2075307" y="1204722"/>
                  </a:lnTo>
                  <a:lnTo>
                    <a:pt x="2075307" y="1233678"/>
                  </a:lnTo>
                  <a:lnTo>
                    <a:pt x="2133219" y="1204722"/>
                  </a:lnTo>
                  <a:lnTo>
                    <a:pt x="2162175" y="1190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57797" y="2643377"/>
              <a:ext cx="826769" cy="686435"/>
            </a:xfrm>
            <a:custGeom>
              <a:avLst/>
              <a:gdLst/>
              <a:ahLst/>
              <a:cxnLst/>
              <a:rect l="l" t="t" r="r" b="b"/>
              <a:pathLst>
                <a:path w="826770" h="686435">
                  <a:moveTo>
                    <a:pt x="826389" y="371856"/>
                  </a:moveTo>
                  <a:lnTo>
                    <a:pt x="741553" y="363347"/>
                  </a:lnTo>
                  <a:lnTo>
                    <a:pt x="751611" y="389737"/>
                  </a:lnTo>
                  <a:lnTo>
                    <a:pt x="28346" y="665251"/>
                  </a:lnTo>
                  <a:lnTo>
                    <a:pt x="466178" y="67310"/>
                  </a:lnTo>
                  <a:lnTo>
                    <a:pt x="488950" y="83947"/>
                  </a:lnTo>
                  <a:lnTo>
                    <a:pt x="495541" y="45339"/>
                  </a:lnTo>
                  <a:lnTo>
                    <a:pt x="503301" y="0"/>
                  </a:lnTo>
                  <a:lnTo>
                    <a:pt x="427482" y="38989"/>
                  </a:lnTo>
                  <a:lnTo>
                    <a:pt x="450265" y="55664"/>
                  </a:lnTo>
                  <a:lnTo>
                    <a:pt x="0" y="670433"/>
                  </a:lnTo>
                  <a:lnTo>
                    <a:pt x="16002" y="682117"/>
                  </a:lnTo>
                  <a:lnTo>
                    <a:pt x="24117" y="671029"/>
                  </a:lnTo>
                  <a:lnTo>
                    <a:pt x="29845" y="685927"/>
                  </a:lnTo>
                  <a:lnTo>
                    <a:pt x="758685" y="408292"/>
                  </a:lnTo>
                  <a:lnTo>
                    <a:pt x="768731" y="434594"/>
                  </a:lnTo>
                  <a:lnTo>
                    <a:pt x="814133" y="385191"/>
                  </a:lnTo>
                  <a:lnTo>
                    <a:pt x="826389" y="371856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783321" y="2844545"/>
            <a:ext cx="7302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mbria Math"/>
                <a:cs typeface="Cambria Math"/>
              </a:rPr>
              <a:t>𝑎</a:t>
            </a:r>
            <a:r>
              <a:rPr dirty="0" sz="1400" spc="6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4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(3,1)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01230" y="2400681"/>
            <a:ext cx="7258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mbria Math"/>
                <a:cs typeface="Cambria Math"/>
              </a:rPr>
              <a:t>𝑏</a:t>
            </a:r>
            <a:r>
              <a:rPr dirty="0" sz="1400" spc="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4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(2,3)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63156" y="3031235"/>
            <a:ext cx="125095" cy="174625"/>
          </a:xfrm>
          <a:custGeom>
            <a:avLst/>
            <a:gdLst/>
            <a:ahLst/>
            <a:cxnLst/>
            <a:rect l="l" t="t" r="r" b="b"/>
            <a:pathLst>
              <a:path w="125095" h="174625">
                <a:moveTo>
                  <a:pt x="0" y="0"/>
                </a:moveTo>
                <a:lnTo>
                  <a:pt x="39477" y="8894"/>
                </a:lnTo>
                <a:lnTo>
                  <a:pt x="73779" y="33662"/>
                </a:lnTo>
                <a:lnTo>
                  <a:pt x="100840" y="71432"/>
                </a:lnTo>
                <a:lnTo>
                  <a:pt x="118591" y="119335"/>
                </a:lnTo>
                <a:lnTo>
                  <a:pt x="124968" y="174498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39940" y="2903042"/>
            <a:ext cx="11366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5">
                <a:latin typeface="Cambria Math"/>
                <a:cs typeface="Cambria Math"/>
              </a:rPr>
              <a:t>𝜃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03620" y="2004060"/>
            <a:ext cx="2833370" cy="1752600"/>
          </a:xfrm>
          <a:custGeom>
            <a:avLst/>
            <a:gdLst/>
            <a:ahLst/>
            <a:cxnLst/>
            <a:rect l="l" t="t" r="r" b="b"/>
            <a:pathLst>
              <a:path w="2833370" h="1752600">
                <a:moveTo>
                  <a:pt x="0" y="1752600"/>
                </a:moveTo>
                <a:lnTo>
                  <a:pt x="2833116" y="1752600"/>
                </a:lnTo>
                <a:lnTo>
                  <a:pt x="2833116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ln w="12192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401562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60291"/>
            <a:ext cx="2425445" cy="224713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3177"/>
            <a:ext cx="2928366" cy="3025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3499866" cy="1760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2646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3.4.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Orthogonal</a:t>
            </a:r>
            <a:r>
              <a:rPr dirty="0" sz="1800" spc="-5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Condition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276855"/>
            <a:ext cx="4973574" cy="16230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11708" y="2647188"/>
            <a:ext cx="8632190" cy="3446145"/>
            <a:chOff x="711708" y="2647188"/>
            <a:chExt cx="8632190" cy="3446145"/>
          </a:xfrm>
        </p:grpSpPr>
        <p:sp>
          <p:nvSpPr>
            <p:cNvPr id="12" name="object 12"/>
            <p:cNvSpPr/>
            <p:nvPr/>
          </p:nvSpPr>
          <p:spPr>
            <a:xfrm>
              <a:off x="711708" y="2647188"/>
              <a:ext cx="8632190" cy="3446145"/>
            </a:xfrm>
            <a:custGeom>
              <a:avLst/>
              <a:gdLst/>
              <a:ahLst/>
              <a:cxnLst/>
              <a:rect l="l" t="t" r="r" b="b"/>
              <a:pathLst>
                <a:path w="8632190" h="3446145">
                  <a:moveTo>
                    <a:pt x="8631936" y="0"/>
                  </a:moveTo>
                  <a:lnTo>
                    <a:pt x="0" y="0"/>
                  </a:lnTo>
                  <a:lnTo>
                    <a:pt x="0" y="3445764"/>
                  </a:lnTo>
                  <a:lnTo>
                    <a:pt x="8631936" y="3445764"/>
                  </a:lnTo>
                  <a:lnTo>
                    <a:pt x="86319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0600" y="2977896"/>
              <a:ext cx="6153150" cy="238582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55079" y="4591811"/>
              <a:ext cx="2380615" cy="1246505"/>
            </a:xfrm>
            <a:custGeom>
              <a:avLst/>
              <a:gdLst/>
              <a:ahLst/>
              <a:cxnLst/>
              <a:rect l="l" t="t" r="r" b="b"/>
              <a:pathLst>
                <a:path w="2380615" h="1246504">
                  <a:moveTo>
                    <a:pt x="0" y="978407"/>
                  </a:moveTo>
                  <a:lnTo>
                    <a:pt x="2380106" y="994410"/>
                  </a:lnTo>
                </a:path>
                <a:path w="2380615" h="1246504">
                  <a:moveTo>
                    <a:pt x="0" y="614171"/>
                  </a:moveTo>
                  <a:lnTo>
                    <a:pt x="2380106" y="630174"/>
                  </a:lnTo>
                </a:path>
                <a:path w="2380615" h="1246504">
                  <a:moveTo>
                    <a:pt x="0" y="249936"/>
                  </a:moveTo>
                  <a:lnTo>
                    <a:pt x="2380106" y="265938"/>
                  </a:lnTo>
                </a:path>
                <a:path w="2380615" h="1246504">
                  <a:moveTo>
                    <a:pt x="259079" y="7619"/>
                  </a:moveTo>
                  <a:lnTo>
                    <a:pt x="259079" y="1236789"/>
                  </a:lnTo>
                </a:path>
                <a:path w="2380615" h="1246504">
                  <a:moveTo>
                    <a:pt x="713231" y="0"/>
                  </a:moveTo>
                  <a:lnTo>
                    <a:pt x="713231" y="1229169"/>
                  </a:lnTo>
                </a:path>
                <a:path w="2380615" h="1246504">
                  <a:moveTo>
                    <a:pt x="1190244" y="0"/>
                  </a:moveTo>
                  <a:lnTo>
                    <a:pt x="1190244" y="1229169"/>
                  </a:lnTo>
                </a:path>
                <a:path w="2380615" h="1246504">
                  <a:moveTo>
                    <a:pt x="1680972" y="7619"/>
                  </a:moveTo>
                  <a:lnTo>
                    <a:pt x="1680972" y="1236789"/>
                  </a:lnTo>
                </a:path>
                <a:path w="2380615" h="1246504">
                  <a:moveTo>
                    <a:pt x="2162555" y="16763"/>
                  </a:moveTo>
                  <a:lnTo>
                    <a:pt x="2162555" y="1245933"/>
                  </a:lnTo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76644" y="4841747"/>
              <a:ext cx="1403985" cy="751840"/>
            </a:xfrm>
            <a:custGeom>
              <a:avLst/>
              <a:gdLst/>
              <a:ahLst/>
              <a:cxnLst/>
              <a:rect l="l" t="t" r="r" b="b"/>
              <a:pathLst>
                <a:path w="1403984" h="751839">
                  <a:moveTo>
                    <a:pt x="397891" y="726059"/>
                  </a:moveTo>
                  <a:lnTo>
                    <a:pt x="41668" y="64096"/>
                  </a:lnTo>
                  <a:lnTo>
                    <a:pt x="62293" y="52959"/>
                  </a:lnTo>
                  <a:lnTo>
                    <a:pt x="69596" y="49022"/>
                  </a:lnTo>
                  <a:lnTo>
                    <a:pt x="0" y="0"/>
                  </a:lnTo>
                  <a:lnTo>
                    <a:pt x="2540" y="85217"/>
                  </a:lnTo>
                  <a:lnTo>
                    <a:pt x="30518" y="70116"/>
                  </a:lnTo>
                  <a:lnTo>
                    <a:pt x="386588" y="732155"/>
                  </a:lnTo>
                  <a:lnTo>
                    <a:pt x="397891" y="726059"/>
                  </a:lnTo>
                  <a:close/>
                </a:path>
                <a:path w="1403984" h="751839">
                  <a:moveTo>
                    <a:pt x="1403477" y="381012"/>
                  </a:moveTo>
                  <a:lnTo>
                    <a:pt x="1318895" y="370967"/>
                  </a:lnTo>
                  <a:lnTo>
                    <a:pt x="1329601" y="400786"/>
                  </a:lnTo>
                  <a:lnTo>
                    <a:pt x="389509" y="739521"/>
                  </a:lnTo>
                  <a:lnTo>
                    <a:pt x="393827" y="751522"/>
                  </a:lnTo>
                  <a:lnTo>
                    <a:pt x="1333931" y="412838"/>
                  </a:lnTo>
                  <a:lnTo>
                    <a:pt x="1344676" y="442722"/>
                  </a:lnTo>
                  <a:lnTo>
                    <a:pt x="1388706" y="396494"/>
                  </a:lnTo>
                  <a:lnTo>
                    <a:pt x="1403477" y="381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14972" y="5414772"/>
              <a:ext cx="212090" cy="124460"/>
            </a:xfrm>
            <a:custGeom>
              <a:avLst/>
              <a:gdLst/>
              <a:ahLst/>
              <a:cxnLst/>
              <a:rect l="l" t="t" r="r" b="b"/>
              <a:pathLst>
                <a:path w="212090" h="124460">
                  <a:moveTo>
                    <a:pt x="0" y="58038"/>
                  </a:moveTo>
                  <a:lnTo>
                    <a:pt x="140461" y="0"/>
                  </a:lnTo>
                </a:path>
                <a:path w="212090" h="124460">
                  <a:moveTo>
                    <a:pt x="140207" y="0"/>
                  </a:moveTo>
                  <a:lnTo>
                    <a:pt x="211581" y="124332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135623" y="4468367"/>
            <a:ext cx="2775585" cy="1477010"/>
          </a:xfrm>
          <a:prstGeom prst="rect">
            <a:avLst/>
          </a:prstGeom>
          <a:ln w="12192">
            <a:solidFill>
              <a:srgbClr val="585858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b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Calibri"/>
              <a:cs typeface="Calibri"/>
            </a:endParaRPr>
          </a:p>
          <a:p>
            <a:pPr algn="r" marR="584835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401562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60291"/>
            <a:ext cx="1989582" cy="224713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3164"/>
            <a:ext cx="1943862" cy="23399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4555998" cy="1760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905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3.5.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Normal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Vector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4512564"/>
            <a:ext cx="5522214" cy="16230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625596" y="2623566"/>
            <a:ext cx="2085339" cy="1316355"/>
            <a:chOff x="3625596" y="2623566"/>
            <a:chExt cx="2085339" cy="1316355"/>
          </a:xfrm>
        </p:grpSpPr>
        <p:sp>
          <p:nvSpPr>
            <p:cNvPr id="12" name="object 12"/>
            <p:cNvSpPr/>
            <p:nvPr/>
          </p:nvSpPr>
          <p:spPr>
            <a:xfrm>
              <a:off x="3635502" y="2817114"/>
              <a:ext cx="2065020" cy="1112520"/>
            </a:xfrm>
            <a:custGeom>
              <a:avLst/>
              <a:gdLst/>
              <a:ahLst/>
              <a:cxnLst/>
              <a:rect l="l" t="t" r="r" b="b"/>
              <a:pathLst>
                <a:path w="2065020" h="1112520">
                  <a:moveTo>
                    <a:pt x="0" y="0"/>
                  </a:moveTo>
                  <a:lnTo>
                    <a:pt x="2065020" y="111252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41012" y="2623566"/>
              <a:ext cx="359410" cy="694055"/>
            </a:xfrm>
            <a:custGeom>
              <a:avLst/>
              <a:gdLst/>
              <a:ahLst/>
              <a:cxnLst/>
              <a:rect l="l" t="t" r="r" b="b"/>
              <a:pathLst>
                <a:path w="359410" h="694054">
                  <a:moveTo>
                    <a:pt x="316043" y="63427"/>
                  </a:moveTo>
                  <a:lnTo>
                    <a:pt x="0" y="685038"/>
                  </a:lnTo>
                  <a:lnTo>
                    <a:pt x="17779" y="694055"/>
                  </a:lnTo>
                  <a:lnTo>
                    <a:pt x="333715" y="72411"/>
                  </a:lnTo>
                  <a:lnTo>
                    <a:pt x="316043" y="63427"/>
                  </a:lnTo>
                  <a:close/>
                </a:path>
                <a:path w="359410" h="694054">
                  <a:moveTo>
                    <a:pt x="359099" y="52070"/>
                  </a:moveTo>
                  <a:lnTo>
                    <a:pt x="321817" y="52070"/>
                  </a:lnTo>
                  <a:lnTo>
                    <a:pt x="339471" y="61087"/>
                  </a:lnTo>
                  <a:lnTo>
                    <a:pt x="333715" y="72411"/>
                  </a:lnTo>
                  <a:lnTo>
                    <a:pt x="358901" y="85217"/>
                  </a:lnTo>
                  <a:lnTo>
                    <a:pt x="359099" y="52070"/>
                  </a:lnTo>
                  <a:close/>
                </a:path>
                <a:path w="359410" h="694054">
                  <a:moveTo>
                    <a:pt x="321817" y="52070"/>
                  </a:moveTo>
                  <a:lnTo>
                    <a:pt x="316043" y="63427"/>
                  </a:lnTo>
                  <a:lnTo>
                    <a:pt x="333715" y="72411"/>
                  </a:lnTo>
                  <a:lnTo>
                    <a:pt x="339471" y="61087"/>
                  </a:lnTo>
                  <a:lnTo>
                    <a:pt x="321817" y="52070"/>
                  </a:lnTo>
                  <a:close/>
                </a:path>
                <a:path w="359410" h="694054">
                  <a:moveTo>
                    <a:pt x="359410" y="0"/>
                  </a:moveTo>
                  <a:lnTo>
                    <a:pt x="290957" y="50673"/>
                  </a:lnTo>
                  <a:lnTo>
                    <a:pt x="316043" y="63427"/>
                  </a:lnTo>
                  <a:lnTo>
                    <a:pt x="321817" y="52070"/>
                  </a:lnTo>
                  <a:lnTo>
                    <a:pt x="359099" y="52070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10100" y="3189732"/>
              <a:ext cx="115570" cy="182880"/>
            </a:xfrm>
            <a:custGeom>
              <a:avLst/>
              <a:gdLst/>
              <a:ahLst/>
              <a:cxnLst/>
              <a:rect l="l" t="t" r="r" b="b"/>
              <a:pathLst>
                <a:path w="115570" h="182879">
                  <a:moveTo>
                    <a:pt x="0" y="0"/>
                  </a:moveTo>
                  <a:lnTo>
                    <a:pt x="114300" y="53339"/>
                  </a:lnTo>
                </a:path>
                <a:path w="115570" h="182879">
                  <a:moveTo>
                    <a:pt x="115062" y="53339"/>
                  </a:moveTo>
                  <a:lnTo>
                    <a:pt x="57912" y="182879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425952" y="2386583"/>
            <a:ext cx="3182620" cy="1751330"/>
          </a:xfrm>
          <a:prstGeom prst="rect">
            <a:avLst/>
          </a:prstGeom>
          <a:ln w="12192">
            <a:solidFill>
              <a:srgbClr val="585858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765300">
              <a:lnSpc>
                <a:spcPct val="100000"/>
              </a:lnSpc>
              <a:spcBef>
                <a:spcPts val="5"/>
              </a:spcBef>
            </a:pPr>
            <a:r>
              <a:rPr dirty="0" sz="1400" spc="-5">
                <a:latin typeface="Calibri"/>
                <a:cs typeface="Calibri"/>
              </a:rPr>
              <a:t>Normal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Vector</a:t>
            </a:r>
            <a:r>
              <a:rPr dirty="0" sz="1400">
                <a:latin typeface="Calibri"/>
                <a:cs typeface="Calibri"/>
              </a:rPr>
              <a:t> p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  <a:spcBef>
                <a:spcPts val="1165"/>
              </a:spcBef>
            </a:pPr>
            <a:r>
              <a:rPr dirty="0" sz="1400" spc="-5">
                <a:latin typeface="Calibri"/>
                <a:cs typeface="Calibri"/>
              </a:rPr>
              <a:t>90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mbria Math"/>
                <a:cs typeface="Cambria Math"/>
              </a:rPr>
              <a:t>°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401562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60291"/>
            <a:ext cx="2044445" cy="224409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53896" y="3258311"/>
            <a:ext cx="2578735" cy="603885"/>
          </a:xfrm>
          <a:custGeom>
            <a:avLst/>
            <a:gdLst/>
            <a:ahLst/>
            <a:cxnLst/>
            <a:rect l="l" t="t" r="r" b="b"/>
            <a:pathLst>
              <a:path w="2578735" h="603885">
                <a:moveTo>
                  <a:pt x="2578607" y="0"/>
                </a:moveTo>
                <a:lnTo>
                  <a:pt x="0" y="0"/>
                </a:lnTo>
                <a:lnTo>
                  <a:pt x="0" y="603504"/>
                </a:lnTo>
                <a:lnTo>
                  <a:pt x="2578607" y="603504"/>
                </a:lnTo>
                <a:lnTo>
                  <a:pt x="25786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53896" y="2255520"/>
            <a:ext cx="2578735" cy="440690"/>
          </a:xfrm>
          <a:custGeom>
            <a:avLst/>
            <a:gdLst/>
            <a:ahLst/>
            <a:cxnLst/>
            <a:rect l="l" t="t" r="r" b="b"/>
            <a:pathLst>
              <a:path w="2578735" h="440689">
                <a:moveTo>
                  <a:pt x="2578607" y="0"/>
                </a:moveTo>
                <a:lnTo>
                  <a:pt x="0" y="0"/>
                </a:lnTo>
                <a:lnTo>
                  <a:pt x="0" y="440436"/>
                </a:lnTo>
                <a:lnTo>
                  <a:pt x="2578607" y="440436"/>
                </a:lnTo>
                <a:lnTo>
                  <a:pt x="25786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3177"/>
            <a:ext cx="2207514" cy="30256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3635502" cy="17602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09105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3.6.</a:t>
            </a:r>
            <a:r>
              <a:rPr dirty="0" spc="-20"/>
              <a:t> </a:t>
            </a:r>
            <a:r>
              <a:rPr dirty="0" spc="-5"/>
              <a:t>Cosine</a:t>
            </a:r>
            <a:r>
              <a:rPr dirty="0" spc="-45"/>
              <a:t> </a:t>
            </a:r>
            <a:r>
              <a:rPr dirty="0" spc="-10"/>
              <a:t>Similarity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400300"/>
            <a:ext cx="8472678" cy="204292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004316" y="5021326"/>
            <a:ext cx="1440180" cy="739775"/>
          </a:xfrm>
          <a:custGeom>
            <a:avLst/>
            <a:gdLst/>
            <a:ahLst/>
            <a:cxnLst/>
            <a:rect l="l" t="t" r="r" b="b"/>
            <a:pathLst>
              <a:path w="1440180" h="739775">
                <a:moveTo>
                  <a:pt x="868172" y="9652"/>
                </a:moveTo>
                <a:lnTo>
                  <a:pt x="860044" y="0"/>
                </a:lnTo>
                <a:lnTo>
                  <a:pt x="54470" y="671245"/>
                </a:lnTo>
                <a:lnTo>
                  <a:pt x="34150" y="646849"/>
                </a:lnTo>
                <a:lnTo>
                  <a:pt x="0" y="724903"/>
                </a:lnTo>
                <a:lnTo>
                  <a:pt x="82931" y="705396"/>
                </a:lnTo>
                <a:lnTo>
                  <a:pt x="69367" y="689127"/>
                </a:lnTo>
                <a:lnTo>
                  <a:pt x="62598" y="680999"/>
                </a:lnTo>
                <a:lnTo>
                  <a:pt x="868172" y="9652"/>
                </a:lnTo>
                <a:close/>
              </a:path>
              <a:path w="1440180" h="739775">
                <a:moveTo>
                  <a:pt x="1440180" y="29210"/>
                </a:moveTo>
                <a:lnTo>
                  <a:pt x="1356995" y="47879"/>
                </a:lnTo>
                <a:lnTo>
                  <a:pt x="1377073" y="72466"/>
                </a:lnTo>
                <a:lnTo>
                  <a:pt x="572008" y="729678"/>
                </a:lnTo>
                <a:lnTo>
                  <a:pt x="580136" y="739508"/>
                </a:lnTo>
                <a:lnTo>
                  <a:pt x="1385138" y="82321"/>
                </a:lnTo>
                <a:lnTo>
                  <a:pt x="1405255" y="106934"/>
                </a:lnTo>
                <a:lnTo>
                  <a:pt x="1424368" y="64389"/>
                </a:lnTo>
                <a:lnTo>
                  <a:pt x="1440180" y="292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15872" y="4737303"/>
            <a:ext cx="65151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Cambria Math"/>
                <a:cs typeface="Cambria Math"/>
              </a:rPr>
              <a:t>a</a:t>
            </a:r>
            <a:r>
              <a:rPr dirty="0" sz="1400">
                <a:latin typeface="Cambria Math"/>
                <a:cs typeface="Cambria Math"/>
              </a:rPr>
              <a:t>(-4,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-2)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9979" y="4738496"/>
            <a:ext cx="5429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mbria Math"/>
                <a:cs typeface="Cambria Math"/>
              </a:rPr>
              <a:t>b</a:t>
            </a:r>
            <a:r>
              <a:rPr dirty="0" sz="1400">
                <a:latin typeface="Cambria Math"/>
                <a:cs typeface="Cambria Math"/>
              </a:rPr>
              <a:t>(6,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3)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87266" y="4980432"/>
            <a:ext cx="868680" cy="796925"/>
          </a:xfrm>
          <a:custGeom>
            <a:avLst/>
            <a:gdLst/>
            <a:ahLst/>
            <a:cxnLst/>
            <a:rect l="l" t="t" r="r" b="b"/>
            <a:pathLst>
              <a:path w="868679" h="796925">
                <a:moveTo>
                  <a:pt x="868426" y="0"/>
                </a:moveTo>
                <a:lnTo>
                  <a:pt x="786511" y="23368"/>
                </a:lnTo>
                <a:lnTo>
                  <a:pt x="807961" y="46850"/>
                </a:lnTo>
                <a:lnTo>
                  <a:pt x="400177" y="420624"/>
                </a:lnTo>
                <a:lnTo>
                  <a:pt x="188341" y="239014"/>
                </a:lnTo>
                <a:lnTo>
                  <a:pt x="179959" y="248678"/>
                </a:lnTo>
                <a:lnTo>
                  <a:pt x="390715" y="429298"/>
                </a:lnTo>
                <a:lnTo>
                  <a:pt x="0" y="787412"/>
                </a:lnTo>
                <a:lnTo>
                  <a:pt x="8636" y="796772"/>
                </a:lnTo>
                <a:lnTo>
                  <a:pt x="400431" y="437629"/>
                </a:lnTo>
                <a:lnTo>
                  <a:pt x="626237" y="631113"/>
                </a:lnTo>
                <a:lnTo>
                  <a:pt x="605536" y="655218"/>
                </a:lnTo>
                <a:lnTo>
                  <a:pt x="688213" y="675881"/>
                </a:lnTo>
                <a:lnTo>
                  <a:pt x="672846" y="639381"/>
                </a:lnTo>
                <a:lnTo>
                  <a:pt x="655193" y="597408"/>
                </a:lnTo>
                <a:lnTo>
                  <a:pt x="634504" y="621487"/>
                </a:lnTo>
                <a:lnTo>
                  <a:pt x="409892" y="428955"/>
                </a:lnTo>
                <a:lnTo>
                  <a:pt x="816521" y="56210"/>
                </a:lnTo>
                <a:lnTo>
                  <a:pt x="837946" y="79629"/>
                </a:lnTo>
                <a:lnTo>
                  <a:pt x="853782" y="38227"/>
                </a:lnTo>
                <a:lnTo>
                  <a:pt x="868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03345" y="5010353"/>
            <a:ext cx="1757045" cy="393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35710">
              <a:lnSpc>
                <a:spcPts val="1445"/>
              </a:lnSpc>
              <a:spcBef>
                <a:spcPts val="105"/>
              </a:spcBef>
            </a:pPr>
            <a:r>
              <a:rPr dirty="0" sz="1400" spc="-5">
                <a:latin typeface="Cambria Math"/>
                <a:cs typeface="Cambria Math"/>
              </a:rPr>
              <a:t>a(6,</a:t>
            </a:r>
            <a:r>
              <a:rPr dirty="0" sz="1400" spc="-7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3)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445"/>
              </a:lnSpc>
            </a:pPr>
            <a:r>
              <a:rPr dirty="0" sz="1400" spc="-5">
                <a:latin typeface="Cambria Math"/>
                <a:cs typeface="Cambria Math"/>
              </a:rPr>
              <a:t>b(1,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-2)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47002" y="5021579"/>
            <a:ext cx="1336040" cy="796925"/>
          </a:xfrm>
          <a:custGeom>
            <a:avLst/>
            <a:gdLst/>
            <a:ahLst/>
            <a:cxnLst/>
            <a:rect l="l" t="t" r="r" b="b"/>
            <a:pathLst>
              <a:path w="1336040" h="796925">
                <a:moveTo>
                  <a:pt x="868426" y="0"/>
                </a:moveTo>
                <a:lnTo>
                  <a:pt x="786511" y="23368"/>
                </a:lnTo>
                <a:lnTo>
                  <a:pt x="807961" y="46850"/>
                </a:lnTo>
                <a:lnTo>
                  <a:pt x="0" y="787412"/>
                </a:lnTo>
                <a:lnTo>
                  <a:pt x="8636" y="796772"/>
                </a:lnTo>
                <a:lnTo>
                  <a:pt x="816521" y="56210"/>
                </a:lnTo>
                <a:lnTo>
                  <a:pt x="837946" y="79629"/>
                </a:lnTo>
                <a:lnTo>
                  <a:pt x="853782" y="38227"/>
                </a:lnTo>
                <a:lnTo>
                  <a:pt x="868426" y="0"/>
                </a:lnTo>
                <a:close/>
              </a:path>
              <a:path w="1336040" h="796925">
                <a:moveTo>
                  <a:pt x="1335786" y="28956"/>
                </a:moveTo>
                <a:lnTo>
                  <a:pt x="1254887" y="56007"/>
                </a:lnTo>
                <a:lnTo>
                  <a:pt x="1277391" y="78473"/>
                </a:lnTo>
                <a:lnTo>
                  <a:pt x="574421" y="782535"/>
                </a:lnTo>
                <a:lnTo>
                  <a:pt x="583311" y="791514"/>
                </a:lnTo>
                <a:lnTo>
                  <a:pt x="1286357" y="87414"/>
                </a:lnTo>
                <a:lnTo>
                  <a:pt x="1308862" y="109855"/>
                </a:lnTo>
                <a:lnTo>
                  <a:pt x="1322298" y="69469"/>
                </a:lnTo>
                <a:lnTo>
                  <a:pt x="133578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148319" y="4856429"/>
            <a:ext cx="5429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Cambria Math"/>
                <a:cs typeface="Cambria Math"/>
              </a:rPr>
              <a:t>b(6</a:t>
            </a:r>
            <a:r>
              <a:rPr dirty="0" sz="1400">
                <a:latin typeface="Cambria Math"/>
                <a:cs typeface="Cambria Math"/>
              </a:rPr>
              <a:t>,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3)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56806" y="4820539"/>
            <a:ext cx="5334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mbria Math"/>
                <a:cs typeface="Cambria Math"/>
              </a:rPr>
              <a:t>a(</a:t>
            </a:r>
            <a:r>
              <a:rPr dirty="0" sz="1400" spc="5">
                <a:latin typeface="Cambria Math"/>
                <a:cs typeface="Cambria Math"/>
              </a:rPr>
              <a:t>4</a:t>
            </a:r>
            <a:r>
              <a:rPr dirty="0" sz="1400">
                <a:latin typeface="Cambria Math"/>
                <a:cs typeface="Cambria Math"/>
              </a:rPr>
              <a:t>,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2)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9800" y="5925718"/>
            <a:ext cx="12503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5">
                <a:latin typeface="Trebuchet MS"/>
                <a:cs typeface="Trebuchet MS"/>
              </a:rPr>
              <a:t>Co</a:t>
            </a:r>
            <a:r>
              <a:rPr dirty="0" sz="1400" spc="-120">
                <a:latin typeface="Trebuchet MS"/>
                <a:cs typeface="Trebuchet MS"/>
              </a:rPr>
              <a:t>s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80">
                <a:latin typeface="Trebuchet MS"/>
                <a:cs typeface="Trebuchet MS"/>
              </a:rPr>
              <a:t>S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330">
                <a:latin typeface="Trebuchet MS"/>
                <a:cs typeface="Trebuchet MS"/>
              </a:rPr>
              <a:t>m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180">
                <a:latin typeface="Trebuchet MS"/>
                <a:cs typeface="Trebuchet MS"/>
              </a:rPr>
              <a:t>l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40">
                <a:latin typeface="Trebuchet MS"/>
                <a:cs typeface="Trebuchet MS"/>
              </a:rPr>
              <a:t>r</a:t>
            </a:r>
            <a:r>
              <a:rPr dirty="0" sz="1400" spc="-110">
                <a:latin typeface="Trebuchet MS"/>
                <a:cs typeface="Trebuchet MS"/>
              </a:rPr>
              <a:t>i</a:t>
            </a:r>
            <a:r>
              <a:rPr dirty="0" sz="1400" spc="-204">
                <a:latin typeface="Trebuchet MS"/>
                <a:cs typeface="Trebuchet MS"/>
              </a:rPr>
              <a:t>ty</a:t>
            </a:r>
            <a:r>
              <a:rPr dirty="0" sz="1400" spc="-170">
                <a:latin typeface="Trebuchet MS"/>
                <a:cs typeface="Trebuchet MS"/>
              </a:rPr>
              <a:t> </a:t>
            </a:r>
            <a:r>
              <a:rPr dirty="0" sz="1400" spc="-105">
                <a:latin typeface="Trebuchet MS"/>
                <a:cs typeface="Trebuchet MS"/>
              </a:rPr>
              <a:t>i</a:t>
            </a:r>
            <a:r>
              <a:rPr dirty="0" sz="1400" spc="-125">
                <a:latin typeface="Trebuchet MS"/>
                <a:cs typeface="Trebuchet MS"/>
              </a:rPr>
              <a:t>s</a:t>
            </a:r>
            <a:r>
              <a:rPr dirty="0" sz="1400" spc="-150">
                <a:latin typeface="Trebuchet MS"/>
                <a:cs typeface="Trebuchet MS"/>
              </a:rPr>
              <a:t> </a:t>
            </a:r>
            <a:r>
              <a:rPr dirty="0" sz="1400" spc="-95">
                <a:latin typeface="Trebuchet MS"/>
                <a:cs typeface="Trebuchet MS"/>
              </a:rPr>
              <a:t>-</a:t>
            </a:r>
            <a:r>
              <a:rPr dirty="0" sz="1400" spc="-375">
                <a:latin typeface="Trebuchet MS"/>
                <a:cs typeface="Trebuchet MS"/>
              </a:rPr>
              <a:t>1.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1340" y="5925413"/>
            <a:ext cx="12414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5">
                <a:latin typeface="Trebuchet MS"/>
                <a:cs typeface="Trebuchet MS"/>
              </a:rPr>
              <a:t>Co</a:t>
            </a:r>
            <a:r>
              <a:rPr dirty="0" sz="1400" spc="-120">
                <a:latin typeface="Trebuchet MS"/>
                <a:cs typeface="Trebuchet MS"/>
              </a:rPr>
              <a:t>s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80">
                <a:latin typeface="Trebuchet MS"/>
                <a:cs typeface="Trebuchet MS"/>
              </a:rPr>
              <a:t>S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330">
                <a:latin typeface="Trebuchet MS"/>
                <a:cs typeface="Trebuchet MS"/>
              </a:rPr>
              <a:t>m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180">
                <a:latin typeface="Trebuchet MS"/>
                <a:cs typeface="Trebuchet MS"/>
              </a:rPr>
              <a:t>l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40">
                <a:latin typeface="Trebuchet MS"/>
                <a:cs typeface="Trebuchet MS"/>
              </a:rPr>
              <a:t>r</a:t>
            </a:r>
            <a:r>
              <a:rPr dirty="0" sz="1400" spc="-110">
                <a:latin typeface="Trebuchet MS"/>
                <a:cs typeface="Trebuchet MS"/>
              </a:rPr>
              <a:t>i</a:t>
            </a:r>
            <a:r>
              <a:rPr dirty="0" sz="1400" spc="-204">
                <a:latin typeface="Trebuchet MS"/>
                <a:cs typeface="Trebuchet MS"/>
              </a:rPr>
              <a:t>ty</a:t>
            </a:r>
            <a:r>
              <a:rPr dirty="0" sz="1400" spc="-165">
                <a:latin typeface="Trebuchet MS"/>
                <a:cs typeface="Trebuchet MS"/>
              </a:rPr>
              <a:t> </a:t>
            </a:r>
            <a:r>
              <a:rPr dirty="0" sz="1400" spc="-105">
                <a:latin typeface="Trebuchet MS"/>
                <a:cs typeface="Trebuchet MS"/>
              </a:rPr>
              <a:t>i</a:t>
            </a:r>
            <a:r>
              <a:rPr dirty="0" sz="1400" spc="-125">
                <a:latin typeface="Trebuchet MS"/>
                <a:cs typeface="Trebuchet MS"/>
              </a:rPr>
              <a:t>s</a:t>
            </a:r>
            <a:r>
              <a:rPr dirty="0" sz="1400" spc="-150">
                <a:latin typeface="Trebuchet MS"/>
                <a:cs typeface="Trebuchet MS"/>
              </a:rPr>
              <a:t> </a:t>
            </a:r>
            <a:r>
              <a:rPr dirty="0" sz="1400" spc="-204">
                <a:latin typeface="Trebuchet MS"/>
                <a:cs typeface="Trebuchet MS"/>
              </a:rPr>
              <a:t>0.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60285" y="5921146"/>
            <a:ext cx="11969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5">
                <a:latin typeface="Trebuchet MS"/>
                <a:cs typeface="Trebuchet MS"/>
              </a:rPr>
              <a:t>Co</a:t>
            </a:r>
            <a:r>
              <a:rPr dirty="0" sz="1400" spc="-120">
                <a:latin typeface="Trebuchet MS"/>
                <a:cs typeface="Trebuchet MS"/>
              </a:rPr>
              <a:t>s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80">
                <a:latin typeface="Trebuchet MS"/>
                <a:cs typeface="Trebuchet MS"/>
              </a:rPr>
              <a:t>S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330">
                <a:latin typeface="Trebuchet MS"/>
                <a:cs typeface="Trebuchet MS"/>
              </a:rPr>
              <a:t>m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180">
                <a:latin typeface="Trebuchet MS"/>
                <a:cs typeface="Trebuchet MS"/>
              </a:rPr>
              <a:t>l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40">
                <a:latin typeface="Trebuchet MS"/>
                <a:cs typeface="Trebuchet MS"/>
              </a:rPr>
              <a:t>r</a:t>
            </a:r>
            <a:r>
              <a:rPr dirty="0" sz="1400" spc="-110">
                <a:latin typeface="Trebuchet MS"/>
                <a:cs typeface="Trebuchet MS"/>
              </a:rPr>
              <a:t>i</a:t>
            </a:r>
            <a:r>
              <a:rPr dirty="0" sz="1400" spc="-204">
                <a:latin typeface="Trebuchet MS"/>
                <a:cs typeface="Trebuchet MS"/>
              </a:rPr>
              <a:t>ty</a:t>
            </a:r>
            <a:r>
              <a:rPr dirty="0" sz="1400" spc="-175">
                <a:latin typeface="Trebuchet MS"/>
                <a:cs typeface="Trebuchet MS"/>
              </a:rPr>
              <a:t> 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65">
                <a:latin typeface="Trebuchet MS"/>
                <a:cs typeface="Trebuchet MS"/>
              </a:rPr>
              <a:t>s</a:t>
            </a:r>
            <a:r>
              <a:rPr dirty="0" sz="1400" spc="-140">
                <a:latin typeface="Trebuchet MS"/>
                <a:cs typeface="Trebuchet MS"/>
              </a:rPr>
              <a:t> </a:t>
            </a:r>
            <a:r>
              <a:rPr dirty="0" sz="1400" spc="-375">
                <a:latin typeface="Trebuchet MS"/>
                <a:cs typeface="Trebuchet MS"/>
              </a:rPr>
              <a:t>1.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366510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01440"/>
            <a:ext cx="2588514" cy="144094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6237"/>
            <a:ext cx="1107198" cy="2309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968502" cy="14401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510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4.1.</a:t>
            </a:r>
            <a:r>
              <a:rPr dirty="0" spc="-35"/>
              <a:t> </a:t>
            </a:r>
            <a:r>
              <a:rPr dirty="0" spc="-5"/>
              <a:t>Calculating</a:t>
            </a:r>
            <a:r>
              <a:rPr dirty="0" spc="-25"/>
              <a:t> </a:t>
            </a:r>
            <a:r>
              <a:rPr dirty="0"/>
              <a:t>Matrix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0183" y="2295144"/>
            <a:ext cx="4281805" cy="763905"/>
            <a:chOff x="710183" y="2295144"/>
            <a:chExt cx="4281805" cy="76390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0183" y="2295144"/>
              <a:ext cx="4281678" cy="75971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6299" y="2887980"/>
              <a:ext cx="330835" cy="170815"/>
            </a:xfrm>
            <a:custGeom>
              <a:avLst/>
              <a:gdLst/>
              <a:ahLst/>
              <a:cxnLst/>
              <a:rect l="l" t="t" r="r" b="b"/>
              <a:pathLst>
                <a:path w="330834" h="170814">
                  <a:moveTo>
                    <a:pt x="302259" y="0"/>
                  </a:moveTo>
                  <a:lnTo>
                    <a:pt x="28447" y="0"/>
                  </a:lnTo>
                  <a:lnTo>
                    <a:pt x="17375" y="2230"/>
                  </a:lnTo>
                  <a:lnTo>
                    <a:pt x="8332" y="8318"/>
                  </a:lnTo>
                  <a:lnTo>
                    <a:pt x="2235" y="17359"/>
                  </a:lnTo>
                  <a:lnTo>
                    <a:pt x="0" y="28448"/>
                  </a:lnTo>
                  <a:lnTo>
                    <a:pt x="0" y="142240"/>
                  </a:lnTo>
                  <a:lnTo>
                    <a:pt x="2235" y="153328"/>
                  </a:lnTo>
                  <a:lnTo>
                    <a:pt x="8332" y="162369"/>
                  </a:lnTo>
                  <a:lnTo>
                    <a:pt x="17375" y="168457"/>
                  </a:lnTo>
                  <a:lnTo>
                    <a:pt x="28447" y="170687"/>
                  </a:lnTo>
                  <a:lnTo>
                    <a:pt x="302259" y="170687"/>
                  </a:lnTo>
                  <a:lnTo>
                    <a:pt x="313332" y="168457"/>
                  </a:lnTo>
                  <a:lnTo>
                    <a:pt x="322375" y="162369"/>
                  </a:lnTo>
                  <a:lnTo>
                    <a:pt x="328472" y="153328"/>
                  </a:lnTo>
                  <a:lnTo>
                    <a:pt x="330708" y="142240"/>
                  </a:lnTo>
                  <a:lnTo>
                    <a:pt x="330708" y="28448"/>
                  </a:lnTo>
                  <a:lnTo>
                    <a:pt x="328472" y="17359"/>
                  </a:lnTo>
                  <a:lnTo>
                    <a:pt x="322375" y="8318"/>
                  </a:lnTo>
                  <a:lnTo>
                    <a:pt x="313332" y="2230"/>
                  </a:lnTo>
                  <a:lnTo>
                    <a:pt x="302259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59611" y="2882011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2563" y="3212592"/>
            <a:ext cx="8641080" cy="2798445"/>
          </a:xfrm>
          <a:custGeom>
            <a:avLst/>
            <a:gdLst/>
            <a:ahLst/>
            <a:cxnLst/>
            <a:rect l="l" t="t" r="r" b="b"/>
            <a:pathLst>
              <a:path w="8641080" h="2798445">
                <a:moveTo>
                  <a:pt x="8641080" y="0"/>
                </a:moveTo>
                <a:lnTo>
                  <a:pt x="0" y="0"/>
                </a:lnTo>
                <a:lnTo>
                  <a:pt x="0" y="2798063"/>
                </a:lnTo>
                <a:lnTo>
                  <a:pt x="8641080" y="2798063"/>
                </a:lnTo>
                <a:lnTo>
                  <a:pt x="86410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78408" y="4082541"/>
            <a:ext cx="3581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𝑋</a:t>
            </a:r>
            <a:r>
              <a:rPr dirty="0" sz="1600" spc="6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81327" y="3564635"/>
            <a:ext cx="5864860" cy="2131060"/>
            <a:chOff x="1481327" y="3564635"/>
            <a:chExt cx="5864860" cy="2131060"/>
          </a:xfrm>
        </p:grpSpPr>
        <p:sp>
          <p:nvSpPr>
            <p:cNvPr id="17" name="object 17"/>
            <p:cNvSpPr/>
            <p:nvPr/>
          </p:nvSpPr>
          <p:spPr>
            <a:xfrm>
              <a:off x="1491233" y="3621785"/>
              <a:ext cx="5006340" cy="1438910"/>
            </a:xfrm>
            <a:custGeom>
              <a:avLst/>
              <a:gdLst/>
              <a:ahLst/>
              <a:cxnLst/>
              <a:rect l="l" t="t" r="r" b="b"/>
              <a:pathLst>
                <a:path w="5006340" h="1438910">
                  <a:moveTo>
                    <a:pt x="153923" y="1438656"/>
                  </a:moveTo>
                  <a:lnTo>
                    <a:pt x="86252" y="1412133"/>
                  </a:lnTo>
                  <a:lnTo>
                    <a:pt x="57672" y="1381332"/>
                  </a:lnTo>
                  <a:lnTo>
                    <a:pt x="33830" y="1340930"/>
                  </a:lnTo>
                  <a:lnTo>
                    <a:pt x="15653" y="1292494"/>
                  </a:lnTo>
                  <a:lnTo>
                    <a:pt x="4067" y="1237594"/>
                  </a:lnTo>
                  <a:lnTo>
                    <a:pt x="0" y="1177797"/>
                  </a:lnTo>
                  <a:lnTo>
                    <a:pt x="0" y="260857"/>
                  </a:lnTo>
                  <a:lnTo>
                    <a:pt x="4067" y="201061"/>
                  </a:lnTo>
                  <a:lnTo>
                    <a:pt x="15653" y="146161"/>
                  </a:lnTo>
                  <a:lnTo>
                    <a:pt x="33830" y="97725"/>
                  </a:lnTo>
                  <a:lnTo>
                    <a:pt x="57672" y="57323"/>
                  </a:lnTo>
                  <a:lnTo>
                    <a:pt x="86252" y="26522"/>
                  </a:lnTo>
                  <a:lnTo>
                    <a:pt x="118645" y="6892"/>
                  </a:lnTo>
                  <a:lnTo>
                    <a:pt x="153923" y="0"/>
                  </a:lnTo>
                </a:path>
                <a:path w="5006340" h="1438910">
                  <a:moveTo>
                    <a:pt x="1900427" y="1438656"/>
                  </a:moveTo>
                  <a:lnTo>
                    <a:pt x="1968099" y="1412133"/>
                  </a:lnTo>
                  <a:lnTo>
                    <a:pt x="1996679" y="1381332"/>
                  </a:lnTo>
                  <a:lnTo>
                    <a:pt x="2020521" y="1340930"/>
                  </a:lnTo>
                  <a:lnTo>
                    <a:pt x="2038698" y="1292494"/>
                  </a:lnTo>
                  <a:lnTo>
                    <a:pt x="2050284" y="1237594"/>
                  </a:lnTo>
                  <a:lnTo>
                    <a:pt x="2054352" y="1177797"/>
                  </a:lnTo>
                  <a:lnTo>
                    <a:pt x="2054352" y="260857"/>
                  </a:lnTo>
                  <a:lnTo>
                    <a:pt x="2050284" y="201061"/>
                  </a:lnTo>
                  <a:lnTo>
                    <a:pt x="2038698" y="146161"/>
                  </a:lnTo>
                  <a:lnTo>
                    <a:pt x="2020521" y="97725"/>
                  </a:lnTo>
                  <a:lnTo>
                    <a:pt x="1996679" y="57323"/>
                  </a:lnTo>
                  <a:lnTo>
                    <a:pt x="1968099" y="26522"/>
                  </a:lnTo>
                  <a:lnTo>
                    <a:pt x="1935706" y="6892"/>
                  </a:lnTo>
                  <a:lnTo>
                    <a:pt x="1900427" y="0"/>
                  </a:lnTo>
                </a:path>
                <a:path w="5006340" h="1438910">
                  <a:moveTo>
                    <a:pt x="2606040" y="1438656"/>
                  </a:moveTo>
                  <a:lnTo>
                    <a:pt x="2539003" y="1412392"/>
                  </a:lnTo>
                  <a:lnTo>
                    <a:pt x="2510707" y="1381892"/>
                  </a:lnTo>
                  <a:lnTo>
                    <a:pt x="2487110" y="1341884"/>
                  </a:lnTo>
                  <a:lnTo>
                    <a:pt x="2469124" y="1293920"/>
                  </a:lnTo>
                  <a:lnTo>
                    <a:pt x="2457663" y="1239554"/>
                  </a:lnTo>
                  <a:lnTo>
                    <a:pt x="2453640" y="1180338"/>
                  </a:lnTo>
                  <a:lnTo>
                    <a:pt x="2453640" y="258318"/>
                  </a:lnTo>
                  <a:lnTo>
                    <a:pt x="2457663" y="199101"/>
                  </a:lnTo>
                  <a:lnTo>
                    <a:pt x="2469124" y="144735"/>
                  </a:lnTo>
                  <a:lnTo>
                    <a:pt x="2487110" y="96771"/>
                  </a:lnTo>
                  <a:lnTo>
                    <a:pt x="2510707" y="56763"/>
                  </a:lnTo>
                  <a:lnTo>
                    <a:pt x="2539003" y="26263"/>
                  </a:lnTo>
                  <a:lnTo>
                    <a:pt x="2571085" y="6824"/>
                  </a:lnTo>
                  <a:lnTo>
                    <a:pt x="2606040" y="0"/>
                  </a:lnTo>
                </a:path>
                <a:path w="5006340" h="1438910">
                  <a:moveTo>
                    <a:pt x="4852416" y="1438656"/>
                  </a:moveTo>
                  <a:lnTo>
                    <a:pt x="4920087" y="1412133"/>
                  </a:lnTo>
                  <a:lnTo>
                    <a:pt x="4948667" y="1381332"/>
                  </a:lnTo>
                  <a:lnTo>
                    <a:pt x="4972509" y="1340930"/>
                  </a:lnTo>
                  <a:lnTo>
                    <a:pt x="4990686" y="1292494"/>
                  </a:lnTo>
                  <a:lnTo>
                    <a:pt x="5002272" y="1237594"/>
                  </a:lnTo>
                  <a:lnTo>
                    <a:pt x="5006340" y="1177797"/>
                  </a:lnTo>
                  <a:lnTo>
                    <a:pt x="5006340" y="260857"/>
                  </a:lnTo>
                  <a:lnTo>
                    <a:pt x="5002272" y="201061"/>
                  </a:lnTo>
                  <a:lnTo>
                    <a:pt x="4990686" y="146161"/>
                  </a:lnTo>
                  <a:lnTo>
                    <a:pt x="4972509" y="97725"/>
                  </a:lnTo>
                  <a:lnTo>
                    <a:pt x="4948667" y="57323"/>
                  </a:lnTo>
                  <a:lnTo>
                    <a:pt x="4920087" y="26522"/>
                  </a:lnTo>
                  <a:lnTo>
                    <a:pt x="4887694" y="6892"/>
                  </a:lnTo>
                  <a:lnTo>
                    <a:pt x="4852416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61688" y="3564635"/>
              <a:ext cx="2984500" cy="2131060"/>
            </a:xfrm>
            <a:custGeom>
              <a:avLst/>
              <a:gdLst/>
              <a:ahLst/>
              <a:cxnLst/>
              <a:rect l="l" t="t" r="r" b="b"/>
              <a:pathLst>
                <a:path w="2984500" h="2131060">
                  <a:moveTo>
                    <a:pt x="114300" y="1837182"/>
                  </a:moveTo>
                  <a:lnTo>
                    <a:pt x="104775" y="1818132"/>
                  </a:lnTo>
                  <a:lnTo>
                    <a:pt x="57150" y="1722882"/>
                  </a:lnTo>
                  <a:lnTo>
                    <a:pt x="0" y="1837182"/>
                  </a:lnTo>
                  <a:lnTo>
                    <a:pt x="38100" y="1837182"/>
                  </a:lnTo>
                  <a:lnTo>
                    <a:pt x="38100" y="2130742"/>
                  </a:lnTo>
                  <a:lnTo>
                    <a:pt x="76200" y="2130742"/>
                  </a:lnTo>
                  <a:lnTo>
                    <a:pt x="76200" y="1837182"/>
                  </a:lnTo>
                  <a:lnTo>
                    <a:pt x="114300" y="1837182"/>
                  </a:lnTo>
                  <a:close/>
                </a:path>
                <a:path w="2984500" h="2131060">
                  <a:moveTo>
                    <a:pt x="2983992" y="38100"/>
                  </a:moveTo>
                  <a:lnTo>
                    <a:pt x="2378202" y="38100"/>
                  </a:lnTo>
                  <a:lnTo>
                    <a:pt x="2378202" y="0"/>
                  </a:lnTo>
                  <a:lnTo>
                    <a:pt x="2263902" y="57150"/>
                  </a:lnTo>
                  <a:lnTo>
                    <a:pt x="2378202" y="114300"/>
                  </a:lnTo>
                  <a:lnTo>
                    <a:pt x="2378202" y="76200"/>
                  </a:lnTo>
                  <a:lnTo>
                    <a:pt x="2983992" y="76200"/>
                  </a:lnTo>
                  <a:lnTo>
                    <a:pt x="298399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739138" y="3570477"/>
            <a:ext cx="1559560" cy="1520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36880" algn="l"/>
                <a:tab pos="874394" algn="l"/>
                <a:tab pos="1311910" algn="l"/>
              </a:tabLst>
            </a:pPr>
            <a:r>
              <a:rPr dirty="0" sz="1400">
                <a:latin typeface="Cambria Math"/>
                <a:cs typeface="Cambria Math"/>
              </a:rPr>
              <a:t>5.1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3.5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1.4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0.2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tabLst>
                <a:tab pos="436880" algn="l"/>
                <a:tab pos="874394" algn="l"/>
                <a:tab pos="1311910" algn="l"/>
              </a:tabLst>
            </a:pPr>
            <a:r>
              <a:rPr dirty="0" sz="1400">
                <a:latin typeface="Cambria Math"/>
                <a:cs typeface="Cambria Math"/>
              </a:rPr>
              <a:t>4.9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3.0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1.4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0.2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tabLst>
                <a:tab pos="436880" algn="l"/>
                <a:tab pos="874394" algn="l"/>
                <a:tab pos="1311910" algn="l"/>
              </a:tabLst>
            </a:pPr>
            <a:r>
              <a:rPr dirty="0" sz="1400">
                <a:latin typeface="Cambria Math"/>
                <a:cs typeface="Cambria Math"/>
              </a:rPr>
              <a:t>4.7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3.2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1.3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0.2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tabLst>
                <a:tab pos="436880" algn="l"/>
                <a:tab pos="874394" algn="l"/>
                <a:tab pos="1311910" algn="l"/>
              </a:tabLst>
            </a:pPr>
            <a:r>
              <a:rPr dirty="0" sz="1400">
                <a:latin typeface="Cambria Math"/>
                <a:cs typeface="Cambria Math"/>
              </a:rPr>
              <a:t>4</a:t>
            </a:r>
            <a:r>
              <a:rPr dirty="0" sz="1400" spc="-5">
                <a:latin typeface="Cambria Math"/>
                <a:cs typeface="Cambria Math"/>
              </a:rPr>
              <a:t>.</a:t>
            </a:r>
            <a:r>
              <a:rPr dirty="0" sz="1400">
                <a:latin typeface="Cambria Math"/>
                <a:cs typeface="Cambria Math"/>
              </a:rPr>
              <a:t>6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3</a:t>
            </a:r>
            <a:r>
              <a:rPr dirty="0" sz="1400" spc="-5">
                <a:latin typeface="Cambria Math"/>
                <a:cs typeface="Cambria Math"/>
              </a:rPr>
              <a:t>.</a:t>
            </a:r>
            <a:r>
              <a:rPr dirty="0" sz="1400">
                <a:latin typeface="Cambria Math"/>
                <a:cs typeface="Cambria Math"/>
              </a:rPr>
              <a:t>1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1</a:t>
            </a:r>
            <a:r>
              <a:rPr dirty="0" sz="1400" spc="-5">
                <a:latin typeface="Cambria Math"/>
                <a:cs typeface="Cambria Math"/>
              </a:rPr>
              <a:t>.</a:t>
            </a:r>
            <a:r>
              <a:rPr dirty="0" sz="1400">
                <a:latin typeface="Cambria Math"/>
                <a:cs typeface="Cambria Math"/>
              </a:rPr>
              <a:t>5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0</a:t>
            </a:r>
            <a:r>
              <a:rPr dirty="0" sz="1400" spc="-5">
                <a:latin typeface="Cambria Math"/>
                <a:cs typeface="Cambria Math"/>
              </a:rPr>
              <a:t>.</a:t>
            </a:r>
            <a:r>
              <a:rPr dirty="0" sz="140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  <a:p>
            <a:pPr marR="5080" indent="88265">
              <a:lnSpc>
                <a:spcPct val="100000"/>
              </a:lnSpc>
              <a:tabLst>
                <a:tab pos="436880" algn="l"/>
                <a:tab pos="525145" algn="l"/>
                <a:tab pos="874394" algn="l"/>
                <a:tab pos="962660" algn="l"/>
                <a:tab pos="1311910" algn="l"/>
                <a:tab pos="1400175" algn="l"/>
              </a:tabLst>
            </a:pPr>
            <a:r>
              <a:rPr dirty="0" sz="1400">
                <a:latin typeface="Cambria Math"/>
                <a:cs typeface="Cambria Math"/>
              </a:rPr>
              <a:t>⋮		⋮		⋮		⋮ </a:t>
            </a:r>
            <a:r>
              <a:rPr dirty="0" sz="1400" spc="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6.2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3.4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5.4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2.3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tabLst>
                <a:tab pos="436880" algn="l"/>
                <a:tab pos="874394" algn="l"/>
                <a:tab pos="1311910" algn="l"/>
              </a:tabLst>
            </a:pPr>
            <a:r>
              <a:rPr dirty="0" sz="1400">
                <a:latin typeface="Cambria Math"/>
                <a:cs typeface="Cambria Math"/>
              </a:rPr>
              <a:t>5.9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3.0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5.1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1.8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3950" y="4081017"/>
            <a:ext cx="183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62552" y="3494354"/>
            <a:ext cx="498475" cy="1466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>
              <a:lnSpc>
                <a:spcPts val="1895"/>
              </a:lnSpc>
              <a:spcBef>
                <a:spcPts val="95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875"/>
              </a:lnSpc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2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880"/>
              </a:lnSpc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3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680"/>
              </a:lnSpc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4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 algn="ctr" marR="4445">
              <a:lnSpc>
                <a:spcPts val="1700"/>
              </a:lnSpc>
            </a:pPr>
            <a:r>
              <a:rPr dirty="0" sz="1600" spc="-5">
                <a:latin typeface="Cambria Math"/>
                <a:cs typeface="Cambria Math"/>
              </a:rPr>
              <a:t>⋮</a:t>
            </a:r>
            <a:endParaRPr sz="16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149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20184" y="5045202"/>
            <a:ext cx="4064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latin typeface="Cambria Math"/>
                <a:cs typeface="Cambria Math"/>
              </a:rPr>
              <a:t>,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62552" y="4929378"/>
            <a:ext cx="4984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150</a:t>
            </a:r>
            <a:r>
              <a:rPr dirty="0" sz="1050" spc="-55">
                <a:latin typeface="Cambria Math"/>
                <a:cs typeface="Cambria Math"/>
              </a:rPr>
              <a:t> </a:t>
            </a:r>
            <a:r>
              <a:rPr dirty="0" sz="1050" spc="1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99889" y="3494354"/>
            <a:ext cx="1035685" cy="1466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>
              <a:lnSpc>
                <a:spcPts val="1895"/>
              </a:lnSpc>
              <a:spcBef>
                <a:spcPts val="95"/>
              </a:spcBef>
              <a:tabLst>
                <a:tab pos="636905" algn="l"/>
              </a:tabLst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2	</a:t>
            </a: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875"/>
              </a:lnSpc>
              <a:tabLst>
                <a:tab pos="636905" algn="l"/>
              </a:tabLst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2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2	</a:t>
            </a: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2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880"/>
              </a:lnSpc>
              <a:tabLst>
                <a:tab pos="636905" algn="l"/>
              </a:tabLst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3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2	</a:t>
            </a: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3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680"/>
              </a:lnSpc>
              <a:tabLst>
                <a:tab pos="636905" algn="l"/>
              </a:tabLst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4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2	</a:t>
            </a: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4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  <a:p>
            <a:pPr marL="210820">
              <a:lnSpc>
                <a:spcPts val="1700"/>
              </a:lnSpc>
              <a:tabLst>
                <a:tab pos="748030" algn="l"/>
              </a:tabLst>
            </a:pPr>
            <a:r>
              <a:rPr dirty="0" sz="1600" spc="-5">
                <a:latin typeface="Cambria Math"/>
                <a:cs typeface="Cambria Math"/>
              </a:rPr>
              <a:t>⋮	⋮</a:t>
            </a:r>
            <a:endParaRPr sz="16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149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2</a:t>
            </a:r>
            <a:r>
              <a:rPr dirty="0" sz="1050" spc="305">
                <a:latin typeface="Cambria Math"/>
                <a:cs typeface="Cambria Math"/>
              </a:rPr>
              <a:t> </a:t>
            </a: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149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57521" y="5045202"/>
            <a:ext cx="57785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536575" algn="l"/>
              </a:tabLst>
            </a:pPr>
            <a:r>
              <a:rPr dirty="0" sz="1050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	</a:t>
            </a:r>
            <a:r>
              <a:rPr dirty="0" sz="1050">
                <a:latin typeface="Cambria Math"/>
                <a:cs typeface="Cambria Math"/>
              </a:rPr>
              <a:t>,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87189" y="4929378"/>
            <a:ext cx="1061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150</a:t>
            </a:r>
            <a:r>
              <a:rPr dirty="0" sz="1050" spc="-30">
                <a:latin typeface="Cambria Math"/>
                <a:cs typeface="Cambria Math"/>
              </a:rPr>
              <a:t> </a:t>
            </a:r>
            <a:r>
              <a:rPr dirty="0" sz="1050" spc="10">
                <a:latin typeface="Cambria Math"/>
                <a:cs typeface="Cambria Math"/>
              </a:rPr>
              <a:t>2 </a:t>
            </a:r>
            <a:r>
              <a:rPr dirty="0" sz="1050" spc="65">
                <a:latin typeface="Cambria Math"/>
                <a:cs typeface="Cambria Math"/>
              </a:rPr>
              <a:t> </a:t>
            </a: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150</a:t>
            </a:r>
            <a:r>
              <a:rPr dirty="0" sz="1050" spc="-30">
                <a:latin typeface="Cambria Math"/>
                <a:cs typeface="Cambria Math"/>
              </a:rPr>
              <a:t> </a:t>
            </a:r>
            <a:r>
              <a:rPr dirty="0" sz="1050" spc="10"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74054" y="3494354"/>
            <a:ext cx="499109" cy="1466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>
              <a:lnSpc>
                <a:spcPts val="1895"/>
              </a:lnSpc>
              <a:spcBef>
                <a:spcPts val="95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875"/>
              </a:lnSpc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2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880"/>
              </a:lnSpc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3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  <a:p>
            <a:pPr marL="99695">
              <a:lnSpc>
                <a:spcPts val="1680"/>
              </a:lnSpc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4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  <a:p>
            <a:pPr algn="ctr" marR="5080">
              <a:lnSpc>
                <a:spcPts val="1700"/>
              </a:lnSpc>
            </a:pPr>
            <a:r>
              <a:rPr dirty="0" sz="1600" spc="-5">
                <a:latin typeface="Cambria Math"/>
                <a:cs typeface="Cambria Math"/>
              </a:rPr>
              <a:t>⋮</a:t>
            </a:r>
            <a:endParaRPr sz="16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149</a:t>
            </a:r>
            <a:r>
              <a:rPr dirty="0" baseline="-21164" sz="1575">
                <a:latin typeface="Cambria Math"/>
                <a:cs typeface="Cambria Math"/>
              </a:rPr>
              <a:t>,</a:t>
            </a:r>
            <a:r>
              <a:rPr dirty="0" sz="1050"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31940" y="5045202"/>
            <a:ext cx="4064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latin typeface="Cambria Math"/>
                <a:cs typeface="Cambria Math"/>
              </a:rPr>
              <a:t>,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74054" y="4929378"/>
            <a:ext cx="49910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13888" sz="2400">
                <a:latin typeface="Cambria Math"/>
                <a:cs typeface="Cambria Math"/>
              </a:rPr>
              <a:t>𝑥</a:t>
            </a:r>
            <a:r>
              <a:rPr dirty="0" sz="1050">
                <a:latin typeface="Cambria Math"/>
                <a:cs typeface="Cambria Math"/>
              </a:rPr>
              <a:t>150</a:t>
            </a:r>
            <a:r>
              <a:rPr dirty="0" sz="1050" spc="-55">
                <a:latin typeface="Cambria Math"/>
                <a:cs typeface="Cambria Math"/>
              </a:rPr>
              <a:t> </a:t>
            </a:r>
            <a:r>
              <a:rPr dirty="0" sz="1050" spc="10"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92238" y="3514090"/>
            <a:ext cx="2146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8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200" spc="-254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200" spc="-420" b="1">
                <a:solidFill>
                  <a:srgbClr val="252525"/>
                </a:solidFill>
                <a:latin typeface="Tahoma"/>
                <a:cs typeface="Tahoma"/>
              </a:rPr>
              <a:t>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54170" y="5734303"/>
            <a:ext cx="387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45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200" spc="-254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200" spc="-140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200" spc="-280" b="1">
                <a:solidFill>
                  <a:srgbClr val="252525"/>
                </a:solidFill>
                <a:latin typeface="Tahoma"/>
                <a:cs typeface="Tahoma"/>
              </a:rPr>
              <a:t>u</a:t>
            </a:r>
            <a:r>
              <a:rPr dirty="0" sz="1200" spc="-400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200" spc="-28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1516"/>
            <a:ext cx="2297430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510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4.1.</a:t>
            </a:r>
            <a:r>
              <a:rPr dirty="0" spc="-35"/>
              <a:t> </a:t>
            </a:r>
            <a:r>
              <a:rPr dirty="0" spc="-5"/>
              <a:t>Calculating</a:t>
            </a:r>
            <a:r>
              <a:rPr dirty="0" spc="-25"/>
              <a:t> </a:t>
            </a:r>
            <a:r>
              <a:rPr dirty="0"/>
              <a:t>Matrix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08" y="1772411"/>
            <a:ext cx="8639810" cy="1618615"/>
          </a:xfrm>
          <a:custGeom>
            <a:avLst/>
            <a:gdLst/>
            <a:ahLst/>
            <a:cxnLst/>
            <a:rect l="l" t="t" r="r" b="b"/>
            <a:pathLst>
              <a:path w="8639810" h="1618614">
                <a:moveTo>
                  <a:pt x="8639556" y="0"/>
                </a:moveTo>
                <a:lnTo>
                  <a:pt x="0" y="0"/>
                </a:lnTo>
                <a:lnTo>
                  <a:pt x="0" y="1618488"/>
                </a:lnTo>
                <a:lnTo>
                  <a:pt x="8639556" y="1618488"/>
                </a:lnTo>
                <a:lnTo>
                  <a:pt x="863955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94661" y="2399538"/>
            <a:ext cx="394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𝐴</a:t>
            </a:r>
            <a:r>
              <a:rPr dirty="0" sz="1800" spc="3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3853" y="2399538"/>
            <a:ext cx="59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01645" y="2032254"/>
            <a:ext cx="105410" cy="1065530"/>
          </a:xfrm>
          <a:custGeom>
            <a:avLst/>
            <a:gdLst/>
            <a:ahLst/>
            <a:cxnLst/>
            <a:rect l="l" t="t" r="r" b="b"/>
            <a:pathLst>
              <a:path w="105410" h="1065530">
                <a:moveTo>
                  <a:pt x="105156" y="1065276"/>
                </a:moveTo>
                <a:lnTo>
                  <a:pt x="43068" y="1030902"/>
                </a:lnTo>
                <a:lnTo>
                  <a:pt x="20299" y="992334"/>
                </a:lnTo>
                <a:lnTo>
                  <a:pt x="5364" y="943421"/>
                </a:lnTo>
                <a:lnTo>
                  <a:pt x="0" y="887095"/>
                </a:lnTo>
                <a:lnTo>
                  <a:pt x="0" y="178181"/>
                </a:lnTo>
                <a:lnTo>
                  <a:pt x="5364" y="121854"/>
                </a:lnTo>
                <a:lnTo>
                  <a:pt x="20299" y="72941"/>
                </a:lnTo>
                <a:lnTo>
                  <a:pt x="43068" y="34373"/>
                </a:lnTo>
                <a:lnTo>
                  <a:pt x="71932" y="9082"/>
                </a:lnTo>
                <a:lnTo>
                  <a:pt x="105156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41345" y="2111451"/>
            <a:ext cx="885825" cy="110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ts val="2130"/>
              </a:lnSpc>
              <a:spcBef>
                <a:spcPts val="100"/>
              </a:spcBef>
              <a:tabLst>
                <a:tab pos="539115" algn="l"/>
              </a:tabLst>
            </a:pP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11	</a:t>
            </a: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1</a:t>
            </a:r>
            <a:r>
              <a:rPr dirty="0" sz="1200" spc="-5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39370">
              <a:lnSpc>
                <a:spcPts val="1880"/>
              </a:lnSpc>
              <a:tabLst>
                <a:tab pos="539115" algn="l"/>
              </a:tabLst>
            </a:pPr>
            <a:r>
              <a:rPr dirty="0" baseline="13888" sz="270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21	</a:t>
            </a:r>
            <a:r>
              <a:rPr dirty="0" baseline="13888" sz="270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2</a:t>
            </a:r>
            <a:r>
              <a:rPr dirty="0" sz="120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152400">
              <a:lnSpc>
                <a:spcPts val="1910"/>
              </a:lnSpc>
              <a:tabLst>
                <a:tab pos="653415" algn="l"/>
              </a:tabLst>
            </a:pPr>
            <a:r>
              <a:rPr dirty="0" sz="1800">
                <a:latin typeface="Cambria Math"/>
                <a:cs typeface="Cambria Math"/>
              </a:rPr>
              <a:t>⋮	⋮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  <a:tabLst>
                <a:tab pos="539115" algn="l"/>
              </a:tabLst>
            </a:pPr>
            <a:r>
              <a:rPr dirty="0" baseline="13888" sz="270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𝑛1	</a:t>
            </a:r>
            <a:r>
              <a:rPr dirty="0" baseline="13888" sz="2700" spc="7">
                <a:latin typeface="Cambria Math"/>
                <a:cs typeface="Cambria Math"/>
              </a:rPr>
              <a:t>𝑎</a:t>
            </a:r>
            <a:r>
              <a:rPr dirty="0" sz="1200" spc="5">
                <a:latin typeface="Cambria Math"/>
                <a:cs typeface="Cambria Math"/>
              </a:rPr>
              <a:t>𝑛</a:t>
            </a:r>
            <a:r>
              <a:rPr dirty="0" sz="1200" spc="5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71570" y="2055063"/>
            <a:ext cx="208915" cy="110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213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130"/>
              </a:lnSpc>
            </a:pPr>
            <a:r>
              <a:rPr dirty="0" sz="1800"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  <a:p>
            <a:pPr marL="25400">
              <a:lnSpc>
                <a:spcPts val="2135"/>
              </a:lnSpc>
            </a:pPr>
            <a:r>
              <a:rPr dirty="0" sz="1800">
                <a:latin typeface="Cambria Math"/>
                <a:cs typeface="Cambria Math"/>
              </a:rPr>
              <a:t>⋱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135"/>
              </a:lnSpc>
            </a:pPr>
            <a:r>
              <a:rPr dirty="0" sz="1800"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59173" y="2111451"/>
            <a:ext cx="406400" cy="110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ts val="2130"/>
              </a:lnSpc>
              <a:spcBef>
                <a:spcPts val="100"/>
              </a:spcBef>
            </a:pP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1𝑚</a:t>
            </a:r>
            <a:endParaRPr sz="1200">
              <a:latin typeface="Cambria Math"/>
              <a:cs typeface="Cambria Math"/>
            </a:endParaRPr>
          </a:p>
          <a:p>
            <a:pPr algn="ctr" marR="5080">
              <a:lnSpc>
                <a:spcPts val="1880"/>
              </a:lnSpc>
            </a:pP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2𝑚</a:t>
            </a:r>
            <a:endParaRPr sz="1200">
              <a:latin typeface="Cambria Math"/>
              <a:cs typeface="Cambria Math"/>
            </a:endParaRPr>
          </a:p>
          <a:p>
            <a:pPr algn="ctr" marR="1905">
              <a:lnSpc>
                <a:spcPts val="1910"/>
              </a:lnSpc>
            </a:pPr>
            <a:r>
              <a:rPr dirty="0" sz="1800">
                <a:latin typeface="Cambria Math"/>
                <a:cs typeface="Cambria Math"/>
              </a:rPr>
              <a:t>⋮</a:t>
            </a:r>
            <a:endParaRPr sz="18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455"/>
              </a:spcBef>
            </a:pPr>
            <a:r>
              <a:rPr dirty="0" baseline="13888" sz="270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𝑛𝑚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19421" y="2032254"/>
            <a:ext cx="1461770" cy="1065530"/>
          </a:xfrm>
          <a:custGeom>
            <a:avLst/>
            <a:gdLst/>
            <a:ahLst/>
            <a:cxnLst/>
            <a:rect l="l" t="t" r="r" b="b"/>
            <a:pathLst>
              <a:path w="1461770" h="1065530">
                <a:moveTo>
                  <a:pt x="0" y="1065276"/>
                </a:moveTo>
                <a:lnTo>
                  <a:pt x="63008" y="1030402"/>
                </a:lnTo>
                <a:lnTo>
                  <a:pt x="86099" y="991264"/>
                </a:lnTo>
                <a:lnTo>
                  <a:pt x="101242" y="941616"/>
                </a:lnTo>
                <a:lnTo>
                  <a:pt x="106679" y="884428"/>
                </a:lnTo>
                <a:lnTo>
                  <a:pt x="106679" y="180848"/>
                </a:lnTo>
                <a:lnTo>
                  <a:pt x="101242" y="123659"/>
                </a:lnTo>
                <a:lnTo>
                  <a:pt x="86099" y="74011"/>
                </a:lnTo>
                <a:lnTo>
                  <a:pt x="63008" y="34873"/>
                </a:lnTo>
                <a:lnTo>
                  <a:pt x="33723" y="9213"/>
                </a:lnTo>
                <a:lnTo>
                  <a:pt x="0" y="0"/>
                </a:lnTo>
              </a:path>
              <a:path w="1461770" h="1065530">
                <a:moveTo>
                  <a:pt x="1461515" y="1065276"/>
                </a:moveTo>
                <a:lnTo>
                  <a:pt x="1398507" y="1030402"/>
                </a:lnTo>
                <a:lnTo>
                  <a:pt x="1375416" y="991264"/>
                </a:lnTo>
                <a:lnTo>
                  <a:pt x="1360273" y="941616"/>
                </a:lnTo>
                <a:lnTo>
                  <a:pt x="1354836" y="884428"/>
                </a:lnTo>
                <a:lnTo>
                  <a:pt x="1354836" y="180848"/>
                </a:lnTo>
                <a:lnTo>
                  <a:pt x="1360273" y="123659"/>
                </a:lnTo>
                <a:lnTo>
                  <a:pt x="1375416" y="74011"/>
                </a:lnTo>
                <a:lnTo>
                  <a:pt x="1398507" y="34873"/>
                </a:lnTo>
                <a:lnTo>
                  <a:pt x="1427792" y="9213"/>
                </a:lnTo>
                <a:lnTo>
                  <a:pt x="1461515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995670" y="2111451"/>
            <a:ext cx="969010" cy="110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00">
              <a:lnSpc>
                <a:spcPts val="2130"/>
              </a:lnSpc>
              <a:spcBef>
                <a:spcPts val="100"/>
              </a:spcBef>
              <a:tabLst>
                <a:tab pos="601345" algn="l"/>
              </a:tabLst>
            </a:pP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11	</a:t>
            </a:r>
            <a:r>
              <a:rPr dirty="0" baseline="13888" sz="2700" spc="-15">
                <a:latin typeface="Cambria Math"/>
                <a:cs typeface="Cambria Math"/>
              </a:rPr>
              <a:t>𝑎</a:t>
            </a:r>
            <a:r>
              <a:rPr dirty="0" sz="1200" spc="-10">
                <a:latin typeface="Cambria Math"/>
                <a:cs typeface="Cambria Math"/>
              </a:rPr>
              <a:t>21</a:t>
            </a:r>
            <a:endParaRPr sz="1200">
              <a:latin typeface="Cambria Math"/>
              <a:cs typeface="Cambria Math"/>
            </a:endParaRPr>
          </a:p>
          <a:p>
            <a:pPr marL="38100">
              <a:lnSpc>
                <a:spcPts val="1880"/>
              </a:lnSpc>
              <a:tabLst>
                <a:tab pos="601345" algn="l"/>
              </a:tabLst>
            </a:pPr>
            <a:r>
              <a:rPr dirty="0" baseline="13888" sz="2700" spc="15">
                <a:latin typeface="Cambria Math"/>
                <a:cs typeface="Cambria Math"/>
              </a:rPr>
              <a:t>𝑎</a:t>
            </a:r>
            <a:r>
              <a:rPr dirty="0" sz="1200" spc="10">
                <a:latin typeface="Calibri"/>
                <a:cs typeface="Calibri"/>
              </a:rPr>
              <a:t>12	</a:t>
            </a: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22</a:t>
            </a:r>
            <a:endParaRPr sz="1200">
              <a:latin typeface="Cambria Math"/>
              <a:cs typeface="Cambria Math"/>
            </a:endParaRPr>
          </a:p>
          <a:p>
            <a:pPr marL="214629">
              <a:lnSpc>
                <a:spcPts val="1910"/>
              </a:lnSpc>
              <a:tabLst>
                <a:tab pos="714375" algn="l"/>
              </a:tabLst>
            </a:pPr>
            <a:r>
              <a:rPr dirty="0" sz="1800">
                <a:latin typeface="Cambria Math"/>
                <a:cs typeface="Cambria Math"/>
              </a:rPr>
              <a:t>⋮	⋮</a:t>
            </a:r>
            <a:endParaRPr sz="1800">
              <a:latin typeface="Cambria Math"/>
              <a:cs typeface="Cambria Math"/>
            </a:endParaRPr>
          </a:p>
          <a:p>
            <a:pPr marL="78740">
              <a:lnSpc>
                <a:spcPct val="100000"/>
              </a:lnSpc>
              <a:spcBef>
                <a:spcPts val="455"/>
              </a:spcBef>
              <a:tabLst>
                <a:tab pos="578485" algn="l"/>
              </a:tabLst>
            </a:pPr>
            <a:r>
              <a:rPr dirty="0" baseline="13888" sz="270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1𝑚	</a:t>
            </a: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2𝑚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45706" y="2055063"/>
            <a:ext cx="208915" cy="110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213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130"/>
              </a:lnSpc>
            </a:pPr>
            <a:r>
              <a:rPr dirty="0" sz="1800"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  <a:p>
            <a:pPr marL="25400">
              <a:lnSpc>
                <a:spcPts val="2135"/>
              </a:lnSpc>
            </a:pPr>
            <a:r>
              <a:rPr dirty="0" sz="1800">
                <a:latin typeface="Cambria Math"/>
                <a:cs typeface="Cambria Math"/>
              </a:rPr>
              <a:t>⋱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135"/>
              </a:lnSpc>
            </a:pPr>
            <a:r>
              <a:rPr dirty="0" sz="1800"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3056" y="2111451"/>
            <a:ext cx="406400" cy="110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540">
              <a:lnSpc>
                <a:spcPts val="2130"/>
              </a:lnSpc>
              <a:spcBef>
                <a:spcPts val="100"/>
              </a:spcBef>
            </a:pP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𝑛1</a:t>
            </a:r>
            <a:endParaRPr sz="1200">
              <a:latin typeface="Cambria Math"/>
              <a:cs typeface="Cambria Math"/>
            </a:endParaRPr>
          </a:p>
          <a:p>
            <a:pPr algn="ctr" marR="2540">
              <a:lnSpc>
                <a:spcPts val="1880"/>
              </a:lnSpc>
            </a:pPr>
            <a:r>
              <a:rPr dirty="0" baseline="13888" sz="2700" spc="-7">
                <a:latin typeface="Cambria Math"/>
                <a:cs typeface="Cambria Math"/>
              </a:rPr>
              <a:t>𝑎</a:t>
            </a:r>
            <a:r>
              <a:rPr dirty="0" sz="1200" spc="-5">
                <a:latin typeface="Cambria Math"/>
                <a:cs typeface="Cambria Math"/>
              </a:rPr>
              <a:t>𝑛2</a:t>
            </a:r>
            <a:endParaRPr sz="1200">
              <a:latin typeface="Cambria Math"/>
              <a:cs typeface="Cambria Math"/>
            </a:endParaRPr>
          </a:p>
          <a:p>
            <a:pPr algn="ctr" marR="1905">
              <a:lnSpc>
                <a:spcPts val="1910"/>
              </a:lnSpc>
            </a:pPr>
            <a:r>
              <a:rPr dirty="0" sz="1800">
                <a:latin typeface="Cambria Math"/>
                <a:cs typeface="Cambria Math"/>
              </a:rPr>
              <a:t>⋮</a:t>
            </a:r>
            <a:endParaRPr sz="18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455"/>
              </a:spcBef>
            </a:pPr>
            <a:r>
              <a:rPr dirty="0" baseline="13888" sz="270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𝑛𝑚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70697" y="2032254"/>
            <a:ext cx="105410" cy="1065530"/>
          </a:xfrm>
          <a:custGeom>
            <a:avLst/>
            <a:gdLst/>
            <a:ahLst/>
            <a:cxnLst/>
            <a:rect l="l" t="t" r="r" b="b"/>
            <a:pathLst>
              <a:path w="105409" h="1065530">
                <a:moveTo>
                  <a:pt x="0" y="1065276"/>
                </a:moveTo>
                <a:lnTo>
                  <a:pt x="62087" y="1030902"/>
                </a:lnTo>
                <a:lnTo>
                  <a:pt x="84856" y="992334"/>
                </a:lnTo>
                <a:lnTo>
                  <a:pt x="99791" y="943421"/>
                </a:lnTo>
                <a:lnTo>
                  <a:pt x="105155" y="887095"/>
                </a:lnTo>
                <a:lnTo>
                  <a:pt x="105155" y="178181"/>
                </a:lnTo>
                <a:lnTo>
                  <a:pt x="99791" y="121854"/>
                </a:lnTo>
                <a:lnTo>
                  <a:pt x="84856" y="72941"/>
                </a:lnTo>
                <a:lnTo>
                  <a:pt x="62087" y="34373"/>
                </a:lnTo>
                <a:lnTo>
                  <a:pt x="33223" y="9082"/>
                </a:lnTo>
                <a:lnTo>
                  <a:pt x="0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152263" y="2399538"/>
            <a:ext cx="537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𝐴</a:t>
            </a:r>
            <a:r>
              <a:rPr dirty="0" baseline="25462" sz="1800">
                <a:latin typeface="Cambria Math"/>
                <a:cs typeface="Cambria Math"/>
              </a:rPr>
              <a:t>𝑇</a:t>
            </a:r>
            <a:r>
              <a:rPr dirty="0" baseline="25462" sz="1800" spc="30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3656050"/>
            <a:ext cx="3318510" cy="491515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510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4.1.</a:t>
            </a:r>
            <a:r>
              <a:rPr dirty="0" spc="-35"/>
              <a:t> </a:t>
            </a:r>
            <a:r>
              <a:rPr dirty="0" spc="-5"/>
              <a:t>Calculating</a:t>
            </a:r>
            <a:r>
              <a:rPr dirty="0" spc="-25"/>
              <a:t> </a:t>
            </a:r>
            <a:r>
              <a:rPr dirty="0"/>
              <a:t>Matrix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4944" y="2612135"/>
            <a:ext cx="8641080" cy="1104900"/>
            <a:chOff x="694944" y="2612135"/>
            <a:chExt cx="8641080" cy="1104900"/>
          </a:xfrm>
        </p:grpSpPr>
        <p:sp>
          <p:nvSpPr>
            <p:cNvPr id="8" name="object 8"/>
            <p:cNvSpPr/>
            <p:nvPr/>
          </p:nvSpPr>
          <p:spPr>
            <a:xfrm>
              <a:off x="694944" y="2612135"/>
              <a:ext cx="8641080" cy="1104900"/>
            </a:xfrm>
            <a:custGeom>
              <a:avLst/>
              <a:gdLst/>
              <a:ahLst/>
              <a:cxnLst/>
              <a:rect l="l" t="t" r="r" b="b"/>
              <a:pathLst>
                <a:path w="8641080" h="1104900">
                  <a:moveTo>
                    <a:pt x="8641080" y="0"/>
                  </a:moveTo>
                  <a:lnTo>
                    <a:pt x="0" y="0"/>
                  </a:lnTo>
                  <a:lnTo>
                    <a:pt x="0" y="1104900"/>
                  </a:lnTo>
                  <a:lnTo>
                    <a:pt x="8641080" y="1104900"/>
                  </a:lnTo>
                  <a:lnTo>
                    <a:pt x="864108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8784" y="2872739"/>
              <a:ext cx="246621" cy="18770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03247" y="2872739"/>
              <a:ext cx="946150" cy="187960"/>
            </a:xfrm>
            <a:custGeom>
              <a:avLst/>
              <a:gdLst/>
              <a:ahLst/>
              <a:cxnLst/>
              <a:rect l="l" t="t" r="r" b="b"/>
              <a:pathLst>
                <a:path w="946150" h="187960">
                  <a:moveTo>
                    <a:pt x="886206" y="0"/>
                  </a:moveTo>
                  <a:lnTo>
                    <a:pt x="883539" y="7620"/>
                  </a:lnTo>
                  <a:lnTo>
                    <a:pt x="894417" y="12334"/>
                  </a:lnTo>
                  <a:lnTo>
                    <a:pt x="903795" y="18859"/>
                  </a:lnTo>
                  <a:lnTo>
                    <a:pt x="926242" y="62293"/>
                  </a:lnTo>
                  <a:lnTo>
                    <a:pt x="929004" y="92963"/>
                  </a:lnTo>
                  <a:lnTo>
                    <a:pt x="928312" y="109537"/>
                  </a:lnTo>
                  <a:lnTo>
                    <a:pt x="917829" y="150113"/>
                  </a:lnTo>
                  <a:lnTo>
                    <a:pt x="883920" y="180086"/>
                  </a:lnTo>
                  <a:lnTo>
                    <a:pt x="886206" y="187706"/>
                  </a:lnTo>
                  <a:lnTo>
                    <a:pt x="922103" y="166417"/>
                  </a:lnTo>
                  <a:lnTo>
                    <a:pt x="942260" y="127127"/>
                  </a:lnTo>
                  <a:lnTo>
                    <a:pt x="946150" y="93980"/>
                  </a:lnTo>
                  <a:lnTo>
                    <a:pt x="945175" y="76737"/>
                  </a:lnTo>
                  <a:lnTo>
                    <a:pt x="930656" y="32893"/>
                  </a:lnTo>
                  <a:lnTo>
                    <a:pt x="899848" y="4925"/>
                  </a:lnTo>
                  <a:lnTo>
                    <a:pt x="886206" y="0"/>
                  </a:lnTo>
                  <a:close/>
                </a:path>
                <a:path w="946150" h="187960">
                  <a:moveTo>
                    <a:pt x="59816" y="0"/>
                  </a:moveTo>
                  <a:lnTo>
                    <a:pt x="24062" y="21395"/>
                  </a:lnTo>
                  <a:lnTo>
                    <a:pt x="3889" y="60817"/>
                  </a:lnTo>
                  <a:lnTo>
                    <a:pt x="0" y="93980"/>
                  </a:lnTo>
                  <a:lnTo>
                    <a:pt x="974" y="111220"/>
                  </a:lnTo>
                  <a:lnTo>
                    <a:pt x="15493" y="154939"/>
                  </a:lnTo>
                  <a:lnTo>
                    <a:pt x="46194" y="182800"/>
                  </a:lnTo>
                  <a:lnTo>
                    <a:pt x="59816" y="187706"/>
                  </a:lnTo>
                  <a:lnTo>
                    <a:pt x="62229" y="180086"/>
                  </a:lnTo>
                  <a:lnTo>
                    <a:pt x="51536" y="175367"/>
                  </a:lnTo>
                  <a:lnTo>
                    <a:pt x="42306" y="168814"/>
                  </a:lnTo>
                  <a:lnTo>
                    <a:pt x="19907" y="124587"/>
                  </a:lnTo>
                  <a:lnTo>
                    <a:pt x="17145" y="92963"/>
                  </a:lnTo>
                  <a:lnTo>
                    <a:pt x="17835" y="76914"/>
                  </a:lnTo>
                  <a:lnTo>
                    <a:pt x="28194" y="37337"/>
                  </a:lnTo>
                  <a:lnTo>
                    <a:pt x="62610" y="7620"/>
                  </a:lnTo>
                  <a:lnTo>
                    <a:pt x="598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559308" y="192786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52244"/>
            <a:ext cx="3085338" cy="174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0327" y="2366772"/>
            <a:ext cx="1789938" cy="16230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94944" y="2612135"/>
            <a:ext cx="8641080" cy="110490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  <a:tabLst>
                <a:tab pos="563880" algn="l"/>
              </a:tabLst>
            </a:pPr>
            <a:r>
              <a:rPr dirty="0" sz="1600" spc="-5">
                <a:latin typeface="Cambria Math"/>
                <a:cs typeface="Cambria Math"/>
              </a:rPr>
              <a:t>𝑓</a:t>
            </a:r>
            <a:r>
              <a:rPr dirty="0" sz="1600" spc="-5">
                <a:latin typeface="Cambria Math"/>
                <a:cs typeface="Cambria Math"/>
              </a:rPr>
              <a:t>  </a:t>
            </a:r>
            <a:r>
              <a:rPr dirty="0" sz="1600" spc="-5">
                <a:latin typeface="Cambria Math"/>
                <a:cs typeface="Cambria Math"/>
              </a:rPr>
              <a:t>𝑥</a:t>
            </a:r>
            <a:r>
              <a:rPr dirty="0" sz="1600" spc="-5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9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𝑓</a:t>
            </a:r>
            <a:r>
              <a:rPr dirty="0" sz="1600">
                <a:latin typeface="Cambria Math"/>
                <a:cs typeface="Cambria Math"/>
              </a:rPr>
              <a:t>  </a:t>
            </a:r>
            <a:r>
              <a:rPr dirty="0" sz="1600" spc="-5">
                <a:latin typeface="Cambria Math"/>
                <a:cs typeface="Cambria Math"/>
              </a:rPr>
              <a:t>𝑥1,</a:t>
            </a:r>
            <a:r>
              <a:rPr dirty="0" sz="1600" spc="-8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𝑥2,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𝑥3</a:t>
            </a:r>
            <a:endParaRPr sz="1600">
              <a:latin typeface="Cambria Math"/>
              <a:cs typeface="Cambria Math"/>
            </a:endParaRPr>
          </a:p>
          <a:p>
            <a:pPr marL="55372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10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2𝑥</a:t>
            </a:r>
            <a:r>
              <a:rPr dirty="0" baseline="-21164" sz="1575">
                <a:latin typeface="Cambria Math"/>
                <a:cs typeface="Cambria Math"/>
              </a:rPr>
              <a:t>1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1</a:t>
            </a:r>
            <a:r>
              <a:rPr dirty="0" baseline="-21164" sz="1575" spc="1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4𝑥</a:t>
            </a:r>
            <a:r>
              <a:rPr dirty="0" baseline="-21164" sz="1575">
                <a:latin typeface="Cambria Math"/>
                <a:cs typeface="Cambria Math"/>
              </a:rPr>
              <a:t>1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2</a:t>
            </a:r>
            <a:r>
              <a:rPr dirty="0" baseline="-21164" sz="1575" spc="1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>
                <a:latin typeface="Cambria Math"/>
                <a:cs typeface="Cambria Math"/>
              </a:rPr>
              <a:t> 3𝑥</a:t>
            </a:r>
            <a:r>
              <a:rPr dirty="0" baseline="-21164" sz="1575">
                <a:latin typeface="Cambria Math"/>
                <a:cs typeface="Cambria Math"/>
              </a:rPr>
              <a:t>1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3</a:t>
            </a:r>
            <a:r>
              <a:rPr dirty="0" baseline="-21164" sz="1575" spc="179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>
                <a:latin typeface="Cambria Math"/>
                <a:cs typeface="Cambria Math"/>
              </a:rPr>
              <a:t> 𝑥</a:t>
            </a:r>
            <a:r>
              <a:rPr dirty="0" baseline="-21164" sz="1575">
                <a:latin typeface="Cambria Math"/>
                <a:cs typeface="Cambria Math"/>
              </a:rPr>
              <a:t>2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1</a:t>
            </a:r>
            <a:r>
              <a:rPr dirty="0" baseline="-21164" sz="1575" spc="1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2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2𝑥</a:t>
            </a:r>
            <a:r>
              <a:rPr dirty="0" baseline="-21164" sz="1575">
                <a:latin typeface="Cambria Math"/>
                <a:cs typeface="Cambria Math"/>
              </a:rPr>
              <a:t>2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2</a:t>
            </a:r>
            <a:r>
              <a:rPr dirty="0" baseline="-21164" sz="1575" spc="1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6𝑥</a:t>
            </a:r>
            <a:r>
              <a:rPr dirty="0" baseline="-21164" sz="1575">
                <a:latin typeface="Cambria Math"/>
                <a:cs typeface="Cambria Math"/>
              </a:rPr>
              <a:t>2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3</a:t>
            </a:r>
            <a:r>
              <a:rPr dirty="0" baseline="-21164" sz="1575" spc="1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2𝑥</a:t>
            </a:r>
            <a:r>
              <a:rPr dirty="0" baseline="-21164" sz="1575">
                <a:latin typeface="Cambria Math"/>
                <a:cs typeface="Cambria Math"/>
              </a:rPr>
              <a:t>3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1</a:t>
            </a:r>
            <a:r>
              <a:rPr dirty="0" baseline="-21164" sz="1575" spc="1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>
                <a:latin typeface="Cambria Math"/>
                <a:cs typeface="Cambria Math"/>
              </a:rPr>
              <a:t> 3𝑥</a:t>
            </a:r>
            <a:r>
              <a:rPr dirty="0" baseline="-21164" sz="1575">
                <a:latin typeface="Cambria Math"/>
                <a:cs typeface="Cambria Math"/>
              </a:rPr>
              <a:t>3</a:t>
            </a:r>
            <a:r>
              <a:rPr dirty="0" sz="1600">
                <a:latin typeface="Cambria Math"/>
                <a:cs typeface="Cambria Math"/>
              </a:rPr>
              <a:t>𝑥</a:t>
            </a:r>
            <a:r>
              <a:rPr dirty="0" baseline="-21164" sz="1575">
                <a:latin typeface="Cambria Math"/>
                <a:cs typeface="Cambria Math"/>
              </a:rPr>
              <a:t>2</a:t>
            </a:r>
            <a:r>
              <a:rPr dirty="0" baseline="-21164" sz="1575" spc="187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>
                <a:latin typeface="Cambria Math"/>
                <a:cs typeface="Cambria Math"/>
              </a:rPr>
              <a:t> 2𝑥</a:t>
            </a:r>
            <a:r>
              <a:rPr dirty="0" baseline="-21164" sz="1575">
                <a:latin typeface="Cambria Math"/>
                <a:cs typeface="Cambria Math"/>
              </a:rPr>
              <a:t>1</a:t>
            </a:r>
            <a:r>
              <a:rPr dirty="0" baseline="-21164" sz="1575" spc="179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>
                <a:latin typeface="Cambria Math"/>
                <a:cs typeface="Cambria Math"/>
              </a:rPr>
              <a:t> 3𝑥</a:t>
            </a:r>
            <a:r>
              <a:rPr dirty="0" baseline="-21164" sz="1575">
                <a:latin typeface="Cambria Math"/>
                <a:cs typeface="Cambria Math"/>
              </a:rPr>
              <a:t>2</a:t>
            </a:r>
            <a:r>
              <a:rPr dirty="0" baseline="-21164" sz="1575" spc="187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>
                <a:latin typeface="Cambria Math"/>
                <a:cs typeface="Cambria Math"/>
              </a:rPr>
              <a:t> 4𝑥</a:t>
            </a:r>
            <a:r>
              <a:rPr dirty="0" baseline="-21164" sz="1575">
                <a:latin typeface="Cambria Math"/>
                <a:cs typeface="Cambria Math"/>
              </a:rPr>
              <a:t>3</a:t>
            </a:r>
            <a:r>
              <a:rPr dirty="0" baseline="-21164" sz="1575" spc="179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5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4087" y="2330195"/>
            <a:ext cx="329565" cy="169545"/>
          </a:xfrm>
          <a:custGeom>
            <a:avLst/>
            <a:gdLst/>
            <a:ahLst/>
            <a:cxnLst/>
            <a:rect l="l" t="t" r="r" b="b"/>
            <a:pathLst>
              <a:path w="329565" h="169544">
                <a:moveTo>
                  <a:pt x="300990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140969"/>
                </a:lnTo>
                <a:lnTo>
                  <a:pt x="2215" y="151965"/>
                </a:lnTo>
                <a:lnTo>
                  <a:pt x="8258" y="160924"/>
                </a:lnTo>
                <a:lnTo>
                  <a:pt x="17220" y="166955"/>
                </a:lnTo>
                <a:lnTo>
                  <a:pt x="28193" y="169163"/>
                </a:lnTo>
                <a:lnTo>
                  <a:pt x="300990" y="169163"/>
                </a:lnTo>
                <a:lnTo>
                  <a:pt x="311963" y="166955"/>
                </a:lnTo>
                <a:lnTo>
                  <a:pt x="320925" y="160924"/>
                </a:lnTo>
                <a:lnTo>
                  <a:pt x="326968" y="151965"/>
                </a:lnTo>
                <a:lnTo>
                  <a:pt x="329184" y="140969"/>
                </a:lnTo>
                <a:lnTo>
                  <a:pt x="329184" y="28193"/>
                </a:lnTo>
                <a:lnTo>
                  <a:pt x="326968" y="17198"/>
                </a:lnTo>
                <a:lnTo>
                  <a:pt x="320925" y="8239"/>
                </a:lnTo>
                <a:lnTo>
                  <a:pt x="311963" y="2208"/>
                </a:lnTo>
                <a:lnTo>
                  <a:pt x="300990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86790" y="2323592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Ebrima"/>
                <a:cs typeface="Ebrima"/>
              </a:rPr>
              <a:t>Ex</a:t>
            </a:r>
            <a:endParaRPr sz="1000">
              <a:latin typeface="Ebrima"/>
              <a:cs typeface="Ebri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3963" y="1443177"/>
            <a:ext cx="55054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92786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952244"/>
            <a:ext cx="3667505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510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4.1.</a:t>
            </a:r>
            <a:r>
              <a:rPr dirty="0" spc="-35"/>
              <a:t> </a:t>
            </a:r>
            <a:r>
              <a:rPr dirty="0" spc="-5"/>
              <a:t>Calculating</a:t>
            </a:r>
            <a:r>
              <a:rPr dirty="0" spc="-25"/>
              <a:t> </a:t>
            </a:r>
            <a:r>
              <a:rPr dirty="0"/>
              <a:t>Matrix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819" y="1443202"/>
            <a:ext cx="2146554" cy="30101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57783" y="2289048"/>
            <a:ext cx="8785860" cy="1836420"/>
            <a:chOff x="557783" y="2289048"/>
            <a:chExt cx="8785860" cy="1836420"/>
          </a:xfrm>
        </p:grpSpPr>
        <p:sp>
          <p:nvSpPr>
            <p:cNvPr id="11" name="object 11"/>
            <p:cNvSpPr/>
            <p:nvPr/>
          </p:nvSpPr>
          <p:spPr>
            <a:xfrm>
              <a:off x="557783" y="2289048"/>
              <a:ext cx="8785860" cy="1836420"/>
            </a:xfrm>
            <a:custGeom>
              <a:avLst/>
              <a:gdLst/>
              <a:ahLst/>
              <a:cxnLst/>
              <a:rect l="l" t="t" r="r" b="b"/>
              <a:pathLst>
                <a:path w="8785860" h="1836420">
                  <a:moveTo>
                    <a:pt x="8785860" y="0"/>
                  </a:moveTo>
                  <a:lnTo>
                    <a:pt x="0" y="0"/>
                  </a:lnTo>
                  <a:lnTo>
                    <a:pt x="0" y="1836420"/>
                  </a:lnTo>
                  <a:lnTo>
                    <a:pt x="8785860" y="1836420"/>
                  </a:lnTo>
                  <a:lnTo>
                    <a:pt x="87858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66796" y="2568320"/>
              <a:ext cx="3033395" cy="527050"/>
            </a:xfrm>
            <a:custGeom>
              <a:avLst/>
              <a:gdLst/>
              <a:ahLst/>
              <a:cxnLst/>
              <a:rect l="l" t="t" r="r" b="b"/>
              <a:pathLst>
                <a:path w="3033395" h="527050">
                  <a:moveTo>
                    <a:pt x="89154" y="6096"/>
                  </a:moveTo>
                  <a:lnTo>
                    <a:pt x="48488" y="45694"/>
                  </a:lnTo>
                  <a:lnTo>
                    <a:pt x="22098" y="105664"/>
                  </a:lnTo>
                  <a:lnTo>
                    <a:pt x="5524" y="178625"/>
                  </a:lnTo>
                  <a:lnTo>
                    <a:pt x="1371" y="219392"/>
                  </a:lnTo>
                  <a:lnTo>
                    <a:pt x="0" y="263017"/>
                  </a:lnTo>
                  <a:lnTo>
                    <a:pt x="1371" y="306984"/>
                  </a:lnTo>
                  <a:lnTo>
                    <a:pt x="5524" y="347980"/>
                  </a:lnTo>
                  <a:lnTo>
                    <a:pt x="12420" y="386041"/>
                  </a:lnTo>
                  <a:lnTo>
                    <a:pt x="34213" y="452894"/>
                  </a:lnTo>
                  <a:lnTo>
                    <a:pt x="64935" y="505752"/>
                  </a:lnTo>
                  <a:lnTo>
                    <a:pt x="83566" y="526796"/>
                  </a:lnTo>
                  <a:lnTo>
                    <a:pt x="89154" y="520700"/>
                  </a:lnTo>
                  <a:lnTo>
                    <a:pt x="72593" y="499300"/>
                  </a:lnTo>
                  <a:lnTo>
                    <a:pt x="58191" y="474497"/>
                  </a:lnTo>
                  <a:lnTo>
                    <a:pt x="35814" y="414655"/>
                  </a:lnTo>
                  <a:lnTo>
                    <a:pt x="22313" y="343585"/>
                  </a:lnTo>
                  <a:lnTo>
                    <a:pt x="18910" y="304596"/>
                  </a:lnTo>
                  <a:lnTo>
                    <a:pt x="17780" y="263271"/>
                  </a:lnTo>
                  <a:lnTo>
                    <a:pt x="18910" y="222110"/>
                  </a:lnTo>
                  <a:lnTo>
                    <a:pt x="22313" y="183184"/>
                  </a:lnTo>
                  <a:lnTo>
                    <a:pt x="35814" y="112141"/>
                  </a:lnTo>
                  <a:lnTo>
                    <a:pt x="58191" y="52311"/>
                  </a:lnTo>
                  <a:lnTo>
                    <a:pt x="72593" y="27508"/>
                  </a:lnTo>
                  <a:lnTo>
                    <a:pt x="89154" y="6096"/>
                  </a:lnTo>
                  <a:close/>
                </a:path>
                <a:path w="3033395" h="527050">
                  <a:moveTo>
                    <a:pt x="1037971" y="263017"/>
                  </a:moveTo>
                  <a:lnTo>
                    <a:pt x="1036586" y="219392"/>
                  </a:lnTo>
                  <a:lnTo>
                    <a:pt x="1032446" y="178625"/>
                  </a:lnTo>
                  <a:lnTo>
                    <a:pt x="1025537" y="140716"/>
                  </a:lnTo>
                  <a:lnTo>
                    <a:pt x="1003744" y="73914"/>
                  </a:lnTo>
                  <a:lnTo>
                    <a:pt x="973023" y="21056"/>
                  </a:lnTo>
                  <a:lnTo>
                    <a:pt x="954405" y="0"/>
                  </a:lnTo>
                  <a:lnTo>
                    <a:pt x="948817" y="6096"/>
                  </a:lnTo>
                  <a:lnTo>
                    <a:pt x="965365" y="27508"/>
                  </a:lnTo>
                  <a:lnTo>
                    <a:pt x="979766" y="52311"/>
                  </a:lnTo>
                  <a:lnTo>
                    <a:pt x="1002157" y="112141"/>
                  </a:lnTo>
                  <a:lnTo>
                    <a:pt x="1015695" y="183184"/>
                  </a:lnTo>
                  <a:lnTo>
                    <a:pt x="1019060" y="222110"/>
                  </a:lnTo>
                  <a:lnTo>
                    <a:pt x="1020191" y="263271"/>
                  </a:lnTo>
                  <a:lnTo>
                    <a:pt x="1019060" y="304596"/>
                  </a:lnTo>
                  <a:lnTo>
                    <a:pt x="1015695" y="343585"/>
                  </a:lnTo>
                  <a:lnTo>
                    <a:pt x="1002157" y="414655"/>
                  </a:lnTo>
                  <a:lnTo>
                    <a:pt x="979766" y="474497"/>
                  </a:lnTo>
                  <a:lnTo>
                    <a:pt x="948817" y="520700"/>
                  </a:lnTo>
                  <a:lnTo>
                    <a:pt x="954405" y="526796"/>
                  </a:lnTo>
                  <a:lnTo>
                    <a:pt x="989469" y="481114"/>
                  </a:lnTo>
                  <a:lnTo>
                    <a:pt x="1015873" y="421132"/>
                  </a:lnTo>
                  <a:lnTo>
                    <a:pt x="1032446" y="347980"/>
                  </a:lnTo>
                  <a:lnTo>
                    <a:pt x="1036586" y="306984"/>
                  </a:lnTo>
                  <a:lnTo>
                    <a:pt x="1037971" y="263017"/>
                  </a:lnTo>
                  <a:close/>
                </a:path>
                <a:path w="3033395" h="527050">
                  <a:moveTo>
                    <a:pt x="2183130" y="6096"/>
                  </a:moveTo>
                  <a:lnTo>
                    <a:pt x="2142464" y="45694"/>
                  </a:lnTo>
                  <a:lnTo>
                    <a:pt x="2116074" y="105664"/>
                  </a:lnTo>
                  <a:lnTo>
                    <a:pt x="2099500" y="178625"/>
                  </a:lnTo>
                  <a:lnTo>
                    <a:pt x="2095347" y="219392"/>
                  </a:lnTo>
                  <a:lnTo>
                    <a:pt x="2093976" y="263017"/>
                  </a:lnTo>
                  <a:lnTo>
                    <a:pt x="2095347" y="306984"/>
                  </a:lnTo>
                  <a:lnTo>
                    <a:pt x="2099500" y="347980"/>
                  </a:lnTo>
                  <a:lnTo>
                    <a:pt x="2106396" y="386041"/>
                  </a:lnTo>
                  <a:lnTo>
                    <a:pt x="2128189" y="452894"/>
                  </a:lnTo>
                  <a:lnTo>
                    <a:pt x="2158911" y="505752"/>
                  </a:lnTo>
                  <a:lnTo>
                    <a:pt x="2177542" y="526796"/>
                  </a:lnTo>
                  <a:lnTo>
                    <a:pt x="2183130" y="520700"/>
                  </a:lnTo>
                  <a:lnTo>
                    <a:pt x="2166569" y="499300"/>
                  </a:lnTo>
                  <a:lnTo>
                    <a:pt x="2152167" y="474497"/>
                  </a:lnTo>
                  <a:lnTo>
                    <a:pt x="2129790" y="414655"/>
                  </a:lnTo>
                  <a:lnTo>
                    <a:pt x="2116290" y="343585"/>
                  </a:lnTo>
                  <a:lnTo>
                    <a:pt x="2112886" y="304596"/>
                  </a:lnTo>
                  <a:lnTo>
                    <a:pt x="2111756" y="263271"/>
                  </a:lnTo>
                  <a:lnTo>
                    <a:pt x="2112886" y="222110"/>
                  </a:lnTo>
                  <a:lnTo>
                    <a:pt x="2116290" y="183184"/>
                  </a:lnTo>
                  <a:lnTo>
                    <a:pt x="2129790" y="112141"/>
                  </a:lnTo>
                  <a:lnTo>
                    <a:pt x="2152167" y="52311"/>
                  </a:lnTo>
                  <a:lnTo>
                    <a:pt x="2166569" y="27508"/>
                  </a:lnTo>
                  <a:lnTo>
                    <a:pt x="2183130" y="6096"/>
                  </a:lnTo>
                  <a:close/>
                </a:path>
                <a:path w="3033395" h="527050">
                  <a:moveTo>
                    <a:pt x="3032887" y="263017"/>
                  </a:moveTo>
                  <a:lnTo>
                    <a:pt x="3031502" y="219392"/>
                  </a:lnTo>
                  <a:lnTo>
                    <a:pt x="3027349" y="178625"/>
                  </a:lnTo>
                  <a:lnTo>
                    <a:pt x="3020453" y="140716"/>
                  </a:lnTo>
                  <a:lnTo>
                    <a:pt x="2998660" y="73914"/>
                  </a:lnTo>
                  <a:lnTo>
                    <a:pt x="2967939" y="21056"/>
                  </a:lnTo>
                  <a:lnTo>
                    <a:pt x="2949321" y="0"/>
                  </a:lnTo>
                  <a:lnTo>
                    <a:pt x="2943733" y="6096"/>
                  </a:lnTo>
                  <a:lnTo>
                    <a:pt x="2960281" y="27508"/>
                  </a:lnTo>
                  <a:lnTo>
                    <a:pt x="2974683" y="52311"/>
                  </a:lnTo>
                  <a:lnTo>
                    <a:pt x="2997073" y="112141"/>
                  </a:lnTo>
                  <a:lnTo>
                    <a:pt x="3010611" y="183184"/>
                  </a:lnTo>
                  <a:lnTo>
                    <a:pt x="3013976" y="222110"/>
                  </a:lnTo>
                  <a:lnTo>
                    <a:pt x="3015107" y="263271"/>
                  </a:lnTo>
                  <a:lnTo>
                    <a:pt x="3013976" y="304596"/>
                  </a:lnTo>
                  <a:lnTo>
                    <a:pt x="3010611" y="343585"/>
                  </a:lnTo>
                  <a:lnTo>
                    <a:pt x="2997073" y="414655"/>
                  </a:lnTo>
                  <a:lnTo>
                    <a:pt x="2974683" y="474497"/>
                  </a:lnTo>
                  <a:lnTo>
                    <a:pt x="2943733" y="520700"/>
                  </a:lnTo>
                  <a:lnTo>
                    <a:pt x="2949321" y="526796"/>
                  </a:lnTo>
                  <a:lnTo>
                    <a:pt x="2984385" y="481114"/>
                  </a:lnTo>
                  <a:lnTo>
                    <a:pt x="3010789" y="421132"/>
                  </a:lnTo>
                  <a:lnTo>
                    <a:pt x="3027362" y="347980"/>
                  </a:lnTo>
                  <a:lnTo>
                    <a:pt x="3031502" y="306984"/>
                  </a:lnTo>
                  <a:lnTo>
                    <a:pt x="3032887" y="263017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234819" y="2492756"/>
            <a:ext cx="3783965" cy="657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26465">
              <a:lnSpc>
                <a:spcPts val="1660"/>
              </a:lnSpc>
              <a:spcBef>
                <a:spcPts val="105"/>
              </a:spcBef>
              <a:tabLst>
                <a:tab pos="1250950" algn="l"/>
                <a:tab pos="1626235" algn="l"/>
                <a:tab pos="3020695" algn="l"/>
                <a:tab pos="3395979" algn="l"/>
                <a:tab pos="3671570" algn="l"/>
              </a:tabLst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50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ts val="1645"/>
              </a:lnSpc>
              <a:tabLst>
                <a:tab pos="926465" algn="l"/>
                <a:tab pos="1202055" algn="l"/>
                <a:tab pos="1626235" algn="l"/>
                <a:tab pos="1882139" algn="l"/>
                <a:tab pos="3069590" algn="l"/>
                <a:tab pos="3395979" algn="l"/>
                <a:tab pos="3671570" algn="l"/>
              </a:tabLst>
            </a:pPr>
            <a:r>
              <a:rPr dirty="0" baseline="3968" sz="2100" spc="-12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baseline="3968" sz="2100" spc="-375">
                <a:solidFill>
                  <a:srgbClr val="252525"/>
                </a:solidFill>
                <a:latin typeface="Trebuchet MS"/>
                <a:cs typeface="Trebuchet MS"/>
              </a:rPr>
              <a:t>q</a:t>
            </a:r>
            <a:r>
              <a:rPr dirty="0" baseline="3968" sz="2100" spc="-292">
                <a:solidFill>
                  <a:srgbClr val="252525"/>
                </a:solidFill>
                <a:latin typeface="Trebuchet MS"/>
                <a:cs typeface="Trebuchet MS"/>
              </a:rPr>
              <a:t>ua</a:t>
            </a:r>
            <a:r>
              <a:rPr dirty="0" baseline="3968" sz="2100" spc="-2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baseline="3968" sz="2100" spc="-35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baseline="3968" sz="2100" spc="-2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baseline="3968" sz="2100" spc="-442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baseline="3968" sz="2100" spc="-3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baseline="3968" sz="2100" spc="-217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baseline="3968" sz="2100" spc="-202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baseline="3968" sz="2100" spc="-247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baseline="3968" sz="2100" spc="-359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baseline="3968" sz="210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21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baseline="3968" sz="2100" spc="-427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baseline="3968" sz="210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baseline="3968" sz="2100" spc="-22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baseline="3968" sz="2100" spc="-39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baseline="3968" sz="2100" spc="-247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baseline="3968" sz="2100" spc="-3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baseline="3968" sz="2100" spc="-254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baseline="3968" sz="2100" spc="-322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baseline="3968" sz="2100" spc="-34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baseline="3968" sz="2100" spc="-284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dirty="0" baseline="3968" sz="2100" spc="-292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baseline="3968" sz="2100" spc="-442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baseline="3968" sz="2100" spc="-3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baseline="3968" sz="2100" spc="-217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baseline="3968" sz="2100" spc="-202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baseline="3968" sz="2100" spc="-247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baseline="3968" sz="2100" spc="-359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baseline="3968" sz="210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L="926465">
              <a:lnSpc>
                <a:spcPts val="1660"/>
              </a:lnSpc>
              <a:tabLst>
                <a:tab pos="1250950" algn="l"/>
                <a:tab pos="1577340" algn="l"/>
                <a:tab pos="3069590" algn="l"/>
                <a:tab pos="3395979" algn="l"/>
                <a:tab pos="3671570" algn="l"/>
              </a:tabLst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12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8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14034" y="2690876"/>
            <a:ext cx="425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28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88488" y="3344163"/>
            <a:ext cx="3237230" cy="527050"/>
          </a:xfrm>
          <a:custGeom>
            <a:avLst/>
            <a:gdLst/>
            <a:ahLst/>
            <a:cxnLst/>
            <a:rect l="l" t="t" r="r" b="b"/>
            <a:pathLst>
              <a:path w="3237229" h="527050">
                <a:moveTo>
                  <a:pt x="89154" y="6223"/>
                </a:moveTo>
                <a:lnTo>
                  <a:pt x="48488" y="45808"/>
                </a:lnTo>
                <a:lnTo>
                  <a:pt x="22098" y="105791"/>
                </a:lnTo>
                <a:lnTo>
                  <a:pt x="5524" y="178752"/>
                </a:lnTo>
                <a:lnTo>
                  <a:pt x="1371" y="219532"/>
                </a:lnTo>
                <a:lnTo>
                  <a:pt x="0" y="263144"/>
                </a:lnTo>
                <a:lnTo>
                  <a:pt x="1371" y="307111"/>
                </a:lnTo>
                <a:lnTo>
                  <a:pt x="5524" y="348094"/>
                </a:lnTo>
                <a:lnTo>
                  <a:pt x="12420" y="386118"/>
                </a:lnTo>
                <a:lnTo>
                  <a:pt x="34213" y="452970"/>
                </a:lnTo>
                <a:lnTo>
                  <a:pt x="64935" y="505879"/>
                </a:lnTo>
                <a:lnTo>
                  <a:pt x="83566" y="526923"/>
                </a:lnTo>
                <a:lnTo>
                  <a:pt x="89154" y="520827"/>
                </a:lnTo>
                <a:lnTo>
                  <a:pt x="72593" y="499427"/>
                </a:lnTo>
                <a:lnTo>
                  <a:pt x="58191" y="474624"/>
                </a:lnTo>
                <a:lnTo>
                  <a:pt x="35814" y="414782"/>
                </a:lnTo>
                <a:lnTo>
                  <a:pt x="22313" y="343712"/>
                </a:lnTo>
                <a:lnTo>
                  <a:pt x="18910" y="304723"/>
                </a:lnTo>
                <a:lnTo>
                  <a:pt x="17780" y="263398"/>
                </a:lnTo>
                <a:lnTo>
                  <a:pt x="18910" y="222237"/>
                </a:lnTo>
                <a:lnTo>
                  <a:pt x="22313" y="183311"/>
                </a:lnTo>
                <a:lnTo>
                  <a:pt x="35814" y="112268"/>
                </a:lnTo>
                <a:lnTo>
                  <a:pt x="58191" y="52438"/>
                </a:lnTo>
                <a:lnTo>
                  <a:pt x="72593" y="27635"/>
                </a:lnTo>
                <a:lnTo>
                  <a:pt x="89154" y="6223"/>
                </a:lnTo>
                <a:close/>
              </a:path>
              <a:path w="3237229" h="527050">
                <a:moveTo>
                  <a:pt x="839851" y="263144"/>
                </a:moveTo>
                <a:lnTo>
                  <a:pt x="838466" y="219519"/>
                </a:lnTo>
                <a:lnTo>
                  <a:pt x="834326" y="178752"/>
                </a:lnTo>
                <a:lnTo>
                  <a:pt x="827417" y="140843"/>
                </a:lnTo>
                <a:lnTo>
                  <a:pt x="805624" y="74028"/>
                </a:lnTo>
                <a:lnTo>
                  <a:pt x="774903" y="21120"/>
                </a:lnTo>
                <a:lnTo>
                  <a:pt x="756285" y="0"/>
                </a:lnTo>
                <a:lnTo>
                  <a:pt x="750697" y="6223"/>
                </a:lnTo>
                <a:lnTo>
                  <a:pt x="767245" y="27635"/>
                </a:lnTo>
                <a:lnTo>
                  <a:pt x="781646" y="52438"/>
                </a:lnTo>
                <a:lnTo>
                  <a:pt x="804037" y="112268"/>
                </a:lnTo>
                <a:lnTo>
                  <a:pt x="817575" y="183311"/>
                </a:lnTo>
                <a:lnTo>
                  <a:pt x="820940" y="222237"/>
                </a:lnTo>
                <a:lnTo>
                  <a:pt x="822071" y="263398"/>
                </a:lnTo>
                <a:lnTo>
                  <a:pt x="820940" y="304723"/>
                </a:lnTo>
                <a:lnTo>
                  <a:pt x="817575" y="343712"/>
                </a:lnTo>
                <a:lnTo>
                  <a:pt x="804037" y="414782"/>
                </a:lnTo>
                <a:lnTo>
                  <a:pt x="781646" y="474624"/>
                </a:lnTo>
                <a:lnTo>
                  <a:pt x="750697" y="520827"/>
                </a:lnTo>
                <a:lnTo>
                  <a:pt x="756285" y="526923"/>
                </a:lnTo>
                <a:lnTo>
                  <a:pt x="791349" y="481228"/>
                </a:lnTo>
                <a:lnTo>
                  <a:pt x="817753" y="421132"/>
                </a:lnTo>
                <a:lnTo>
                  <a:pt x="834326" y="348094"/>
                </a:lnTo>
                <a:lnTo>
                  <a:pt x="838466" y="307111"/>
                </a:lnTo>
                <a:lnTo>
                  <a:pt x="839851" y="263144"/>
                </a:lnTo>
                <a:close/>
              </a:path>
              <a:path w="3237229" h="527050">
                <a:moveTo>
                  <a:pt x="2189226" y="6223"/>
                </a:moveTo>
                <a:lnTo>
                  <a:pt x="2148560" y="45808"/>
                </a:lnTo>
                <a:lnTo>
                  <a:pt x="2122170" y="105791"/>
                </a:lnTo>
                <a:lnTo>
                  <a:pt x="2105596" y="178752"/>
                </a:lnTo>
                <a:lnTo>
                  <a:pt x="2101443" y="219532"/>
                </a:lnTo>
                <a:lnTo>
                  <a:pt x="2100072" y="263144"/>
                </a:lnTo>
                <a:lnTo>
                  <a:pt x="2101443" y="307111"/>
                </a:lnTo>
                <a:lnTo>
                  <a:pt x="2105596" y="348094"/>
                </a:lnTo>
                <a:lnTo>
                  <a:pt x="2112492" y="386118"/>
                </a:lnTo>
                <a:lnTo>
                  <a:pt x="2134285" y="452970"/>
                </a:lnTo>
                <a:lnTo>
                  <a:pt x="2165007" y="505879"/>
                </a:lnTo>
                <a:lnTo>
                  <a:pt x="2183638" y="526923"/>
                </a:lnTo>
                <a:lnTo>
                  <a:pt x="2189226" y="520827"/>
                </a:lnTo>
                <a:lnTo>
                  <a:pt x="2172665" y="499427"/>
                </a:lnTo>
                <a:lnTo>
                  <a:pt x="2158263" y="474624"/>
                </a:lnTo>
                <a:lnTo>
                  <a:pt x="2135886" y="414782"/>
                </a:lnTo>
                <a:lnTo>
                  <a:pt x="2122386" y="343712"/>
                </a:lnTo>
                <a:lnTo>
                  <a:pt x="2118982" y="304723"/>
                </a:lnTo>
                <a:lnTo>
                  <a:pt x="2117852" y="263398"/>
                </a:lnTo>
                <a:lnTo>
                  <a:pt x="2118982" y="222237"/>
                </a:lnTo>
                <a:lnTo>
                  <a:pt x="2122386" y="183311"/>
                </a:lnTo>
                <a:lnTo>
                  <a:pt x="2135886" y="112268"/>
                </a:lnTo>
                <a:lnTo>
                  <a:pt x="2158263" y="52438"/>
                </a:lnTo>
                <a:lnTo>
                  <a:pt x="2172665" y="27635"/>
                </a:lnTo>
                <a:lnTo>
                  <a:pt x="2189226" y="6223"/>
                </a:lnTo>
                <a:close/>
              </a:path>
              <a:path w="3237229" h="527050">
                <a:moveTo>
                  <a:pt x="3237103" y="263144"/>
                </a:moveTo>
                <a:lnTo>
                  <a:pt x="3235718" y="219519"/>
                </a:lnTo>
                <a:lnTo>
                  <a:pt x="3231578" y="178752"/>
                </a:lnTo>
                <a:lnTo>
                  <a:pt x="3224669" y="140843"/>
                </a:lnTo>
                <a:lnTo>
                  <a:pt x="3202876" y="74028"/>
                </a:lnTo>
                <a:lnTo>
                  <a:pt x="3172155" y="21120"/>
                </a:lnTo>
                <a:lnTo>
                  <a:pt x="3153537" y="0"/>
                </a:lnTo>
                <a:lnTo>
                  <a:pt x="3147949" y="6223"/>
                </a:lnTo>
                <a:lnTo>
                  <a:pt x="3164497" y="27635"/>
                </a:lnTo>
                <a:lnTo>
                  <a:pt x="3178899" y="52438"/>
                </a:lnTo>
                <a:lnTo>
                  <a:pt x="3201289" y="112268"/>
                </a:lnTo>
                <a:lnTo>
                  <a:pt x="3214827" y="183311"/>
                </a:lnTo>
                <a:lnTo>
                  <a:pt x="3218192" y="222237"/>
                </a:lnTo>
                <a:lnTo>
                  <a:pt x="3219323" y="263398"/>
                </a:lnTo>
                <a:lnTo>
                  <a:pt x="3218192" y="304723"/>
                </a:lnTo>
                <a:lnTo>
                  <a:pt x="3214827" y="343712"/>
                </a:lnTo>
                <a:lnTo>
                  <a:pt x="3201289" y="414782"/>
                </a:lnTo>
                <a:lnTo>
                  <a:pt x="3178899" y="474624"/>
                </a:lnTo>
                <a:lnTo>
                  <a:pt x="3147949" y="520827"/>
                </a:lnTo>
                <a:lnTo>
                  <a:pt x="3153537" y="526923"/>
                </a:lnTo>
                <a:lnTo>
                  <a:pt x="3188601" y="481228"/>
                </a:lnTo>
                <a:lnTo>
                  <a:pt x="3215005" y="421132"/>
                </a:lnTo>
                <a:lnTo>
                  <a:pt x="3231578" y="348094"/>
                </a:lnTo>
                <a:lnTo>
                  <a:pt x="3235718" y="307111"/>
                </a:lnTo>
                <a:lnTo>
                  <a:pt x="3237103" y="26314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234819" y="3267201"/>
            <a:ext cx="3809365" cy="655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48030">
              <a:lnSpc>
                <a:spcPts val="1660"/>
              </a:lnSpc>
              <a:spcBef>
                <a:spcPts val="105"/>
              </a:spcBef>
              <a:tabLst>
                <a:tab pos="1024255" algn="l"/>
                <a:tab pos="1299845" algn="l"/>
                <a:tab pos="2898775" algn="l"/>
                <a:tab pos="3274060" algn="l"/>
                <a:tab pos="3598545" algn="l"/>
              </a:tabLst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11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ts val="1639"/>
              </a:lnSpc>
              <a:tabLst>
                <a:tab pos="748030" algn="l"/>
                <a:tab pos="1024255" algn="l"/>
                <a:tab pos="1299845" algn="l"/>
                <a:tab pos="1711325" algn="l"/>
                <a:tab pos="2898775" algn="l"/>
                <a:tab pos="3223260" algn="l"/>
                <a:tab pos="3647440" algn="l"/>
              </a:tabLst>
            </a:pPr>
            <a:r>
              <a:rPr dirty="0" baseline="1984" sz="2100" spc="-345">
                <a:solidFill>
                  <a:srgbClr val="252525"/>
                </a:solidFill>
                <a:latin typeface="Trebuchet MS"/>
                <a:cs typeface="Trebuchet MS"/>
              </a:rPr>
              <a:t>Unit</a:t>
            </a:r>
            <a:r>
              <a:rPr dirty="0" baseline="1984" sz="2100" spc="-217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baseline="1984" sz="2100" spc="-300">
                <a:solidFill>
                  <a:srgbClr val="252525"/>
                </a:solidFill>
                <a:latin typeface="Trebuchet MS"/>
                <a:cs typeface="Trebuchet MS"/>
              </a:rPr>
              <a:t>Matrix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	1	0</a:t>
            </a:r>
            <a:r>
              <a:rPr dirty="0" sz="1400" spc="5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1984" sz="2100" spc="-427">
                <a:solidFill>
                  <a:srgbClr val="252525"/>
                </a:solidFill>
                <a:latin typeface="Trebuchet MS"/>
                <a:cs typeface="Trebuchet MS"/>
              </a:rPr>
              <a:t>,	</a:t>
            </a:r>
            <a:r>
              <a:rPr dirty="0" baseline="1984" sz="2100" spc="-307">
                <a:solidFill>
                  <a:srgbClr val="252525"/>
                </a:solidFill>
                <a:latin typeface="Trebuchet MS"/>
                <a:cs typeface="Trebuchet MS"/>
              </a:rPr>
              <a:t>Symmetric</a:t>
            </a:r>
            <a:r>
              <a:rPr dirty="0" baseline="1984" sz="2100" spc="-25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baseline="1984" sz="2100" spc="-292">
                <a:solidFill>
                  <a:srgbClr val="252525"/>
                </a:solidFill>
                <a:latin typeface="Trebuchet MS"/>
                <a:cs typeface="Trebuchet MS"/>
              </a:rPr>
              <a:t>Matrix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	21	5</a:t>
            </a:r>
            <a:endParaRPr sz="1400">
              <a:latin typeface="Cambria Math"/>
              <a:cs typeface="Cambria Math"/>
            </a:endParaRPr>
          </a:p>
          <a:p>
            <a:pPr marL="748030">
              <a:lnSpc>
                <a:spcPts val="1655"/>
              </a:lnSpc>
              <a:tabLst>
                <a:tab pos="1024255" algn="l"/>
                <a:tab pos="1299845" algn="l"/>
                <a:tab pos="2849880" algn="l"/>
                <a:tab pos="3274060" algn="l"/>
                <a:tab pos="3647440" algn="l"/>
              </a:tabLst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	0	1	11	5	1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2510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4.1.</a:t>
            </a:r>
            <a:r>
              <a:rPr dirty="0" spc="-35"/>
              <a:t> </a:t>
            </a:r>
            <a:r>
              <a:rPr dirty="0" spc="-5"/>
              <a:t>Calculating</a:t>
            </a:r>
            <a:r>
              <a:rPr dirty="0" spc="-25"/>
              <a:t> </a:t>
            </a:r>
            <a:r>
              <a:rPr dirty="0"/>
              <a:t>Matrix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80"/>
            <a:ext cx="3403854" cy="30403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2786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952244"/>
            <a:ext cx="1379982" cy="17449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69976" y="2253995"/>
            <a:ext cx="8785860" cy="2095500"/>
          </a:xfrm>
          <a:custGeom>
            <a:avLst/>
            <a:gdLst/>
            <a:ahLst/>
            <a:cxnLst/>
            <a:rect l="l" t="t" r="r" b="b"/>
            <a:pathLst>
              <a:path w="8785860" h="2095500">
                <a:moveTo>
                  <a:pt x="8785860" y="0"/>
                </a:moveTo>
                <a:lnTo>
                  <a:pt x="0" y="0"/>
                </a:lnTo>
                <a:lnTo>
                  <a:pt x="0" y="2095499"/>
                </a:lnTo>
                <a:lnTo>
                  <a:pt x="8785860" y="2095499"/>
                </a:lnTo>
                <a:lnTo>
                  <a:pt x="878586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3960" y="2378398"/>
            <a:ext cx="2602230" cy="53213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84"/>
              </a:spcBef>
              <a:tabLst>
                <a:tab pos="1730375" algn="l"/>
              </a:tabLst>
            </a:pPr>
            <a:r>
              <a:rPr dirty="0" sz="1600" spc="-335">
                <a:solidFill>
                  <a:srgbClr val="252525"/>
                </a:solidFill>
                <a:latin typeface="Trebuchet MS"/>
                <a:cs typeface="Trebuchet MS"/>
              </a:rPr>
              <a:t>When</a:t>
            </a:r>
            <a:r>
              <a:rPr dirty="0" sz="16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𝐶</a:t>
            </a:r>
            <a:r>
              <a:rPr dirty="0" sz="1600" spc="16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1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95">
                <a:solidFill>
                  <a:srgbClr val="252525"/>
                </a:solidFill>
                <a:latin typeface="Cambria Math"/>
                <a:cs typeface="Cambria Math"/>
              </a:rPr>
              <a:t>𝐴𝐵</a:t>
            </a:r>
            <a:r>
              <a:rPr dirty="0" sz="1600" spc="-9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6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𝑐</a:t>
            </a:r>
            <a:r>
              <a:rPr dirty="0" baseline="-21164" sz="1575">
                <a:solidFill>
                  <a:srgbClr val="252525"/>
                </a:solidFill>
                <a:latin typeface="Cambria Math"/>
                <a:cs typeface="Cambria Math"/>
              </a:rPr>
              <a:t>𝑖𝑗</a:t>
            </a:r>
            <a:r>
              <a:rPr dirty="0" baseline="-21164" sz="1575" spc="397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	</a:t>
            </a:r>
            <a:r>
              <a:rPr dirty="0" baseline="10416" sz="2400" spc="772">
                <a:solidFill>
                  <a:srgbClr val="252525"/>
                </a:solidFill>
                <a:latin typeface="Cambria Math"/>
                <a:cs typeface="Cambria Math"/>
              </a:rPr>
              <a:t>෍</a:t>
            </a:r>
            <a:r>
              <a:rPr dirty="0" baseline="10416" sz="2400" spc="50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10416" sz="24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baseline="-5291" sz="1575">
                <a:solidFill>
                  <a:srgbClr val="252525"/>
                </a:solidFill>
                <a:latin typeface="Cambria Math"/>
                <a:cs typeface="Cambria Math"/>
              </a:rPr>
              <a:t>𝑗𝑘</a:t>
            </a:r>
            <a:r>
              <a:rPr dirty="0" baseline="10416" sz="2400">
                <a:solidFill>
                  <a:srgbClr val="252525"/>
                </a:solidFill>
                <a:latin typeface="Cambria Math"/>
                <a:cs typeface="Cambria Math"/>
              </a:rPr>
              <a:t>𝑏</a:t>
            </a:r>
            <a:r>
              <a:rPr dirty="0" baseline="-5291" sz="1575">
                <a:solidFill>
                  <a:srgbClr val="252525"/>
                </a:solidFill>
                <a:latin typeface="Cambria Math"/>
                <a:cs typeface="Cambria Math"/>
              </a:rPr>
              <a:t>𝑘𝑗</a:t>
            </a:r>
            <a:endParaRPr baseline="-5291" sz="1575">
              <a:latin typeface="Cambria Math"/>
              <a:cs typeface="Cambria Math"/>
            </a:endParaRPr>
          </a:p>
          <a:p>
            <a:pPr marL="1667510">
              <a:lnSpc>
                <a:spcPct val="100000"/>
              </a:lnSpc>
              <a:spcBef>
                <a:spcPts val="300"/>
              </a:spcBef>
            </a:pPr>
            <a:r>
              <a:rPr dirty="0" sz="1150" spc="30">
                <a:solidFill>
                  <a:srgbClr val="252525"/>
                </a:solidFill>
                <a:latin typeface="Cambria Math"/>
                <a:cs typeface="Cambria Math"/>
              </a:rPr>
              <a:t>𝑘=1,𝑠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9360" y="3256279"/>
            <a:ext cx="14954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3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600" spc="-21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6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 spc="-24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6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600" spc="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∗</a:t>
            </a:r>
            <a:r>
              <a:rPr dirty="0" sz="1600" spc="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340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600" spc="-26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600" spc="-16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600" spc="-15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6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600" spc="-275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dirty="0" sz="16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𝐴</a:t>
            </a:r>
            <a:r>
              <a:rPr dirty="0" sz="1600" spc="1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85948" y="3245611"/>
            <a:ext cx="909319" cy="334645"/>
          </a:xfrm>
          <a:custGeom>
            <a:avLst/>
            <a:gdLst/>
            <a:ahLst/>
            <a:cxnLst/>
            <a:rect l="l" t="t" r="r" b="b"/>
            <a:pathLst>
              <a:path w="909320" h="334645">
                <a:moveTo>
                  <a:pt x="836676" y="0"/>
                </a:moveTo>
                <a:lnTo>
                  <a:pt x="833501" y="7874"/>
                </a:lnTo>
                <a:lnTo>
                  <a:pt x="845952" y="17988"/>
                </a:lnTo>
                <a:lnTo>
                  <a:pt x="857011" y="31162"/>
                </a:lnTo>
                <a:lnTo>
                  <a:pt x="874902" y="66548"/>
                </a:lnTo>
                <a:lnTo>
                  <a:pt x="886221" y="112474"/>
                </a:lnTo>
                <a:lnTo>
                  <a:pt x="890015" y="167259"/>
                </a:lnTo>
                <a:lnTo>
                  <a:pt x="889067" y="195216"/>
                </a:lnTo>
                <a:lnTo>
                  <a:pt x="881550" y="245179"/>
                </a:lnTo>
                <a:lnTo>
                  <a:pt x="866790" y="286617"/>
                </a:lnTo>
                <a:lnTo>
                  <a:pt x="833501" y="326389"/>
                </a:lnTo>
                <a:lnTo>
                  <a:pt x="836676" y="334263"/>
                </a:lnTo>
                <a:lnTo>
                  <a:pt x="878734" y="293169"/>
                </a:lnTo>
                <a:lnTo>
                  <a:pt x="897882" y="248711"/>
                </a:lnTo>
                <a:lnTo>
                  <a:pt x="907597" y="196082"/>
                </a:lnTo>
                <a:lnTo>
                  <a:pt x="908812" y="167004"/>
                </a:lnTo>
                <a:lnTo>
                  <a:pt x="907597" y="137785"/>
                </a:lnTo>
                <a:lnTo>
                  <a:pt x="897882" y="85155"/>
                </a:lnTo>
                <a:lnTo>
                  <a:pt x="878734" y="41005"/>
                </a:lnTo>
                <a:lnTo>
                  <a:pt x="852394" y="10144"/>
                </a:lnTo>
                <a:lnTo>
                  <a:pt x="836676" y="0"/>
                </a:lnTo>
                <a:close/>
              </a:path>
              <a:path w="909320" h="334645">
                <a:moveTo>
                  <a:pt x="72136" y="0"/>
                </a:moveTo>
                <a:lnTo>
                  <a:pt x="30202" y="41005"/>
                </a:lnTo>
                <a:lnTo>
                  <a:pt x="11037" y="85155"/>
                </a:lnTo>
                <a:lnTo>
                  <a:pt x="1234" y="137785"/>
                </a:lnTo>
                <a:lnTo>
                  <a:pt x="0" y="167004"/>
                </a:lnTo>
                <a:lnTo>
                  <a:pt x="1234" y="196082"/>
                </a:lnTo>
                <a:lnTo>
                  <a:pt x="11037" y="248711"/>
                </a:lnTo>
                <a:lnTo>
                  <a:pt x="30202" y="293169"/>
                </a:lnTo>
                <a:lnTo>
                  <a:pt x="56491" y="324169"/>
                </a:lnTo>
                <a:lnTo>
                  <a:pt x="72136" y="334263"/>
                </a:lnTo>
                <a:lnTo>
                  <a:pt x="75437" y="326389"/>
                </a:lnTo>
                <a:lnTo>
                  <a:pt x="62841" y="316196"/>
                </a:lnTo>
                <a:lnTo>
                  <a:pt x="51720" y="302942"/>
                </a:lnTo>
                <a:lnTo>
                  <a:pt x="33908" y="267208"/>
                </a:lnTo>
                <a:lnTo>
                  <a:pt x="22653" y="221186"/>
                </a:lnTo>
                <a:lnTo>
                  <a:pt x="18923" y="167259"/>
                </a:lnTo>
                <a:lnTo>
                  <a:pt x="19873" y="138753"/>
                </a:lnTo>
                <a:lnTo>
                  <a:pt x="27441" y="88409"/>
                </a:lnTo>
                <a:lnTo>
                  <a:pt x="42273" y="47361"/>
                </a:lnTo>
                <a:lnTo>
                  <a:pt x="75437" y="7874"/>
                </a:lnTo>
                <a:lnTo>
                  <a:pt x="7213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467991" y="3146551"/>
            <a:ext cx="125095" cy="50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900"/>
              </a:lnSpc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68648" y="3113277"/>
            <a:ext cx="960755" cy="599440"/>
          </a:xfrm>
          <a:custGeom>
            <a:avLst/>
            <a:gdLst/>
            <a:ahLst/>
            <a:cxnLst/>
            <a:rect l="l" t="t" r="r" b="b"/>
            <a:pathLst>
              <a:path w="960754" h="599439">
                <a:moveTo>
                  <a:pt x="865628" y="0"/>
                </a:moveTo>
                <a:lnTo>
                  <a:pt x="859278" y="7112"/>
                </a:lnTo>
                <a:lnTo>
                  <a:pt x="878066" y="31426"/>
                </a:lnTo>
                <a:lnTo>
                  <a:pt x="894425" y="59610"/>
                </a:lnTo>
                <a:lnTo>
                  <a:pt x="919857" y="127635"/>
                </a:lnTo>
                <a:lnTo>
                  <a:pt x="928784" y="166733"/>
                </a:lnTo>
                <a:lnTo>
                  <a:pt x="935176" y="208391"/>
                </a:lnTo>
                <a:lnTo>
                  <a:pt x="939020" y="252597"/>
                </a:lnTo>
                <a:lnTo>
                  <a:pt x="940304" y="299338"/>
                </a:lnTo>
                <a:lnTo>
                  <a:pt x="939020" y="346321"/>
                </a:lnTo>
                <a:lnTo>
                  <a:pt x="935176" y="390683"/>
                </a:lnTo>
                <a:lnTo>
                  <a:pt x="928784" y="432427"/>
                </a:lnTo>
                <a:lnTo>
                  <a:pt x="919857" y="471550"/>
                </a:lnTo>
                <a:lnTo>
                  <a:pt x="894425" y="539464"/>
                </a:lnTo>
                <a:lnTo>
                  <a:pt x="859278" y="591947"/>
                </a:lnTo>
                <a:lnTo>
                  <a:pt x="865628" y="599059"/>
                </a:lnTo>
                <a:lnTo>
                  <a:pt x="905458" y="547068"/>
                </a:lnTo>
                <a:lnTo>
                  <a:pt x="935478" y="478789"/>
                </a:lnTo>
                <a:lnTo>
                  <a:pt x="946405" y="438908"/>
                </a:lnTo>
                <a:lnTo>
                  <a:pt x="954226" y="395668"/>
                </a:lnTo>
                <a:lnTo>
                  <a:pt x="958927" y="349095"/>
                </a:lnTo>
                <a:lnTo>
                  <a:pt x="960497" y="299212"/>
                </a:lnTo>
                <a:lnTo>
                  <a:pt x="958927" y="249588"/>
                </a:lnTo>
                <a:lnTo>
                  <a:pt x="954226" y="203215"/>
                </a:lnTo>
                <a:lnTo>
                  <a:pt x="946405" y="160105"/>
                </a:lnTo>
                <a:lnTo>
                  <a:pt x="935478" y="120269"/>
                </a:lnTo>
                <a:lnTo>
                  <a:pt x="921688" y="84117"/>
                </a:lnTo>
                <a:lnTo>
                  <a:pt x="886775" y="24006"/>
                </a:lnTo>
                <a:lnTo>
                  <a:pt x="865628" y="0"/>
                </a:lnTo>
                <a:close/>
              </a:path>
              <a:path w="960754" h="599439">
                <a:moveTo>
                  <a:pt x="94865" y="0"/>
                </a:moveTo>
                <a:lnTo>
                  <a:pt x="55034" y="52038"/>
                </a:lnTo>
                <a:lnTo>
                  <a:pt x="25015" y="120269"/>
                </a:lnTo>
                <a:lnTo>
                  <a:pt x="14087" y="160105"/>
                </a:lnTo>
                <a:lnTo>
                  <a:pt x="6266" y="203215"/>
                </a:lnTo>
                <a:lnTo>
                  <a:pt x="1565" y="249588"/>
                </a:lnTo>
                <a:lnTo>
                  <a:pt x="0" y="299338"/>
                </a:lnTo>
                <a:lnTo>
                  <a:pt x="1565" y="349095"/>
                </a:lnTo>
                <a:lnTo>
                  <a:pt x="6266" y="395668"/>
                </a:lnTo>
                <a:lnTo>
                  <a:pt x="14087" y="438908"/>
                </a:lnTo>
                <a:lnTo>
                  <a:pt x="25015" y="478789"/>
                </a:lnTo>
                <a:lnTo>
                  <a:pt x="38804" y="514959"/>
                </a:lnTo>
                <a:lnTo>
                  <a:pt x="73717" y="575105"/>
                </a:lnTo>
                <a:lnTo>
                  <a:pt x="94865" y="599059"/>
                </a:lnTo>
                <a:lnTo>
                  <a:pt x="101215" y="591947"/>
                </a:lnTo>
                <a:lnTo>
                  <a:pt x="82426" y="567634"/>
                </a:lnTo>
                <a:lnTo>
                  <a:pt x="66067" y="539464"/>
                </a:lnTo>
                <a:lnTo>
                  <a:pt x="40636" y="471550"/>
                </a:lnTo>
                <a:lnTo>
                  <a:pt x="31708" y="432427"/>
                </a:lnTo>
                <a:lnTo>
                  <a:pt x="25316" y="390683"/>
                </a:lnTo>
                <a:lnTo>
                  <a:pt x="21472" y="346321"/>
                </a:lnTo>
                <a:lnTo>
                  <a:pt x="20192" y="299212"/>
                </a:lnTo>
                <a:lnTo>
                  <a:pt x="21472" y="252597"/>
                </a:lnTo>
                <a:lnTo>
                  <a:pt x="25316" y="208391"/>
                </a:lnTo>
                <a:lnTo>
                  <a:pt x="31708" y="166733"/>
                </a:lnTo>
                <a:lnTo>
                  <a:pt x="40636" y="127635"/>
                </a:lnTo>
                <a:lnTo>
                  <a:pt x="66067" y="59610"/>
                </a:lnTo>
                <a:lnTo>
                  <a:pt x="101215" y="7112"/>
                </a:lnTo>
                <a:lnTo>
                  <a:pt x="9486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745358" y="3256279"/>
            <a:ext cx="3972560" cy="517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994"/>
              </a:lnSpc>
              <a:spcBef>
                <a:spcPts val="95"/>
              </a:spcBef>
              <a:tabLst>
                <a:tab pos="354965" algn="l"/>
                <a:tab pos="610870" algn="l"/>
                <a:tab pos="2063114" algn="l"/>
                <a:tab pos="3031490" algn="l"/>
                <a:tab pos="3347085" algn="l"/>
                <a:tab pos="3663950" algn="l"/>
              </a:tabLst>
            </a:pPr>
            <a:r>
              <a:rPr dirty="0" baseline="29513" sz="2400" spc="-7">
                <a:solidFill>
                  <a:srgbClr val="252525"/>
                </a:solidFill>
                <a:latin typeface="Cambria Math"/>
                <a:cs typeface="Cambria Math"/>
              </a:rPr>
              <a:t>4	1	</a:t>
            </a:r>
            <a:r>
              <a:rPr dirty="0" sz="1600" spc="-12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6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 spc="-245">
                <a:solidFill>
                  <a:srgbClr val="252525"/>
                </a:solidFill>
                <a:latin typeface="Trebuchet MS"/>
                <a:cs typeface="Trebuchet MS"/>
              </a:rPr>
              <a:t>multiplied</a:t>
            </a:r>
            <a:r>
              <a:rPr dirty="0" sz="16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 spc="-260">
                <a:solidFill>
                  <a:srgbClr val="252525"/>
                </a:solidFill>
                <a:latin typeface="Trebuchet MS"/>
                <a:cs typeface="Trebuchet MS"/>
              </a:rPr>
              <a:t>by	</a:t>
            </a:r>
            <a:r>
              <a:rPr dirty="0" sz="1600" spc="-225">
                <a:solidFill>
                  <a:srgbClr val="252525"/>
                </a:solidFill>
                <a:latin typeface="Trebuchet MS"/>
                <a:cs typeface="Trebuchet MS"/>
              </a:rPr>
              <a:t>Matrix	</a:t>
            </a:r>
            <a:r>
              <a:rPr dirty="0" baseline="62500" sz="2400" spc="-7">
                <a:solidFill>
                  <a:srgbClr val="252525"/>
                </a:solidFill>
                <a:latin typeface="Cambria Math"/>
                <a:cs typeface="Cambria Math"/>
              </a:rPr>
              <a:t>2	0	0</a:t>
            </a:r>
            <a:r>
              <a:rPr dirty="0" baseline="62500" sz="2400" spc="8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32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endParaRPr sz="1600">
              <a:latin typeface="Trebuchet MS"/>
              <a:cs typeface="Trebuchet MS"/>
            </a:endParaRPr>
          </a:p>
          <a:p>
            <a:pPr marL="38100">
              <a:lnSpc>
                <a:spcPts val="980"/>
              </a:lnSpc>
              <a:tabLst>
                <a:tab pos="354965" algn="l"/>
                <a:tab pos="1609090" algn="l"/>
                <a:tab pos="2503805" algn="l"/>
                <a:tab pos="3031490" algn="l"/>
                <a:tab pos="3347085" algn="l"/>
                <a:tab pos="3663950" algn="l"/>
              </a:tabLst>
            </a:pPr>
            <a:r>
              <a:rPr dirty="0" baseline="-32986" sz="2400" spc="-7">
                <a:solidFill>
                  <a:srgbClr val="252525"/>
                </a:solidFill>
                <a:latin typeface="Cambria Math"/>
                <a:cs typeface="Cambria Math"/>
              </a:rPr>
              <a:t>5	2	</a:t>
            </a: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baseline="1736" sz="2400" spc="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∗</a:t>
            </a:r>
            <a:r>
              <a:rPr dirty="0" baseline="1736" sz="24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3	𝐵</a:t>
            </a:r>
            <a:r>
              <a:rPr dirty="0" baseline="1736" sz="2400" spc="20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=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	0	5</a:t>
            </a:r>
            <a:endParaRPr sz="1600">
              <a:latin typeface="Cambria Math"/>
              <a:cs typeface="Cambria Math"/>
            </a:endParaRPr>
          </a:p>
          <a:p>
            <a:pPr algn="r" marR="187960">
              <a:lnSpc>
                <a:spcPts val="1900"/>
              </a:lnSpc>
              <a:tabLst>
                <a:tab pos="314960" algn="l"/>
                <a:tab pos="63182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	5	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9360" y="3785108"/>
            <a:ext cx="1862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∗ 3</a:t>
            </a:r>
            <a:r>
              <a:rPr dirty="0" sz="1600" spc="-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225">
                <a:solidFill>
                  <a:srgbClr val="252525"/>
                </a:solidFill>
                <a:latin typeface="Trebuchet MS"/>
                <a:cs typeface="Trebuchet MS"/>
              </a:rPr>
              <a:t>Matrix</a:t>
            </a:r>
            <a:r>
              <a:rPr dirty="0" sz="1600" spc="11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𝐶</a:t>
            </a:r>
            <a:r>
              <a:rPr dirty="0" sz="1600" spc="1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10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𝐴𝐵</a:t>
            </a:r>
            <a:r>
              <a:rPr dirty="0" sz="1600" spc="46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97429" y="3774440"/>
            <a:ext cx="1247140" cy="334645"/>
          </a:xfrm>
          <a:custGeom>
            <a:avLst/>
            <a:gdLst/>
            <a:ahLst/>
            <a:cxnLst/>
            <a:rect l="l" t="t" r="r" b="b"/>
            <a:pathLst>
              <a:path w="1247139" h="334645">
                <a:moveTo>
                  <a:pt x="1175004" y="0"/>
                </a:moveTo>
                <a:lnTo>
                  <a:pt x="1171829" y="7874"/>
                </a:lnTo>
                <a:lnTo>
                  <a:pt x="1184280" y="17988"/>
                </a:lnTo>
                <a:lnTo>
                  <a:pt x="1195339" y="31162"/>
                </a:lnTo>
                <a:lnTo>
                  <a:pt x="1213231" y="66548"/>
                </a:lnTo>
                <a:lnTo>
                  <a:pt x="1224549" y="112474"/>
                </a:lnTo>
                <a:lnTo>
                  <a:pt x="1228344" y="167259"/>
                </a:lnTo>
                <a:lnTo>
                  <a:pt x="1227395" y="195216"/>
                </a:lnTo>
                <a:lnTo>
                  <a:pt x="1219878" y="245179"/>
                </a:lnTo>
                <a:lnTo>
                  <a:pt x="1205118" y="286617"/>
                </a:lnTo>
                <a:lnTo>
                  <a:pt x="1171829" y="326390"/>
                </a:lnTo>
                <a:lnTo>
                  <a:pt x="1175004" y="334264"/>
                </a:lnTo>
                <a:lnTo>
                  <a:pt x="1217062" y="293169"/>
                </a:lnTo>
                <a:lnTo>
                  <a:pt x="1236210" y="248711"/>
                </a:lnTo>
                <a:lnTo>
                  <a:pt x="1245925" y="196082"/>
                </a:lnTo>
                <a:lnTo>
                  <a:pt x="1247140" y="167005"/>
                </a:lnTo>
                <a:lnTo>
                  <a:pt x="1245925" y="137785"/>
                </a:lnTo>
                <a:lnTo>
                  <a:pt x="1236210" y="85155"/>
                </a:lnTo>
                <a:lnTo>
                  <a:pt x="1217062" y="41005"/>
                </a:lnTo>
                <a:lnTo>
                  <a:pt x="1190722" y="10144"/>
                </a:lnTo>
                <a:lnTo>
                  <a:pt x="1175004" y="0"/>
                </a:lnTo>
                <a:close/>
              </a:path>
              <a:path w="1247139" h="334645">
                <a:moveTo>
                  <a:pt x="72135" y="0"/>
                </a:moveTo>
                <a:lnTo>
                  <a:pt x="30202" y="41005"/>
                </a:lnTo>
                <a:lnTo>
                  <a:pt x="11037" y="85155"/>
                </a:lnTo>
                <a:lnTo>
                  <a:pt x="1234" y="137785"/>
                </a:lnTo>
                <a:lnTo>
                  <a:pt x="0" y="167005"/>
                </a:lnTo>
                <a:lnTo>
                  <a:pt x="1234" y="196082"/>
                </a:lnTo>
                <a:lnTo>
                  <a:pt x="11037" y="248711"/>
                </a:lnTo>
                <a:lnTo>
                  <a:pt x="30202" y="293169"/>
                </a:lnTo>
                <a:lnTo>
                  <a:pt x="56491" y="324169"/>
                </a:lnTo>
                <a:lnTo>
                  <a:pt x="72135" y="334264"/>
                </a:lnTo>
                <a:lnTo>
                  <a:pt x="75437" y="326390"/>
                </a:lnTo>
                <a:lnTo>
                  <a:pt x="62841" y="316196"/>
                </a:lnTo>
                <a:lnTo>
                  <a:pt x="51720" y="302942"/>
                </a:lnTo>
                <a:lnTo>
                  <a:pt x="33908" y="267208"/>
                </a:lnTo>
                <a:lnTo>
                  <a:pt x="22653" y="221186"/>
                </a:lnTo>
                <a:lnTo>
                  <a:pt x="18922" y="167259"/>
                </a:lnTo>
                <a:lnTo>
                  <a:pt x="19873" y="138753"/>
                </a:lnTo>
                <a:lnTo>
                  <a:pt x="27441" y="88409"/>
                </a:lnTo>
                <a:lnTo>
                  <a:pt x="42273" y="47361"/>
                </a:lnTo>
                <a:lnTo>
                  <a:pt x="75437" y="7874"/>
                </a:lnTo>
                <a:lnTo>
                  <a:pt x="7213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855595" y="3678428"/>
            <a:ext cx="1316990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895"/>
              </a:lnSpc>
              <a:spcBef>
                <a:spcPts val="95"/>
              </a:spcBef>
              <a:tabLst>
                <a:tab pos="509905" algn="l"/>
                <a:tab pos="88201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14	5	24</a:t>
            </a:r>
            <a:r>
              <a:rPr dirty="0" sz="1600" spc="3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29513" sz="2400" spc="-487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baseline="-29513" sz="2400">
              <a:latin typeface="Trebuchet MS"/>
              <a:cs typeface="Trebuchet MS"/>
            </a:endParaRPr>
          </a:p>
          <a:p>
            <a:pPr marL="25400">
              <a:lnSpc>
                <a:spcPts val="1895"/>
              </a:lnSpc>
              <a:tabLst>
                <a:tab pos="453390" algn="l"/>
                <a:tab pos="88201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13	10	27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4520171"/>
            <a:ext cx="7044690" cy="511314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251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4.1.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Calculating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Matrix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261872"/>
            <a:ext cx="7913370" cy="30403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2786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885149"/>
            <a:ext cx="4310634" cy="28121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358896" y="2292095"/>
            <a:ext cx="3104515" cy="753110"/>
          </a:xfrm>
          <a:custGeom>
            <a:avLst/>
            <a:gdLst/>
            <a:ahLst/>
            <a:cxnLst/>
            <a:rect l="l" t="t" r="r" b="b"/>
            <a:pathLst>
              <a:path w="3104515" h="753110">
                <a:moveTo>
                  <a:pt x="3104388" y="0"/>
                </a:moveTo>
                <a:lnTo>
                  <a:pt x="0" y="0"/>
                </a:lnTo>
                <a:lnTo>
                  <a:pt x="0" y="752855"/>
                </a:lnTo>
                <a:lnTo>
                  <a:pt x="3104388" y="752855"/>
                </a:lnTo>
                <a:lnTo>
                  <a:pt x="310438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489325" y="2526537"/>
            <a:ext cx="396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𝐴</a:t>
            </a:r>
            <a:r>
              <a:rPr dirty="0" sz="1600" spc="3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51605" y="2517139"/>
            <a:ext cx="836930" cy="332740"/>
          </a:xfrm>
          <a:custGeom>
            <a:avLst/>
            <a:gdLst/>
            <a:ahLst/>
            <a:cxnLst/>
            <a:rect l="l" t="t" r="r" b="b"/>
            <a:pathLst>
              <a:path w="836929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415" y="323850"/>
                </a:lnTo>
                <a:lnTo>
                  <a:pt x="18415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  <a:path w="836929" h="332739">
                <a:moveTo>
                  <a:pt x="836930" y="0"/>
                </a:moveTo>
                <a:lnTo>
                  <a:pt x="789813" y="0"/>
                </a:lnTo>
                <a:lnTo>
                  <a:pt x="789813" y="8890"/>
                </a:lnTo>
                <a:lnTo>
                  <a:pt x="818515" y="8890"/>
                </a:lnTo>
                <a:lnTo>
                  <a:pt x="818515" y="323850"/>
                </a:lnTo>
                <a:lnTo>
                  <a:pt x="789813" y="323850"/>
                </a:lnTo>
                <a:lnTo>
                  <a:pt x="789813" y="332740"/>
                </a:lnTo>
                <a:lnTo>
                  <a:pt x="836930" y="332740"/>
                </a:lnTo>
                <a:lnTo>
                  <a:pt x="836930" y="323850"/>
                </a:lnTo>
                <a:lnTo>
                  <a:pt x="836930" y="8890"/>
                </a:lnTo>
                <a:lnTo>
                  <a:pt x="83693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002913" y="2417775"/>
            <a:ext cx="670560" cy="507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ts val="1895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895"/>
              </a:lnSpc>
              <a:tabLst>
                <a:tab pos="545465" algn="l"/>
              </a:tabLst>
            </a:pP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6904" y="2526233"/>
            <a:ext cx="902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29513" sz="24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baseline="29513" sz="2400" spc="-7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r>
              <a:rPr dirty="0" baseline="29513" sz="24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29513" sz="2400" spc="2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-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𝐵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13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90261" y="2517139"/>
            <a:ext cx="836930" cy="332740"/>
          </a:xfrm>
          <a:custGeom>
            <a:avLst/>
            <a:gdLst/>
            <a:ahLst/>
            <a:cxnLst/>
            <a:rect l="l" t="t" r="r" b="b"/>
            <a:pathLst>
              <a:path w="836929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415" y="323850"/>
                </a:lnTo>
                <a:lnTo>
                  <a:pt x="18415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  <a:path w="836929" h="332739">
                <a:moveTo>
                  <a:pt x="836930" y="0"/>
                </a:moveTo>
                <a:lnTo>
                  <a:pt x="789813" y="0"/>
                </a:lnTo>
                <a:lnTo>
                  <a:pt x="789813" y="8890"/>
                </a:lnTo>
                <a:lnTo>
                  <a:pt x="818515" y="8890"/>
                </a:lnTo>
                <a:lnTo>
                  <a:pt x="818515" y="323850"/>
                </a:lnTo>
                <a:lnTo>
                  <a:pt x="789813" y="323850"/>
                </a:lnTo>
                <a:lnTo>
                  <a:pt x="789813" y="332740"/>
                </a:lnTo>
                <a:lnTo>
                  <a:pt x="836930" y="332740"/>
                </a:lnTo>
                <a:lnTo>
                  <a:pt x="836930" y="323850"/>
                </a:lnTo>
                <a:lnTo>
                  <a:pt x="836930" y="8890"/>
                </a:lnTo>
                <a:lnTo>
                  <a:pt x="83693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443473" y="2416251"/>
            <a:ext cx="745490" cy="5086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ts val="1905"/>
              </a:lnSpc>
              <a:spcBef>
                <a:spcPts val="95"/>
              </a:spcBef>
              <a:tabLst>
                <a:tab pos="467359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8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905"/>
              </a:lnSpc>
              <a:tabLst>
                <a:tab pos="543560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−8	2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3212" y="3206495"/>
            <a:ext cx="8907780" cy="2749550"/>
            <a:chOff x="553212" y="3206495"/>
            <a:chExt cx="8907780" cy="274955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660" y="3349447"/>
              <a:ext cx="8666235" cy="239899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6260" y="3209543"/>
              <a:ext cx="8902065" cy="2743200"/>
            </a:xfrm>
            <a:custGeom>
              <a:avLst/>
              <a:gdLst/>
              <a:ahLst/>
              <a:cxnLst/>
              <a:rect l="l" t="t" r="r" b="b"/>
              <a:pathLst>
                <a:path w="8902065" h="2743200">
                  <a:moveTo>
                    <a:pt x="0" y="2743199"/>
                  </a:moveTo>
                  <a:lnTo>
                    <a:pt x="8901684" y="2743199"/>
                  </a:lnTo>
                  <a:lnTo>
                    <a:pt x="8901684" y="0"/>
                  </a:lnTo>
                  <a:lnTo>
                    <a:pt x="0" y="0"/>
                  </a:lnTo>
                  <a:lnTo>
                    <a:pt x="0" y="274319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379552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251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4.1.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Calculating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Matrix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98520" y="1901951"/>
            <a:ext cx="3106420" cy="896619"/>
            <a:chOff x="3398520" y="1901951"/>
            <a:chExt cx="3106420" cy="896619"/>
          </a:xfrm>
        </p:grpSpPr>
        <p:sp>
          <p:nvSpPr>
            <p:cNvPr id="10" name="object 10"/>
            <p:cNvSpPr/>
            <p:nvPr/>
          </p:nvSpPr>
          <p:spPr>
            <a:xfrm>
              <a:off x="3398520" y="1901951"/>
              <a:ext cx="3106420" cy="896619"/>
            </a:xfrm>
            <a:custGeom>
              <a:avLst/>
              <a:gdLst/>
              <a:ahLst/>
              <a:cxnLst/>
              <a:rect l="l" t="t" r="r" b="b"/>
              <a:pathLst>
                <a:path w="3106420" h="896619">
                  <a:moveTo>
                    <a:pt x="3105912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3105912" y="896112"/>
                  </a:lnTo>
                  <a:lnTo>
                    <a:pt x="31059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322699" y="2198369"/>
              <a:ext cx="847725" cy="332740"/>
            </a:xfrm>
            <a:custGeom>
              <a:avLst/>
              <a:gdLst/>
              <a:ahLst/>
              <a:cxnLst/>
              <a:rect l="l" t="t" r="r" b="b"/>
              <a:pathLst>
                <a:path w="847725" h="332739">
                  <a:moveTo>
                    <a:pt x="47117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323850"/>
                  </a:lnTo>
                  <a:lnTo>
                    <a:pt x="0" y="332740"/>
                  </a:lnTo>
                  <a:lnTo>
                    <a:pt x="47117" y="332740"/>
                  </a:lnTo>
                  <a:lnTo>
                    <a:pt x="47117" y="323850"/>
                  </a:lnTo>
                  <a:lnTo>
                    <a:pt x="18288" y="323850"/>
                  </a:lnTo>
                  <a:lnTo>
                    <a:pt x="18288" y="8890"/>
                  </a:lnTo>
                  <a:lnTo>
                    <a:pt x="47117" y="8890"/>
                  </a:lnTo>
                  <a:lnTo>
                    <a:pt x="47117" y="0"/>
                  </a:lnTo>
                  <a:close/>
                </a:path>
                <a:path w="847725" h="332739">
                  <a:moveTo>
                    <a:pt x="847471" y="0"/>
                  </a:moveTo>
                  <a:lnTo>
                    <a:pt x="800354" y="0"/>
                  </a:lnTo>
                  <a:lnTo>
                    <a:pt x="800354" y="8890"/>
                  </a:lnTo>
                  <a:lnTo>
                    <a:pt x="829183" y="8890"/>
                  </a:lnTo>
                  <a:lnTo>
                    <a:pt x="829183" y="323850"/>
                  </a:lnTo>
                  <a:lnTo>
                    <a:pt x="800354" y="323850"/>
                  </a:lnTo>
                  <a:lnTo>
                    <a:pt x="800354" y="332740"/>
                  </a:lnTo>
                  <a:lnTo>
                    <a:pt x="847471" y="332740"/>
                  </a:lnTo>
                  <a:lnTo>
                    <a:pt x="847471" y="323850"/>
                  </a:lnTo>
                  <a:lnTo>
                    <a:pt x="847471" y="8890"/>
                  </a:lnTo>
                  <a:lnTo>
                    <a:pt x="847471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729228" y="2207513"/>
            <a:ext cx="111252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470"/>
              </a:lnSpc>
              <a:spcBef>
                <a:spcPts val="95"/>
              </a:spcBef>
              <a:tabLst>
                <a:tab pos="644525" algn="l"/>
                <a:tab pos="961390" algn="l"/>
              </a:tabLst>
            </a:pP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𝐴𝐵</a:t>
            </a:r>
            <a:r>
              <a:rPr dirty="0" sz="1600" spc="1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	</a:t>
            </a:r>
            <a:r>
              <a:rPr dirty="0" baseline="29513" sz="2400" spc="-7">
                <a:solidFill>
                  <a:srgbClr val="252525"/>
                </a:solidFill>
                <a:latin typeface="Cambria Math"/>
                <a:cs typeface="Cambria Math"/>
              </a:rPr>
              <a:t>2	3</a:t>
            </a:r>
            <a:endParaRPr baseline="29513" sz="2400">
              <a:latin typeface="Cambria Math"/>
              <a:cs typeface="Cambria Math"/>
            </a:endParaRPr>
          </a:p>
          <a:p>
            <a:pPr marL="644525">
              <a:lnSpc>
                <a:spcPts val="1470"/>
              </a:lnSpc>
              <a:tabLst>
                <a:tab pos="961390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	5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61483" y="2063749"/>
            <a:ext cx="849630" cy="600710"/>
          </a:xfrm>
          <a:custGeom>
            <a:avLst/>
            <a:gdLst/>
            <a:ahLst/>
            <a:cxnLst/>
            <a:rect l="l" t="t" r="r" b="b"/>
            <a:pathLst>
              <a:path w="849629" h="600710">
                <a:moveTo>
                  <a:pt x="53848" y="0"/>
                </a:moveTo>
                <a:lnTo>
                  <a:pt x="0" y="0"/>
                </a:lnTo>
                <a:lnTo>
                  <a:pt x="0" y="10160"/>
                </a:lnTo>
                <a:lnTo>
                  <a:pt x="0" y="591820"/>
                </a:lnTo>
                <a:lnTo>
                  <a:pt x="0" y="600710"/>
                </a:lnTo>
                <a:lnTo>
                  <a:pt x="53848" y="600710"/>
                </a:lnTo>
                <a:lnTo>
                  <a:pt x="53848" y="591820"/>
                </a:lnTo>
                <a:lnTo>
                  <a:pt x="20447" y="591820"/>
                </a:lnTo>
                <a:lnTo>
                  <a:pt x="20447" y="10160"/>
                </a:lnTo>
                <a:lnTo>
                  <a:pt x="53848" y="10160"/>
                </a:lnTo>
                <a:lnTo>
                  <a:pt x="53848" y="0"/>
                </a:lnTo>
                <a:close/>
              </a:path>
              <a:path w="849629" h="600710">
                <a:moveTo>
                  <a:pt x="849630" y="0"/>
                </a:moveTo>
                <a:lnTo>
                  <a:pt x="795782" y="0"/>
                </a:lnTo>
                <a:lnTo>
                  <a:pt x="795782" y="10160"/>
                </a:lnTo>
                <a:lnTo>
                  <a:pt x="829183" y="10160"/>
                </a:lnTo>
                <a:lnTo>
                  <a:pt x="829183" y="591820"/>
                </a:lnTo>
                <a:lnTo>
                  <a:pt x="795782" y="591820"/>
                </a:lnTo>
                <a:lnTo>
                  <a:pt x="795782" y="600710"/>
                </a:lnTo>
                <a:lnTo>
                  <a:pt x="849630" y="600710"/>
                </a:lnTo>
                <a:lnTo>
                  <a:pt x="849630" y="591820"/>
                </a:lnTo>
                <a:lnTo>
                  <a:pt x="849630" y="10160"/>
                </a:lnTo>
                <a:lnTo>
                  <a:pt x="84963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80940" y="1978913"/>
            <a:ext cx="1110615" cy="74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895"/>
              </a:lnSpc>
              <a:spcBef>
                <a:spcPts val="95"/>
              </a:spcBef>
              <a:tabLst>
                <a:tab pos="339090" algn="l"/>
                <a:tab pos="883285" algn="l"/>
              </a:tabLst>
            </a:pPr>
            <a:r>
              <a:rPr dirty="0" baseline="-32986" sz="2400" spc="-7">
                <a:solidFill>
                  <a:srgbClr val="252525"/>
                </a:solidFill>
                <a:latin typeface="Cambria Math"/>
                <a:cs typeface="Cambria Math"/>
              </a:rPr>
              <a:t>1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−1	2</a:t>
            </a:r>
            <a:endParaRPr sz="1600">
              <a:latin typeface="Cambria Math"/>
              <a:cs typeface="Cambria Math"/>
            </a:endParaRPr>
          </a:p>
          <a:p>
            <a:pPr marL="25400">
              <a:lnSpc>
                <a:spcPts val="1880"/>
              </a:lnSpc>
              <a:tabLst>
                <a:tab pos="415290" algn="l"/>
                <a:tab pos="807085" algn="l"/>
              </a:tabLst>
            </a:pPr>
            <a:r>
              <a:rPr dirty="0" baseline="-32986" sz="2400" spc="-7">
                <a:solidFill>
                  <a:srgbClr val="252525"/>
                </a:solidFill>
                <a:latin typeface="Cambria Math"/>
                <a:cs typeface="Cambria Math"/>
              </a:rPr>
              <a:t>1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	−2</a:t>
            </a:r>
            <a:endParaRPr sz="1600">
              <a:latin typeface="Cambria Math"/>
              <a:cs typeface="Cambria Math"/>
            </a:endParaRPr>
          </a:p>
          <a:p>
            <a:pPr marL="415290">
              <a:lnSpc>
                <a:spcPts val="1900"/>
              </a:lnSpc>
              <a:tabLst>
                <a:tab pos="88328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3	6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8640" y="3000755"/>
            <a:ext cx="8853170" cy="2522220"/>
            <a:chOff x="548640" y="3000755"/>
            <a:chExt cx="8853170" cy="252222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7184" y="3179957"/>
              <a:ext cx="8598275" cy="218978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51688" y="3003803"/>
              <a:ext cx="8846820" cy="2516505"/>
            </a:xfrm>
            <a:custGeom>
              <a:avLst/>
              <a:gdLst/>
              <a:ahLst/>
              <a:cxnLst/>
              <a:rect l="l" t="t" r="r" b="b"/>
              <a:pathLst>
                <a:path w="8846820" h="2516504">
                  <a:moveTo>
                    <a:pt x="0" y="2516124"/>
                  </a:moveTo>
                  <a:lnTo>
                    <a:pt x="8846819" y="2516124"/>
                  </a:lnTo>
                  <a:lnTo>
                    <a:pt x="8846819" y="0"/>
                  </a:lnTo>
                  <a:lnTo>
                    <a:pt x="0" y="0"/>
                  </a:lnTo>
                  <a:lnTo>
                    <a:pt x="0" y="251612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3134" y="6524434"/>
            <a:ext cx="108806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366510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2588514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6237"/>
            <a:ext cx="1949958" cy="2309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280" y="1938527"/>
            <a:ext cx="1620774" cy="1760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9138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4.2.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Reverse</a:t>
            </a:r>
            <a:r>
              <a:rPr dirty="0" sz="1800" spc="-5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Matrix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2563" y="3933444"/>
            <a:ext cx="3754120" cy="2037714"/>
            <a:chOff x="702563" y="3933444"/>
            <a:chExt cx="3754120" cy="2037714"/>
          </a:xfrm>
        </p:grpSpPr>
        <p:sp>
          <p:nvSpPr>
            <p:cNvPr id="11" name="object 11"/>
            <p:cNvSpPr/>
            <p:nvPr/>
          </p:nvSpPr>
          <p:spPr>
            <a:xfrm>
              <a:off x="702563" y="3933444"/>
              <a:ext cx="3754120" cy="2037714"/>
            </a:xfrm>
            <a:custGeom>
              <a:avLst/>
              <a:gdLst/>
              <a:ahLst/>
              <a:cxnLst/>
              <a:rect l="l" t="t" r="r" b="b"/>
              <a:pathLst>
                <a:path w="3754120" h="2037714">
                  <a:moveTo>
                    <a:pt x="3753612" y="0"/>
                  </a:moveTo>
                  <a:lnTo>
                    <a:pt x="0" y="0"/>
                  </a:lnTo>
                  <a:lnTo>
                    <a:pt x="0" y="2037587"/>
                  </a:lnTo>
                  <a:lnTo>
                    <a:pt x="3753612" y="2037587"/>
                  </a:lnTo>
                  <a:lnTo>
                    <a:pt x="37536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60958" y="4174489"/>
              <a:ext cx="1301115" cy="678180"/>
            </a:xfrm>
            <a:custGeom>
              <a:avLst/>
              <a:gdLst/>
              <a:ahLst/>
              <a:cxnLst/>
              <a:rect l="l" t="t" r="r" b="b"/>
              <a:pathLst>
                <a:path w="1301114" h="678179">
                  <a:moveTo>
                    <a:pt x="53848" y="45720"/>
                  </a:moveTo>
                  <a:lnTo>
                    <a:pt x="0" y="45720"/>
                  </a:lnTo>
                  <a:lnTo>
                    <a:pt x="0" y="55880"/>
                  </a:lnTo>
                  <a:lnTo>
                    <a:pt x="0" y="637540"/>
                  </a:lnTo>
                  <a:lnTo>
                    <a:pt x="0" y="647700"/>
                  </a:lnTo>
                  <a:lnTo>
                    <a:pt x="53848" y="647700"/>
                  </a:lnTo>
                  <a:lnTo>
                    <a:pt x="53848" y="637540"/>
                  </a:lnTo>
                  <a:lnTo>
                    <a:pt x="20396" y="637540"/>
                  </a:lnTo>
                  <a:lnTo>
                    <a:pt x="20396" y="55880"/>
                  </a:lnTo>
                  <a:lnTo>
                    <a:pt x="53848" y="55880"/>
                  </a:lnTo>
                  <a:lnTo>
                    <a:pt x="53848" y="45720"/>
                  </a:lnTo>
                  <a:close/>
                </a:path>
                <a:path w="1301114" h="678179">
                  <a:moveTo>
                    <a:pt x="861745" y="45720"/>
                  </a:moveTo>
                  <a:lnTo>
                    <a:pt x="807897" y="45720"/>
                  </a:lnTo>
                  <a:lnTo>
                    <a:pt x="807897" y="55880"/>
                  </a:lnTo>
                  <a:lnTo>
                    <a:pt x="841298" y="55880"/>
                  </a:lnTo>
                  <a:lnTo>
                    <a:pt x="841298" y="637540"/>
                  </a:lnTo>
                  <a:lnTo>
                    <a:pt x="807897" y="637540"/>
                  </a:lnTo>
                  <a:lnTo>
                    <a:pt x="807897" y="647700"/>
                  </a:lnTo>
                  <a:lnTo>
                    <a:pt x="861745" y="647700"/>
                  </a:lnTo>
                  <a:lnTo>
                    <a:pt x="861745" y="637540"/>
                  </a:lnTo>
                  <a:lnTo>
                    <a:pt x="861745" y="55880"/>
                  </a:lnTo>
                  <a:lnTo>
                    <a:pt x="861745" y="45720"/>
                  </a:lnTo>
                  <a:close/>
                </a:path>
                <a:path w="1301114" h="678179">
                  <a:moveTo>
                    <a:pt x="1022146" y="0"/>
                  </a:moveTo>
                  <a:lnTo>
                    <a:pt x="961440" y="0"/>
                  </a:lnTo>
                  <a:lnTo>
                    <a:pt x="961440" y="11430"/>
                  </a:lnTo>
                  <a:lnTo>
                    <a:pt x="961440" y="666750"/>
                  </a:lnTo>
                  <a:lnTo>
                    <a:pt x="961440" y="678180"/>
                  </a:lnTo>
                  <a:lnTo>
                    <a:pt x="1022146" y="678180"/>
                  </a:lnTo>
                  <a:lnTo>
                    <a:pt x="1022146" y="666750"/>
                  </a:lnTo>
                  <a:lnTo>
                    <a:pt x="984427" y="666750"/>
                  </a:lnTo>
                  <a:lnTo>
                    <a:pt x="984427" y="11430"/>
                  </a:lnTo>
                  <a:lnTo>
                    <a:pt x="1022146" y="11430"/>
                  </a:lnTo>
                  <a:lnTo>
                    <a:pt x="1022146" y="0"/>
                  </a:lnTo>
                  <a:close/>
                </a:path>
                <a:path w="1301114" h="678179">
                  <a:moveTo>
                    <a:pt x="1300530" y="0"/>
                  </a:moveTo>
                  <a:lnTo>
                    <a:pt x="1239697" y="0"/>
                  </a:lnTo>
                  <a:lnTo>
                    <a:pt x="1239697" y="11430"/>
                  </a:lnTo>
                  <a:lnTo>
                    <a:pt x="1277543" y="11430"/>
                  </a:lnTo>
                  <a:lnTo>
                    <a:pt x="1277543" y="666750"/>
                  </a:lnTo>
                  <a:lnTo>
                    <a:pt x="1239697" y="666750"/>
                  </a:lnTo>
                  <a:lnTo>
                    <a:pt x="1239697" y="678180"/>
                  </a:lnTo>
                  <a:lnTo>
                    <a:pt x="1300530" y="678180"/>
                  </a:lnTo>
                  <a:lnTo>
                    <a:pt x="1300530" y="666750"/>
                  </a:lnTo>
                  <a:lnTo>
                    <a:pt x="1300530" y="11430"/>
                  </a:lnTo>
                  <a:lnTo>
                    <a:pt x="130053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314943"/>
            <a:ext cx="5727954" cy="45797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11708" y="2916935"/>
            <a:ext cx="3744595" cy="913130"/>
            <a:chOff x="711708" y="2916935"/>
            <a:chExt cx="3744595" cy="913130"/>
          </a:xfrm>
        </p:grpSpPr>
        <p:sp>
          <p:nvSpPr>
            <p:cNvPr id="15" name="object 15"/>
            <p:cNvSpPr/>
            <p:nvPr/>
          </p:nvSpPr>
          <p:spPr>
            <a:xfrm>
              <a:off x="711708" y="2916935"/>
              <a:ext cx="3744595" cy="913130"/>
            </a:xfrm>
            <a:custGeom>
              <a:avLst/>
              <a:gdLst/>
              <a:ahLst/>
              <a:cxnLst/>
              <a:rect l="l" t="t" r="r" b="b"/>
              <a:pathLst>
                <a:path w="3744595" h="913129">
                  <a:moveTo>
                    <a:pt x="3744467" y="0"/>
                  </a:moveTo>
                  <a:lnTo>
                    <a:pt x="0" y="0"/>
                  </a:lnTo>
                  <a:lnTo>
                    <a:pt x="0" y="912876"/>
                  </a:lnTo>
                  <a:lnTo>
                    <a:pt x="3744467" y="912876"/>
                  </a:lnTo>
                  <a:lnTo>
                    <a:pt x="374446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46656" y="3089909"/>
              <a:ext cx="860425" cy="601980"/>
            </a:xfrm>
            <a:custGeom>
              <a:avLst/>
              <a:gdLst/>
              <a:ahLst/>
              <a:cxnLst/>
              <a:rect l="l" t="t" r="r" b="b"/>
              <a:pathLst>
                <a:path w="860425" h="601979">
                  <a:moveTo>
                    <a:pt x="5384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591820"/>
                  </a:lnTo>
                  <a:lnTo>
                    <a:pt x="0" y="601980"/>
                  </a:lnTo>
                  <a:lnTo>
                    <a:pt x="53848" y="601980"/>
                  </a:lnTo>
                  <a:lnTo>
                    <a:pt x="53848" y="591820"/>
                  </a:lnTo>
                  <a:lnTo>
                    <a:pt x="20447" y="591820"/>
                  </a:lnTo>
                  <a:lnTo>
                    <a:pt x="20447" y="10160"/>
                  </a:lnTo>
                  <a:lnTo>
                    <a:pt x="53848" y="10160"/>
                  </a:lnTo>
                  <a:lnTo>
                    <a:pt x="53848" y="0"/>
                  </a:lnTo>
                  <a:close/>
                </a:path>
                <a:path w="860425" h="601979">
                  <a:moveTo>
                    <a:pt x="860298" y="0"/>
                  </a:moveTo>
                  <a:lnTo>
                    <a:pt x="806450" y="0"/>
                  </a:lnTo>
                  <a:lnTo>
                    <a:pt x="806450" y="10160"/>
                  </a:lnTo>
                  <a:lnTo>
                    <a:pt x="839851" y="10160"/>
                  </a:lnTo>
                  <a:lnTo>
                    <a:pt x="839851" y="591820"/>
                  </a:lnTo>
                  <a:lnTo>
                    <a:pt x="806450" y="591820"/>
                  </a:lnTo>
                  <a:lnTo>
                    <a:pt x="806450" y="601980"/>
                  </a:lnTo>
                  <a:lnTo>
                    <a:pt x="860298" y="601980"/>
                  </a:lnTo>
                  <a:lnTo>
                    <a:pt x="860298" y="591820"/>
                  </a:lnTo>
                  <a:lnTo>
                    <a:pt x="860298" y="10160"/>
                  </a:lnTo>
                  <a:lnTo>
                    <a:pt x="860298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586230" y="3005454"/>
            <a:ext cx="1175385" cy="74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895"/>
              </a:lnSpc>
              <a:spcBef>
                <a:spcPts val="95"/>
              </a:spcBef>
              <a:tabLst>
                <a:tab pos="314960" algn="l"/>
                <a:tab pos="63055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	0	0</a:t>
            </a:r>
            <a:endParaRPr sz="1600">
              <a:latin typeface="Cambria Math"/>
              <a:cs typeface="Cambria Math"/>
            </a:endParaRPr>
          </a:p>
          <a:p>
            <a:pPr algn="r" marR="5080">
              <a:lnSpc>
                <a:spcPts val="1880"/>
              </a:lnSpc>
              <a:tabLst>
                <a:tab pos="418465" algn="l"/>
                <a:tab pos="734060" algn="l"/>
                <a:tab pos="1049655" algn="l"/>
              </a:tabLst>
            </a:pP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𝐼</a:t>
            </a:r>
            <a:r>
              <a:rPr dirty="0" baseline="1736" sz="2400" spc="217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baseline="1736" sz="24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  <a:p>
            <a:pPr algn="r" marR="5080">
              <a:lnSpc>
                <a:spcPts val="1900"/>
              </a:lnSpc>
              <a:tabLst>
                <a:tab pos="314960" algn="l"/>
                <a:tab pos="63055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	0	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04870" y="3234054"/>
            <a:ext cx="215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𝐼</a:t>
            </a:r>
            <a:r>
              <a:rPr dirty="0" baseline="-21164" sz="1575">
                <a:latin typeface="Cambria Math"/>
                <a:cs typeface="Cambria Math"/>
              </a:rPr>
              <a:t>3</a:t>
            </a:r>
            <a:endParaRPr baseline="-21164" sz="1575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37307" y="4338573"/>
            <a:ext cx="1962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09723" y="4174489"/>
            <a:ext cx="339090" cy="678180"/>
          </a:xfrm>
          <a:custGeom>
            <a:avLst/>
            <a:gdLst/>
            <a:ahLst/>
            <a:cxnLst/>
            <a:rect l="l" t="t" r="r" b="b"/>
            <a:pathLst>
              <a:path w="339089" h="678179">
                <a:moveTo>
                  <a:pt x="60706" y="0"/>
                </a:moveTo>
                <a:lnTo>
                  <a:pt x="0" y="0"/>
                </a:lnTo>
                <a:lnTo>
                  <a:pt x="0" y="11430"/>
                </a:lnTo>
                <a:lnTo>
                  <a:pt x="0" y="666750"/>
                </a:lnTo>
                <a:lnTo>
                  <a:pt x="0" y="678180"/>
                </a:lnTo>
                <a:lnTo>
                  <a:pt x="60706" y="678180"/>
                </a:lnTo>
                <a:lnTo>
                  <a:pt x="60706" y="666750"/>
                </a:lnTo>
                <a:lnTo>
                  <a:pt x="22987" y="666750"/>
                </a:lnTo>
                <a:lnTo>
                  <a:pt x="22987" y="11430"/>
                </a:lnTo>
                <a:lnTo>
                  <a:pt x="60706" y="11430"/>
                </a:lnTo>
                <a:lnTo>
                  <a:pt x="60706" y="0"/>
                </a:lnTo>
                <a:close/>
              </a:path>
              <a:path w="339089" h="678179">
                <a:moveTo>
                  <a:pt x="339090" y="0"/>
                </a:moveTo>
                <a:lnTo>
                  <a:pt x="278257" y="0"/>
                </a:lnTo>
                <a:lnTo>
                  <a:pt x="278257" y="11430"/>
                </a:lnTo>
                <a:lnTo>
                  <a:pt x="316103" y="11430"/>
                </a:lnTo>
                <a:lnTo>
                  <a:pt x="316103" y="666750"/>
                </a:lnTo>
                <a:lnTo>
                  <a:pt x="278257" y="666750"/>
                </a:lnTo>
                <a:lnTo>
                  <a:pt x="278257" y="678180"/>
                </a:lnTo>
                <a:lnTo>
                  <a:pt x="339090" y="678180"/>
                </a:lnTo>
                <a:lnTo>
                  <a:pt x="339090" y="666750"/>
                </a:lnTo>
                <a:lnTo>
                  <a:pt x="339090" y="11430"/>
                </a:lnTo>
                <a:lnTo>
                  <a:pt x="33909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81151" y="4114545"/>
            <a:ext cx="1990725" cy="78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00"/>
              </a:lnSpc>
              <a:spcBef>
                <a:spcPts val="100"/>
              </a:spcBef>
              <a:tabLst>
                <a:tab pos="354965" algn="l"/>
                <a:tab pos="669925" algn="l"/>
                <a:tab pos="1007110" algn="l"/>
                <a:tab pos="1694814" algn="l"/>
              </a:tabLst>
            </a:pP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1	0	0	</a:t>
            </a:r>
            <a:r>
              <a:rPr dirty="0" baseline="13888" sz="27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1	</a:t>
            </a:r>
            <a:r>
              <a:rPr dirty="0" baseline="13888" sz="27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  <a:p>
            <a:pPr marL="38100">
              <a:lnSpc>
                <a:spcPts val="1889"/>
              </a:lnSpc>
              <a:tabLst>
                <a:tab pos="354965" algn="l"/>
                <a:tab pos="669925" algn="l"/>
                <a:tab pos="1007110" algn="l"/>
                <a:tab pos="1694814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	1	0	</a:t>
            </a:r>
            <a:r>
              <a:rPr dirty="0" baseline="4629" sz="27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baseline="-13888" sz="1800">
                <a:solidFill>
                  <a:srgbClr val="252525"/>
                </a:solidFill>
                <a:latin typeface="Cambria Math"/>
                <a:cs typeface="Cambria Math"/>
              </a:rPr>
              <a:t>2	</a:t>
            </a:r>
            <a:r>
              <a:rPr dirty="0" baseline="4629" sz="27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baseline="-13888" sz="1800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baseline="-13888" sz="1800">
              <a:latin typeface="Cambria Math"/>
              <a:cs typeface="Cambria Math"/>
            </a:endParaRPr>
          </a:p>
          <a:p>
            <a:pPr marL="38100">
              <a:lnSpc>
                <a:spcPts val="2050"/>
              </a:lnSpc>
              <a:tabLst>
                <a:tab pos="354965" algn="l"/>
                <a:tab pos="669925" algn="l"/>
                <a:tab pos="1007110" algn="l"/>
                <a:tab pos="1694814" algn="l"/>
              </a:tabLst>
            </a:pPr>
            <a:r>
              <a:rPr dirty="0" baseline="1736" sz="2400" spc="-7">
                <a:solidFill>
                  <a:srgbClr val="252525"/>
                </a:solidFill>
                <a:latin typeface="Cambria Math"/>
                <a:cs typeface="Cambria Math"/>
              </a:rPr>
              <a:t>0	0	1	</a:t>
            </a: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baseline="-20833" sz="1800">
                <a:solidFill>
                  <a:srgbClr val="252525"/>
                </a:solidFill>
                <a:latin typeface="Cambria Math"/>
                <a:cs typeface="Cambria Math"/>
              </a:rPr>
              <a:t>3	</a:t>
            </a: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baseline="-20833" sz="180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endParaRPr baseline="-20833"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68855" y="5727700"/>
            <a:ext cx="53975" cy="8890"/>
          </a:xfrm>
          <a:custGeom>
            <a:avLst/>
            <a:gdLst/>
            <a:ahLst/>
            <a:cxnLst/>
            <a:rect l="l" t="t" r="r" b="b"/>
            <a:pathLst>
              <a:path w="53975" h="8889">
                <a:moveTo>
                  <a:pt x="0" y="8889"/>
                </a:moveTo>
                <a:lnTo>
                  <a:pt x="53848" y="8889"/>
                </a:lnTo>
                <a:lnTo>
                  <a:pt x="53848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960958" y="5074920"/>
          <a:ext cx="3026410" cy="72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"/>
                <a:gridCol w="316229"/>
                <a:gridCol w="262255"/>
                <a:gridCol w="99059"/>
                <a:gridCol w="278129"/>
                <a:gridCol w="318769"/>
                <a:gridCol w="270510"/>
                <a:gridCol w="330200"/>
                <a:gridCol w="278764"/>
                <a:gridCol w="318769"/>
                <a:gridCol w="269875"/>
              </a:tblGrid>
              <a:tr h="242290">
                <a:tc>
                  <a:txBody>
                    <a:bodyPr/>
                    <a:lstStyle/>
                    <a:p>
                      <a:pPr marL="47625">
                        <a:lnSpc>
                          <a:spcPts val="181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1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640">
                        <a:lnSpc>
                          <a:spcPts val="181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63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𝑎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𝑏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63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𝑐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63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𝑎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𝑏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63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𝑐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243839">
                <a:tc>
                  <a:txBody>
                    <a:bodyPr/>
                    <a:lstStyle/>
                    <a:p>
                      <a:pPr marL="47625">
                        <a:lnSpc>
                          <a:spcPts val="1795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95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640">
                        <a:lnSpc>
                          <a:spcPts val="1795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05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𝑑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𝑒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605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𝑓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725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05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𝑑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𝑒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ts val="1605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𝑓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236499">
                <a:tc>
                  <a:txBody>
                    <a:bodyPr/>
                    <a:lstStyle/>
                    <a:p>
                      <a:pPr marL="47625">
                        <a:lnSpc>
                          <a:spcPts val="176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6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640">
                        <a:lnSpc>
                          <a:spcPts val="176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65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𝑔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ℎ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6355">
                        <a:lnSpc>
                          <a:spcPts val="165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𝑖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65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𝑔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252525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ℎ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1755">
                        <a:lnSpc>
                          <a:spcPts val="1650"/>
                        </a:lnSpc>
                      </a:pPr>
                      <a:r>
                        <a:rPr dirty="0" sz="1600" spc="-5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𝑖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R w="28575">
                      <a:solidFill>
                        <a:srgbClr val="252525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1768855" y="51358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0958" y="5727700"/>
            <a:ext cx="53975" cy="8890"/>
          </a:xfrm>
          <a:custGeom>
            <a:avLst/>
            <a:gdLst/>
            <a:ahLst/>
            <a:cxnLst/>
            <a:rect l="l" t="t" r="r" b="b"/>
            <a:pathLst>
              <a:path w="53975" h="8889">
                <a:moveTo>
                  <a:pt x="0" y="8889"/>
                </a:moveTo>
                <a:lnTo>
                  <a:pt x="53848" y="8889"/>
                </a:lnTo>
                <a:lnTo>
                  <a:pt x="53848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0958" y="5135879"/>
            <a:ext cx="53975" cy="10160"/>
          </a:xfrm>
          <a:custGeom>
            <a:avLst/>
            <a:gdLst/>
            <a:ahLst/>
            <a:cxnLst/>
            <a:rect l="l" t="t" r="r" b="b"/>
            <a:pathLst>
              <a:path w="53975" h="10160">
                <a:moveTo>
                  <a:pt x="0" y="10160"/>
                </a:moveTo>
                <a:lnTo>
                  <a:pt x="53848" y="10160"/>
                </a:lnTo>
                <a:lnTo>
                  <a:pt x="53848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33548" y="5797550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80" h="10160">
                <a:moveTo>
                  <a:pt x="0" y="10159"/>
                </a:moveTo>
                <a:lnTo>
                  <a:pt x="55879" y="10159"/>
                </a:lnTo>
                <a:lnTo>
                  <a:pt x="55879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33548" y="5064759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80" h="10160">
                <a:moveTo>
                  <a:pt x="0" y="10160"/>
                </a:moveTo>
                <a:lnTo>
                  <a:pt x="55879" y="10160"/>
                </a:lnTo>
                <a:lnTo>
                  <a:pt x="55879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01189" y="5797550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80" h="10160">
                <a:moveTo>
                  <a:pt x="0" y="10159"/>
                </a:moveTo>
                <a:lnTo>
                  <a:pt x="55753" y="10159"/>
                </a:lnTo>
                <a:lnTo>
                  <a:pt x="55753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01189" y="5064759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80" h="10160">
                <a:moveTo>
                  <a:pt x="0" y="10160"/>
                </a:moveTo>
                <a:lnTo>
                  <a:pt x="55753" y="10160"/>
                </a:lnTo>
                <a:lnTo>
                  <a:pt x="55753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931411" y="5797550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79" h="10160">
                <a:moveTo>
                  <a:pt x="0" y="10159"/>
                </a:moveTo>
                <a:lnTo>
                  <a:pt x="55879" y="10159"/>
                </a:lnTo>
                <a:lnTo>
                  <a:pt x="55879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31411" y="5064759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79" h="10160">
                <a:moveTo>
                  <a:pt x="0" y="10160"/>
                </a:moveTo>
                <a:lnTo>
                  <a:pt x="55879" y="10160"/>
                </a:lnTo>
                <a:lnTo>
                  <a:pt x="55879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99054" y="5797550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80" h="10160">
                <a:moveTo>
                  <a:pt x="0" y="10159"/>
                </a:moveTo>
                <a:lnTo>
                  <a:pt x="55752" y="10159"/>
                </a:lnTo>
                <a:lnTo>
                  <a:pt x="55752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99054" y="5064759"/>
            <a:ext cx="55880" cy="10160"/>
          </a:xfrm>
          <a:custGeom>
            <a:avLst/>
            <a:gdLst/>
            <a:ahLst/>
            <a:cxnLst/>
            <a:rect l="l" t="t" r="r" b="b"/>
            <a:pathLst>
              <a:path w="55880" h="10160">
                <a:moveTo>
                  <a:pt x="0" y="10160"/>
                </a:moveTo>
                <a:lnTo>
                  <a:pt x="55752" y="10160"/>
                </a:lnTo>
                <a:lnTo>
                  <a:pt x="5575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913889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4.2.</a:t>
            </a:r>
            <a:r>
              <a:rPr dirty="0" spc="-45"/>
              <a:t> </a:t>
            </a:r>
            <a:r>
              <a:rPr dirty="0" spc="-5"/>
              <a:t>Reverse</a:t>
            </a:r>
            <a:r>
              <a:rPr dirty="0" spc="-50"/>
              <a:t> </a:t>
            </a:r>
            <a:r>
              <a:rPr dirty="0"/>
              <a:t>Matrix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23416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35608"/>
            <a:ext cx="5593842" cy="18668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31266" y="2346705"/>
            <a:ext cx="429259" cy="427355"/>
            <a:chOff x="731266" y="2346705"/>
            <a:chExt cx="429259" cy="427355"/>
          </a:xfrm>
        </p:grpSpPr>
        <p:sp>
          <p:nvSpPr>
            <p:cNvPr id="10" name="object 10"/>
            <p:cNvSpPr/>
            <p:nvPr/>
          </p:nvSpPr>
          <p:spPr>
            <a:xfrm>
              <a:off x="737616" y="2353055"/>
              <a:ext cx="416559" cy="414655"/>
            </a:xfrm>
            <a:custGeom>
              <a:avLst/>
              <a:gdLst/>
              <a:ahLst/>
              <a:cxnLst/>
              <a:rect l="l" t="t" r="r" b="b"/>
              <a:pathLst>
                <a:path w="416559" h="414655">
                  <a:moveTo>
                    <a:pt x="208025" y="0"/>
                  </a:moveTo>
                  <a:lnTo>
                    <a:pt x="160329" y="5476"/>
                  </a:lnTo>
                  <a:lnTo>
                    <a:pt x="116543" y="21073"/>
                  </a:lnTo>
                  <a:lnTo>
                    <a:pt x="77918" y="45546"/>
                  </a:lnTo>
                  <a:lnTo>
                    <a:pt x="45702" y="77648"/>
                  </a:lnTo>
                  <a:lnTo>
                    <a:pt x="21144" y="116132"/>
                  </a:lnTo>
                  <a:lnTo>
                    <a:pt x="5494" y="159753"/>
                  </a:lnTo>
                  <a:lnTo>
                    <a:pt x="0" y="207264"/>
                  </a:lnTo>
                  <a:lnTo>
                    <a:pt x="5494" y="254774"/>
                  </a:lnTo>
                  <a:lnTo>
                    <a:pt x="21144" y="298395"/>
                  </a:lnTo>
                  <a:lnTo>
                    <a:pt x="45702" y="336879"/>
                  </a:lnTo>
                  <a:lnTo>
                    <a:pt x="77918" y="368981"/>
                  </a:lnTo>
                  <a:lnTo>
                    <a:pt x="116543" y="393454"/>
                  </a:lnTo>
                  <a:lnTo>
                    <a:pt x="160329" y="409051"/>
                  </a:lnTo>
                  <a:lnTo>
                    <a:pt x="208025" y="414528"/>
                  </a:lnTo>
                  <a:lnTo>
                    <a:pt x="255722" y="409051"/>
                  </a:lnTo>
                  <a:lnTo>
                    <a:pt x="299508" y="393454"/>
                  </a:lnTo>
                  <a:lnTo>
                    <a:pt x="338133" y="368981"/>
                  </a:lnTo>
                  <a:lnTo>
                    <a:pt x="370349" y="336879"/>
                  </a:lnTo>
                  <a:lnTo>
                    <a:pt x="394907" y="298395"/>
                  </a:lnTo>
                  <a:lnTo>
                    <a:pt x="410557" y="254774"/>
                  </a:lnTo>
                  <a:lnTo>
                    <a:pt x="416052" y="207264"/>
                  </a:lnTo>
                  <a:lnTo>
                    <a:pt x="410557" y="159753"/>
                  </a:lnTo>
                  <a:lnTo>
                    <a:pt x="394907" y="116132"/>
                  </a:lnTo>
                  <a:lnTo>
                    <a:pt x="370349" y="77648"/>
                  </a:lnTo>
                  <a:lnTo>
                    <a:pt x="338133" y="45546"/>
                  </a:lnTo>
                  <a:lnTo>
                    <a:pt x="299508" y="21073"/>
                  </a:lnTo>
                  <a:lnTo>
                    <a:pt x="255722" y="5476"/>
                  </a:lnTo>
                  <a:lnTo>
                    <a:pt x="208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7616" y="2353055"/>
              <a:ext cx="416559" cy="414655"/>
            </a:xfrm>
            <a:custGeom>
              <a:avLst/>
              <a:gdLst/>
              <a:ahLst/>
              <a:cxnLst/>
              <a:rect l="l" t="t" r="r" b="b"/>
              <a:pathLst>
                <a:path w="416559" h="414655">
                  <a:moveTo>
                    <a:pt x="0" y="207264"/>
                  </a:moveTo>
                  <a:lnTo>
                    <a:pt x="5494" y="159753"/>
                  </a:lnTo>
                  <a:lnTo>
                    <a:pt x="21144" y="116132"/>
                  </a:lnTo>
                  <a:lnTo>
                    <a:pt x="45702" y="77648"/>
                  </a:lnTo>
                  <a:lnTo>
                    <a:pt x="77918" y="45546"/>
                  </a:lnTo>
                  <a:lnTo>
                    <a:pt x="116543" y="21073"/>
                  </a:lnTo>
                  <a:lnTo>
                    <a:pt x="160329" y="5476"/>
                  </a:lnTo>
                  <a:lnTo>
                    <a:pt x="208025" y="0"/>
                  </a:lnTo>
                  <a:lnTo>
                    <a:pt x="255722" y="5476"/>
                  </a:lnTo>
                  <a:lnTo>
                    <a:pt x="299508" y="21073"/>
                  </a:lnTo>
                  <a:lnTo>
                    <a:pt x="338133" y="45546"/>
                  </a:lnTo>
                  <a:lnTo>
                    <a:pt x="370349" y="77648"/>
                  </a:lnTo>
                  <a:lnTo>
                    <a:pt x="394907" y="116132"/>
                  </a:lnTo>
                  <a:lnTo>
                    <a:pt x="410557" y="159753"/>
                  </a:lnTo>
                  <a:lnTo>
                    <a:pt x="416052" y="207264"/>
                  </a:lnTo>
                  <a:lnTo>
                    <a:pt x="410557" y="254774"/>
                  </a:lnTo>
                  <a:lnTo>
                    <a:pt x="394907" y="298395"/>
                  </a:lnTo>
                  <a:lnTo>
                    <a:pt x="370349" y="336879"/>
                  </a:lnTo>
                  <a:lnTo>
                    <a:pt x="338133" y="368981"/>
                  </a:lnTo>
                  <a:lnTo>
                    <a:pt x="299508" y="393454"/>
                  </a:lnTo>
                  <a:lnTo>
                    <a:pt x="255722" y="409051"/>
                  </a:lnTo>
                  <a:lnTo>
                    <a:pt x="208025" y="414528"/>
                  </a:lnTo>
                  <a:lnTo>
                    <a:pt x="160329" y="409051"/>
                  </a:lnTo>
                  <a:lnTo>
                    <a:pt x="116543" y="393454"/>
                  </a:lnTo>
                  <a:lnTo>
                    <a:pt x="77918" y="368981"/>
                  </a:lnTo>
                  <a:lnTo>
                    <a:pt x="45702" y="336879"/>
                  </a:lnTo>
                  <a:lnTo>
                    <a:pt x="21144" y="298395"/>
                  </a:lnTo>
                  <a:lnTo>
                    <a:pt x="5494" y="254774"/>
                  </a:lnTo>
                  <a:lnTo>
                    <a:pt x="0" y="2072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41349" y="2406777"/>
            <a:ext cx="16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36394" y="2346705"/>
            <a:ext cx="429259" cy="427355"/>
            <a:chOff x="2136394" y="2346705"/>
            <a:chExt cx="429259" cy="427355"/>
          </a:xfrm>
        </p:grpSpPr>
        <p:sp>
          <p:nvSpPr>
            <p:cNvPr id="14" name="object 14"/>
            <p:cNvSpPr/>
            <p:nvPr/>
          </p:nvSpPr>
          <p:spPr>
            <a:xfrm>
              <a:off x="2142744" y="2353055"/>
              <a:ext cx="416559" cy="414655"/>
            </a:xfrm>
            <a:custGeom>
              <a:avLst/>
              <a:gdLst/>
              <a:ahLst/>
              <a:cxnLst/>
              <a:rect l="l" t="t" r="r" b="b"/>
              <a:pathLst>
                <a:path w="416560" h="414655">
                  <a:moveTo>
                    <a:pt x="208025" y="0"/>
                  </a:moveTo>
                  <a:lnTo>
                    <a:pt x="160313" y="5476"/>
                  </a:lnTo>
                  <a:lnTo>
                    <a:pt x="116521" y="21073"/>
                  </a:lnTo>
                  <a:lnTo>
                    <a:pt x="77897" y="45546"/>
                  </a:lnTo>
                  <a:lnTo>
                    <a:pt x="45686" y="77648"/>
                  </a:lnTo>
                  <a:lnTo>
                    <a:pt x="21136" y="116132"/>
                  </a:lnTo>
                  <a:lnTo>
                    <a:pt x="5491" y="159753"/>
                  </a:lnTo>
                  <a:lnTo>
                    <a:pt x="0" y="207264"/>
                  </a:lnTo>
                  <a:lnTo>
                    <a:pt x="5491" y="254774"/>
                  </a:lnTo>
                  <a:lnTo>
                    <a:pt x="21136" y="298395"/>
                  </a:lnTo>
                  <a:lnTo>
                    <a:pt x="45686" y="336879"/>
                  </a:lnTo>
                  <a:lnTo>
                    <a:pt x="77897" y="368981"/>
                  </a:lnTo>
                  <a:lnTo>
                    <a:pt x="116521" y="393454"/>
                  </a:lnTo>
                  <a:lnTo>
                    <a:pt x="160313" y="409051"/>
                  </a:lnTo>
                  <a:lnTo>
                    <a:pt x="208025" y="414528"/>
                  </a:lnTo>
                  <a:lnTo>
                    <a:pt x="255738" y="409051"/>
                  </a:lnTo>
                  <a:lnTo>
                    <a:pt x="299530" y="393454"/>
                  </a:lnTo>
                  <a:lnTo>
                    <a:pt x="338154" y="368981"/>
                  </a:lnTo>
                  <a:lnTo>
                    <a:pt x="370365" y="336879"/>
                  </a:lnTo>
                  <a:lnTo>
                    <a:pt x="394915" y="298395"/>
                  </a:lnTo>
                  <a:lnTo>
                    <a:pt x="410560" y="254774"/>
                  </a:lnTo>
                  <a:lnTo>
                    <a:pt x="416051" y="207264"/>
                  </a:lnTo>
                  <a:lnTo>
                    <a:pt x="410560" y="159753"/>
                  </a:lnTo>
                  <a:lnTo>
                    <a:pt x="394915" y="116132"/>
                  </a:lnTo>
                  <a:lnTo>
                    <a:pt x="370365" y="77648"/>
                  </a:lnTo>
                  <a:lnTo>
                    <a:pt x="338154" y="45546"/>
                  </a:lnTo>
                  <a:lnTo>
                    <a:pt x="299530" y="21073"/>
                  </a:lnTo>
                  <a:lnTo>
                    <a:pt x="255738" y="5476"/>
                  </a:lnTo>
                  <a:lnTo>
                    <a:pt x="208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42744" y="2353055"/>
              <a:ext cx="416559" cy="414655"/>
            </a:xfrm>
            <a:custGeom>
              <a:avLst/>
              <a:gdLst/>
              <a:ahLst/>
              <a:cxnLst/>
              <a:rect l="l" t="t" r="r" b="b"/>
              <a:pathLst>
                <a:path w="416560" h="414655">
                  <a:moveTo>
                    <a:pt x="0" y="207264"/>
                  </a:moveTo>
                  <a:lnTo>
                    <a:pt x="5491" y="159753"/>
                  </a:lnTo>
                  <a:lnTo>
                    <a:pt x="21136" y="116132"/>
                  </a:lnTo>
                  <a:lnTo>
                    <a:pt x="45686" y="77648"/>
                  </a:lnTo>
                  <a:lnTo>
                    <a:pt x="77897" y="45546"/>
                  </a:lnTo>
                  <a:lnTo>
                    <a:pt x="116521" y="21073"/>
                  </a:lnTo>
                  <a:lnTo>
                    <a:pt x="160313" y="5476"/>
                  </a:lnTo>
                  <a:lnTo>
                    <a:pt x="208025" y="0"/>
                  </a:lnTo>
                  <a:lnTo>
                    <a:pt x="255738" y="5476"/>
                  </a:lnTo>
                  <a:lnTo>
                    <a:pt x="299530" y="21073"/>
                  </a:lnTo>
                  <a:lnTo>
                    <a:pt x="338154" y="45546"/>
                  </a:lnTo>
                  <a:lnTo>
                    <a:pt x="370365" y="77648"/>
                  </a:lnTo>
                  <a:lnTo>
                    <a:pt x="394915" y="116132"/>
                  </a:lnTo>
                  <a:lnTo>
                    <a:pt x="410560" y="159753"/>
                  </a:lnTo>
                  <a:lnTo>
                    <a:pt x="416051" y="207264"/>
                  </a:lnTo>
                  <a:lnTo>
                    <a:pt x="410560" y="254774"/>
                  </a:lnTo>
                  <a:lnTo>
                    <a:pt x="394915" y="298395"/>
                  </a:lnTo>
                  <a:lnTo>
                    <a:pt x="370365" y="336879"/>
                  </a:lnTo>
                  <a:lnTo>
                    <a:pt x="338154" y="368981"/>
                  </a:lnTo>
                  <a:lnTo>
                    <a:pt x="299530" y="393454"/>
                  </a:lnTo>
                  <a:lnTo>
                    <a:pt x="255738" y="409051"/>
                  </a:lnTo>
                  <a:lnTo>
                    <a:pt x="208025" y="414528"/>
                  </a:lnTo>
                  <a:lnTo>
                    <a:pt x="160313" y="409051"/>
                  </a:lnTo>
                  <a:lnTo>
                    <a:pt x="116521" y="393454"/>
                  </a:lnTo>
                  <a:lnTo>
                    <a:pt x="77897" y="368981"/>
                  </a:lnTo>
                  <a:lnTo>
                    <a:pt x="45686" y="336879"/>
                  </a:lnTo>
                  <a:lnTo>
                    <a:pt x="21136" y="298395"/>
                  </a:lnTo>
                  <a:lnTo>
                    <a:pt x="5491" y="254774"/>
                  </a:lnTo>
                  <a:lnTo>
                    <a:pt x="0" y="2072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247138" y="2406777"/>
            <a:ext cx="16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𝟔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50302" y="2045207"/>
            <a:ext cx="1360805" cy="974090"/>
            <a:chOff x="950302" y="2045207"/>
            <a:chExt cx="1360805" cy="974090"/>
          </a:xfrm>
        </p:grpSpPr>
        <p:sp>
          <p:nvSpPr>
            <p:cNvPr id="18" name="object 18"/>
            <p:cNvSpPr/>
            <p:nvPr/>
          </p:nvSpPr>
          <p:spPr>
            <a:xfrm>
              <a:off x="950302" y="2118359"/>
              <a:ext cx="1360805" cy="901065"/>
            </a:xfrm>
            <a:custGeom>
              <a:avLst/>
              <a:gdLst/>
              <a:ahLst/>
              <a:cxnLst/>
              <a:rect l="l" t="t" r="r" b="b"/>
              <a:pathLst>
                <a:path w="1360805" h="901064">
                  <a:moveTo>
                    <a:pt x="957351" y="38100"/>
                  </a:moveTo>
                  <a:lnTo>
                    <a:pt x="910501" y="27051"/>
                  </a:lnTo>
                  <a:lnTo>
                    <a:pt x="855891" y="16002"/>
                  </a:lnTo>
                  <a:lnTo>
                    <a:pt x="806234" y="8255"/>
                  </a:lnTo>
                  <a:lnTo>
                    <a:pt x="745274" y="1905"/>
                  </a:lnTo>
                  <a:lnTo>
                    <a:pt x="687349" y="0"/>
                  </a:lnTo>
                  <a:lnTo>
                    <a:pt x="658914" y="635"/>
                  </a:lnTo>
                  <a:lnTo>
                    <a:pt x="601002" y="4318"/>
                  </a:lnTo>
                  <a:lnTo>
                    <a:pt x="544868" y="10922"/>
                  </a:lnTo>
                  <a:lnTo>
                    <a:pt x="490385" y="20955"/>
                  </a:lnTo>
                  <a:lnTo>
                    <a:pt x="447332" y="31369"/>
                  </a:lnTo>
                  <a:lnTo>
                    <a:pt x="399453" y="45466"/>
                  </a:lnTo>
                  <a:lnTo>
                    <a:pt x="344589" y="63500"/>
                  </a:lnTo>
                  <a:lnTo>
                    <a:pt x="304228" y="78105"/>
                  </a:lnTo>
                  <a:lnTo>
                    <a:pt x="239268" y="103378"/>
                  </a:lnTo>
                  <a:lnTo>
                    <a:pt x="193636" y="121920"/>
                  </a:lnTo>
                  <a:lnTo>
                    <a:pt x="89954" y="165608"/>
                  </a:lnTo>
                  <a:lnTo>
                    <a:pt x="0" y="204216"/>
                  </a:lnTo>
                  <a:lnTo>
                    <a:pt x="15062" y="239268"/>
                  </a:lnTo>
                  <a:lnTo>
                    <a:pt x="113245" y="197104"/>
                  </a:lnTo>
                  <a:lnTo>
                    <a:pt x="161264" y="176657"/>
                  </a:lnTo>
                  <a:lnTo>
                    <a:pt x="161163" y="176784"/>
                  </a:lnTo>
                  <a:lnTo>
                    <a:pt x="161455" y="176657"/>
                  </a:lnTo>
                  <a:lnTo>
                    <a:pt x="208216" y="157099"/>
                  </a:lnTo>
                  <a:lnTo>
                    <a:pt x="208064" y="157226"/>
                  </a:lnTo>
                  <a:lnTo>
                    <a:pt x="208368" y="157099"/>
                  </a:lnTo>
                  <a:lnTo>
                    <a:pt x="253504" y="138684"/>
                  </a:lnTo>
                  <a:lnTo>
                    <a:pt x="253263" y="138811"/>
                  </a:lnTo>
                  <a:lnTo>
                    <a:pt x="253580" y="138684"/>
                  </a:lnTo>
                  <a:lnTo>
                    <a:pt x="296887" y="121793"/>
                  </a:lnTo>
                  <a:lnTo>
                    <a:pt x="296748" y="121793"/>
                  </a:lnTo>
                  <a:lnTo>
                    <a:pt x="317703" y="113792"/>
                  </a:lnTo>
                  <a:lnTo>
                    <a:pt x="317449" y="113919"/>
                  </a:lnTo>
                  <a:lnTo>
                    <a:pt x="317792" y="113792"/>
                  </a:lnTo>
                  <a:lnTo>
                    <a:pt x="337731" y="106426"/>
                  </a:lnTo>
                  <a:lnTo>
                    <a:pt x="337604" y="106553"/>
                  </a:lnTo>
                  <a:lnTo>
                    <a:pt x="337947" y="106426"/>
                  </a:lnTo>
                  <a:lnTo>
                    <a:pt x="357289" y="99441"/>
                  </a:lnTo>
                  <a:lnTo>
                    <a:pt x="357035" y="99568"/>
                  </a:lnTo>
                  <a:lnTo>
                    <a:pt x="357403" y="99441"/>
                  </a:lnTo>
                  <a:lnTo>
                    <a:pt x="376085" y="93091"/>
                  </a:lnTo>
                  <a:lnTo>
                    <a:pt x="375831" y="93218"/>
                  </a:lnTo>
                  <a:lnTo>
                    <a:pt x="376212" y="93091"/>
                  </a:lnTo>
                  <a:lnTo>
                    <a:pt x="393865" y="87249"/>
                  </a:lnTo>
                  <a:lnTo>
                    <a:pt x="393738" y="87249"/>
                  </a:lnTo>
                  <a:lnTo>
                    <a:pt x="411010" y="81788"/>
                  </a:lnTo>
                  <a:lnTo>
                    <a:pt x="410756" y="81788"/>
                  </a:lnTo>
                  <a:lnTo>
                    <a:pt x="427139" y="76835"/>
                  </a:lnTo>
                  <a:lnTo>
                    <a:pt x="426885" y="76835"/>
                  </a:lnTo>
                  <a:lnTo>
                    <a:pt x="442506" y="72263"/>
                  </a:lnTo>
                  <a:lnTo>
                    <a:pt x="442252" y="72390"/>
                  </a:lnTo>
                  <a:lnTo>
                    <a:pt x="442709" y="72263"/>
                  </a:lnTo>
                  <a:lnTo>
                    <a:pt x="457365" y="68199"/>
                  </a:lnTo>
                  <a:lnTo>
                    <a:pt x="457111" y="68199"/>
                  </a:lnTo>
                  <a:lnTo>
                    <a:pt x="471093" y="64516"/>
                  </a:lnTo>
                  <a:lnTo>
                    <a:pt x="498259" y="58166"/>
                  </a:lnTo>
                  <a:lnTo>
                    <a:pt x="498868" y="58039"/>
                  </a:lnTo>
                  <a:lnTo>
                    <a:pt x="524929" y="52705"/>
                  </a:lnTo>
                  <a:lnTo>
                    <a:pt x="524167" y="52959"/>
                  </a:lnTo>
                  <a:lnTo>
                    <a:pt x="525716" y="52705"/>
                  </a:lnTo>
                  <a:lnTo>
                    <a:pt x="550583" y="48641"/>
                  </a:lnTo>
                  <a:lnTo>
                    <a:pt x="550075" y="48641"/>
                  </a:lnTo>
                  <a:lnTo>
                    <a:pt x="576999" y="45212"/>
                  </a:lnTo>
                  <a:lnTo>
                    <a:pt x="576491" y="45212"/>
                  </a:lnTo>
                  <a:lnTo>
                    <a:pt x="604685" y="42291"/>
                  </a:lnTo>
                  <a:lnTo>
                    <a:pt x="604304" y="42291"/>
                  </a:lnTo>
                  <a:lnTo>
                    <a:pt x="632879" y="40005"/>
                  </a:lnTo>
                  <a:lnTo>
                    <a:pt x="632371" y="40132"/>
                  </a:lnTo>
                  <a:lnTo>
                    <a:pt x="634707" y="40005"/>
                  </a:lnTo>
                  <a:lnTo>
                    <a:pt x="660565" y="38608"/>
                  </a:lnTo>
                  <a:lnTo>
                    <a:pt x="687489" y="38112"/>
                  </a:lnTo>
                  <a:lnTo>
                    <a:pt x="687108" y="38100"/>
                  </a:lnTo>
                  <a:lnTo>
                    <a:pt x="957351" y="38100"/>
                  </a:lnTo>
                  <a:close/>
                </a:path>
                <a:path w="1360805" h="901064">
                  <a:moveTo>
                    <a:pt x="1353223" y="221742"/>
                  </a:moveTo>
                  <a:lnTo>
                    <a:pt x="1332839" y="191643"/>
                  </a:lnTo>
                  <a:lnTo>
                    <a:pt x="1281595" y="115951"/>
                  </a:lnTo>
                  <a:lnTo>
                    <a:pt x="1262875" y="149225"/>
                  </a:lnTo>
                  <a:lnTo>
                    <a:pt x="1256449" y="145669"/>
                  </a:lnTo>
                  <a:lnTo>
                    <a:pt x="1244104" y="139446"/>
                  </a:lnTo>
                  <a:lnTo>
                    <a:pt x="1228001" y="131318"/>
                  </a:lnTo>
                  <a:lnTo>
                    <a:pt x="1219619" y="127381"/>
                  </a:lnTo>
                  <a:lnTo>
                    <a:pt x="1207452" y="121666"/>
                  </a:lnTo>
                  <a:lnTo>
                    <a:pt x="1198537" y="117475"/>
                  </a:lnTo>
                  <a:lnTo>
                    <a:pt x="1194689" y="115824"/>
                  </a:lnTo>
                  <a:lnTo>
                    <a:pt x="1181100" y="109982"/>
                  </a:lnTo>
                  <a:lnTo>
                    <a:pt x="1168095" y="104394"/>
                  </a:lnTo>
                  <a:lnTo>
                    <a:pt x="1139266" y="93218"/>
                  </a:lnTo>
                  <a:lnTo>
                    <a:pt x="1135672" y="91821"/>
                  </a:lnTo>
                  <a:lnTo>
                    <a:pt x="1118654" y="85725"/>
                  </a:lnTo>
                  <a:lnTo>
                    <a:pt x="1109764" y="82677"/>
                  </a:lnTo>
                  <a:lnTo>
                    <a:pt x="1101255" y="79756"/>
                  </a:lnTo>
                  <a:lnTo>
                    <a:pt x="1083221" y="73787"/>
                  </a:lnTo>
                  <a:lnTo>
                    <a:pt x="1080389" y="72898"/>
                  </a:lnTo>
                  <a:lnTo>
                    <a:pt x="1064679" y="67945"/>
                  </a:lnTo>
                  <a:lnTo>
                    <a:pt x="1052258" y="64262"/>
                  </a:lnTo>
                  <a:lnTo>
                    <a:pt x="1026579" y="56642"/>
                  </a:lnTo>
                  <a:lnTo>
                    <a:pt x="1015174" y="53467"/>
                  </a:lnTo>
                  <a:lnTo>
                    <a:pt x="974344" y="42418"/>
                  </a:lnTo>
                  <a:lnTo>
                    <a:pt x="957351" y="38100"/>
                  </a:lnTo>
                  <a:lnTo>
                    <a:pt x="687489" y="38112"/>
                  </a:lnTo>
                  <a:lnTo>
                    <a:pt x="714413" y="38608"/>
                  </a:lnTo>
                  <a:lnTo>
                    <a:pt x="742988" y="40005"/>
                  </a:lnTo>
                  <a:lnTo>
                    <a:pt x="742226" y="39878"/>
                  </a:lnTo>
                  <a:lnTo>
                    <a:pt x="771563" y="42545"/>
                  </a:lnTo>
                  <a:lnTo>
                    <a:pt x="771055" y="42418"/>
                  </a:lnTo>
                  <a:lnTo>
                    <a:pt x="801535" y="46101"/>
                  </a:lnTo>
                  <a:lnTo>
                    <a:pt x="800900" y="45974"/>
                  </a:lnTo>
                  <a:lnTo>
                    <a:pt x="832904" y="50800"/>
                  </a:lnTo>
                  <a:lnTo>
                    <a:pt x="832523" y="50673"/>
                  </a:lnTo>
                  <a:lnTo>
                    <a:pt x="849287" y="53594"/>
                  </a:lnTo>
                  <a:lnTo>
                    <a:pt x="848906" y="53467"/>
                  </a:lnTo>
                  <a:lnTo>
                    <a:pt x="866305" y="56769"/>
                  </a:lnTo>
                  <a:lnTo>
                    <a:pt x="866051" y="56769"/>
                  </a:lnTo>
                  <a:lnTo>
                    <a:pt x="902500" y="64389"/>
                  </a:lnTo>
                  <a:lnTo>
                    <a:pt x="902119" y="64262"/>
                  </a:lnTo>
                  <a:lnTo>
                    <a:pt x="939965" y="73025"/>
                  </a:lnTo>
                  <a:lnTo>
                    <a:pt x="939584" y="72898"/>
                  </a:lnTo>
                  <a:lnTo>
                    <a:pt x="978192" y="82804"/>
                  </a:lnTo>
                  <a:lnTo>
                    <a:pt x="977811" y="82677"/>
                  </a:lnTo>
                  <a:lnTo>
                    <a:pt x="1016292" y="93345"/>
                  </a:lnTo>
                  <a:lnTo>
                    <a:pt x="1053630" y="104521"/>
                  </a:lnTo>
                  <a:lnTo>
                    <a:pt x="1053376" y="104394"/>
                  </a:lnTo>
                  <a:lnTo>
                    <a:pt x="1071664" y="110109"/>
                  </a:lnTo>
                  <a:lnTo>
                    <a:pt x="1071410" y="109982"/>
                  </a:lnTo>
                  <a:lnTo>
                    <a:pt x="1089190" y="115951"/>
                  </a:lnTo>
                  <a:lnTo>
                    <a:pt x="1089063" y="115824"/>
                  </a:lnTo>
                  <a:lnTo>
                    <a:pt x="1106208" y="121793"/>
                  </a:lnTo>
                  <a:lnTo>
                    <a:pt x="1106081" y="121666"/>
                  </a:lnTo>
                  <a:lnTo>
                    <a:pt x="1122591" y="127635"/>
                  </a:lnTo>
                  <a:lnTo>
                    <a:pt x="1122083" y="127381"/>
                  </a:lnTo>
                  <a:lnTo>
                    <a:pt x="1153579" y="139700"/>
                  </a:lnTo>
                  <a:lnTo>
                    <a:pt x="1153071" y="139446"/>
                  </a:lnTo>
                  <a:lnTo>
                    <a:pt x="1183170" y="152400"/>
                  </a:lnTo>
                  <a:lnTo>
                    <a:pt x="1211554" y="165582"/>
                  </a:lnTo>
                  <a:lnTo>
                    <a:pt x="1239050" y="179451"/>
                  </a:lnTo>
                  <a:lnTo>
                    <a:pt x="1238288" y="179197"/>
                  </a:lnTo>
                  <a:lnTo>
                    <a:pt x="1244193" y="182435"/>
                  </a:lnTo>
                  <a:lnTo>
                    <a:pt x="1225588" y="215519"/>
                  </a:lnTo>
                  <a:lnTo>
                    <a:pt x="1353223" y="221742"/>
                  </a:lnTo>
                  <a:close/>
                </a:path>
                <a:path w="1360805" h="901064">
                  <a:moveTo>
                    <a:pt x="1360716" y="696468"/>
                  </a:moveTo>
                  <a:lnTo>
                    <a:pt x="1345730" y="661416"/>
                  </a:lnTo>
                  <a:lnTo>
                    <a:pt x="1247559" y="703707"/>
                  </a:lnTo>
                  <a:lnTo>
                    <a:pt x="1247686" y="703707"/>
                  </a:lnTo>
                  <a:lnTo>
                    <a:pt x="1172565" y="735330"/>
                  </a:lnTo>
                  <a:lnTo>
                    <a:pt x="1152563" y="743712"/>
                  </a:lnTo>
                  <a:lnTo>
                    <a:pt x="1152817" y="743585"/>
                  </a:lnTo>
                  <a:lnTo>
                    <a:pt x="1152499" y="743712"/>
                  </a:lnTo>
                  <a:lnTo>
                    <a:pt x="1107351" y="762127"/>
                  </a:lnTo>
                  <a:lnTo>
                    <a:pt x="1107605" y="762000"/>
                  </a:lnTo>
                  <a:lnTo>
                    <a:pt x="1107274" y="762127"/>
                  </a:lnTo>
                  <a:lnTo>
                    <a:pt x="1063917" y="779018"/>
                  </a:lnTo>
                  <a:lnTo>
                    <a:pt x="1064044" y="779018"/>
                  </a:lnTo>
                  <a:lnTo>
                    <a:pt x="1043089" y="787019"/>
                  </a:lnTo>
                  <a:lnTo>
                    <a:pt x="1043343" y="786892"/>
                  </a:lnTo>
                  <a:lnTo>
                    <a:pt x="1042987" y="787019"/>
                  </a:lnTo>
                  <a:lnTo>
                    <a:pt x="1023150" y="794258"/>
                  </a:lnTo>
                  <a:lnTo>
                    <a:pt x="1023277" y="794258"/>
                  </a:lnTo>
                  <a:lnTo>
                    <a:pt x="1003592" y="801370"/>
                  </a:lnTo>
                  <a:lnTo>
                    <a:pt x="1003719" y="801243"/>
                  </a:lnTo>
                  <a:lnTo>
                    <a:pt x="984796" y="807720"/>
                  </a:lnTo>
                  <a:lnTo>
                    <a:pt x="985050" y="807593"/>
                  </a:lnTo>
                  <a:lnTo>
                    <a:pt x="967016" y="813562"/>
                  </a:lnTo>
                  <a:lnTo>
                    <a:pt x="967016" y="813435"/>
                  </a:lnTo>
                  <a:lnTo>
                    <a:pt x="949871" y="819023"/>
                  </a:lnTo>
                  <a:lnTo>
                    <a:pt x="949998" y="818896"/>
                  </a:lnTo>
                  <a:lnTo>
                    <a:pt x="933615" y="823976"/>
                  </a:lnTo>
                  <a:lnTo>
                    <a:pt x="933869" y="823976"/>
                  </a:lnTo>
                  <a:lnTo>
                    <a:pt x="918248" y="828548"/>
                  </a:lnTo>
                  <a:lnTo>
                    <a:pt x="918502" y="828421"/>
                  </a:lnTo>
                  <a:lnTo>
                    <a:pt x="903516" y="832612"/>
                  </a:lnTo>
                  <a:lnTo>
                    <a:pt x="903770" y="832485"/>
                  </a:lnTo>
                  <a:lnTo>
                    <a:pt x="889292" y="836295"/>
                  </a:lnTo>
                  <a:lnTo>
                    <a:pt x="889673" y="836295"/>
                  </a:lnTo>
                  <a:lnTo>
                    <a:pt x="861987" y="842772"/>
                  </a:lnTo>
                  <a:lnTo>
                    <a:pt x="836091" y="847953"/>
                  </a:lnTo>
                  <a:lnTo>
                    <a:pt x="810171" y="852170"/>
                  </a:lnTo>
                  <a:lnTo>
                    <a:pt x="810806" y="852043"/>
                  </a:lnTo>
                  <a:lnTo>
                    <a:pt x="783882" y="855599"/>
                  </a:lnTo>
                  <a:lnTo>
                    <a:pt x="784263" y="855599"/>
                  </a:lnTo>
                  <a:lnTo>
                    <a:pt x="756069" y="858520"/>
                  </a:lnTo>
                  <a:lnTo>
                    <a:pt x="756577" y="858393"/>
                  </a:lnTo>
                  <a:lnTo>
                    <a:pt x="727875" y="860679"/>
                  </a:lnTo>
                  <a:lnTo>
                    <a:pt x="728383" y="860679"/>
                  </a:lnTo>
                  <a:lnTo>
                    <a:pt x="700316" y="862076"/>
                  </a:lnTo>
                  <a:lnTo>
                    <a:pt x="700811" y="862076"/>
                  </a:lnTo>
                  <a:lnTo>
                    <a:pt x="673646" y="862711"/>
                  </a:lnTo>
                  <a:lnTo>
                    <a:pt x="673214" y="862711"/>
                  </a:lnTo>
                  <a:lnTo>
                    <a:pt x="672884" y="862711"/>
                  </a:lnTo>
                  <a:lnTo>
                    <a:pt x="645706" y="862203"/>
                  </a:lnTo>
                  <a:lnTo>
                    <a:pt x="646341" y="862203"/>
                  </a:lnTo>
                  <a:lnTo>
                    <a:pt x="617893" y="860806"/>
                  </a:lnTo>
                  <a:lnTo>
                    <a:pt x="618655" y="860806"/>
                  </a:lnTo>
                  <a:lnTo>
                    <a:pt x="590778" y="858393"/>
                  </a:lnTo>
                  <a:lnTo>
                    <a:pt x="589318" y="858266"/>
                  </a:lnTo>
                  <a:lnTo>
                    <a:pt x="589826" y="858393"/>
                  </a:lnTo>
                  <a:lnTo>
                    <a:pt x="560387" y="854837"/>
                  </a:lnTo>
                  <a:lnTo>
                    <a:pt x="559346" y="854710"/>
                  </a:lnTo>
                  <a:lnTo>
                    <a:pt x="559981" y="854837"/>
                  </a:lnTo>
                  <a:lnTo>
                    <a:pt x="528815" y="850138"/>
                  </a:lnTo>
                  <a:lnTo>
                    <a:pt x="527977" y="850011"/>
                  </a:lnTo>
                  <a:lnTo>
                    <a:pt x="528358" y="850138"/>
                  </a:lnTo>
                  <a:lnTo>
                    <a:pt x="512318" y="847344"/>
                  </a:lnTo>
                  <a:lnTo>
                    <a:pt x="511594" y="847217"/>
                  </a:lnTo>
                  <a:lnTo>
                    <a:pt x="511975" y="847344"/>
                  </a:lnTo>
                  <a:lnTo>
                    <a:pt x="495096" y="844042"/>
                  </a:lnTo>
                  <a:lnTo>
                    <a:pt x="494449" y="843915"/>
                  </a:lnTo>
                  <a:lnTo>
                    <a:pt x="494830" y="844042"/>
                  </a:lnTo>
                  <a:lnTo>
                    <a:pt x="458978" y="836549"/>
                  </a:lnTo>
                  <a:lnTo>
                    <a:pt x="458381" y="836422"/>
                  </a:lnTo>
                  <a:lnTo>
                    <a:pt x="458762" y="836549"/>
                  </a:lnTo>
                  <a:lnTo>
                    <a:pt x="420789" y="827786"/>
                  </a:lnTo>
                  <a:lnTo>
                    <a:pt x="421170" y="827786"/>
                  </a:lnTo>
                  <a:lnTo>
                    <a:pt x="383184" y="818134"/>
                  </a:lnTo>
                  <a:lnTo>
                    <a:pt x="382689" y="818007"/>
                  </a:lnTo>
                  <a:lnTo>
                    <a:pt x="383070" y="818134"/>
                  </a:lnTo>
                  <a:lnTo>
                    <a:pt x="345046" y="807593"/>
                  </a:lnTo>
                  <a:lnTo>
                    <a:pt x="344589" y="807466"/>
                  </a:lnTo>
                  <a:lnTo>
                    <a:pt x="344970" y="807593"/>
                  </a:lnTo>
                  <a:lnTo>
                    <a:pt x="307619" y="796417"/>
                  </a:lnTo>
                  <a:lnTo>
                    <a:pt x="307200" y="796290"/>
                  </a:lnTo>
                  <a:lnTo>
                    <a:pt x="307441" y="796417"/>
                  </a:lnTo>
                  <a:lnTo>
                    <a:pt x="289547" y="790829"/>
                  </a:lnTo>
                  <a:lnTo>
                    <a:pt x="289153" y="790702"/>
                  </a:lnTo>
                  <a:lnTo>
                    <a:pt x="289471" y="790829"/>
                  </a:lnTo>
                  <a:lnTo>
                    <a:pt x="272021" y="784987"/>
                  </a:lnTo>
                  <a:lnTo>
                    <a:pt x="271653" y="784860"/>
                  </a:lnTo>
                  <a:lnTo>
                    <a:pt x="271830" y="784987"/>
                  </a:lnTo>
                  <a:lnTo>
                    <a:pt x="254952" y="779145"/>
                  </a:lnTo>
                  <a:lnTo>
                    <a:pt x="254596" y="779018"/>
                  </a:lnTo>
                  <a:lnTo>
                    <a:pt x="254812" y="779145"/>
                  </a:lnTo>
                  <a:lnTo>
                    <a:pt x="238937" y="773430"/>
                  </a:lnTo>
                  <a:lnTo>
                    <a:pt x="238239" y="773176"/>
                  </a:lnTo>
                  <a:lnTo>
                    <a:pt x="238747" y="773430"/>
                  </a:lnTo>
                  <a:lnTo>
                    <a:pt x="207772" y="761365"/>
                  </a:lnTo>
                  <a:lnTo>
                    <a:pt x="207594" y="761301"/>
                  </a:lnTo>
                  <a:lnTo>
                    <a:pt x="207441" y="761238"/>
                  </a:lnTo>
                  <a:lnTo>
                    <a:pt x="207162" y="761111"/>
                  </a:lnTo>
                  <a:lnTo>
                    <a:pt x="178244" y="748665"/>
                  </a:lnTo>
                  <a:lnTo>
                    <a:pt x="177660" y="748411"/>
                  </a:lnTo>
                  <a:lnTo>
                    <a:pt x="178181" y="748665"/>
                  </a:lnTo>
                  <a:lnTo>
                    <a:pt x="149758" y="735330"/>
                  </a:lnTo>
                  <a:lnTo>
                    <a:pt x="149504" y="735215"/>
                  </a:lnTo>
                  <a:lnTo>
                    <a:pt x="149250" y="735076"/>
                  </a:lnTo>
                  <a:lnTo>
                    <a:pt x="122593" y="721614"/>
                  </a:lnTo>
                  <a:lnTo>
                    <a:pt x="121843" y="721233"/>
                  </a:lnTo>
                  <a:lnTo>
                    <a:pt x="122504" y="721614"/>
                  </a:lnTo>
                  <a:lnTo>
                    <a:pt x="116522" y="718312"/>
                  </a:lnTo>
                  <a:lnTo>
                    <a:pt x="121729" y="709041"/>
                  </a:lnTo>
                  <a:lnTo>
                    <a:pt x="135166" y="685165"/>
                  </a:lnTo>
                  <a:lnTo>
                    <a:pt x="7531" y="678942"/>
                  </a:lnTo>
                  <a:lnTo>
                    <a:pt x="79095" y="784860"/>
                  </a:lnTo>
                  <a:lnTo>
                    <a:pt x="97840" y="751535"/>
                  </a:lnTo>
                  <a:lnTo>
                    <a:pt x="104343" y="755142"/>
                  </a:lnTo>
                  <a:lnTo>
                    <a:pt x="162318" y="783336"/>
                  </a:lnTo>
                  <a:lnTo>
                    <a:pt x="225196" y="808990"/>
                  </a:lnTo>
                  <a:lnTo>
                    <a:pt x="277634" y="827024"/>
                  </a:lnTo>
                  <a:lnTo>
                    <a:pt x="334175" y="844169"/>
                  </a:lnTo>
                  <a:lnTo>
                    <a:pt x="373037" y="854837"/>
                  </a:lnTo>
                  <a:lnTo>
                    <a:pt x="412026" y="864870"/>
                  </a:lnTo>
                  <a:lnTo>
                    <a:pt x="450380" y="873633"/>
                  </a:lnTo>
                  <a:lnTo>
                    <a:pt x="504990" y="884809"/>
                  </a:lnTo>
                  <a:lnTo>
                    <a:pt x="554647" y="892556"/>
                  </a:lnTo>
                  <a:lnTo>
                    <a:pt x="615607" y="898779"/>
                  </a:lnTo>
                  <a:lnTo>
                    <a:pt x="673392" y="900811"/>
                  </a:lnTo>
                  <a:lnTo>
                    <a:pt x="701967" y="900176"/>
                  </a:lnTo>
                  <a:lnTo>
                    <a:pt x="759879" y="896366"/>
                  </a:lnTo>
                  <a:lnTo>
                    <a:pt x="816013" y="889762"/>
                  </a:lnTo>
                  <a:lnTo>
                    <a:pt x="870496" y="879983"/>
                  </a:lnTo>
                  <a:lnTo>
                    <a:pt x="928916" y="865124"/>
                  </a:lnTo>
                  <a:lnTo>
                    <a:pt x="937056" y="862711"/>
                  </a:lnTo>
                  <a:lnTo>
                    <a:pt x="944791" y="860425"/>
                  </a:lnTo>
                  <a:lnTo>
                    <a:pt x="950976" y="858520"/>
                  </a:lnTo>
                  <a:lnTo>
                    <a:pt x="961301" y="855345"/>
                  </a:lnTo>
                  <a:lnTo>
                    <a:pt x="971181" y="852170"/>
                  </a:lnTo>
                  <a:lnTo>
                    <a:pt x="984529" y="847852"/>
                  </a:lnTo>
                  <a:lnTo>
                    <a:pt x="996988" y="843788"/>
                  </a:lnTo>
                  <a:lnTo>
                    <a:pt x="1000328" y="842645"/>
                  </a:lnTo>
                  <a:lnTo>
                    <a:pt x="1016292" y="837184"/>
                  </a:lnTo>
                  <a:lnTo>
                    <a:pt x="1029017" y="832612"/>
                  </a:lnTo>
                  <a:lnTo>
                    <a:pt x="1040282" y="828548"/>
                  </a:lnTo>
                  <a:lnTo>
                    <a:pt x="1056678" y="822579"/>
                  </a:lnTo>
                  <a:lnTo>
                    <a:pt x="1066038" y="819023"/>
                  </a:lnTo>
                  <a:lnTo>
                    <a:pt x="1077760" y="814578"/>
                  </a:lnTo>
                  <a:lnTo>
                    <a:pt x="1080350" y="813562"/>
                  </a:lnTo>
                  <a:lnTo>
                    <a:pt x="1095286" y="807720"/>
                  </a:lnTo>
                  <a:lnTo>
                    <a:pt x="1111504" y="801370"/>
                  </a:lnTo>
                  <a:lnTo>
                    <a:pt x="1121575" y="797433"/>
                  </a:lnTo>
                  <a:lnTo>
                    <a:pt x="1167168" y="778891"/>
                  </a:lnTo>
                  <a:lnTo>
                    <a:pt x="1270635" y="735279"/>
                  </a:lnTo>
                  <a:lnTo>
                    <a:pt x="1360716" y="6964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21892" y="2045207"/>
              <a:ext cx="416559" cy="201295"/>
            </a:xfrm>
            <a:custGeom>
              <a:avLst/>
              <a:gdLst/>
              <a:ahLst/>
              <a:cxnLst/>
              <a:rect l="l" t="t" r="r" b="b"/>
              <a:pathLst>
                <a:path w="416560" h="201294">
                  <a:moveTo>
                    <a:pt x="416052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416052" y="201167"/>
                  </a:lnTo>
                  <a:lnTo>
                    <a:pt x="416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513713" y="2029205"/>
            <a:ext cx="2330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21891" y="2869692"/>
            <a:ext cx="416559" cy="200025"/>
          </a:xfrm>
          <a:custGeom>
            <a:avLst/>
            <a:gdLst/>
            <a:ahLst/>
            <a:cxnLst/>
            <a:rect l="l" t="t" r="r" b="b"/>
            <a:pathLst>
              <a:path w="416560" h="200025">
                <a:moveTo>
                  <a:pt x="416052" y="0"/>
                </a:moveTo>
                <a:lnTo>
                  <a:pt x="0" y="0"/>
                </a:lnTo>
                <a:lnTo>
                  <a:pt x="0" y="199644"/>
                </a:lnTo>
                <a:lnTo>
                  <a:pt x="416052" y="199644"/>
                </a:lnTo>
                <a:lnTo>
                  <a:pt x="4160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61516" y="2803017"/>
            <a:ext cx="3371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7094" sz="1950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sz="850">
                <a:solidFill>
                  <a:srgbClr val="252525"/>
                </a:solidFill>
                <a:latin typeface="Calibri Light"/>
                <a:cs typeface="Calibri Light"/>
              </a:rPr>
              <a:t>-1</a:t>
            </a:r>
            <a:r>
              <a:rPr dirty="0" baseline="-17094" sz="1950">
                <a:solidFill>
                  <a:srgbClr val="252525"/>
                </a:solidFill>
                <a:latin typeface="Cambria Math"/>
                <a:cs typeface="Cambria Math"/>
              </a:rPr>
              <a:t>∗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48457" y="2394330"/>
            <a:ext cx="964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5">
                <a:solidFill>
                  <a:srgbClr val="252525"/>
                </a:solidFill>
                <a:latin typeface="Cambria Math"/>
                <a:cs typeface="Cambria Math"/>
              </a:rPr>
              <a:t>𝟑</a:t>
            </a:r>
            <a:r>
              <a:rPr dirty="0" baseline="26455" sz="1575" spc="7">
                <a:solidFill>
                  <a:srgbClr val="252525"/>
                </a:solidFill>
                <a:latin typeface="Calibri Light"/>
                <a:cs typeface="Calibri Light"/>
              </a:rPr>
              <a:t>-1</a:t>
            </a:r>
            <a:r>
              <a:rPr dirty="0" sz="1600" spc="5">
                <a:solidFill>
                  <a:srgbClr val="252525"/>
                </a:solidFill>
                <a:latin typeface="Cambria Math"/>
                <a:cs typeface="Cambria Math"/>
              </a:rPr>
              <a:t>∗</a:t>
            </a:r>
            <a:r>
              <a:rPr dirty="0" sz="1600" spc="-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𝟑</a:t>
            </a:r>
            <a:r>
              <a:rPr dirty="0" sz="16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𝟏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0959" y="1857755"/>
            <a:ext cx="2250948" cy="112166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069207" y="2190115"/>
            <a:ext cx="162560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5761" y="2192858"/>
            <a:ext cx="162560" cy="56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𝟓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83073" y="1815845"/>
            <a:ext cx="372745" cy="4165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40"/>
              </a:lnSpc>
              <a:spcBef>
                <a:spcPts val="95"/>
              </a:spcBef>
              <a:tabLst>
                <a:tab pos="268605" algn="l"/>
              </a:tabLst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ts val="1540"/>
              </a:lnSpc>
              <a:tabLst>
                <a:tab pos="268605" algn="l"/>
              </a:tabLst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49671" y="1904237"/>
            <a:ext cx="10541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61738" y="2605531"/>
            <a:ext cx="374650" cy="4165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40"/>
              </a:lnSpc>
              <a:spcBef>
                <a:spcPts val="95"/>
              </a:spcBef>
              <a:tabLst>
                <a:tab pos="269875" algn="l"/>
              </a:tabLst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ts val="1540"/>
              </a:lnSpc>
              <a:tabLst>
                <a:tab pos="269875" algn="l"/>
              </a:tabLst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1759" y="2698495"/>
            <a:ext cx="114935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5">
                <a:solidFill>
                  <a:srgbClr val="252525"/>
                </a:solidFill>
                <a:latin typeface="Calibri Light"/>
                <a:cs typeface="Calibri Light"/>
              </a:rPr>
              <a:t>-</a:t>
            </a:r>
            <a:r>
              <a:rPr dirty="0" sz="850" spc="5">
                <a:solidFill>
                  <a:srgbClr val="252525"/>
                </a:solidFill>
                <a:latin typeface="Calibri Light"/>
                <a:cs typeface="Calibri Light"/>
              </a:rPr>
              <a:t>1</a:t>
            </a:r>
            <a:endParaRPr sz="850">
              <a:latin typeface="Calibri Light"/>
              <a:cs typeface="Calibri Ligh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24275" y="2332608"/>
            <a:ext cx="482600" cy="271780"/>
          </a:xfrm>
          <a:custGeom>
            <a:avLst/>
            <a:gdLst/>
            <a:ahLst/>
            <a:cxnLst/>
            <a:rect l="l" t="t" r="r" b="b"/>
            <a:pathLst>
              <a:path w="482600" h="271780">
                <a:moveTo>
                  <a:pt x="423539" y="0"/>
                </a:moveTo>
                <a:lnTo>
                  <a:pt x="420999" y="6476"/>
                </a:lnTo>
                <a:lnTo>
                  <a:pt x="431096" y="14668"/>
                </a:lnTo>
                <a:lnTo>
                  <a:pt x="440049" y="25336"/>
                </a:lnTo>
                <a:lnTo>
                  <a:pt x="459935" y="71862"/>
                </a:lnTo>
                <a:lnTo>
                  <a:pt x="466082" y="112716"/>
                </a:lnTo>
                <a:lnTo>
                  <a:pt x="466846" y="135762"/>
                </a:lnTo>
                <a:lnTo>
                  <a:pt x="466084" y="158553"/>
                </a:lnTo>
                <a:lnTo>
                  <a:pt x="459988" y="199181"/>
                </a:lnTo>
                <a:lnTo>
                  <a:pt x="440160" y="246046"/>
                </a:lnTo>
                <a:lnTo>
                  <a:pt x="420999" y="265049"/>
                </a:lnTo>
                <a:lnTo>
                  <a:pt x="423539" y="271525"/>
                </a:lnTo>
                <a:lnTo>
                  <a:pt x="457668" y="238111"/>
                </a:lnTo>
                <a:lnTo>
                  <a:pt x="473266" y="201983"/>
                </a:lnTo>
                <a:lnTo>
                  <a:pt x="481215" y="159259"/>
                </a:lnTo>
                <a:lnTo>
                  <a:pt x="482213" y="135636"/>
                </a:lnTo>
                <a:lnTo>
                  <a:pt x="481215" y="111922"/>
                </a:lnTo>
                <a:lnTo>
                  <a:pt x="473266" y="69163"/>
                </a:lnTo>
                <a:lnTo>
                  <a:pt x="457668" y="33325"/>
                </a:lnTo>
                <a:lnTo>
                  <a:pt x="436281" y="8266"/>
                </a:lnTo>
                <a:lnTo>
                  <a:pt x="423539" y="0"/>
                </a:lnTo>
                <a:close/>
              </a:path>
              <a:path w="482600" h="271780">
                <a:moveTo>
                  <a:pt x="58541" y="0"/>
                </a:moveTo>
                <a:lnTo>
                  <a:pt x="24483" y="33325"/>
                </a:lnTo>
                <a:lnTo>
                  <a:pt x="8942" y="69163"/>
                </a:lnTo>
                <a:lnTo>
                  <a:pt x="992" y="111922"/>
                </a:lnTo>
                <a:lnTo>
                  <a:pt x="0" y="135762"/>
                </a:lnTo>
                <a:lnTo>
                  <a:pt x="992" y="159259"/>
                </a:lnTo>
                <a:lnTo>
                  <a:pt x="8942" y="201983"/>
                </a:lnTo>
                <a:lnTo>
                  <a:pt x="24483" y="238111"/>
                </a:lnTo>
                <a:lnTo>
                  <a:pt x="58541" y="271525"/>
                </a:lnTo>
                <a:lnTo>
                  <a:pt x="61208" y="265049"/>
                </a:lnTo>
                <a:lnTo>
                  <a:pt x="51020" y="256815"/>
                </a:lnTo>
                <a:lnTo>
                  <a:pt x="41999" y="246046"/>
                </a:lnTo>
                <a:lnTo>
                  <a:pt x="22219" y="199181"/>
                </a:lnTo>
                <a:lnTo>
                  <a:pt x="16123" y="158553"/>
                </a:lnTo>
                <a:lnTo>
                  <a:pt x="15365" y="135636"/>
                </a:lnTo>
                <a:lnTo>
                  <a:pt x="16123" y="112716"/>
                </a:lnTo>
                <a:lnTo>
                  <a:pt x="22219" y="71862"/>
                </a:lnTo>
                <a:lnTo>
                  <a:pt x="42142" y="25336"/>
                </a:lnTo>
                <a:lnTo>
                  <a:pt x="61208" y="6476"/>
                </a:lnTo>
                <a:lnTo>
                  <a:pt x="58541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279007" y="2250439"/>
            <a:ext cx="374650" cy="4165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40"/>
              </a:lnSpc>
              <a:spcBef>
                <a:spcPts val="95"/>
              </a:spcBef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ts val="1540"/>
              </a:lnSpc>
              <a:tabLst>
                <a:tab pos="269875" algn="l"/>
              </a:tabLst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11163" y="2288539"/>
            <a:ext cx="4210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2820" sz="1950" spc="-7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dirty="0" baseline="12820" sz="1950" spc="434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850">
                <a:solidFill>
                  <a:srgbClr val="252525"/>
                </a:solidFill>
                <a:latin typeface="Calibri Light"/>
                <a:cs typeface="Calibri Light"/>
              </a:rPr>
              <a:t>-1</a:t>
            </a:r>
            <a:r>
              <a:rPr dirty="0" baseline="-17094" sz="1950">
                <a:solidFill>
                  <a:srgbClr val="252525"/>
                </a:solidFill>
                <a:latin typeface="Calibri Light"/>
                <a:cs typeface="Calibri Light"/>
              </a:rPr>
              <a:t>*</a:t>
            </a:r>
            <a:endParaRPr baseline="-17094" sz="1950">
              <a:latin typeface="Calibri Light"/>
              <a:cs typeface="Calibri Ligh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943603" y="2332608"/>
            <a:ext cx="482600" cy="271780"/>
          </a:xfrm>
          <a:custGeom>
            <a:avLst/>
            <a:gdLst/>
            <a:ahLst/>
            <a:cxnLst/>
            <a:rect l="l" t="t" r="r" b="b"/>
            <a:pathLst>
              <a:path w="482600" h="271780">
                <a:moveTo>
                  <a:pt x="423539" y="0"/>
                </a:moveTo>
                <a:lnTo>
                  <a:pt x="420999" y="6476"/>
                </a:lnTo>
                <a:lnTo>
                  <a:pt x="431096" y="14668"/>
                </a:lnTo>
                <a:lnTo>
                  <a:pt x="440049" y="25336"/>
                </a:lnTo>
                <a:lnTo>
                  <a:pt x="459935" y="71862"/>
                </a:lnTo>
                <a:lnTo>
                  <a:pt x="466082" y="112716"/>
                </a:lnTo>
                <a:lnTo>
                  <a:pt x="466846" y="135762"/>
                </a:lnTo>
                <a:lnTo>
                  <a:pt x="466084" y="158553"/>
                </a:lnTo>
                <a:lnTo>
                  <a:pt x="459988" y="199181"/>
                </a:lnTo>
                <a:lnTo>
                  <a:pt x="440160" y="246046"/>
                </a:lnTo>
                <a:lnTo>
                  <a:pt x="420999" y="265049"/>
                </a:lnTo>
                <a:lnTo>
                  <a:pt x="423539" y="271525"/>
                </a:lnTo>
                <a:lnTo>
                  <a:pt x="457668" y="238111"/>
                </a:lnTo>
                <a:lnTo>
                  <a:pt x="473266" y="201983"/>
                </a:lnTo>
                <a:lnTo>
                  <a:pt x="481215" y="159259"/>
                </a:lnTo>
                <a:lnTo>
                  <a:pt x="482213" y="135636"/>
                </a:lnTo>
                <a:lnTo>
                  <a:pt x="481215" y="111922"/>
                </a:lnTo>
                <a:lnTo>
                  <a:pt x="473266" y="69163"/>
                </a:lnTo>
                <a:lnTo>
                  <a:pt x="457668" y="33325"/>
                </a:lnTo>
                <a:lnTo>
                  <a:pt x="436281" y="8266"/>
                </a:lnTo>
                <a:lnTo>
                  <a:pt x="423539" y="0"/>
                </a:lnTo>
                <a:close/>
              </a:path>
              <a:path w="482600" h="271780">
                <a:moveTo>
                  <a:pt x="58541" y="0"/>
                </a:moveTo>
                <a:lnTo>
                  <a:pt x="24483" y="33325"/>
                </a:lnTo>
                <a:lnTo>
                  <a:pt x="8942" y="69163"/>
                </a:lnTo>
                <a:lnTo>
                  <a:pt x="992" y="111922"/>
                </a:lnTo>
                <a:lnTo>
                  <a:pt x="0" y="135762"/>
                </a:lnTo>
                <a:lnTo>
                  <a:pt x="992" y="159259"/>
                </a:lnTo>
                <a:lnTo>
                  <a:pt x="8942" y="201983"/>
                </a:lnTo>
                <a:lnTo>
                  <a:pt x="24483" y="238111"/>
                </a:lnTo>
                <a:lnTo>
                  <a:pt x="58541" y="271525"/>
                </a:lnTo>
                <a:lnTo>
                  <a:pt x="61208" y="265049"/>
                </a:lnTo>
                <a:lnTo>
                  <a:pt x="51020" y="256815"/>
                </a:lnTo>
                <a:lnTo>
                  <a:pt x="41999" y="246046"/>
                </a:lnTo>
                <a:lnTo>
                  <a:pt x="22219" y="199181"/>
                </a:lnTo>
                <a:lnTo>
                  <a:pt x="16123" y="158553"/>
                </a:lnTo>
                <a:lnTo>
                  <a:pt x="15365" y="135636"/>
                </a:lnTo>
                <a:lnTo>
                  <a:pt x="16123" y="112716"/>
                </a:lnTo>
                <a:lnTo>
                  <a:pt x="22219" y="71862"/>
                </a:lnTo>
                <a:lnTo>
                  <a:pt x="42142" y="25336"/>
                </a:lnTo>
                <a:lnTo>
                  <a:pt x="61208" y="6476"/>
                </a:lnTo>
                <a:lnTo>
                  <a:pt x="58541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617211" y="2332608"/>
            <a:ext cx="482600" cy="271780"/>
          </a:xfrm>
          <a:custGeom>
            <a:avLst/>
            <a:gdLst/>
            <a:ahLst/>
            <a:cxnLst/>
            <a:rect l="l" t="t" r="r" b="b"/>
            <a:pathLst>
              <a:path w="482600" h="271780">
                <a:moveTo>
                  <a:pt x="423539" y="0"/>
                </a:moveTo>
                <a:lnTo>
                  <a:pt x="420999" y="6476"/>
                </a:lnTo>
                <a:lnTo>
                  <a:pt x="431096" y="14668"/>
                </a:lnTo>
                <a:lnTo>
                  <a:pt x="440049" y="25336"/>
                </a:lnTo>
                <a:lnTo>
                  <a:pt x="459935" y="71862"/>
                </a:lnTo>
                <a:lnTo>
                  <a:pt x="466082" y="112716"/>
                </a:lnTo>
                <a:lnTo>
                  <a:pt x="466846" y="135762"/>
                </a:lnTo>
                <a:lnTo>
                  <a:pt x="466084" y="158553"/>
                </a:lnTo>
                <a:lnTo>
                  <a:pt x="459988" y="199181"/>
                </a:lnTo>
                <a:lnTo>
                  <a:pt x="440160" y="246046"/>
                </a:lnTo>
                <a:lnTo>
                  <a:pt x="420999" y="265049"/>
                </a:lnTo>
                <a:lnTo>
                  <a:pt x="423539" y="271525"/>
                </a:lnTo>
                <a:lnTo>
                  <a:pt x="457668" y="238111"/>
                </a:lnTo>
                <a:lnTo>
                  <a:pt x="473266" y="201983"/>
                </a:lnTo>
                <a:lnTo>
                  <a:pt x="481215" y="159259"/>
                </a:lnTo>
                <a:lnTo>
                  <a:pt x="482213" y="135636"/>
                </a:lnTo>
                <a:lnTo>
                  <a:pt x="481215" y="111922"/>
                </a:lnTo>
                <a:lnTo>
                  <a:pt x="473266" y="69163"/>
                </a:lnTo>
                <a:lnTo>
                  <a:pt x="457668" y="33325"/>
                </a:lnTo>
                <a:lnTo>
                  <a:pt x="436281" y="8266"/>
                </a:lnTo>
                <a:lnTo>
                  <a:pt x="423539" y="0"/>
                </a:lnTo>
                <a:close/>
              </a:path>
              <a:path w="482600" h="271780">
                <a:moveTo>
                  <a:pt x="58541" y="0"/>
                </a:moveTo>
                <a:lnTo>
                  <a:pt x="24483" y="33325"/>
                </a:lnTo>
                <a:lnTo>
                  <a:pt x="8942" y="69163"/>
                </a:lnTo>
                <a:lnTo>
                  <a:pt x="992" y="111922"/>
                </a:lnTo>
                <a:lnTo>
                  <a:pt x="0" y="135762"/>
                </a:lnTo>
                <a:lnTo>
                  <a:pt x="992" y="159259"/>
                </a:lnTo>
                <a:lnTo>
                  <a:pt x="8942" y="201983"/>
                </a:lnTo>
                <a:lnTo>
                  <a:pt x="24483" y="238111"/>
                </a:lnTo>
                <a:lnTo>
                  <a:pt x="58541" y="271525"/>
                </a:lnTo>
                <a:lnTo>
                  <a:pt x="61208" y="265049"/>
                </a:lnTo>
                <a:lnTo>
                  <a:pt x="51020" y="256815"/>
                </a:lnTo>
                <a:lnTo>
                  <a:pt x="41999" y="246046"/>
                </a:lnTo>
                <a:lnTo>
                  <a:pt x="22219" y="199181"/>
                </a:lnTo>
                <a:lnTo>
                  <a:pt x="16123" y="158553"/>
                </a:lnTo>
                <a:lnTo>
                  <a:pt x="15365" y="135636"/>
                </a:lnTo>
                <a:lnTo>
                  <a:pt x="16123" y="112716"/>
                </a:lnTo>
                <a:lnTo>
                  <a:pt x="22219" y="71862"/>
                </a:lnTo>
                <a:lnTo>
                  <a:pt x="42142" y="25336"/>
                </a:lnTo>
                <a:lnTo>
                  <a:pt x="61208" y="6476"/>
                </a:lnTo>
                <a:lnTo>
                  <a:pt x="58541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960489" y="2241538"/>
            <a:ext cx="1135380" cy="4254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ts val="1595"/>
              </a:lnSpc>
              <a:spcBef>
                <a:spcPts val="114"/>
              </a:spcBef>
              <a:tabLst>
                <a:tab pos="307975" algn="l"/>
                <a:tab pos="979805" algn="l"/>
              </a:tabLst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2	1</a:t>
            </a:r>
            <a:r>
              <a:rPr dirty="0" sz="1300" spc="35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28806" sz="2025" spc="-67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baseline="-28806" sz="2025" spc="98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	0</a:t>
            </a:r>
            <a:endParaRPr sz="1300">
              <a:latin typeface="Cambria Math"/>
              <a:cs typeface="Cambria Math"/>
            </a:endParaRPr>
          </a:p>
          <a:p>
            <a:pPr marL="50800">
              <a:lnSpc>
                <a:spcPts val="1535"/>
              </a:lnSpc>
              <a:tabLst>
                <a:tab pos="307975" algn="l"/>
                <a:tab pos="723900" algn="l"/>
                <a:tab pos="979805" algn="l"/>
              </a:tabLst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1	2	0	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47684" y="2338831"/>
            <a:ext cx="2571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3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𝐼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0119" y="3208020"/>
            <a:ext cx="1389126" cy="16230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8140" y="3208020"/>
            <a:ext cx="1581150" cy="16230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8659" y="3668267"/>
            <a:ext cx="1978914" cy="17145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943355" y="3963923"/>
            <a:ext cx="1811020" cy="402590"/>
          </a:xfrm>
          <a:prstGeom prst="rect">
            <a:avLst/>
          </a:prstGeom>
          <a:solidFill>
            <a:srgbClr val="F1F1F1"/>
          </a:solidFill>
          <a:ln w="12191">
            <a:solidFill>
              <a:srgbClr val="585858"/>
            </a:solidFill>
          </a:ln>
        </p:spPr>
        <p:txBody>
          <a:bodyPr wrap="square" lIns="0" tIns="5905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465"/>
              </a:spcBef>
            </a:pPr>
            <a:r>
              <a:rPr dirty="0" sz="1800" spc="-5">
                <a:solidFill>
                  <a:srgbClr val="252525"/>
                </a:solidFill>
                <a:latin typeface="Cambria Math"/>
                <a:cs typeface="Cambria Math"/>
              </a:rPr>
              <a:t>𝑨</a:t>
            </a:r>
            <a:r>
              <a:rPr dirty="0" baseline="25462" sz="1800" spc="-7">
                <a:solidFill>
                  <a:srgbClr val="252525"/>
                </a:solidFill>
                <a:latin typeface="Calibri Light"/>
                <a:cs typeface="Calibri Light"/>
              </a:rPr>
              <a:t>-1</a:t>
            </a:r>
            <a:r>
              <a:rPr dirty="0" sz="1800" spc="-5">
                <a:solidFill>
                  <a:srgbClr val="252525"/>
                </a:solidFill>
                <a:latin typeface="Cambria Math"/>
                <a:cs typeface="Cambria Math"/>
              </a:rPr>
              <a:t>𝑨</a:t>
            </a:r>
            <a:r>
              <a:rPr dirty="0" sz="18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800" spc="9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800" spc="-5">
                <a:solidFill>
                  <a:srgbClr val="252525"/>
                </a:solidFill>
                <a:latin typeface="Cambria Math"/>
                <a:cs typeface="Cambria Math"/>
              </a:rPr>
              <a:t>𝑨𝑨</a:t>
            </a:r>
            <a:r>
              <a:rPr dirty="0" baseline="25462" sz="1800" spc="-7">
                <a:solidFill>
                  <a:srgbClr val="252525"/>
                </a:solidFill>
                <a:latin typeface="Calibri Light"/>
                <a:cs typeface="Calibri Light"/>
              </a:rPr>
              <a:t>-1</a:t>
            </a:r>
            <a:r>
              <a:rPr dirty="0" sz="18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800" spc="9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𝑰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0183" y="4733544"/>
            <a:ext cx="831341" cy="162306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907186" y="4979289"/>
            <a:ext cx="18268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1600" spc="-20">
                <a:solidFill>
                  <a:srgbClr val="252525"/>
                </a:solidFill>
                <a:latin typeface="Calibri"/>
                <a:cs typeface="Calibri"/>
              </a:rPr>
              <a:t> Reverse</a:t>
            </a:r>
            <a:r>
              <a:rPr dirty="0" sz="1600" spc="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libri"/>
                <a:cs typeface="Calibri"/>
              </a:rPr>
              <a:t>Matrix</a:t>
            </a:r>
            <a:r>
              <a:rPr dirty="0" sz="16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37056" y="5300471"/>
            <a:ext cx="593725" cy="334645"/>
          </a:xfrm>
          <a:custGeom>
            <a:avLst/>
            <a:gdLst/>
            <a:ahLst/>
            <a:cxnLst/>
            <a:rect l="l" t="t" r="r" b="b"/>
            <a:pathLst>
              <a:path w="593725" h="334645">
                <a:moveTo>
                  <a:pt x="521157" y="0"/>
                </a:moveTo>
                <a:lnTo>
                  <a:pt x="517982" y="7873"/>
                </a:lnTo>
                <a:lnTo>
                  <a:pt x="530434" y="17990"/>
                </a:lnTo>
                <a:lnTo>
                  <a:pt x="541493" y="31178"/>
                </a:lnTo>
                <a:lnTo>
                  <a:pt x="559384" y="66674"/>
                </a:lnTo>
                <a:lnTo>
                  <a:pt x="570703" y="112585"/>
                </a:lnTo>
                <a:lnTo>
                  <a:pt x="574497" y="167258"/>
                </a:lnTo>
                <a:lnTo>
                  <a:pt x="573548" y="195234"/>
                </a:lnTo>
                <a:lnTo>
                  <a:pt x="566031" y="245233"/>
                </a:lnTo>
                <a:lnTo>
                  <a:pt x="551272" y="286629"/>
                </a:lnTo>
                <a:lnTo>
                  <a:pt x="517982" y="326364"/>
                </a:lnTo>
                <a:lnTo>
                  <a:pt x="521157" y="334289"/>
                </a:lnTo>
                <a:lnTo>
                  <a:pt x="563216" y="293184"/>
                </a:lnTo>
                <a:lnTo>
                  <a:pt x="582363" y="248711"/>
                </a:lnTo>
                <a:lnTo>
                  <a:pt x="592078" y="196082"/>
                </a:lnTo>
                <a:lnTo>
                  <a:pt x="593293" y="167004"/>
                </a:lnTo>
                <a:lnTo>
                  <a:pt x="592078" y="137785"/>
                </a:lnTo>
                <a:lnTo>
                  <a:pt x="582363" y="85155"/>
                </a:lnTo>
                <a:lnTo>
                  <a:pt x="563216" y="41005"/>
                </a:lnTo>
                <a:lnTo>
                  <a:pt x="536875" y="10144"/>
                </a:lnTo>
                <a:lnTo>
                  <a:pt x="521157" y="0"/>
                </a:lnTo>
                <a:close/>
              </a:path>
              <a:path w="593725" h="334645">
                <a:moveTo>
                  <a:pt x="72148" y="0"/>
                </a:moveTo>
                <a:lnTo>
                  <a:pt x="30163" y="41005"/>
                </a:lnTo>
                <a:lnTo>
                  <a:pt x="10994" y="85155"/>
                </a:lnTo>
                <a:lnTo>
                  <a:pt x="1221" y="137785"/>
                </a:lnTo>
                <a:lnTo>
                  <a:pt x="0" y="167004"/>
                </a:lnTo>
                <a:lnTo>
                  <a:pt x="1221" y="196082"/>
                </a:lnTo>
                <a:lnTo>
                  <a:pt x="10994" y="248711"/>
                </a:lnTo>
                <a:lnTo>
                  <a:pt x="30163" y="293184"/>
                </a:lnTo>
                <a:lnTo>
                  <a:pt x="56465" y="324180"/>
                </a:lnTo>
                <a:lnTo>
                  <a:pt x="72148" y="334289"/>
                </a:lnTo>
                <a:lnTo>
                  <a:pt x="75412" y="326364"/>
                </a:lnTo>
                <a:lnTo>
                  <a:pt x="62834" y="316208"/>
                </a:lnTo>
                <a:lnTo>
                  <a:pt x="51714" y="302963"/>
                </a:lnTo>
                <a:lnTo>
                  <a:pt x="33845" y="267207"/>
                </a:lnTo>
                <a:lnTo>
                  <a:pt x="22637" y="221233"/>
                </a:lnTo>
                <a:lnTo>
                  <a:pt x="18897" y="167258"/>
                </a:lnTo>
                <a:lnTo>
                  <a:pt x="19840" y="138826"/>
                </a:lnTo>
                <a:lnTo>
                  <a:pt x="27389" y="88534"/>
                </a:lnTo>
                <a:lnTo>
                  <a:pt x="42244" y="47414"/>
                </a:lnTo>
                <a:lnTo>
                  <a:pt x="75412" y="7873"/>
                </a:lnTo>
                <a:lnTo>
                  <a:pt x="72148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006246" y="5201792"/>
            <a:ext cx="454659" cy="50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  <a:tabLst>
                <a:tab pos="32956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ts val="1900"/>
              </a:lnSpc>
              <a:tabLst>
                <a:tab pos="32956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6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68577" y="5311521"/>
            <a:ext cx="182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𝑖𝑠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95017" y="5300471"/>
            <a:ext cx="1052195" cy="334645"/>
          </a:xfrm>
          <a:custGeom>
            <a:avLst/>
            <a:gdLst/>
            <a:ahLst/>
            <a:cxnLst/>
            <a:rect l="l" t="t" r="r" b="b"/>
            <a:pathLst>
              <a:path w="1052195" h="334645">
                <a:moveTo>
                  <a:pt x="979932" y="0"/>
                </a:moveTo>
                <a:lnTo>
                  <a:pt x="976757" y="7873"/>
                </a:lnTo>
                <a:lnTo>
                  <a:pt x="989208" y="17990"/>
                </a:lnTo>
                <a:lnTo>
                  <a:pt x="1000267" y="31178"/>
                </a:lnTo>
                <a:lnTo>
                  <a:pt x="1018158" y="66674"/>
                </a:lnTo>
                <a:lnTo>
                  <a:pt x="1029477" y="112585"/>
                </a:lnTo>
                <a:lnTo>
                  <a:pt x="1033271" y="167258"/>
                </a:lnTo>
                <a:lnTo>
                  <a:pt x="1032323" y="195234"/>
                </a:lnTo>
                <a:lnTo>
                  <a:pt x="1024806" y="245233"/>
                </a:lnTo>
                <a:lnTo>
                  <a:pt x="1010046" y="286629"/>
                </a:lnTo>
                <a:lnTo>
                  <a:pt x="976757" y="326364"/>
                </a:lnTo>
                <a:lnTo>
                  <a:pt x="979932" y="334289"/>
                </a:lnTo>
                <a:lnTo>
                  <a:pt x="1021990" y="293184"/>
                </a:lnTo>
                <a:lnTo>
                  <a:pt x="1041138" y="248711"/>
                </a:lnTo>
                <a:lnTo>
                  <a:pt x="1050853" y="196082"/>
                </a:lnTo>
                <a:lnTo>
                  <a:pt x="1052068" y="167004"/>
                </a:lnTo>
                <a:lnTo>
                  <a:pt x="1050853" y="137785"/>
                </a:lnTo>
                <a:lnTo>
                  <a:pt x="1041138" y="85155"/>
                </a:lnTo>
                <a:lnTo>
                  <a:pt x="1021990" y="41005"/>
                </a:lnTo>
                <a:lnTo>
                  <a:pt x="995650" y="10144"/>
                </a:lnTo>
                <a:lnTo>
                  <a:pt x="979932" y="0"/>
                </a:lnTo>
                <a:close/>
              </a:path>
              <a:path w="1052195" h="334645">
                <a:moveTo>
                  <a:pt x="72136" y="0"/>
                </a:moveTo>
                <a:lnTo>
                  <a:pt x="30202" y="41005"/>
                </a:lnTo>
                <a:lnTo>
                  <a:pt x="11037" y="85155"/>
                </a:lnTo>
                <a:lnTo>
                  <a:pt x="1234" y="137785"/>
                </a:lnTo>
                <a:lnTo>
                  <a:pt x="0" y="167004"/>
                </a:lnTo>
                <a:lnTo>
                  <a:pt x="1234" y="196082"/>
                </a:lnTo>
                <a:lnTo>
                  <a:pt x="11037" y="248711"/>
                </a:lnTo>
                <a:lnTo>
                  <a:pt x="30202" y="293184"/>
                </a:lnTo>
                <a:lnTo>
                  <a:pt x="56491" y="324180"/>
                </a:lnTo>
                <a:lnTo>
                  <a:pt x="72136" y="334289"/>
                </a:lnTo>
                <a:lnTo>
                  <a:pt x="75437" y="326364"/>
                </a:lnTo>
                <a:lnTo>
                  <a:pt x="62841" y="316208"/>
                </a:lnTo>
                <a:lnTo>
                  <a:pt x="51720" y="302963"/>
                </a:lnTo>
                <a:lnTo>
                  <a:pt x="33908" y="267207"/>
                </a:lnTo>
                <a:lnTo>
                  <a:pt x="22653" y="221233"/>
                </a:lnTo>
                <a:lnTo>
                  <a:pt x="18923" y="167258"/>
                </a:lnTo>
                <a:lnTo>
                  <a:pt x="19873" y="138826"/>
                </a:lnTo>
                <a:lnTo>
                  <a:pt x="27441" y="88534"/>
                </a:lnTo>
                <a:lnTo>
                  <a:pt x="42273" y="47414"/>
                </a:lnTo>
                <a:lnTo>
                  <a:pt x="75437" y="7873"/>
                </a:lnTo>
                <a:lnTo>
                  <a:pt x="7213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865757" y="5204840"/>
            <a:ext cx="911860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900">
              <a:lnSpc>
                <a:spcPts val="1895"/>
              </a:lnSpc>
              <a:spcBef>
                <a:spcPts val="95"/>
              </a:spcBef>
              <a:tabLst>
                <a:tab pos="480059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.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ts val="1895"/>
              </a:lnSpc>
              <a:tabLst>
                <a:tab pos="63436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−3	1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39641" y="3838702"/>
            <a:ext cx="5592445" cy="1943735"/>
            <a:chOff x="3739641" y="3838702"/>
            <a:chExt cx="5592445" cy="1943735"/>
          </a:xfrm>
        </p:grpSpPr>
        <p:sp>
          <p:nvSpPr>
            <p:cNvPr id="50" name="object 50"/>
            <p:cNvSpPr/>
            <p:nvPr/>
          </p:nvSpPr>
          <p:spPr>
            <a:xfrm>
              <a:off x="3745991" y="3845052"/>
              <a:ext cx="5579745" cy="1931035"/>
            </a:xfrm>
            <a:custGeom>
              <a:avLst/>
              <a:gdLst/>
              <a:ahLst/>
              <a:cxnLst/>
              <a:rect l="l" t="t" r="r" b="b"/>
              <a:pathLst>
                <a:path w="5579745" h="1931035">
                  <a:moveTo>
                    <a:pt x="0" y="1930908"/>
                  </a:moveTo>
                  <a:lnTo>
                    <a:pt x="5579364" y="1930908"/>
                  </a:lnTo>
                  <a:lnTo>
                    <a:pt x="5579364" y="0"/>
                  </a:lnTo>
                  <a:lnTo>
                    <a:pt x="0" y="0"/>
                  </a:lnTo>
                  <a:lnTo>
                    <a:pt x="0" y="1930908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54779" y="3992854"/>
              <a:ext cx="4580382" cy="314731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5177282" y="4631563"/>
            <a:ext cx="5060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16975" sz="2700">
                <a:solidFill>
                  <a:srgbClr val="252525"/>
                </a:solidFill>
                <a:latin typeface="Cambria Math"/>
                <a:cs typeface="Cambria Math"/>
              </a:rPr>
              <a:t>𝐴</a:t>
            </a:r>
            <a:r>
              <a:rPr dirty="0" sz="1200">
                <a:solidFill>
                  <a:srgbClr val="252525"/>
                </a:solidFill>
                <a:latin typeface="Calibri"/>
                <a:cs typeface="Calibri"/>
              </a:rPr>
              <a:t>-1</a:t>
            </a:r>
            <a:r>
              <a:rPr dirty="0" baseline="-16975" sz="27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697092" y="4867021"/>
            <a:ext cx="525780" cy="15240"/>
          </a:xfrm>
          <a:custGeom>
            <a:avLst/>
            <a:gdLst/>
            <a:ahLst/>
            <a:cxnLst/>
            <a:rect l="l" t="t" r="r" b="b"/>
            <a:pathLst>
              <a:path w="525779" h="15239">
                <a:moveTo>
                  <a:pt x="525779" y="0"/>
                </a:moveTo>
                <a:lnTo>
                  <a:pt x="0" y="0"/>
                </a:lnTo>
                <a:lnTo>
                  <a:pt x="0" y="15239"/>
                </a:lnTo>
                <a:lnTo>
                  <a:pt x="525779" y="15239"/>
                </a:lnTo>
                <a:lnTo>
                  <a:pt x="52577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697982" y="4579747"/>
            <a:ext cx="536575" cy="52260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490"/>
              </a:spcBef>
            </a:pPr>
            <a:r>
              <a:rPr dirty="0" sz="1300" spc="4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395"/>
              </a:spcBef>
            </a:pPr>
            <a:r>
              <a:rPr dirty="0" sz="1300" spc="175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r>
              <a:rPr dirty="0" sz="1300" spc="185">
                <a:solidFill>
                  <a:srgbClr val="252525"/>
                </a:solidFill>
                <a:latin typeface="Cambria Math"/>
                <a:cs typeface="Cambria Math"/>
              </a:rPr>
              <a:t>𝑑</a:t>
            </a:r>
            <a:r>
              <a:rPr dirty="0" sz="1300" spc="-2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300" spc="165">
                <a:solidFill>
                  <a:srgbClr val="252525"/>
                </a:solidFill>
                <a:latin typeface="Cambria Math"/>
                <a:cs typeface="Cambria Math"/>
              </a:rPr>
              <a:t>𝑏</a:t>
            </a:r>
            <a:r>
              <a:rPr dirty="0" sz="1300" spc="145">
                <a:solidFill>
                  <a:srgbClr val="252525"/>
                </a:solidFill>
                <a:latin typeface="Cambria Math"/>
                <a:cs typeface="Cambria Math"/>
              </a:rPr>
              <a:t>𝑐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287897" y="4687570"/>
            <a:ext cx="929005" cy="374650"/>
          </a:xfrm>
          <a:custGeom>
            <a:avLst/>
            <a:gdLst/>
            <a:ahLst/>
            <a:cxnLst/>
            <a:rect l="l" t="t" r="r" b="b"/>
            <a:pathLst>
              <a:path w="929004" h="374650">
                <a:moveTo>
                  <a:pt x="53086" y="0"/>
                </a:moveTo>
                <a:lnTo>
                  <a:pt x="0" y="0"/>
                </a:lnTo>
                <a:lnTo>
                  <a:pt x="0" y="8890"/>
                </a:lnTo>
                <a:lnTo>
                  <a:pt x="0" y="36449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4490"/>
                </a:lnTo>
                <a:lnTo>
                  <a:pt x="20701" y="364490"/>
                </a:lnTo>
                <a:lnTo>
                  <a:pt x="20701" y="8890"/>
                </a:lnTo>
                <a:lnTo>
                  <a:pt x="53086" y="8890"/>
                </a:lnTo>
                <a:lnTo>
                  <a:pt x="53086" y="0"/>
                </a:lnTo>
                <a:close/>
              </a:path>
              <a:path w="929004" h="374650">
                <a:moveTo>
                  <a:pt x="928878" y="0"/>
                </a:moveTo>
                <a:lnTo>
                  <a:pt x="875792" y="0"/>
                </a:lnTo>
                <a:lnTo>
                  <a:pt x="875792" y="8890"/>
                </a:lnTo>
                <a:lnTo>
                  <a:pt x="908304" y="8890"/>
                </a:lnTo>
                <a:lnTo>
                  <a:pt x="908304" y="364490"/>
                </a:lnTo>
                <a:lnTo>
                  <a:pt x="875792" y="364490"/>
                </a:lnTo>
                <a:lnTo>
                  <a:pt x="875792" y="374650"/>
                </a:lnTo>
                <a:lnTo>
                  <a:pt x="928878" y="374650"/>
                </a:lnTo>
                <a:lnTo>
                  <a:pt x="928878" y="364490"/>
                </a:lnTo>
                <a:lnTo>
                  <a:pt x="928878" y="8890"/>
                </a:lnTo>
                <a:lnTo>
                  <a:pt x="928878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347205" y="4579746"/>
            <a:ext cx="819150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>
              <a:lnSpc>
                <a:spcPts val="2135"/>
              </a:lnSpc>
              <a:spcBef>
                <a:spcPts val="100"/>
              </a:spcBef>
              <a:tabLst>
                <a:tab pos="511809" algn="l"/>
              </a:tabLst>
            </a:pP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𝑑	</a:t>
            </a:r>
            <a:r>
              <a:rPr dirty="0" sz="1800" spc="-5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135"/>
              </a:lnSpc>
              <a:tabLst>
                <a:tab pos="595630" algn="l"/>
              </a:tabLst>
            </a:pPr>
            <a:r>
              <a:rPr dirty="0" sz="1800" spc="-5">
                <a:solidFill>
                  <a:srgbClr val="252525"/>
                </a:solidFill>
                <a:latin typeface="Cambria Math"/>
                <a:cs typeface="Cambria Math"/>
              </a:rPr>
              <a:t>−𝑐	</a:t>
            </a:r>
            <a:r>
              <a:rPr dirty="0" sz="1800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57" name="object 5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70476" y="5353811"/>
            <a:ext cx="3905250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31036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55419"/>
            <a:ext cx="689610" cy="1424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9138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4.2.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Reverse</a:t>
            </a:r>
            <a:r>
              <a:rPr dirty="0" sz="1800" spc="-5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Matrix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8472678" cy="1053846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31036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55419"/>
            <a:ext cx="689610" cy="14249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913889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4.2.</a:t>
            </a:r>
            <a:r>
              <a:rPr dirty="0" spc="-45"/>
              <a:t> </a:t>
            </a:r>
            <a:r>
              <a:rPr dirty="0" spc="-5"/>
              <a:t>Reverse</a:t>
            </a:r>
            <a:r>
              <a:rPr dirty="0" spc="-50"/>
              <a:t> </a:t>
            </a:r>
            <a:r>
              <a:rPr dirty="0"/>
              <a:t>Matrix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8320"/>
            <a:ext cx="5182362" cy="1714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60552" y="2118106"/>
            <a:ext cx="11404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85">
                <a:latin typeface="Trebuchet MS"/>
                <a:cs typeface="Trebuchet MS"/>
              </a:rPr>
              <a:t>F</a:t>
            </a:r>
            <a:r>
              <a:rPr dirty="0" sz="1400" spc="-215">
                <a:latin typeface="Trebuchet MS"/>
                <a:cs typeface="Trebuchet MS"/>
              </a:rPr>
              <a:t>o</a:t>
            </a:r>
            <a:r>
              <a:rPr dirty="0" sz="1400" spc="-80">
                <a:latin typeface="Trebuchet MS"/>
                <a:cs typeface="Trebuchet MS"/>
              </a:rPr>
              <a:t>r</a:t>
            </a:r>
            <a:r>
              <a:rPr dirty="0" sz="1400" spc="-150">
                <a:latin typeface="Trebuchet MS"/>
                <a:cs typeface="Trebuchet MS"/>
              </a:rPr>
              <a:t> </a:t>
            </a:r>
            <a:r>
              <a:rPr dirty="0" sz="1400" spc="-195">
                <a:latin typeface="Trebuchet MS"/>
                <a:cs typeface="Trebuchet MS"/>
              </a:rPr>
              <a:t>t</a:t>
            </a:r>
            <a:r>
              <a:rPr dirty="0" sz="1400" spc="-229">
                <a:latin typeface="Trebuchet MS"/>
                <a:cs typeface="Trebuchet MS"/>
              </a:rPr>
              <a:t>h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295">
                <a:latin typeface="Trebuchet MS"/>
                <a:cs typeface="Trebuchet MS"/>
              </a:rPr>
              <a:t>M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45">
                <a:latin typeface="Trebuchet MS"/>
                <a:cs typeface="Trebuchet MS"/>
              </a:rPr>
              <a:t>t</a:t>
            </a:r>
            <a:r>
              <a:rPr dirty="0" sz="1400" spc="-135">
                <a:latin typeface="Trebuchet MS"/>
                <a:cs typeface="Trebuchet MS"/>
              </a:rPr>
              <a:t>r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40">
                <a:latin typeface="Trebuchet MS"/>
                <a:cs typeface="Trebuchet MS"/>
              </a:rPr>
              <a:t>x</a:t>
            </a:r>
            <a:r>
              <a:rPr dirty="0" sz="1400" spc="-175">
                <a:latin typeface="Trebuchet MS"/>
                <a:cs typeface="Trebuchet MS"/>
              </a:rPr>
              <a:t> </a:t>
            </a:r>
            <a:r>
              <a:rPr dirty="0" sz="1400">
                <a:latin typeface="Cambria Math"/>
                <a:cs typeface="Cambria Math"/>
              </a:rPr>
              <a:t>𝐴</a:t>
            </a:r>
            <a:r>
              <a:rPr dirty="0" sz="1400" spc="9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52706" y="2112010"/>
            <a:ext cx="534035" cy="294005"/>
          </a:xfrm>
          <a:custGeom>
            <a:avLst/>
            <a:gdLst/>
            <a:ahLst/>
            <a:cxnLst/>
            <a:rect l="l" t="t" r="r" b="b"/>
            <a:pathLst>
              <a:path w="534035" h="294005">
                <a:moveTo>
                  <a:pt x="470275" y="0"/>
                </a:moveTo>
                <a:lnTo>
                  <a:pt x="467481" y="6985"/>
                </a:lnTo>
                <a:lnTo>
                  <a:pt x="478409" y="15863"/>
                </a:lnTo>
                <a:lnTo>
                  <a:pt x="488135" y="27431"/>
                </a:lnTo>
                <a:lnTo>
                  <a:pt x="509691" y="77789"/>
                </a:lnTo>
                <a:lnTo>
                  <a:pt x="516307" y="122037"/>
                </a:lnTo>
                <a:lnTo>
                  <a:pt x="517138" y="147065"/>
                </a:lnTo>
                <a:lnTo>
                  <a:pt x="516325" y="171711"/>
                </a:lnTo>
                <a:lnTo>
                  <a:pt x="509744" y="215717"/>
                </a:lnTo>
                <a:lnTo>
                  <a:pt x="496717" y="252124"/>
                </a:lnTo>
                <a:lnTo>
                  <a:pt x="467481" y="287147"/>
                </a:lnTo>
                <a:lnTo>
                  <a:pt x="470275" y="294004"/>
                </a:lnTo>
                <a:lnTo>
                  <a:pt x="507244" y="257929"/>
                </a:lnTo>
                <a:lnTo>
                  <a:pt x="524131" y="218805"/>
                </a:lnTo>
                <a:lnTo>
                  <a:pt x="532704" y="172513"/>
                </a:lnTo>
                <a:lnTo>
                  <a:pt x="533775" y="146938"/>
                </a:lnTo>
                <a:lnTo>
                  <a:pt x="532704" y="121219"/>
                </a:lnTo>
                <a:lnTo>
                  <a:pt x="524131" y="74876"/>
                </a:lnTo>
                <a:lnTo>
                  <a:pt x="507244" y="36040"/>
                </a:lnTo>
                <a:lnTo>
                  <a:pt x="484090" y="8901"/>
                </a:lnTo>
                <a:lnTo>
                  <a:pt x="470275" y="0"/>
                </a:lnTo>
                <a:close/>
              </a:path>
              <a:path w="534035" h="294005">
                <a:moveTo>
                  <a:pt x="63494" y="0"/>
                </a:moveTo>
                <a:lnTo>
                  <a:pt x="26579" y="36040"/>
                </a:lnTo>
                <a:lnTo>
                  <a:pt x="9692" y="74876"/>
                </a:lnTo>
                <a:lnTo>
                  <a:pt x="1068" y="121219"/>
                </a:lnTo>
                <a:lnTo>
                  <a:pt x="0" y="147065"/>
                </a:lnTo>
                <a:lnTo>
                  <a:pt x="1068" y="172513"/>
                </a:lnTo>
                <a:lnTo>
                  <a:pt x="9692" y="218805"/>
                </a:lnTo>
                <a:lnTo>
                  <a:pt x="26579" y="257929"/>
                </a:lnTo>
                <a:lnTo>
                  <a:pt x="63494" y="294004"/>
                </a:lnTo>
                <a:lnTo>
                  <a:pt x="66415" y="287147"/>
                </a:lnTo>
                <a:lnTo>
                  <a:pt x="55342" y="278171"/>
                </a:lnTo>
                <a:lnTo>
                  <a:pt x="45555" y="266493"/>
                </a:lnTo>
                <a:lnTo>
                  <a:pt x="24079" y="215717"/>
                </a:lnTo>
                <a:lnTo>
                  <a:pt x="17463" y="171711"/>
                </a:lnTo>
                <a:lnTo>
                  <a:pt x="16635" y="146938"/>
                </a:lnTo>
                <a:lnTo>
                  <a:pt x="17465" y="122037"/>
                </a:lnTo>
                <a:lnTo>
                  <a:pt x="24132" y="77789"/>
                </a:lnTo>
                <a:lnTo>
                  <a:pt x="37179" y="41667"/>
                </a:lnTo>
                <a:lnTo>
                  <a:pt x="66415" y="6985"/>
                </a:lnTo>
                <a:lnTo>
                  <a:pt x="63494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111755" y="2025142"/>
            <a:ext cx="409575" cy="447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655"/>
              </a:lnSpc>
              <a:spcBef>
                <a:spcPts val="105"/>
              </a:spcBef>
              <a:tabLst>
                <a:tab pos="297180" algn="l"/>
              </a:tabLst>
            </a:pPr>
            <a:r>
              <a:rPr dirty="0" sz="1400">
                <a:latin typeface="Cambria Math"/>
                <a:cs typeface="Cambria Math"/>
              </a:rPr>
              <a:t>𝑎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𝑏</a:t>
            </a:r>
            <a:endParaRPr sz="1400">
              <a:latin typeface="Cambria Math"/>
              <a:cs typeface="Cambria Math"/>
            </a:endParaRPr>
          </a:p>
          <a:p>
            <a:pPr marL="19685">
              <a:lnSpc>
                <a:spcPts val="1655"/>
              </a:lnSpc>
              <a:tabLst>
                <a:tab pos="292735" algn="l"/>
              </a:tabLst>
            </a:pPr>
            <a:r>
              <a:rPr dirty="0" sz="1400">
                <a:latin typeface="Cambria Math"/>
                <a:cs typeface="Cambria Math"/>
              </a:rPr>
              <a:t>𝑐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𝑑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47344" y="2564892"/>
            <a:ext cx="8280400" cy="1821180"/>
          </a:xfrm>
          <a:custGeom>
            <a:avLst/>
            <a:gdLst/>
            <a:ahLst/>
            <a:cxnLst/>
            <a:rect l="l" t="t" r="r" b="b"/>
            <a:pathLst>
              <a:path w="8280400" h="1821179">
                <a:moveTo>
                  <a:pt x="8279892" y="0"/>
                </a:moveTo>
                <a:lnTo>
                  <a:pt x="0" y="0"/>
                </a:lnTo>
                <a:lnTo>
                  <a:pt x="0" y="1821179"/>
                </a:lnTo>
                <a:lnTo>
                  <a:pt x="8279892" y="1821179"/>
                </a:lnTo>
                <a:lnTo>
                  <a:pt x="827989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56132" y="2764662"/>
            <a:ext cx="5797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6385" indent="-287020">
              <a:lnSpc>
                <a:spcPct val="100000"/>
              </a:lnSpc>
              <a:spcBef>
                <a:spcPts val="95"/>
              </a:spcBef>
              <a:buClr>
                <a:srgbClr val="13299F"/>
              </a:buClr>
              <a:buSzPct val="90625"/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dirty="0" sz="1600" spc="-5">
                <a:latin typeface="Cambria Math"/>
                <a:cs typeface="Cambria Math"/>
              </a:rPr>
              <a:t>det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93571" y="2754248"/>
            <a:ext cx="887730" cy="930275"/>
            <a:chOff x="1393571" y="2754248"/>
            <a:chExt cx="887730" cy="930275"/>
          </a:xfrm>
        </p:grpSpPr>
        <p:sp>
          <p:nvSpPr>
            <p:cNvPr id="16" name="object 16"/>
            <p:cNvSpPr/>
            <p:nvPr/>
          </p:nvSpPr>
          <p:spPr>
            <a:xfrm>
              <a:off x="1672209" y="2754248"/>
              <a:ext cx="608965" cy="334645"/>
            </a:xfrm>
            <a:custGeom>
              <a:avLst/>
              <a:gdLst/>
              <a:ahLst/>
              <a:cxnLst/>
              <a:rect l="l" t="t" r="r" b="b"/>
              <a:pathLst>
                <a:path w="608964" h="334644">
                  <a:moveTo>
                    <a:pt x="536321" y="0"/>
                  </a:moveTo>
                  <a:lnTo>
                    <a:pt x="533146" y="7874"/>
                  </a:lnTo>
                  <a:lnTo>
                    <a:pt x="545651" y="17990"/>
                  </a:lnTo>
                  <a:lnTo>
                    <a:pt x="556704" y="31178"/>
                  </a:lnTo>
                  <a:lnTo>
                    <a:pt x="574548" y="66675"/>
                  </a:lnTo>
                  <a:lnTo>
                    <a:pt x="585914" y="112585"/>
                  </a:lnTo>
                  <a:lnTo>
                    <a:pt x="589661" y="167259"/>
                  </a:lnTo>
                  <a:lnTo>
                    <a:pt x="588730" y="195234"/>
                  </a:lnTo>
                  <a:lnTo>
                    <a:pt x="581249" y="245233"/>
                  </a:lnTo>
                  <a:lnTo>
                    <a:pt x="566507" y="286617"/>
                  </a:lnTo>
                  <a:lnTo>
                    <a:pt x="533146" y="326389"/>
                  </a:lnTo>
                  <a:lnTo>
                    <a:pt x="536321" y="334263"/>
                  </a:lnTo>
                  <a:lnTo>
                    <a:pt x="566102" y="310467"/>
                  </a:lnTo>
                  <a:lnTo>
                    <a:pt x="589026" y="272288"/>
                  </a:lnTo>
                  <a:lnTo>
                    <a:pt x="603710" y="223313"/>
                  </a:lnTo>
                  <a:lnTo>
                    <a:pt x="608584" y="167004"/>
                  </a:lnTo>
                  <a:lnTo>
                    <a:pt x="607367" y="137785"/>
                  </a:lnTo>
                  <a:lnTo>
                    <a:pt x="597600" y="85155"/>
                  </a:lnTo>
                  <a:lnTo>
                    <a:pt x="578433" y="41005"/>
                  </a:lnTo>
                  <a:lnTo>
                    <a:pt x="552057" y="10144"/>
                  </a:lnTo>
                  <a:lnTo>
                    <a:pt x="536321" y="0"/>
                  </a:lnTo>
                  <a:close/>
                </a:path>
                <a:path w="608964" h="334644">
                  <a:moveTo>
                    <a:pt x="72136" y="0"/>
                  </a:moveTo>
                  <a:lnTo>
                    <a:pt x="30202" y="41005"/>
                  </a:lnTo>
                  <a:lnTo>
                    <a:pt x="10983" y="85155"/>
                  </a:lnTo>
                  <a:lnTo>
                    <a:pt x="1216" y="137785"/>
                  </a:lnTo>
                  <a:lnTo>
                    <a:pt x="0" y="167004"/>
                  </a:lnTo>
                  <a:lnTo>
                    <a:pt x="1216" y="196082"/>
                  </a:lnTo>
                  <a:lnTo>
                    <a:pt x="10983" y="248711"/>
                  </a:lnTo>
                  <a:lnTo>
                    <a:pt x="30202" y="293169"/>
                  </a:lnTo>
                  <a:lnTo>
                    <a:pt x="56491" y="324169"/>
                  </a:lnTo>
                  <a:lnTo>
                    <a:pt x="72136" y="334263"/>
                  </a:lnTo>
                  <a:lnTo>
                    <a:pt x="75438" y="326389"/>
                  </a:lnTo>
                  <a:lnTo>
                    <a:pt x="62841" y="316196"/>
                  </a:lnTo>
                  <a:lnTo>
                    <a:pt x="51720" y="302942"/>
                  </a:lnTo>
                  <a:lnTo>
                    <a:pt x="33909" y="267208"/>
                  </a:lnTo>
                  <a:lnTo>
                    <a:pt x="22653" y="221234"/>
                  </a:lnTo>
                  <a:lnTo>
                    <a:pt x="18923" y="167259"/>
                  </a:lnTo>
                  <a:lnTo>
                    <a:pt x="19873" y="138826"/>
                  </a:lnTo>
                  <a:lnTo>
                    <a:pt x="27441" y="88534"/>
                  </a:lnTo>
                  <a:lnTo>
                    <a:pt x="42273" y="47414"/>
                  </a:lnTo>
                  <a:lnTo>
                    <a:pt x="75438" y="7874"/>
                  </a:lnTo>
                  <a:lnTo>
                    <a:pt x="72136" y="0"/>
                  </a:lnTo>
                  <a:close/>
                </a:path>
              </a:pathLst>
            </a:custGeom>
            <a:solidFill>
              <a:srgbClr val="8369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93571" y="3351529"/>
              <a:ext cx="525145" cy="332740"/>
            </a:xfrm>
            <a:custGeom>
              <a:avLst/>
              <a:gdLst/>
              <a:ahLst/>
              <a:cxnLst/>
              <a:rect l="l" t="t" r="r" b="b"/>
              <a:pathLst>
                <a:path w="525144" h="332739">
                  <a:moveTo>
                    <a:pt x="16129" y="0"/>
                  </a:moveTo>
                  <a:lnTo>
                    <a:pt x="0" y="0"/>
                  </a:lnTo>
                  <a:lnTo>
                    <a:pt x="0" y="332613"/>
                  </a:lnTo>
                  <a:lnTo>
                    <a:pt x="16129" y="332613"/>
                  </a:lnTo>
                  <a:lnTo>
                    <a:pt x="16129" y="0"/>
                  </a:lnTo>
                  <a:close/>
                </a:path>
                <a:path w="525144" h="332739">
                  <a:moveTo>
                    <a:pt x="525145" y="0"/>
                  </a:moveTo>
                  <a:lnTo>
                    <a:pt x="509016" y="0"/>
                  </a:lnTo>
                  <a:lnTo>
                    <a:pt x="509016" y="332613"/>
                  </a:lnTo>
                  <a:lnTo>
                    <a:pt x="525145" y="332613"/>
                  </a:lnTo>
                  <a:lnTo>
                    <a:pt x="5251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82649" y="3380994"/>
            <a:ext cx="768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solidFill>
                  <a:srgbClr val="13299F"/>
                </a:solidFill>
                <a:latin typeface="Arial MT"/>
                <a:cs typeface="Arial MT"/>
              </a:rPr>
              <a:t>•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7794" y="2657982"/>
            <a:ext cx="1903095" cy="1102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6075">
              <a:lnSpc>
                <a:spcPts val="1380"/>
              </a:lnSpc>
              <a:spcBef>
                <a:spcPts val="95"/>
              </a:spcBef>
              <a:tabLst>
                <a:tab pos="671830" algn="l"/>
              </a:tabLst>
            </a:pPr>
            <a:r>
              <a:rPr dirty="0" sz="1600" spc="-5">
                <a:latin typeface="Cambria Math"/>
                <a:cs typeface="Cambria Math"/>
              </a:rPr>
              <a:t>𝑎	𝑏</a:t>
            </a:r>
            <a:endParaRPr sz="1600">
              <a:latin typeface="Cambria Math"/>
              <a:cs typeface="Cambria Math"/>
            </a:endParaRPr>
          </a:p>
          <a:p>
            <a:pPr marL="354965">
              <a:lnSpc>
                <a:spcPts val="1380"/>
              </a:lnSpc>
              <a:tabLst>
                <a:tab pos="667385" algn="l"/>
                <a:tab pos="948055" algn="l"/>
              </a:tabLst>
            </a:pPr>
            <a:r>
              <a:rPr dirty="0" baseline="-36458" sz="2400" spc="-7">
                <a:latin typeface="Cambria Math"/>
                <a:cs typeface="Cambria Math"/>
              </a:rPr>
              <a:t>𝑐	𝑑	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7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𝑎𝑑</a:t>
            </a:r>
            <a:r>
              <a:rPr dirty="0" sz="1600" spc="3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𝑏𝑐</a:t>
            </a:r>
            <a:endParaRPr sz="1600">
              <a:latin typeface="Cambria Math"/>
              <a:cs typeface="Cambria Math"/>
            </a:endParaRPr>
          </a:p>
          <a:p>
            <a:pPr marL="25400">
              <a:lnSpc>
                <a:spcPts val="1895"/>
              </a:lnSpc>
              <a:spcBef>
                <a:spcPts val="1935"/>
              </a:spcBef>
              <a:tabLst>
                <a:tab pos="351155" algn="l"/>
              </a:tabLst>
            </a:pPr>
            <a:r>
              <a:rPr dirty="0" sz="1600" spc="-5">
                <a:latin typeface="Cambria Math"/>
                <a:cs typeface="Cambria Math"/>
              </a:rPr>
              <a:t>𝑎	𝑏</a:t>
            </a:r>
            <a:endParaRPr sz="1600">
              <a:latin typeface="Cambria Math"/>
              <a:cs typeface="Cambria Math"/>
            </a:endParaRPr>
          </a:p>
          <a:p>
            <a:pPr marL="34290">
              <a:lnSpc>
                <a:spcPts val="1895"/>
              </a:lnSpc>
              <a:tabLst>
                <a:tab pos="346710" algn="l"/>
              </a:tabLst>
            </a:pPr>
            <a:r>
              <a:rPr dirty="0" sz="1600" spc="-5">
                <a:latin typeface="Cambria Math"/>
                <a:cs typeface="Cambria Math"/>
              </a:rPr>
              <a:t>𝑐	𝑑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0376" y="3361182"/>
            <a:ext cx="9055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𝑎𝑑</a:t>
            </a:r>
            <a:r>
              <a:rPr dirty="0" sz="1600" spc="2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𝑏𝑐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6132" y="3946905"/>
            <a:ext cx="768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solidFill>
                  <a:srgbClr val="13299F"/>
                </a:solidFill>
                <a:latin typeface="Arial MT"/>
                <a:cs typeface="Arial MT"/>
              </a:rPr>
              <a:t>•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66774" y="3916298"/>
            <a:ext cx="1249045" cy="334645"/>
          </a:xfrm>
          <a:custGeom>
            <a:avLst/>
            <a:gdLst/>
            <a:ahLst/>
            <a:cxnLst/>
            <a:rect l="l" t="t" r="r" b="b"/>
            <a:pathLst>
              <a:path w="1249045" h="334645">
                <a:moveTo>
                  <a:pt x="15240" y="75946"/>
                </a:moveTo>
                <a:lnTo>
                  <a:pt x="0" y="75946"/>
                </a:lnTo>
                <a:lnTo>
                  <a:pt x="0" y="260096"/>
                </a:lnTo>
                <a:lnTo>
                  <a:pt x="15240" y="260096"/>
                </a:lnTo>
                <a:lnTo>
                  <a:pt x="15240" y="75946"/>
                </a:lnTo>
                <a:close/>
              </a:path>
              <a:path w="1249045" h="334645">
                <a:moveTo>
                  <a:pt x="208788" y="75946"/>
                </a:moveTo>
                <a:lnTo>
                  <a:pt x="193548" y="75946"/>
                </a:lnTo>
                <a:lnTo>
                  <a:pt x="193548" y="260096"/>
                </a:lnTo>
                <a:lnTo>
                  <a:pt x="208788" y="260096"/>
                </a:lnTo>
                <a:lnTo>
                  <a:pt x="208788" y="75946"/>
                </a:lnTo>
                <a:close/>
              </a:path>
              <a:path w="1249045" h="334645">
                <a:moveTo>
                  <a:pt x="540385" y="1016"/>
                </a:moveTo>
                <a:lnTo>
                  <a:pt x="524256" y="1016"/>
                </a:lnTo>
                <a:lnTo>
                  <a:pt x="524256" y="333502"/>
                </a:lnTo>
                <a:lnTo>
                  <a:pt x="540385" y="333502"/>
                </a:lnTo>
                <a:lnTo>
                  <a:pt x="540385" y="1016"/>
                </a:lnTo>
                <a:close/>
              </a:path>
              <a:path w="1249045" h="334645">
                <a:moveTo>
                  <a:pt x="658241" y="7874"/>
                </a:moveTo>
                <a:lnTo>
                  <a:pt x="613003" y="41008"/>
                </a:lnTo>
                <a:lnTo>
                  <a:pt x="593775" y="85166"/>
                </a:lnTo>
                <a:lnTo>
                  <a:pt x="584009" y="137795"/>
                </a:lnTo>
                <a:lnTo>
                  <a:pt x="582803" y="167005"/>
                </a:lnTo>
                <a:lnTo>
                  <a:pt x="584009" y="196100"/>
                </a:lnTo>
                <a:lnTo>
                  <a:pt x="593775" y="248767"/>
                </a:lnTo>
                <a:lnTo>
                  <a:pt x="613003" y="293179"/>
                </a:lnTo>
                <a:lnTo>
                  <a:pt x="639292" y="324180"/>
                </a:lnTo>
                <a:lnTo>
                  <a:pt x="654939" y="334264"/>
                </a:lnTo>
                <a:lnTo>
                  <a:pt x="658241" y="326390"/>
                </a:lnTo>
                <a:lnTo>
                  <a:pt x="645642" y="316255"/>
                </a:lnTo>
                <a:lnTo>
                  <a:pt x="634517" y="302996"/>
                </a:lnTo>
                <a:lnTo>
                  <a:pt x="616712" y="267208"/>
                </a:lnTo>
                <a:lnTo>
                  <a:pt x="605447" y="221246"/>
                </a:lnTo>
                <a:lnTo>
                  <a:pt x="601726" y="167259"/>
                </a:lnTo>
                <a:lnTo>
                  <a:pt x="602665" y="138836"/>
                </a:lnTo>
                <a:lnTo>
                  <a:pt x="610235" y="88544"/>
                </a:lnTo>
                <a:lnTo>
                  <a:pt x="625068" y="47434"/>
                </a:lnTo>
                <a:lnTo>
                  <a:pt x="645782" y="18046"/>
                </a:lnTo>
                <a:lnTo>
                  <a:pt x="658241" y="7874"/>
                </a:lnTo>
                <a:close/>
              </a:path>
              <a:path w="1249045" h="334645">
                <a:moveTo>
                  <a:pt x="1191387" y="167005"/>
                </a:moveTo>
                <a:lnTo>
                  <a:pt x="1186510" y="110515"/>
                </a:lnTo>
                <a:lnTo>
                  <a:pt x="1171829" y="61722"/>
                </a:lnTo>
                <a:lnTo>
                  <a:pt x="1148905" y="23812"/>
                </a:lnTo>
                <a:lnTo>
                  <a:pt x="1119124" y="0"/>
                </a:lnTo>
                <a:lnTo>
                  <a:pt x="1115949" y="7874"/>
                </a:lnTo>
                <a:lnTo>
                  <a:pt x="1128445" y="18046"/>
                </a:lnTo>
                <a:lnTo>
                  <a:pt x="1139507" y="31229"/>
                </a:lnTo>
                <a:lnTo>
                  <a:pt x="1157351" y="66675"/>
                </a:lnTo>
                <a:lnTo>
                  <a:pt x="1168704" y="112585"/>
                </a:lnTo>
                <a:lnTo>
                  <a:pt x="1172464" y="167259"/>
                </a:lnTo>
                <a:lnTo>
                  <a:pt x="1171524" y="195237"/>
                </a:lnTo>
                <a:lnTo>
                  <a:pt x="1164043" y="245237"/>
                </a:lnTo>
                <a:lnTo>
                  <a:pt x="1149299" y="286639"/>
                </a:lnTo>
                <a:lnTo>
                  <a:pt x="1115949" y="326390"/>
                </a:lnTo>
                <a:lnTo>
                  <a:pt x="1119124" y="334264"/>
                </a:lnTo>
                <a:lnTo>
                  <a:pt x="1148905" y="310476"/>
                </a:lnTo>
                <a:lnTo>
                  <a:pt x="1171829" y="272288"/>
                </a:lnTo>
                <a:lnTo>
                  <a:pt x="1186510" y="223367"/>
                </a:lnTo>
                <a:lnTo>
                  <a:pt x="1190167" y="196100"/>
                </a:lnTo>
                <a:lnTo>
                  <a:pt x="1191387" y="167005"/>
                </a:lnTo>
                <a:close/>
              </a:path>
              <a:path w="1249045" h="334645">
                <a:moveTo>
                  <a:pt x="1249045" y="1016"/>
                </a:moveTo>
                <a:lnTo>
                  <a:pt x="1232916" y="1016"/>
                </a:lnTo>
                <a:lnTo>
                  <a:pt x="1232916" y="333502"/>
                </a:lnTo>
                <a:lnTo>
                  <a:pt x="1249045" y="333502"/>
                </a:lnTo>
                <a:lnTo>
                  <a:pt x="1249045" y="1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368552" y="3820414"/>
            <a:ext cx="1138555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895"/>
              </a:lnSpc>
              <a:spcBef>
                <a:spcPts val="95"/>
              </a:spcBef>
              <a:tabLst>
                <a:tab pos="662305" algn="l"/>
                <a:tab pos="988694" algn="l"/>
              </a:tabLst>
            </a:pPr>
            <a:r>
              <a:rPr dirty="0" baseline="-29513" sz="2400" spc="-7">
                <a:latin typeface="Cambria Math"/>
                <a:cs typeface="Cambria Math"/>
              </a:rPr>
              <a:t>𝐴</a:t>
            </a:r>
            <a:r>
              <a:rPr dirty="0" baseline="-29513" sz="2400" spc="922">
                <a:latin typeface="Cambria Math"/>
                <a:cs typeface="Cambria Math"/>
              </a:rPr>
              <a:t> </a:t>
            </a:r>
            <a:r>
              <a:rPr dirty="0" baseline="-29513" sz="2400" spc="-7">
                <a:latin typeface="Cambria Math"/>
                <a:cs typeface="Cambria Math"/>
              </a:rPr>
              <a:t>=	</a:t>
            </a:r>
            <a:r>
              <a:rPr dirty="0" sz="1600" spc="-5">
                <a:latin typeface="Cambria Math"/>
                <a:cs typeface="Cambria Math"/>
              </a:rPr>
              <a:t>𝑎	𝑏</a:t>
            </a:r>
            <a:endParaRPr sz="1600">
              <a:latin typeface="Cambria Math"/>
              <a:cs typeface="Cambria Math"/>
            </a:endParaRPr>
          </a:p>
          <a:p>
            <a:pPr marL="676275">
              <a:lnSpc>
                <a:spcPts val="1895"/>
              </a:lnSpc>
              <a:tabLst>
                <a:tab pos="982344" algn="l"/>
              </a:tabLst>
            </a:pPr>
            <a:r>
              <a:rPr dirty="0" sz="1600" spc="-5">
                <a:latin typeface="Cambria Math"/>
                <a:cs typeface="Cambria Math"/>
              </a:rPr>
              <a:t>c	𝑑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7479" y="3927094"/>
            <a:ext cx="9055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6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𝑎𝑑</a:t>
            </a:r>
            <a:r>
              <a:rPr dirty="0" sz="1600" spc="2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𝑏𝑐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61232" y="4003547"/>
            <a:ext cx="179070" cy="13182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0851" y="4579607"/>
            <a:ext cx="8177022" cy="628662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207617" y="5729008"/>
            <a:ext cx="66040" cy="208279"/>
          </a:xfrm>
          <a:custGeom>
            <a:avLst/>
            <a:gdLst/>
            <a:ahLst/>
            <a:cxnLst/>
            <a:rect l="l" t="t" r="r" b="b"/>
            <a:pathLst>
              <a:path w="66040" h="208279">
                <a:moveTo>
                  <a:pt x="17195" y="0"/>
                </a:moveTo>
                <a:lnTo>
                  <a:pt x="0" y="0"/>
                </a:lnTo>
                <a:lnTo>
                  <a:pt x="0" y="207733"/>
                </a:lnTo>
                <a:lnTo>
                  <a:pt x="17195" y="207733"/>
                </a:lnTo>
                <a:lnTo>
                  <a:pt x="17195" y="0"/>
                </a:lnTo>
                <a:close/>
              </a:path>
              <a:path w="66040" h="208279">
                <a:moveTo>
                  <a:pt x="65811" y="0"/>
                </a:moveTo>
                <a:lnTo>
                  <a:pt x="48564" y="0"/>
                </a:lnTo>
                <a:lnTo>
                  <a:pt x="48564" y="207733"/>
                </a:lnTo>
                <a:lnTo>
                  <a:pt x="65811" y="207733"/>
                </a:lnTo>
                <a:lnTo>
                  <a:pt x="65811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40917" y="5729008"/>
            <a:ext cx="66040" cy="208279"/>
          </a:xfrm>
          <a:custGeom>
            <a:avLst/>
            <a:gdLst/>
            <a:ahLst/>
            <a:cxnLst/>
            <a:rect l="l" t="t" r="r" b="b"/>
            <a:pathLst>
              <a:path w="66040" h="208279">
                <a:moveTo>
                  <a:pt x="17195" y="0"/>
                </a:moveTo>
                <a:lnTo>
                  <a:pt x="0" y="0"/>
                </a:lnTo>
                <a:lnTo>
                  <a:pt x="0" y="207733"/>
                </a:lnTo>
                <a:lnTo>
                  <a:pt x="17195" y="207733"/>
                </a:lnTo>
                <a:lnTo>
                  <a:pt x="17195" y="0"/>
                </a:lnTo>
                <a:close/>
              </a:path>
              <a:path w="66040" h="208279">
                <a:moveTo>
                  <a:pt x="65747" y="0"/>
                </a:moveTo>
                <a:lnTo>
                  <a:pt x="48564" y="0"/>
                </a:lnTo>
                <a:lnTo>
                  <a:pt x="48564" y="207733"/>
                </a:lnTo>
                <a:lnTo>
                  <a:pt x="65747" y="207733"/>
                </a:lnTo>
                <a:lnTo>
                  <a:pt x="65747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21181" y="5658103"/>
            <a:ext cx="5270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900" algn="l"/>
              </a:tabLst>
            </a:pPr>
            <a:r>
              <a:rPr dirty="0" sz="1800">
                <a:latin typeface="Cambria Math"/>
                <a:cs typeface="Cambria Math"/>
              </a:rPr>
              <a:t>𝐴	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126614" y="5544184"/>
            <a:ext cx="20320" cy="577215"/>
          </a:xfrm>
          <a:custGeom>
            <a:avLst/>
            <a:gdLst/>
            <a:ahLst/>
            <a:cxnLst/>
            <a:rect l="l" t="t" r="r" b="b"/>
            <a:pathLst>
              <a:path w="20319" h="577214">
                <a:moveTo>
                  <a:pt x="20066" y="0"/>
                </a:moveTo>
                <a:lnTo>
                  <a:pt x="0" y="0"/>
                </a:lnTo>
                <a:lnTo>
                  <a:pt x="0" y="576833"/>
                </a:lnTo>
                <a:lnTo>
                  <a:pt x="20066" y="576833"/>
                </a:lnTo>
                <a:lnTo>
                  <a:pt x="20066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626742" y="5544184"/>
            <a:ext cx="20320" cy="577215"/>
          </a:xfrm>
          <a:custGeom>
            <a:avLst/>
            <a:gdLst/>
            <a:ahLst/>
            <a:cxnLst/>
            <a:rect l="l" t="t" r="r" b="b"/>
            <a:pathLst>
              <a:path w="20319" h="577214">
                <a:moveTo>
                  <a:pt x="20065" y="0"/>
                </a:moveTo>
                <a:lnTo>
                  <a:pt x="0" y="0"/>
                </a:lnTo>
                <a:lnTo>
                  <a:pt x="0" y="576833"/>
                </a:lnTo>
                <a:lnTo>
                  <a:pt x="20065" y="576833"/>
                </a:lnTo>
                <a:lnTo>
                  <a:pt x="20065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053463" y="5645061"/>
            <a:ext cx="18415" cy="375285"/>
          </a:xfrm>
          <a:custGeom>
            <a:avLst/>
            <a:gdLst/>
            <a:ahLst/>
            <a:cxnLst/>
            <a:rect l="l" t="t" r="r" b="b"/>
            <a:pathLst>
              <a:path w="18414" h="375285">
                <a:moveTo>
                  <a:pt x="18161" y="0"/>
                </a:moveTo>
                <a:lnTo>
                  <a:pt x="0" y="0"/>
                </a:lnTo>
                <a:lnTo>
                  <a:pt x="0" y="375056"/>
                </a:lnTo>
                <a:lnTo>
                  <a:pt x="18161" y="375056"/>
                </a:lnTo>
                <a:lnTo>
                  <a:pt x="18161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702942" y="5645061"/>
            <a:ext cx="18415" cy="375285"/>
          </a:xfrm>
          <a:custGeom>
            <a:avLst/>
            <a:gdLst/>
            <a:ahLst/>
            <a:cxnLst/>
            <a:rect l="l" t="t" r="r" b="b"/>
            <a:pathLst>
              <a:path w="18414" h="375285">
                <a:moveTo>
                  <a:pt x="18161" y="0"/>
                </a:moveTo>
                <a:lnTo>
                  <a:pt x="0" y="0"/>
                </a:lnTo>
                <a:lnTo>
                  <a:pt x="0" y="375056"/>
                </a:lnTo>
                <a:lnTo>
                  <a:pt x="18161" y="375056"/>
                </a:lnTo>
                <a:lnTo>
                  <a:pt x="18161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735963" y="5537708"/>
            <a:ext cx="301625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ts val="2135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𝑎𝑏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dirty="0" sz="1800">
                <a:latin typeface="Cambria Math"/>
                <a:cs typeface="Cambria Math"/>
              </a:rPr>
              <a:t>𝑐</a:t>
            </a:r>
            <a:r>
              <a:rPr dirty="0" sz="1800" spc="-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d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347339" y="5729008"/>
            <a:ext cx="17145" cy="20827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33"/>
                </a:lnTo>
                <a:lnTo>
                  <a:pt x="17145" y="207733"/>
                </a:lnTo>
                <a:lnTo>
                  <a:pt x="17145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499995" y="5729008"/>
            <a:ext cx="17145" cy="208279"/>
          </a:xfrm>
          <a:custGeom>
            <a:avLst/>
            <a:gdLst/>
            <a:ahLst/>
            <a:cxnLst/>
            <a:rect l="l" t="t" r="r" b="b"/>
            <a:pathLst>
              <a:path w="17144" h="208279">
                <a:moveTo>
                  <a:pt x="17144" y="0"/>
                </a:moveTo>
                <a:lnTo>
                  <a:pt x="0" y="0"/>
                </a:lnTo>
                <a:lnTo>
                  <a:pt x="0" y="207733"/>
                </a:lnTo>
                <a:lnTo>
                  <a:pt x="17144" y="207733"/>
                </a:lnTo>
                <a:lnTo>
                  <a:pt x="17144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225420" y="5658103"/>
            <a:ext cx="1100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8770" algn="l"/>
              </a:tabLst>
            </a:pPr>
            <a:r>
              <a:rPr dirty="0" sz="1800">
                <a:latin typeface="Cambria Math"/>
                <a:cs typeface="Cambria Math"/>
              </a:rPr>
              <a:t>=	𝑎𝑑</a:t>
            </a:r>
            <a:r>
              <a:rPr dirty="0" sz="1800" spc="-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𝑏𝑐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17696" y="5519115"/>
            <a:ext cx="1247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3950" sz="2700">
                <a:latin typeface="Cambria Math"/>
                <a:cs typeface="Cambria Math"/>
              </a:rPr>
              <a:t>= </a:t>
            </a:r>
            <a:r>
              <a:rPr dirty="0" baseline="-33950" sz="2700" spc="172">
                <a:latin typeface="Cambria Math"/>
                <a:cs typeface="Cambria Math"/>
              </a:rPr>
              <a:t> </a:t>
            </a:r>
            <a:r>
              <a:rPr dirty="0" baseline="-33950" sz="2700" spc="-1335">
                <a:solidFill>
                  <a:srgbClr val="836967"/>
                </a:solidFill>
                <a:latin typeface="Cambria Math"/>
                <a:cs typeface="Cambria Math"/>
              </a:rPr>
              <a:t>ቊ</a:t>
            </a:r>
            <a:r>
              <a:rPr dirty="0" sz="1800">
                <a:latin typeface="Cambria Math"/>
                <a:cs typeface="Cambria Math"/>
              </a:rPr>
              <a:t>𝑎𝑑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𝑏𝑐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008498" y="5588546"/>
            <a:ext cx="1348740" cy="212090"/>
          </a:xfrm>
          <a:custGeom>
            <a:avLst/>
            <a:gdLst/>
            <a:ahLst/>
            <a:cxnLst/>
            <a:rect l="l" t="t" r="r" b="b"/>
            <a:pathLst>
              <a:path w="1348739" h="212089">
                <a:moveTo>
                  <a:pt x="1281049" y="0"/>
                </a:moveTo>
                <a:lnTo>
                  <a:pt x="1278127" y="8597"/>
                </a:lnTo>
                <a:lnTo>
                  <a:pt x="1290341" y="13915"/>
                </a:lnTo>
                <a:lnTo>
                  <a:pt x="1300876" y="21277"/>
                </a:lnTo>
                <a:lnTo>
                  <a:pt x="1322290" y="55406"/>
                </a:lnTo>
                <a:lnTo>
                  <a:pt x="1329309" y="104813"/>
                </a:lnTo>
                <a:lnTo>
                  <a:pt x="1328523" y="123489"/>
                </a:lnTo>
                <a:lnTo>
                  <a:pt x="1316736" y="169214"/>
                </a:lnTo>
                <a:lnTo>
                  <a:pt x="1290482" y="197805"/>
                </a:lnTo>
                <a:lnTo>
                  <a:pt x="1278381" y="203149"/>
                </a:lnTo>
                <a:lnTo>
                  <a:pt x="1281049" y="211747"/>
                </a:lnTo>
                <a:lnTo>
                  <a:pt x="1321518" y="187704"/>
                </a:lnTo>
                <a:lnTo>
                  <a:pt x="1344247" y="143335"/>
                </a:lnTo>
                <a:lnTo>
                  <a:pt x="1348613" y="105930"/>
                </a:lnTo>
                <a:lnTo>
                  <a:pt x="1347517" y="86519"/>
                </a:lnTo>
                <a:lnTo>
                  <a:pt x="1331087" y="37109"/>
                </a:lnTo>
                <a:lnTo>
                  <a:pt x="1296404" y="5541"/>
                </a:lnTo>
                <a:lnTo>
                  <a:pt x="1281049" y="0"/>
                </a:lnTo>
                <a:close/>
              </a:path>
              <a:path w="1348739" h="212089">
                <a:moveTo>
                  <a:pt x="67563" y="0"/>
                </a:moveTo>
                <a:lnTo>
                  <a:pt x="27219" y="24095"/>
                </a:lnTo>
                <a:lnTo>
                  <a:pt x="4381" y="68576"/>
                </a:lnTo>
                <a:lnTo>
                  <a:pt x="0" y="105930"/>
                </a:lnTo>
                <a:lnTo>
                  <a:pt x="1093" y="125383"/>
                </a:lnTo>
                <a:lnTo>
                  <a:pt x="17399" y="174739"/>
                </a:lnTo>
                <a:lnTo>
                  <a:pt x="52153" y="206211"/>
                </a:lnTo>
                <a:lnTo>
                  <a:pt x="67563" y="211747"/>
                </a:lnTo>
                <a:lnTo>
                  <a:pt x="70230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9"/>
                </a:lnTo>
                <a:lnTo>
                  <a:pt x="19303" y="104813"/>
                </a:lnTo>
                <a:lnTo>
                  <a:pt x="20089" y="86744"/>
                </a:lnTo>
                <a:lnTo>
                  <a:pt x="31876" y="42138"/>
                </a:lnTo>
                <a:lnTo>
                  <a:pt x="58398" y="13915"/>
                </a:lnTo>
                <a:lnTo>
                  <a:pt x="70612" y="8597"/>
                </a:lnTo>
                <a:lnTo>
                  <a:pt x="67563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46854" y="5872010"/>
            <a:ext cx="925194" cy="212090"/>
          </a:xfrm>
          <a:custGeom>
            <a:avLst/>
            <a:gdLst/>
            <a:ahLst/>
            <a:cxnLst/>
            <a:rect l="l" t="t" r="r" b="b"/>
            <a:pathLst>
              <a:path w="925195" h="212089">
                <a:moveTo>
                  <a:pt x="857377" y="0"/>
                </a:moveTo>
                <a:lnTo>
                  <a:pt x="854456" y="8597"/>
                </a:lnTo>
                <a:lnTo>
                  <a:pt x="866669" y="13915"/>
                </a:lnTo>
                <a:lnTo>
                  <a:pt x="877204" y="21277"/>
                </a:lnTo>
                <a:lnTo>
                  <a:pt x="898618" y="55406"/>
                </a:lnTo>
                <a:lnTo>
                  <a:pt x="905637" y="104813"/>
                </a:lnTo>
                <a:lnTo>
                  <a:pt x="904851" y="123489"/>
                </a:lnTo>
                <a:lnTo>
                  <a:pt x="893064" y="169214"/>
                </a:lnTo>
                <a:lnTo>
                  <a:pt x="866810" y="197805"/>
                </a:lnTo>
                <a:lnTo>
                  <a:pt x="854710" y="203149"/>
                </a:lnTo>
                <a:lnTo>
                  <a:pt x="857377" y="211747"/>
                </a:lnTo>
                <a:lnTo>
                  <a:pt x="897846" y="187704"/>
                </a:lnTo>
                <a:lnTo>
                  <a:pt x="920575" y="143335"/>
                </a:lnTo>
                <a:lnTo>
                  <a:pt x="924941" y="105930"/>
                </a:lnTo>
                <a:lnTo>
                  <a:pt x="923845" y="86519"/>
                </a:lnTo>
                <a:lnTo>
                  <a:pt x="907415" y="37109"/>
                </a:lnTo>
                <a:lnTo>
                  <a:pt x="872732" y="5541"/>
                </a:lnTo>
                <a:lnTo>
                  <a:pt x="857377" y="0"/>
                </a:lnTo>
                <a:close/>
              </a:path>
              <a:path w="925195" h="212089">
                <a:moveTo>
                  <a:pt x="67564" y="0"/>
                </a:moveTo>
                <a:lnTo>
                  <a:pt x="27219" y="24095"/>
                </a:lnTo>
                <a:lnTo>
                  <a:pt x="4381" y="68576"/>
                </a:lnTo>
                <a:lnTo>
                  <a:pt x="0" y="105930"/>
                </a:lnTo>
                <a:lnTo>
                  <a:pt x="1093" y="125383"/>
                </a:lnTo>
                <a:lnTo>
                  <a:pt x="17399" y="174739"/>
                </a:lnTo>
                <a:lnTo>
                  <a:pt x="52153" y="206211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9"/>
                </a:lnTo>
                <a:lnTo>
                  <a:pt x="19304" y="104813"/>
                </a:lnTo>
                <a:lnTo>
                  <a:pt x="20089" y="86744"/>
                </a:lnTo>
                <a:lnTo>
                  <a:pt x="31877" y="42138"/>
                </a:lnTo>
                <a:lnTo>
                  <a:pt x="58398" y="13915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842384" y="5802579"/>
            <a:ext cx="1060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3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𝑎𝑑</a:t>
            </a:r>
            <a:r>
              <a:rPr dirty="0" sz="1800" spc="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1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𝑏𝑐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11546" y="5872010"/>
            <a:ext cx="1348740" cy="212090"/>
          </a:xfrm>
          <a:custGeom>
            <a:avLst/>
            <a:gdLst/>
            <a:ahLst/>
            <a:cxnLst/>
            <a:rect l="l" t="t" r="r" b="b"/>
            <a:pathLst>
              <a:path w="1348739" h="212089">
                <a:moveTo>
                  <a:pt x="1281049" y="0"/>
                </a:moveTo>
                <a:lnTo>
                  <a:pt x="1278127" y="8597"/>
                </a:lnTo>
                <a:lnTo>
                  <a:pt x="1290341" y="13915"/>
                </a:lnTo>
                <a:lnTo>
                  <a:pt x="1300876" y="21277"/>
                </a:lnTo>
                <a:lnTo>
                  <a:pt x="1322290" y="55406"/>
                </a:lnTo>
                <a:lnTo>
                  <a:pt x="1329308" y="104813"/>
                </a:lnTo>
                <a:lnTo>
                  <a:pt x="1328523" y="123489"/>
                </a:lnTo>
                <a:lnTo>
                  <a:pt x="1316736" y="169214"/>
                </a:lnTo>
                <a:lnTo>
                  <a:pt x="1290482" y="197805"/>
                </a:lnTo>
                <a:lnTo>
                  <a:pt x="1278381" y="203149"/>
                </a:lnTo>
                <a:lnTo>
                  <a:pt x="1281049" y="211747"/>
                </a:lnTo>
                <a:lnTo>
                  <a:pt x="1321518" y="187704"/>
                </a:lnTo>
                <a:lnTo>
                  <a:pt x="1344247" y="143335"/>
                </a:lnTo>
                <a:lnTo>
                  <a:pt x="1348613" y="105930"/>
                </a:lnTo>
                <a:lnTo>
                  <a:pt x="1347517" y="86519"/>
                </a:lnTo>
                <a:lnTo>
                  <a:pt x="1331087" y="37109"/>
                </a:lnTo>
                <a:lnTo>
                  <a:pt x="1296404" y="5541"/>
                </a:lnTo>
                <a:lnTo>
                  <a:pt x="1281049" y="0"/>
                </a:lnTo>
                <a:close/>
              </a:path>
              <a:path w="1348739" h="212089">
                <a:moveTo>
                  <a:pt x="67563" y="0"/>
                </a:moveTo>
                <a:lnTo>
                  <a:pt x="27219" y="24095"/>
                </a:lnTo>
                <a:lnTo>
                  <a:pt x="4381" y="68576"/>
                </a:lnTo>
                <a:lnTo>
                  <a:pt x="0" y="105930"/>
                </a:lnTo>
                <a:lnTo>
                  <a:pt x="1093" y="125383"/>
                </a:lnTo>
                <a:lnTo>
                  <a:pt x="17399" y="174739"/>
                </a:lnTo>
                <a:lnTo>
                  <a:pt x="52153" y="206211"/>
                </a:lnTo>
                <a:lnTo>
                  <a:pt x="67563" y="211747"/>
                </a:lnTo>
                <a:lnTo>
                  <a:pt x="70230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9"/>
                </a:lnTo>
                <a:lnTo>
                  <a:pt x="19303" y="104813"/>
                </a:lnTo>
                <a:lnTo>
                  <a:pt x="20089" y="86744"/>
                </a:lnTo>
                <a:lnTo>
                  <a:pt x="31876" y="42138"/>
                </a:lnTo>
                <a:lnTo>
                  <a:pt x="58398" y="13915"/>
                </a:lnTo>
                <a:lnTo>
                  <a:pt x="70612" y="8597"/>
                </a:lnTo>
                <a:lnTo>
                  <a:pt x="67563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071109" y="5519115"/>
            <a:ext cx="122809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𝑎𝑑</a:t>
            </a:r>
            <a:r>
              <a:rPr dirty="0" sz="1800" spc="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𝑏𝑐</a:t>
            </a:r>
            <a:r>
              <a:rPr dirty="0" sz="1800" spc="1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&gt;</a:t>
            </a:r>
            <a:r>
              <a:rPr dirty="0" sz="1800" spc="7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70"/>
              </a:spcBef>
            </a:pPr>
            <a:r>
              <a:rPr dirty="0" sz="1800">
                <a:latin typeface="Cambria Math"/>
                <a:cs typeface="Cambria Math"/>
              </a:rPr>
              <a:t>𝑎𝑑</a:t>
            </a:r>
            <a:r>
              <a:rPr dirty="0" sz="1800" spc="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𝑏𝑐</a:t>
            </a:r>
            <a:r>
              <a:rPr dirty="0" sz="1800" spc="1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&lt;</a:t>
            </a:r>
            <a:r>
              <a:rPr dirty="0" sz="1800" spc="7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9138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4.2.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Reverse</a:t>
            </a:r>
            <a:r>
              <a:rPr dirty="0" sz="1800" spc="-5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Matrix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98520" y="1772411"/>
            <a:ext cx="3106420" cy="678180"/>
          </a:xfrm>
          <a:custGeom>
            <a:avLst/>
            <a:gdLst/>
            <a:ahLst/>
            <a:cxnLst/>
            <a:rect l="l" t="t" r="r" b="b"/>
            <a:pathLst>
              <a:path w="3106420" h="678180">
                <a:moveTo>
                  <a:pt x="3105912" y="0"/>
                </a:moveTo>
                <a:lnTo>
                  <a:pt x="0" y="0"/>
                </a:lnTo>
                <a:lnTo>
                  <a:pt x="0" y="678179"/>
                </a:lnTo>
                <a:lnTo>
                  <a:pt x="3105912" y="678179"/>
                </a:lnTo>
                <a:lnTo>
                  <a:pt x="310591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5147310" cy="17449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53212" y="2558795"/>
            <a:ext cx="8796655" cy="3027045"/>
            <a:chOff x="553212" y="2558795"/>
            <a:chExt cx="8796655" cy="302704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156" y="2652267"/>
              <a:ext cx="8539474" cy="27436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6260" y="2561843"/>
              <a:ext cx="8790940" cy="3020695"/>
            </a:xfrm>
            <a:custGeom>
              <a:avLst/>
              <a:gdLst/>
              <a:ahLst/>
              <a:cxnLst/>
              <a:rect l="l" t="t" r="r" b="b"/>
              <a:pathLst>
                <a:path w="8790940" h="3020695">
                  <a:moveTo>
                    <a:pt x="0" y="3020567"/>
                  </a:moveTo>
                  <a:lnTo>
                    <a:pt x="8790432" y="3020567"/>
                  </a:lnTo>
                  <a:lnTo>
                    <a:pt x="8790432" y="0"/>
                  </a:lnTo>
                  <a:lnTo>
                    <a:pt x="0" y="0"/>
                  </a:lnTo>
                  <a:lnTo>
                    <a:pt x="0" y="302056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704590" y="1951177"/>
            <a:ext cx="396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𝐴</a:t>
            </a:r>
            <a:r>
              <a:rPr dirty="0" sz="1600" spc="37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66870" y="1941829"/>
            <a:ext cx="532130" cy="332740"/>
          </a:xfrm>
          <a:custGeom>
            <a:avLst/>
            <a:gdLst/>
            <a:ahLst/>
            <a:cxnLst/>
            <a:rect l="l" t="t" r="r" b="b"/>
            <a:pathLst>
              <a:path w="532129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415" y="323850"/>
                </a:lnTo>
                <a:lnTo>
                  <a:pt x="18415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  <a:path w="532129" h="332739">
                <a:moveTo>
                  <a:pt x="532130" y="0"/>
                </a:moveTo>
                <a:lnTo>
                  <a:pt x="485013" y="0"/>
                </a:lnTo>
                <a:lnTo>
                  <a:pt x="485013" y="8890"/>
                </a:lnTo>
                <a:lnTo>
                  <a:pt x="513715" y="8890"/>
                </a:lnTo>
                <a:lnTo>
                  <a:pt x="513715" y="323850"/>
                </a:lnTo>
                <a:lnTo>
                  <a:pt x="485013" y="323850"/>
                </a:lnTo>
                <a:lnTo>
                  <a:pt x="485013" y="332740"/>
                </a:lnTo>
                <a:lnTo>
                  <a:pt x="532130" y="332740"/>
                </a:lnTo>
                <a:lnTo>
                  <a:pt x="532130" y="323850"/>
                </a:lnTo>
                <a:lnTo>
                  <a:pt x="532130" y="8890"/>
                </a:lnTo>
                <a:lnTo>
                  <a:pt x="53213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19702" y="1841754"/>
            <a:ext cx="440690" cy="50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900"/>
              </a:lnSpc>
              <a:tabLst>
                <a:tab pos="314960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5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7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09770" y="1951177"/>
            <a:ext cx="7524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29513" sz="2400" spc="-7">
                <a:solidFill>
                  <a:srgbClr val="252525"/>
                </a:solidFill>
                <a:latin typeface="Cambria Math"/>
                <a:cs typeface="Cambria Math"/>
              </a:rPr>
              <a:t>3</a:t>
            </a:r>
            <a:r>
              <a:rPr dirty="0" baseline="29513" sz="2400" spc="-7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29513" sz="2400" spc="2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-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𝐵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13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02250" y="1941829"/>
            <a:ext cx="836930" cy="332740"/>
          </a:xfrm>
          <a:custGeom>
            <a:avLst/>
            <a:gdLst/>
            <a:ahLst/>
            <a:cxnLst/>
            <a:rect l="l" t="t" r="r" b="b"/>
            <a:pathLst>
              <a:path w="836929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415" y="323850"/>
                </a:lnTo>
                <a:lnTo>
                  <a:pt x="18415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  <a:path w="836929" h="332739">
                <a:moveTo>
                  <a:pt x="836930" y="0"/>
                </a:moveTo>
                <a:lnTo>
                  <a:pt x="789813" y="0"/>
                </a:lnTo>
                <a:lnTo>
                  <a:pt x="789813" y="8890"/>
                </a:lnTo>
                <a:lnTo>
                  <a:pt x="818515" y="8890"/>
                </a:lnTo>
                <a:lnTo>
                  <a:pt x="818515" y="323850"/>
                </a:lnTo>
                <a:lnTo>
                  <a:pt x="789813" y="323850"/>
                </a:lnTo>
                <a:lnTo>
                  <a:pt x="789813" y="332740"/>
                </a:lnTo>
                <a:lnTo>
                  <a:pt x="836930" y="332740"/>
                </a:lnTo>
                <a:lnTo>
                  <a:pt x="836930" y="323850"/>
                </a:lnTo>
                <a:lnTo>
                  <a:pt x="836930" y="8890"/>
                </a:lnTo>
                <a:lnTo>
                  <a:pt x="83693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55335" y="1841754"/>
            <a:ext cx="745490" cy="50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ts val="1900"/>
              </a:lnSpc>
              <a:spcBef>
                <a:spcPts val="95"/>
              </a:spcBef>
              <a:tabLst>
                <a:tab pos="467359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4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6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900"/>
              </a:lnSpc>
              <a:tabLst>
                <a:tab pos="487045" algn="l"/>
              </a:tabLst>
            </a:pP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−8	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12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366510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2588514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2900934" cy="2370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248" y="1865363"/>
            <a:ext cx="8911590" cy="40158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6377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4.3.</a:t>
            </a:r>
            <a:r>
              <a:rPr dirty="0" spc="-15"/>
              <a:t> </a:t>
            </a:r>
            <a:r>
              <a:rPr dirty="0" spc="-5"/>
              <a:t>Linear</a:t>
            </a:r>
            <a:r>
              <a:rPr dirty="0" spc="-15"/>
              <a:t> </a:t>
            </a:r>
            <a:r>
              <a:rPr dirty="0" spc="-5"/>
              <a:t>Transformation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1123" y="2398763"/>
            <a:ext cx="6268974" cy="41530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1980" y="3069335"/>
            <a:ext cx="8633460" cy="13792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L="250825">
              <a:lnSpc>
                <a:spcPct val="100000"/>
              </a:lnSpc>
            </a:pP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Transformation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252525"/>
                </a:solidFill>
                <a:latin typeface="Cambria Math"/>
                <a:cs typeface="Cambria Math"/>
              </a:rPr>
              <a:t>𝑇:</a:t>
            </a:r>
            <a:r>
              <a:rPr dirty="0" sz="13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When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𝑥’,</a:t>
            </a:r>
            <a:r>
              <a:rPr dirty="0" sz="1300" spc="-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𝑦’</a:t>
            </a:r>
            <a:r>
              <a:rPr dirty="0" sz="1300" spc="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(x,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y)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5">
                <a:solidFill>
                  <a:srgbClr val="252525"/>
                </a:solidFill>
                <a:latin typeface="Arial MT"/>
                <a:cs typeface="Arial MT"/>
              </a:rPr>
              <a:t>→</a:t>
            </a:r>
            <a:r>
              <a:rPr dirty="0" sz="1300" spc="-10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(x’,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y’)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expressed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as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follows,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it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called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linear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transformation.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 marL="2692400">
              <a:lnSpc>
                <a:spcPts val="1490"/>
              </a:lnSpc>
              <a:spcBef>
                <a:spcPts val="5"/>
              </a:spcBef>
            </a:pPr>
            <a:r>
              <a:rPr dirty="0" sz="1600" spc="100">
                <a:latin typeface="Cambria Math"/>
                <a:cs typeface="Cambria Math"/>
              </a:rPr>
              <a:t>𝑥</a:t>
            </a:r>
            <a:r>
              <a:rPr dirty="0" baseline="28985" sz="1725" spc="150">
                <a:latin typeface="Cambria Math"/>
                <a:cs typeface="Cambria Math"/>
              </a:rPr>
              <a:t>′</a:t>
            </a:r>
            <a:r>
              <a:rPr dirty="0" baseline="28985" sz="1725" spc="359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8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𝑎𝑥</a:t>
            </a:r>
            <a:r>
              <a:rPr dirty="0" sz="1600" spc="2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𝑏𝑦</a:t>
            </a:r>
            <a:endParaRPr sz="1600">
              <a:latin typeface="Cambria Math"/>
              <a:cs typeface="Cambria Math"/>
            </a:endParaRPr>
          </a:p>
          <a:p>
            <a:pPr marL="2592070">
              <a:lnSpc>
                <a:spcPts val="1490"/>
              </a:lnSpc>
            </a:pPr>
            <a:r>
              <a:rPr dirty="0" sz="1600" spc="-200">
                <a:latin typeface="Cambria Math"/>
                <a:cs typeface="Cambria Math"/>
              </a:rPr>
              <a:t>ቊ</a:t>
            </a:r>
            <a:r>
              <a:rPr dirty="0" baseline="-34722" sz="2400" spc="-300">
                <a:latin typeface="Cambria Math"/>
                <a:cs typeface="Cambria Math"/>
              </a:rPr>
              <a:t>𝑦</a:t>
            </a:r>
            <a:r>
              <a:rPr dirty="0" baseline="-19323" sz="1725" spc="-300">
                <a:latin typeface="Cambria Math"/>
                <a:cs typeface="Cambria Math"/>
              </a:rPr>
              <a:t>′</a:t>
            </a:r>
            <a:r>
              <a:rPr dirty="0" baseline="-19323" sz="1725" spc="-240">
                <a:latin typeface="Cambria Math"/>
                <a:cs typeface="Cambria Math"/>
              </a:rPr>
              <a:t> </a:t>
            </a:r>
            <a:r>
              <a:rPr dirty="0" baseline="-34722" sz="2400" spc="-7">
                <a:latin typeface="Cambria Math"/>
                <a:cs typeface="Cambria Math"/>
              </a:rPr>
              <a:t>=</a:t>
            </a:r>
            <a:r>
              <a:rPr dirty="0" baseline="-34722" sz="2400" spc="135">
                <a:latin typeface="Cambria Math"/>
                <a:cs typeface="Cambria Math"/>
              </a:rPr>
              <a:t> </a:t>
            </a:r>
            <a:r>
              <a:rPr dirty="0" baseline="-34722" sz="2400" spc="-7">
                <a:latin typeface="Cambria Math"/>
                <a:cs typeface="Cambria Math"/>
              </a:rPr>
              <a:t>𝑐𝑥</a:t>
            </a:r>
            <a:r>
              <a:rPr dirty="0" baseline="-34722" sz="2400" spc="82">
                <a:latin typeface="Cambria Math"/>
                <a:cs typeface="Cambria Math"/>
              </a:rPr>
              <a:t> </a:t>
            </a:r>
            <a:r>
              <a:rPr dirty="0" baseline="-34722" sz="2400" spc="-7">
                <a:latin typeface="Cambria Math"/>
                <a:cs typeface="Cambria Math"/>
              </a:rPr>
              <a:t>+</a:t>
            </a:r>
            <a:r>
              <a:rPr dirty="0" baseline="-34722" sz="2400">
                <a:latin typeface="Cambria Math"/>
                <a:cs typeface="Cambria Math"/>
              </a:rPr>
              <a:t> </a:t>
            </a:r>
            <a:r>
              <a:rPr dirty="0" baseline="-34722" sz="2400" spc="-7">
                <a:latin typeface="Cambria Math"/>
                <a:cs typeface="Cambria Math"/>
              </a:rPr>
              <a:t>𝑑𝑦</a:t>
            </a:r>
            <a:r>
              <a:rPr dirty="0" baseline="-34722" sz="2400" spc="-44">
                <a:latin typeface="Cambria Math"/>
                <a:cs typeface="Cambria Math"/>
              </a:rPr>
              <a:t> </a:t>
            </a:r>
            <a:r>
              <a:rPr dirty="0" sz="1600" spc="5">
                <a:latin typeface="Cambria Math"/>
                <a:cs typeface="Cambria Math"/>
              </a:rPr>
              <a:t>(𝑏𝑢𝑡</a:t>
            </a:r>
            <a:r>
              <a:rPr dirty="0" sz="1400" spc="5">
                <a:latin typeface="Calibri"/>
                <a:cs typeface="Calibri"/>
              </a:rPr>
              <a:t>,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a, </a:t>
            </a:r>
            <a:r>
              <a:rPr dirty="0" sz="1400" spc="-5">
                <a:latin typeface="Calibri"/>
                <a:cs typeface="Calibri"/>
              </a:rPr>
              <a:t>b,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c,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 </a:t>
            </a:r>
            <a:r>
              <a:rPr dirty="0" sz="1400" spc="-10">
                <a:latin typeface="Calibri"/>
                <a:cs typeface="Calibri"/>
              </a:rPr>
              <a:t>are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constants)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6377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4.3.</a:t>
            </a:r>
            <a:r>
              <a:rPr dirty="0" spc="-15"/>
              <a:t> </a:t>
            </a:r>
            <a:r>
              <a:rPr dirty="0" spc="-5"/>
              <a:t>Linear</a:t>
            </a:r>
            <a:r>
              <a:rPr dirty="0" spc="-15"/>
              <a:t> </a:t>
            </a:r>
            <a:r>
              <a:rPr dirty="0" spc="-5"/>
              <a:t>Transformation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505711"/>
            <a:ext cx="5967222" cy="18973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05428" y="2735579"/>
            <a:ext cx="2298700" cy="678180"/>
            <a:chOff x="3805428" y="2735579"/>
            <a:chExt cx="2298700" cy="678180"/>
          </a:xfrm>
        </p:grpSpPr>
        <p:sp>
          <p:nvSpPr>
            <p:cNvPr id="8" name="object 8"/>
            <p:cNvSpPr/>
            <p:nvPr/>
          </p:nvSpPr>
          <p:spPr>
            <a:xfrm>
              <a:off x="3805428" y="2735579"/>
              <a:ext cx="2298700" cy="678180"/>
            </a:xfrm>
            <a:custGeom>
              <a:avLst/>
              <a:gdLst/>
              <a:ahLst/>
              <a:cxnLst/>
              <a:rect l="l" t="t" r="r" b="b"/>
              <a:pathLst>
                <a:path w="2298700" h="678179">
                  <a:moveTo>
                    <a:pt x="2298192" y="0"/>
                  </a:moveTo>
                  <a:lnTo>
                    <a:pt x="0" y="0"/>
                  </a:lnTo>
                  <a:lnTo>
                    <a:pt x="0" y="678179"/>
                  </a:lnTo>
                  <a:lnTo>
                    <a:pt x="2298192" y="678179"/>
                  </a:lnTo>
                  <a:lnTo>
                    <a:pt x="22981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227703" y="2866389"/>
              <a:ext cx="1134110" cy="403860"/>
            </a:xfrm>
            <a:custGeom>
              <a:avLst/>
              <a:gdLst/>
              <a:ahLst/>
              <a:cxnLst/>
              <a:rect l="l" t="t" r="r" b="b"/>
              <a:pathLst>
                <a:path w="1134110" h="403860">
                  <a:moveTo>
                    <a:pt x="49784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394970"/>
                  </a:lnTo>
                  <a:lnTo>
                    <a:pt x="0" y="403860"/>
                  </a:lnTo>
                  <a:lnTo>
                    <a:pt x="49784" y="403860"/>
                  </a:lnTo>
                  <a:lnTo>
                    <a:pt x="49784" y="394970"/>
                  </a:lnTo>
                  <a:lnTo>
                    <a:pt x="19431" y="394970"/>
                  </a:lnTo>
                  <a:lnTo>
                    <a:pt x="19431" y="8890"/>
                  </a:lnTo>
                  <a:lnTo>
                    <a:pt x="49784" y="8890"/>
                  </a:lnTo>
                  <a:lnTo>
                    <a:pt x="49784" y="0"/>
                  </a:lnTo>
                  <a:close/>
                </a:path>
                <a:path w="1134110" h="403860">
                  <a:moveTo>
                    <a:pt x="275590" y="0"/>
                  </a:moveTo>
                  <a:lnTo>
                    <a:pt x="225806" y="0"/>
                  </a:lnTo>
                  <a:lnTo>
                    <a:pt x="225806" y="8890"/>
                  </a:lnTo>
                  <a:lnTo>
                    <a:pt x="256159" y="8890"/>
                  </a:lnTo>
                  <a:lnTo>
                    <a:pt x="256159" y="394970"/>
                  </a:lnTo>
                  <a:lnTo>
                    <a:pt x="225806" y="394970"/>
                  </a:lnTo>
                  <a:lnTo>
                    <a:pt x="225806" y="403860"/>
                  </a:lnTo>
                  <a:lnTo>
                    <a:pt x="275590" y="403860"/>
                  </a:lnTo>
                  <a:lnTo>
                    <a:pt x="275590" y="394970"/>
                  </a:lnTo>
                  <a:lnTo>
                    <a:pt x="275590" y="8890"/>
                  </a:lnTo>
                  <a:lnTo>
                    <a:pt x="275590" y="0"/>
                  </a:lnTo>
                  <a:close/>
                </a:path>
                <a:path w="1134110" h="403860">
                  <a:moveTo>
                    <a:pt x="633730" y="35560"/>
                  </a:moveTo>
                  <a:lnTo>
                    <a:pt x="586613" y="35560"/>
                  </a:lnTo>
                  <a:lnTo>
                    <a:pt x="586613" y="44450"/>
                  </a:lnTo>
                  <a:lnTo>
                    <a:pt x="586613" y="359410"/>
                  </a:lnTo>
                  <a:lnTo>
                    <a:pt x="586613" y="368300"/>
                  </a:lnTo>
                  <a:lnTo>
                    <a:pt x="633730" y="368300"/>
                  </a:lnTo>
                  <a:lnTo>
                    <a:pt x="633730" y="359410"/>
                  </a:lnTo>
                  <a:lnTo>
                    <a:pt x="605028" y="359410"/>
                  </a:lnTo>
                  <a:lnTo>
                    <a:pt x="605028" y="44450"/>
                  </a:lnTo>
                  <a:lnTo>
                    <a:pt x="633730" y="44450"/>
                  </a:lnTo>
                  <a:lnTo>
                    <a:pt x="633730" y="35560"/>
                  </a:lnTo>
                  <a:close/>
                </a:path>
                <a:path w="1134110" h="403860">
                  <a:moveTo>
                    <a:pt x="1133983" y="35560"/>
                  </a:moveTo>
                  <a:lnTo>
                    <a:pt x="1086866" y="35560"/>
                  </a:lnTo>
                  <a:lnTo>
                    <a:pt x="1086866" y="44450"/>
                  </a:lnTo>
                  <a:lnTo>
                    <a:pt x="1115568" y="44450"/>
                  </a:lnTo>
                  <a:lnTo>
                    <a:pt x="1115568" y="359410"/>
                  </a:lnTo>
                  <a:lnTo>
                    <a:pt x="1086866" y="359410"/>
                  </a:lnTo>
                  <a:lnTo>
                    <a:pt x="1086866" y="368300"/>
                  </a:lnTo>
                  <a:lnTo>
                    <a:pt x="1133983" y="368300"/>
                  </a:lnTo>
                  <a:lnTo>
                    <a:pt x="1133983" y="359410"/>
                  </a:lnTo>
                  <a:lnTo>
                    <a:pt x="1133983" y="44450"/>
                  </a:lnTo>
                  <a:lnTo>
                    <a:pt x="1133983" y="3556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3605784"/>
            <a:ext cx="3758946" cy="16230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1708" y="1876031"/>
            <a:ext cx="6337553" cy="55703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739760" y="1746910"/>
            <a:ext cx="131572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00330">
              <a:lnSpc>
                <a:spcPct val="106200"/>
              </a:lnSpc>
              <a:spcBef>
                <a:spcPts val="100"/>
              </a:spcBef>
            </a:pPr>
            <a:r>
              <a:rPr dirty="0" sz="1600" spc="1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baseline="28985" sz="1725" spc="150">
                <a:solidFill>
                  <a:srgbClr val="252525"/>
                </a:solidFill>
                <a:latin typeface="Cambria Math"/>
                <a:cs typeface="Cambria Math"/>
              </a:rPr>
              <a:t>′</a:t>
            </a:r>
            <a:r>
              <a:rPr dirty="0" baseline="28985" sz="1725" spc="337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7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𝑎𝑥</a:t>
            </a:r>
            <a:r>
              <a:rPr dirty="0" sz="1600" spc="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600" spc="-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𝑏𝑦 </a:t>
            </a:r>
            <a:r>
              <a:rPr dirty="0" sz="1600" spc="-3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34722" sz="2400" spc="-300">
                <a:solidFill>
                  <a:srgbClr val="252525"/>
                </a:solidFill>
                <a:latin typeface="Cambria Math"/>
                <a:cs typeface="Cambria Math"/>
              </a:rPr>
              <a:t>ቊ</a:t>
            </a:r>
            <a:r>
              <a:rPr dirty="0" sz="1600" spc="-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r>
              <a:rPr dirty="0" baseline="28985" sz="1725" spc="-300">
                <a:solidFill>
                  <a:srgbClr val="252525"/>
                </a:solidFill>
                <a:latin typeface="Cambria Math"/>
                <a:cs typeface="Cambria Math"/>
              </a:rPr>
              <a:t>′</a:t>
            </a:r>
            <a:r>
              <a:rPr dirty="0" baseline="28985" sz="1725" spc="-2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𝑐𝑥</a:t>
            </a:r>
            <a:r>
              <a:rPr dirty="0" sz="1600" spc="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600" spc="-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𝑑𝑦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7928" y="2791205"/>
            <a:ext cx="759460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">
              <a:lnSpc>
                <a:spcPts val="1895"/>
              </a:lnSpc>
              <a:spcBef>
                <a:spcPts val="95"/>
              </a:spcBef>
              <a:tabLst>
                <a:tab pos="60769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𝑥′	</a:t>
            </a:r>
            <a:r>
              <a:rPr dirty="0" baseline="-3472" sz="2400" spc="-7">
                <a:solidFill>
                  <a:srgbClr val="252525"/>
                </a:solidFill>
                <a:latin typeface="Cambria Math"/>
                <a:cs typeface="Cambria Math"/>
              </a:rPr>
              <a:t>𝑎</a:t>
            </a:r>
            <a:endParaRPr baseline="-3472" sz="2400">
              <a:latin typeface="Cambria Math"/>
              <a:cs typeface="Cambria Math"/>
            </a:endParaRPr>
          </a:p>
          <a:p>
            <a:pPr marL="25400">
              <a:lnSpc>
                <a:spcPts val="1895"/>
              </a:lnSpc>
              <a:tabLst>
                <a:tab pos="325755" algn="l"/>
                <a:tab pos="616585" algn="l"/>
              </a:tabLst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𝑦′	</a:t>
            </a:r>
            <a:r>
              <a:rPr dirty="0" baseline="31250" sz="2400" spc="-7">
                <a:solidFill>
                  <a:srgbClr val="252525"/>
                </a:solidFill>
                <a:latin typeface="Cambria Math"/>
                <a:cs typeface="Cambria Math"/>
              </a:rPr>
              <a:t>=	</a:t>
            </a:r>
            <a:r>
              <a:rPr dirty="0" baseline="-3472" sz="2400" spc="-7">
                <a:solidFill>
                  <a:srgbClr val="252525"/>
                </a:solidFill>
                <a:latin typeface="Cambria Math"/>
                <a:cs typeface="Cambria Math"/>
              </a:rPr>
              <a:t>𝑐</a:t>
            </a:r>
            <a:endParaRPr baseline="-3472"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7441" y="2804922"/>
            <a:ext cx="130175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45">
              <a:lnSpc>
                <a:spcPts val="1895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895"/>
              </a:lnSpc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𝑑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52872" y="2901949"/>
            <a:ext cx="221615" cy="332740"/>
          </a:xfrm>
          <a:custGeom>
            <a:avLst/>
            <a:gdLst/>
            <a:ahLst/>
            <a:cxnLst/>
            <a:rect l="l" t="t" r="r" b="b"/>
            <a:pathLst>
              <a:path w="221614" h="332739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415" y="323850"/>
                </a:lnTo>
                <a:lnTo>
                  <a:pt x="18415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  <a:path w="221614" h="332739">
                <a:moveTo>
                  <a:pt x="221234" y="0"/>
                </a:moveTo>
                <a:lnTo>
                  <a:pt x="174117" y="0"/>
                </a:lnTo>
                <a:lnTo>
                  <a:pt x="174117" y="8890"/>
                </a:lnTo>
                <a:lnTo>
                  <a:pt x="202819" y="8890"/>
                </a:lnTo>
                <a:lnTo>
                  <a:pt x="202819" y="323850"/>
                </a:lnTo>
                <a:lnTo>
                  <a:pt x="174117" y="323850"/>
                </a:lnTo>
                <a:lnTo>
                  <a:pt x="174117" y="332740"/>
                </a:lnTo>
                <a:lnTo>
                  <a:pt x="221234" y="332740"/>
                </a:lnTo>
                <a:lnTo>
                  <a:pt x="221234" y="323850"/>
                </a:lnTo>
                <a:lnTo>
                  <a:pt x="221234" y="8890"/>
                </a:lnTo>
                <a:lnTo>
                  <a:pt x="22123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05958" y="2760725"/>
            <a:ext cx="126364" cy="50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">
              <a:lnSpc>
                <a:spcPts val="1900"/>
              </a:lnSpc>
              <a:spcBef>
                <a:spcPts val="95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900"/>
              </a:lnSpc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16301" y="4053078"/>
            <a:ext cx="2162175" cy="1766570"/>
            <a:chOff x="2416301" y="4053078"/>
            <a:chExt cx="2162175" cy="1766570"/>
          </a:xfrm>
        </p:grpSpPr>
        <p:sp>
          <p:nvSpPr>
            <p:cNvPr id="18" name="object 18"/>
            <p:cNvSpPr/>
            <p:nvPr/>
          </p:nvSpPr>
          <p:spPr>
            <a:xfrm>
              <a:off x="2416302" y="4053078"/>
              <a:ext cx="2162175" cy="1766570"/>
            </a:xfrm>
            <a:custGeom>
              <a:avLst/>
              <a:gdLst/>
              <a:ahLst/>
              <a:cxnLst/>
              <a:rect l="l" t="t" r="r" b="b"/>
              <a:pathLst>
                <a:path w="2162175" h="1766570">
                  <a:moveTo>
                    <a:pt x="2162175" y="1427988"/>
                  </a:moveTo>
                  <a:lnTo>
                    <a:pt x="2133219" y="1413510"/>
                  </a:lnTo>
                  <a:lnTo>
                    <a:pt x="2075307" y="1384554"/>
                  </a:lnTo>
                  <a:lnTo>
                    <a:pt x="2075307" y="1413510"/>
                  </a:lnTo>
                  <a:lnTo>
                    <a:pt x="339090" y="1413510"/>
                  </a:lnTo>
                  <a:lnTo>
                    <a:pt x="339090" y="86868"/>
                  </a:lnTo>
                  <a:lnTo>
                    <a:pt x="368046" y="86868"/>
                  </a:lnTo>
                  <a:lnTo>
                    <a:pt x="360807" y="72390"/>
                  </a:lnTo>
                  <a:lnTo>
                    <a:pt x="324612" y="0"/>
                  </a:lnTo>
                  <a:lnTo>
                    <a:pt x="281178" y="86868"/>
                  </a:lnTo>
                  <a:lnTo>
                    <a:pt x="310134" y="86868"/>
                  </a:lnTo>
                  <a:lnTo>
                    <a:pt x="310134" y="1413510"/>
                  </a:lnTo>
                  <a:lnTo>
                    <a:pt x="0" y="1413510"/>
                  </a:lnTo>
                  <a:lnTo>
                    <a:pt x="0" y="1442466"/>
                  </a:lnTo>
                  <a:lnTo>
                    <a:pt x="310134" y="1442466"/>
                  </a:lnTo>
                  <a:lnTo>
                    <a:pt x="310134" y="1766354"/>
                  </a:lnTo>
                  <a:lnTo>
                    <a:pt x="339090" y="1766341"/>
                  </a:lnTo>
                  <a:lnTo>
                    <a:pt x="339090" y="1442466"/>
                  </a:lnTo>
                  <a:lnTo>
                    <a:pt x="2075307" y="1442466"/>
                  </a:lnTo>
                  <a:lnTo>
                    <a:pt x="2075307" y="1471422"/>
                  </a:lnTo>
                  <a:lnTo>
                    <a:pt x="2133219" y="1442466"/>
                  </a:lnTo>
                  <a:lnTo>
                    <a:pt x="2162175" y="14279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9804" y="4475226"/>
              <a:ext cx="880744" cy="1031875"/>
            </a:xfrm>
            <a:custGeom>
              <a:avLst/>
              <a:gdLst/>
              <a:ahLst/>
              <a:cxnLst/>
              <a:rect l="l" t="t" r="r" b="b"/>
              <a:pathLst>
                <a:path w="880745" h="1031875">
                  <a:moveTo>
                    <a:pt x="880491" y="0"/>
                  </a:moveTo>
                  <a:lnTo>
                    <a:pt x="802132" y="33401"/>
                  </a:lnTo>
                  <a:lnTo>
                    <a:pt x="823595" y="51625"/>
                  </a:lnTo>
                  <a:lnTo>
                    <a:pt x="25273" y="991158"/>
                  </a:lnTo>
                  <a:lnTo>
                    <a:pt x="311188" y="159131"/>
                  </a:lnTo>
                  <a:lnTo>
                    <a:pt x="337820" y="168275"/>
                  </a:lnTo>
                  <a:lnTo>
                    <a:pt x="334162" y="140716"/>
                  </a:lnTo>
                  <a:lnTo>
                    <a:pt x="326644" y="83820"/>
                  </a:lnTo>
                  <a:lnTo>
                    <a:pt x="265811" y="143510"/>
                  </a:lnTo>
                  <a:lnTo>
                    <a:pt x="292430" y="152679"/>
                  </a:lnTo>
                  <a:lnTo>
                    <a:pt x="0" y="1003554"/>
                  </a:lnTo>
                  <a:lnTo>
                    <a:pt x="11404" y="1007491"/>
                  </a:lnTo>
                  <a:lnTo>
                    <a:pt x="1905" y="1018667"/>
                  </a:lnTo>
                  <a:lnTo>
                    <a:pt x="16891" y="1031494"/>
                  </a:lnTo>
                  <a:lnTo>
                    <a:pt x="838758" y="64516"/>
                  </a:lnTo>
                  <a:lnTo>
                    <a:pt x="860171" y="82677"/>
                  </a:lnTo>
                  <a:lnTo>
                    <a:pt x="870178" y="41910"/>
                  </a:lnTo>
                  <a:lnTo>
                    <a:pt x="880491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660394" y="4922901"/>
            <a:ext cx="2381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5">
                <a:latin typeface="Cambria Math"/>
                <a:cs typeface="Cambria Math"/>
              </a:rPr>
              <a:t>𝑏</a:t>
            </a:r>
            <a:r>
              <a:rPr dirty="0" baseline="-21604" sz="1350" spc="7">
                <a:latin typeface="Cambria Math"/>
                <a:cs typeface="Cambria Math"/>
              </a:rPr>
              <a:t>1</a:t>
            </a:r>
            <a:endParaRPr baseline="-21604" sz="135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50947" y="4172458"/>
            <a:ext cx="4863465" cy="2004060"/>
            <a:chOff x="2750947" y="4172458"/>
            <a:chExt cx="4863465" cy="2004060"/>
          </a:xfrm>
        </p:grpSpPr>
        <p:sp>
          <p:nvSpPr>
            <p:cNvPr id="22" name="object 22"/>
            <p:cNvSpPr/>
            <p:nvPr/>
          </p:nvSpPr>
          <p:spPr>
            <a:xfrm>
              <a:off x="2924556" y="4946523"/>
              <a:ext cx="246379" cy="353060"/>
            </a:xfrm>
            <a:custGeom>
              <a:avLst/>
              <a:gdLst/>
              <a:ahLst/>
              <a:cxnLst/>
              <a:rect l="l" t="t" r="r" b="b"/>
              <a:pathLst>
                <a:path w="246380" h="353060">
                  <a:moveTo>
                    <a:pt x="244917" y="335914"/>
                  </a:moveTo>
                  <a:lnTo>
                    <a:pt x="232156" y="335914"/>
                  </a:lnTo>
                  <a:lnTo>
                    <a:pt x="233171" y="352678"/>
                  </a:lnTo>
                  <a:lnTo>
                    <a:pt x="245871" y="351789"/>
                  </a:lnTo>
                  <a:lnTo>
                    <a:pt x="244917" y="335914"/>
                  </a:lnTo>
                  <a:close/>
                </a:path>
                <a:path w="246380" h="353060">
                  <a:moveTo>
                    <a:pt x="243015" y="319023"/>
                  </a:moveTo>
                  <a:lnTo>
                    <a:pt x="230250" y="319023"/>
                  </a:lnTo>
                  <a:lnTo>
                    <a:pt x="232156" y="336168"/>
                  </a:lnTo>
                  <a:lnTo>
                    <a:pt x="232156" y="335914"/>
                  </a:lnTo>
                  <a:lnTo>
                    <a:pt x="244917" y="335914"/>
                  </a:lnTo>
                  <a:lnTo>
                    <a:pt x="244856" y="334898"/>
                  </a:lnTo>
                  <a:lnTo>
                    <a:pt x="243015" y="319023"/>
                  </a:lnTo>
                  <a:close/>
                </a:path>
                <a:path w="246380" h="353060">
                  <a:moveTo>
                    <a:pt x="240369" y="301751"/>
                  </a:moveTo>
                  <a:lnTo>
                    <a:pt x="227456" y="301751"/>
                  </a:lnTo>
                  <a:lnTo>
                    <a:pt x="230250" y="319277"/>
                  </a:lnTo>
                  <a:lnTo>
                    <a:pt x="230250" y="319023"/>
                  </a:lnTo>
                  <a:lnTo>
                    <a:pt x="243015" y="319023"/>
                  </a:lnTo>
                  <a:lnTo>
                    <a:pt x="242824" y="317372"/>
                  </a:lnTo>
                  <a:lnTo>
                    <a:pt x="240369" y="301751"/>
                  </a:lnTo>
                  <a:close/>
                </a:path>
                <a:path w="246380" h="353060">
                  <a:moveTo>
                    <a:pt x="236999" y="284225"/>
                  </a:moveTo>
                  <a:lnTo>
                    <a:pt x="224027" y="284225"/>
                  </a:lnTo>
                  <a:lnTo>
                    <a:pt x="227456" y="301878"/>
                  </a:lnTo>
                  <a:lnTo>
                    <a:pt x="227456" y="301751"/>
                  </a:lnTo>
                  <a:lnTo>
                    <a:pt x="240369" y="301751"/>
                  </a:lnTo>
                  <a:lnTo>
                    <a:pt x="240030" y="299592"/>
                  </a:lnTo>
                  <a:lnTo>
                    <a:pt x="236999" y="284225"/>
                  </a:lnTo>
                  <a:close/>
                </a:path>
                <a:path w="246380" h="353060">
                  <a:moveTo>
                    <a:pt x="232701" y="266572"/>
                  </a:moveTo>
                  <a:lnTo>
                    <a:pt x="219582" y="266572"/>
                  </a:lnTo>
                  <a:lnTo>
                    <a:pt x="224027" y="284479"/>
                  </a:lnTo>
                  <a:lnTo>
                    <a:pt x="224027" y="284225"/>
                  </a:lnTo>
                  <a:lnTo>
                    <a:pt x="236999" y="284225"/>
                  </a:lnTo>
                  <a:lnTo>
                    <a:pt x="236474" y="281558"/>
                  </a:lnTo>
                  <a:lnTo>
                    <a:pt x="232701" y="266572"/>
                  </a:lnTo>
                  <a:close/>
                </a:path>
                <a:path w="246380" h="353060">
                  <a:moveTo>
                    <a:pt x="195468" y="168656"/>
                  </a:moveTo>
                  <a:lnTo>
                    <a:pt x="181356" y="168656"/>
                  </a:lnTo>
                  <a:lnTo>
                    <a:pt x="181482" y="168909"/>
                  </a:lnTo>
                  <a:lnTo>
                    <a:pt x="192277" y="190753"/>
                  </a:lnTo>
                  <a:lnTo>
                    <a:pt x="202056" y="213868"/>
                  </a:lnTo>
                  <a:lnTo>
                    <a:pt x="208661" y="231520"/>
                  </a:lnTo>
                  <a:lnTo>
                    <a:pt x="214630" y="249174"/>
                  </a:lnTo>
                  <a:lnTo>
                    <a:pt x="219582" y="266826"/>
                  </a:lnTo>
                  <a:lnTo>
                    <a:pt x="219582" y="266572"/>
                  </a:lnTo>
                  <a:lnTo>
                    <a:pt x="232701" y="266572"/>
                  </a:lnTo>
                  <a:lnTo>
                    <a:pt x="231901" y="263397"/>
                  </a:lnTo>
                  <a:lnTo>
                    <a:pt x="226694" y="245237"/>
                  </a:lnTo>
                  <a:lnTo>
                    <a:pt x="220599" y="227202"/>
                  </a:lnTo>
                  <a:lnTo>
                    <a:pt x="213868" y="209041"/>
                  </a:lnTo>
                  <a:lnTo>
                    <a:pt x="203707" y="185419"/>
                  </a:lnTo>
                  <a:lnTo>
                    <a:pt x="195468" y="168656"/>
                  </a:lnTo>
                  <a:close/>
                </a:path>
                <a:path w="246380" h="353060">
                  <a:moveTo>
                    <a:pt x="214502" y="248919"/>
                  </a:moveTo>
                  <a:lnTo>
                    <a:pt x="214575" y="249174"/>
                  </a:lnTo>
                  <a:lnTo>
                    <a:pt x="214502" y="248919"/>
                  </a:lnTo>
                  <a:close/>
                </a:path>
                <a:path w="246380" h="353060">
                  <a:moveTo>
                    <a:pt x="208533" y="231266"/>
                  </a:moveTo>
                  <a:lnTo>
                    <a:pt x="208620" y="231520"/>
                  </a:lnTo>
                  <a:lnTo>
                    <a:pt x="208533" y="231266"/>
                  </a:lnTo>
                  <a:close/>
                </a:path>
                <a:path w="246380" h="353060">
                  <a:moveTo>
                    <a:pt x="201930" y="213613"/>
                  </a:moveTo>
                  <a:lnTo>
                    <a:pt x="202025" y="213868"/>
                  </a:lnTo>
                  <a:lnTo>
                    <a:pt x="201930" y="213613"/>
                  </a:lnTo>
                  <a:close/>
                </a:path>
                <a:path w="246380" h="353060">
                  <a:moveTo>
                    <a:pt x="192150" y="190500"/>
                  </a:moveTo>
                  <a:lnTo>
                    <a:pt x="192258" y="190753"/>
                  </a:lnTo>
                  <a:lnTo>
                    <a:pt x="192150" y="190500"/>
                  </a:lnTo>
                  <a:close/>
                </a:path>
                <a:path w="246380" h="353060">
                  <a:moveTo>
                    <a:pt x="181468" y="168884"/>
                  </a:moveTo>
                  <a:close/>
                </a:path>
                <a:path w="246380" h="353060">
                  <a:moveTo>
                    <a:pt x="184452" y="147954"/>
                  </a:moveTo>
                  <a:lnTo>
                    <a:pt x="169925" y="147954"/>
                  </a:lnTo>
                  <a:lnTo>
                    <a:pt x="181468" y="168884"/>
                  </a:lnTo>
                  <a:lnTo>
                    <a:pt x="181356" y="168656"/>
                  </a:lnTo>
                  <a:lnTo>
                    <a:pt x="195468" y="168656"/>
                  </a:lnTo>
                  <a:lnTo>
                    <a:pt x="192658" y="162940"/>
                  </a:lnTo>
                  <a:lnTo>
                    <a:pt x="184452" y="147954"/>
                  </a:lnTo>
                  <a:close/>
                </a:path>
                <a:path w="246380" h="353060">
                  <a:moveTo>
                    <a:pt x="148174" y="94233"/>
                  </a:moveTo>
                  <a:lnTo>
                    <a:pt x="131952" y="94233"/>
                  </a:lnTo>
                  <a:lnTo>
                    <a:pt x="145287" y="110997"/>
                  </a:lnTo>
                  <a:lnTo>
                    <a:pt x="157987" y="128904"/>
                  </a:lnTo>
                  <a:lnTo>
                    <a:pt x="170052" y="148208"/>
                  </a:lnTo>
                  <a:lnTo>
                    <a:pt x="169925" y="147954"/>
                  </a:lnTo>
                  <a:lnTo>
                    <a:pt x="184452" y="147954"/>
                  </a:lnTo>
                  <a:lnTo>
                    <a:pt x="180975" y="141604"/>
                  </a:lnTo>
                  <a:lnTo>
                    <a:pt x="168401" y="121665"/>
                  </a:lnTo>
                  <a:lnTo>
                    <a:pt x="155320" y="103250"/>
                  </a:lnTo>
                  <a:lnTo>
                    <a:pt x="148174" y="94233"/>
                  </a:lnTo>
                  <a:close/>
                </a:path>
                <a:path w="246380" h="353060">
                  <a:moveTo>
                    <a:pt x="157733" y="128650"/>
                  </a:moveTo>
                  <a:lnTo>
                    <a:pt x="157893" y="128904"/>
                  </a:lnTo>
                  <a:lnTo>
                    <a:pt x="157733" y="128650"/>
                  </a:lnTo>
                  <a:close/>
                </a:path>
                <a:path w="246380" h="353060">
                  <a:moveTo>
                    <a:pt x="145033" y="110743"/>
                  </a:moveTo>
                  <a:lnTo>
                    <a:pt x="145215" y="110997"/>
                  </a:lnTo>
                  <a:lnTo>
                    <a:pt x="145033" y="110743"/>
                  </a:lnTo>
                  <a:close/>
                </a:path>
                <a:path w="246380" h="353060">
                  <a:moveTo>
                    <a:pt x="135673" y="79501"/>
                  </a:moveTo>
                  <a:lnTo>
                    <a:pt x="118363" y="79501"/>
                  </a:lnTo>
                  <a:lnTo>
                    <a:pt x="118744" y="79882"/>
                  </a:lnTo>
                  <a:lnTo>
                    <a:pt x="132206" y="94614"/>
                  </a:lnTo>
                  <a:lnTo>
                    <a:pt x="131952" y="94233"/>
                  </a:lnTo>
                  <a:lnTo>
                    <a:pt x="148174" y="94233"/>
                  </a:lnTo>
                  <a:lnTo>
                    <a:pt x="141731" y="86106"/>
                  </a:lnTo>
                  <a:lnTo>
                    <a:pt x="135673" y="79501"/>
                  </a:lnTo>
                  <a:close/>
                </a:path>
                <a:path w="246380" h="353060">
                  <a:moveTo>
                    <a:pt x="118505" y="79656"/>
                  </a:moveTo>
                  <a:lnTo>
                    <a:pt x="118712" y="79882"/>
                  </a:lnTo>
                  <a:lnTo>
                    <a:pt x="118505" y="79656"/>
                  </a:lnTo>
                  <a:close/>
                </a:path>
                <a:path w="246380" h="353060">
                  <a:moveTo>
                    <a:pt x="90805" y="55244"/>
                  </a:moveTo>
                  <a:lnTo>
                    <a:pt x="105029" y="66801"/>
                  </a:lnTo>
                  <a:lnTo>
                    <a:pt x="118505" y="79656"/>
                  </a:lnTo>
                  <a:lnTo>
                    <a:pt x="118363" y="79501"/>
                  </a:lnTo>
                  <a:lnTo>
                    <a:pt x="135673" y="79501"/>
                  </a:lnTo>
                  <a:lnTo>
                    <a:pt x="127635" y="70738"/>
                  </a:lnTo>
                  <a:lnTo>
                    <a:pt x="113283" y="57150"/>
                  </a:lnTo>
                  <a:lnTo>
                    <a:pt x="111264" y="55499"/>
                  </a:lnTo>
                  <a:lnTo>
                    <a:pt x="91312" y="55499"/>
                  </a:lnTo>
                  <a:lnTo>
                    <a:pt x="90805" y="55244"/>
                  </a:lnTo>
                  <a:close/>
                </a:path>
                <a:path w="246380" h="353060">
                  <a:moveTo>
                    <a:pt x="80771" y="0"/>
                  </a:moveTo>
                  <a:lnTo>
                    <a:pt x="0" y="27050"/>
                  </a:lnTo>
                  <a:lnTo>
                    <a:pt x="70104" y="75437"/>
                  </a:lnTo>
                  <a:lnTo>
                    <a:pt x="74340" y="45481"/>
                  </a:lnTo>
                  <a:lnTo>
                    <a:pt x="61213" y="42037"/>
                  </a:lnTo>
                  <a:lnTo>
                    <a:pt x="64516" y="29844"/>
                  </a:lnTo>
                  <a:lnTo>
                    <a:pt x="76551" y="29844"/>
                  </a:lnTo>
                  <a:lnTo>
                    <a:pt x="80771" y="0"/>
                  </a:lnTo>
                  <a:close/>
                </a:path>
                <a:path w="246380" h="353060">
                  <a:moveTo>
                    <a:pt x="104648" y="66547"/>
                  </a:moveTo>
                  <a:lnTo>
                    <a:pt x="104916" y="66801"/>
                  </a:lnTo>
                  <a:lnTo>
                    <a:pt x="104648" y="66547"/>
                  </a:lnTo>
                  <a:close/>
                </a:path>
                <a:path w="246380" h="353060">
                  <a:moveTo>
                    <a:pt x="77943" y="46427"/>
                  </a:moveTo>
                  <a:lnTo>
                    <a:pt x="91312" y="55499"/>
                  </a:lnTo>
                  <a:lnTo>
                    <a:pt x="111264" y="55499"/>
                  </a:lnTo>
                  <a:lnTo>
                    <a:pt x="100543" y="46735"/>
                  </a:lnTo>
                  <a:lnTo>
                    <a:pt x="79120" y="46735"/>
                  </a:lnTo>
                  <a:lnTo>
                    <a:pt x="77943" y="46427"/>
                  </a:lnTo>
                  <a:close/>
                </a:path>
                <a:path w="246380" h="353060">
                  <a:moveTo>
                    <a:pt x="77088" y="45846"/>
                  </a:moveTo>
                  <a:lnTo>
                    <a:pt x="77943" y="46427"/>
                  </a:lnTo>
                  <a:lnTo>
                    <a:pt x="79120" y="46735"/>
                  </a:lnTo>
                  <a:lnTo>
                    <a:pt x="77088" y="45846"/>
                  </a:lnTo>
                  <a:close/>
                </a:path>
                <a:path w="246380" h="353060">
                  <a:moveTo>
                    <a:pt x="99455" y="45846"/>
                  </a:moveTo>
                  <a:lnTo>
                    <a:pt x="77088" y="45846"/>
                  </a:lnTo>
                  <a:lnTo>
                    <a:pt x="79120" y="46735"/>
                  </a:lnTo>
                  <a:lnTo>
                    <a:pt x="100543" y="46735"/>
                  </a:lnTo>
                  <a:lnTo>
                    <a:pt x="99455" y="45846"/>
                  </a:lnTo>
                  <a:close/>
                </a:path>
                <a:path w="246380" h="353060">
                  <a:moveTo>
                    <a:pt x="76129" y="32826"/>
                  </a:moveTo>
                  <a:lnTo>
                    <a:pt x="74340" y="45481"/>
                  </a:lnTo>
                  <a:lnTo>
                    <a:pt x="77943" y="46427"/>
                  </a:lnTo>
                  <a:lnTo>
                    <a:pt x="77088" y="45846"/>
                  </a:lnTo>
                  <a:lnTo>
                    <a:pt x="99455" y="45846"/>
                  </a:lnTo>
                  <a:lnTo>
                    <a:pt x="98679" y="45212"/>
                  </a:lnTo>
                  <a:lnTo>
                    <a:pt x="83312" y="34670"/>
                  </a:lnTo>
                  <a:lnTo>
                    <a:pt x="76129" y="32826"/>
                  </a:lnTo>
                  <a:close/>
                </a:path>
                <a:path w="246380" h="353060">
                  <a:moveTo>
                    <a:pt x="64516" y="29844"/>
                  </a:moveTo>
                  <a:lnTo>
                    <a:pt x="61213" y="42037"/>
                  </a:lnTo>
                  <a:lnTo>
                    <a:pt x="74340" y="45481"/>
                  </a:lnTo>
                  <a:lnTo>
                    <a:pt x="76129" y="32826"/>
                  </a:lnTo>
                  <a:lnTo>
                    <a:pt x="64516" y="29844"/>
                  </a:lnTo>
                  <a:close/>
                </a:path>
                <a:path w="246380" h="353060">
                  <a:moveTo>
                    <a:pt x="76551" y="29844"/>
                  </a:moveTo>
                  <a:lnTo>
                    <a:pt x="64516" y="29844"/>
                  </a:lnTo>
                  <a:lnTo>
                    <a:pt x="76129" y="32826"/>
                  </a:lnTo>
                  <a:lnTo>
                    <a:pt x="76551" y="2984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50947" y="5091683"/>
              <a:ext cx="840740" cy="1084580"/>
            </a:xfrm>
            <a:custGeom>
              <a:avLst/>
              <a:gdLst/>
              <a:ahLst/>
              <a:cxnLst/>
              <a:rect l="l" t="t" r="r" b="b"/>
              <a:pathLst>
                <a:path w="840739" h="1084579">
                  <a:moveTo>
                    <a:pt x="484505" y="1084376"/>
                  </a:moveTo>
                  <a:lnTo>
                    <a:pt x="478523" y="1037069"/>
                  </a:lnTo>
                  <a:lnTo>
                    <a:pt x="473837" y="999845"/>
                  </a:lnTo>
                  <a:lnTo>
                    <a:pt x="450392" y="1015504"/>
                  </a:lnTo>
                  <a:lnTo>
                    <a:pt x="16510" y="365633"/>
                  </a:lnTo>
                  <a:lnTo>
                    <a:pt x="0" y="376555"/>
                  </a:lnTo>
                  <a:lnTo>
                    <a:pt x="433895" y="1026515"/>
                  </a:lnTo>
                  <a:lnTo>
                    <a:pt x="410464" y="1042162"/>
                  </a:lnTo>
                  <a:lnTo>
                    <a:pt x="484505" y="1084376"/>
                  </a:lnTo>
                  <a:close/>
                </a:path>
                <a:path w="840739" h="1084579">
                  <a:moveTo>
                    <a:pt x="840232" y="762"/>
                  </a:moveTo>
                  <a:lnTo>
                    <a:pt x="755015" y="0"/>
                  </a:lnTo>
                  <a:lnTo>
                    <a:pt x="767334" y="25273"/>
                  </a:lnTo>
                  <a:lnTo>
                    <a:pt x="38989" y="381127"/>
                  </a:lnTo>
                  <a:lnTo>
                    <a:pt x="47625" y="398907"/>
                  </a:lnTo>
                  <a:lnTo>
                    <a:pt x="776071" y="43180"/>
                  </a:lnTo>
                  <a:lnTo>
                    <a:pt x="788416" y="68453"/>
                  </a:lnTo>
                  <a:lnTo>
                    <a:pt x="825741" y="19685"/>
                  </a:lnTo>
                  <a:lnTo>
                    <a:pt x="840232" y="762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91739" y="4995672"/>
              <a:ext cx="288290" cy="867410"/>
            </a:xfrm>
            <a:custGeom>
              <a:avLst/>
              <a:gdLst/>
              <a:ahLst/>
              <a:cxnLst/>
              <a:rect l="l" t="t" r="r" b="b"/>
              <a:pathLst>
                <a:path w="288289" h="867410">
                  <a:moveTo>
                    <a:pt x="135750" y="619340"/>
                  </a:moveTo>
                  <a:lnTo>
                    <a:pt x="135128" y="594334"/>
                  </a:lnTo>
                  <a:lnTo>
                    <a:pt x="135128" y="593839"/>
                  </a:lnTo>
                  <a:lnTo>
                    <a:pt x="133184" y="570103"/>
                  </a:lnTo>
                  <a:lnTo>
                    <a:pt x="133096" y="568960"/>
                  </a:lnTo>
                  <a:lnTo>
                    <a:pt x="130048" y="544957"/>
                  </a:lnTo>
                  <a:lnTo>
                    <a:pt x="126288" y="524256"/>
                  </a:lnTo>
                  <a:lnTo>
                    <a:pt x="125857" y="521843"/>
                  </a:lnTo>
                  <a:lnTo>
                    <a:pt x="120523" y="499745"/>
                  </a:lnTo>
                  <a:lnTo>
                    <a:pt x="115265" y="482981"/>
                  </a:lnTo>
                  <a:lnTo>
                    <a:pt x="114046" y="479044"/>
                  </a:lnTo>
                  <a:lnTo>
                    <a:pt x="106680" y="459486"/>
                  </a:lnTo>
                  <a:lnTo>
                    <a:pt x="101028" y="447040"/>
                  </a:lnTo>
                  <a:lnTo>
                    <a:pt x="98552" y="441579"/>
                  </a:lnTo>
                  <a:lnTo>
                    <a:pt x="92989" y="431546"/>
                  </a:lnTo>
                  <a:lnTo>
                    <a:pt x="89408" y="425069"/>
                  </a:lnTo>
                  <a:lnTo>
                    <a:pt x="84455" y="417703"/>
                  </a:lnTo>
                  <a:lnTo>
                    <a:pt x="79502" y="410337"/>
                  </a:lnTo>
                  <a:lnTo>
                    <a:pt x="75692" y="405765"/>
                  </a:lnTo>
                  <a:lnTo>
                    <a:pt x="68707" y="397383"/>
                  </a:lnTo>
                  <a:lnTo>
                    <a:pt x="67106" y="395859"/>
                  </a:lnTo>
                  <a:lnTo>
                    <a:pt x="59004" y="388112"/>
                  </a:lnTo>
                  <a:lnTo>
                    <a:pt x="57150" y="386334"/>
                  </a:lnTo>
                  <a:lnTo>
                    <a:pt x="55524" y="385191"/>
                  </a:lnTo>
                  <a:lnTo>
                    <a:pt x="51943" y="382651"/>
                  </a:lnTo>
                  <a:lnTo>
                    <a:pt x="49428" y="380873"/>
                  </a:lnTo>
                  <a:lnTo>
                    <a:pt x="47282" y="379349"/>
                  </a:lnTo>
                  <a:lnTo>
                    <a:pt x="11557" y="365760"/>
                  </a:lnTo>
                  <a:lnTo>
                    <a:pt x="4699" y="365506"/>
                  </a:lnTo>
                  <a:lnTo>
                    <a:pt x="4191" y="378206"/>
                  </a:lnTo>
                  <a:lnTo>
                    <a:pt x="10668" y="378460"/>
                  </a:lnTo>
                  <a:lnTo>
                    <a:pt x="10033" y="378460"/>
                  </a:lnTo>
                  <a:lnTo>
                    <a:pt x="15925" y="379310"/>
                  </a:lnTo>
                  <a:lnTo>
                    <a:pt x="21971" y="380873"/>
                  </a:lnTo>
                  <a:lnTo>
                    <a:pt x="21336" y="380746"/>
                  </a:lnTo>
                  <a:lnTo>
                    <a:pt x="27559" y="382905"/>
                  </a:lnTo>
                  <a:lnTo>
                    <a:pt x="32689" y="385305"/>
                  </a:lnTo>
                  <a:lnTo>
                    <a:pt x="32512" y="385191"/>
                  </a:lnTo>
                  <a:lnTo>
                    <a:pt x="33020" y="385445"/>
                  </a:lnTo>
                  <a:lnTo>
                    <a:pt x="32689" y="385305"/>
                  </a:lnTo>
                  <a:lnTo>
                    <a:pt x="32969" y="385445"/>
                  </a:lnTo>
                  <a:lnTo>
                    <a:pt x="38011" y="388239"/>
                  </a:lnTo>
                  <a:lnTo>
                    <a:pt x="69265" y="417969"/>
                  </a:lnTo>
                  <a:lnTo>
                    <a:pt x="87249" y="447548"/>
                  </a:lnTo>
                  <a:lnTo>
                    <a:pt x="87122" y="447040"/>
                  </a:lnTo>
                  <a:lnTo>
                    <a:pt x="95123" y="464566"/>
                  </a:lnTo>
                  <a:lnTo>
                    <a:pt x="94869" y="464185"/>
                  </a:lnTo>
                  <a:lnTo>
                    <a:pt x="95008" y="464566"/>
                  </a:lnTo>
                  <a:lnTo>
                    <a:pt x="102057" y="483247"/>
                  </a:lnTo>
                  <a:lnTo>
                    <a:pt x="108331" y="503301"/>
                  </a:lnTo>
                  <a:lnTo>
                    <a:pt x="108204" y="503047"/>
                  </a:lnTo>
                  <a:lnTo>
                    <a:pt x="108254" y="503301"/>
                  </a:lnTo>
                  <a:lnTo>
                    <a:pt x="113411" y="524637"/>
                  </a:lnTo>
                  <a:lnTo>
                    <a:pt x="113411" y="524256"/>
                  </a:lnTo>
                  <a:lnTo>
                    <a:pt x="117602" y="546989"/>
                  </a:lnTo>
                  <a:lnTo>
                    <a:pt x="117475" y="546735"/>
                  </a:lnTo>
                  <a:lnTo>
                    <a:pt x="117500" y="546989"/>
                  </a:lnTo>
                  <a:lnTo>
                    <a:pt x="120523" y="570357"/>
                  </a:lnTo>
                  <a:lnTo>
                    <a:pt x="120523" y="570103"/>
                  </a:lnTo>
                  <a:lnTo>
                    <a:pt x="122428" y="594664"/>
                  </a:lnTo>
                  <a:lnTo>
                    <a:pt x="123050" y="619506"/>
                  </a:lnTo>
                  <a:lnTo>
                    <a:pt x="122428" y="644347"/>
                  </a:lnTo>
                  <a:lnTo>
                    <a:pt x="122389" y="644677"/>
                  </a:lnTo>
                  <a:lnTo>
                    <a:pt x="122351" y="645172"/>
                  </a:lnTo>
                  <a:lnTo>
                    <a:pt x="120523" y="668921"/>
                  </a:lnTo>
                  <a:lnTo>
                    <a:pt x="120523" y="668604"/>
                  </a:lnTo>
                  <a:lnTo>
                    <a:pt x="120472" y="668921"/>
                  </a:lnTo>
                  <a:lnTo>
                    <a:pt x="117475" y="692327"/>
                  </a:lnTo>
                  <a:lnTo>
                    <a:pt x="117602" y="691984"/>
                  </a:lnTo>
                  <a:lnTo>
                    <a:pt x="113411" y="714743"/>
                  </a:lnTo>
                  <a:lnTo>
                    <a:pt x="113411" y="714400"/>
                  </a:lnTo>
                  <a:lnTo>
                    <a:pt x="113322" y="714743"/>
                  </a:lnTo>
                  <a:lnTo>
                    <a:pt x="108204" y="736028"/>
                  </a:lnTo>
                  <a:lnTo>
                    <a:pt x="108331" y="735660"/>
                  </a:lnTo>
                  <a:lnTo>
                    <a:pt x="102031" y="755967"/>
                  </a:lnTo>
                  <a:lnTo>
                    <a:pt x="94996" y="774814"/>
                  </a:lnTo>
                  <a:lnTo>
                    <a:pt x="95123" y="774395"/>
                  </a:lnTo>
                  <a:lnTo>
                    <a:pt x="94932" y="774814"/>
                  </a:lnTo>
                  <a:lnTo>
                    <a:pt x="87122" y="792022"/>
                  </a:lnTo>
                  <a:lnTo>
                    <a:pt x="87249" y="791578"/>
                  </a:lnTo>
                  <a:lnTo>
                    <a:pt x="86995" y="792022"/>
                  </a:lnTo>
                  <a:lnTo>
                    <a:pt x="78740" y="807034"/>
                  </a:lnTo>
                  <a:lnTo>
                    <a:pt x="78422" y="807491"/>
                  </a:lnTo>
                  <a:lnTo>
                    <a:pt x="69710" y="820407"/>
                  </a:lnTo>
                  <a:lnTo>
                    <a:pt x="63982" y="824750"/>
                  </a:lnTo>
                  <a:lnTo>
                    <a:pt x="50673" y="798563"/>
                  </a:lnTo>
                  <a:lnTo>
                    <a:pt x="0" y="867054"/>
                  </a:lnTo>
                  <a:lnTo>
                    <a:pt x="85217" y="866495"/>
                  </a:lnTo>
                  <a:lnTo>
                    <a:pt x="73431" y="843343"/>
                  </a:lnTo>
                  <a:lnTo>
                    <a:pt x="69824" y="836244"/>
                  </a:lnTo>
                  <a:lnTo>
                    <a:pt x="78994" y="829284"/>
                  </a:lnTo>
                  <a:lnTo>
                    <a:pt x="84378" y="821321"/>
                  </a:lnTo>
                  <a:lnTo>
                    <a:pt x="85407" y="819810"/>
                  </a:lnTo>
                  <a:lnTo>
                    <a:pt x="89408" y="813904"/>
                  </a:lnTo>
                  <a:lnTo>
                    <a:pt x="93243" y="807034"/>
                  </a:lnTo>
                  <a:lnTo>
                    <a:pt x="98552" y="797547"/>
                  </a:lnTo>
                  <a:lnTo>
                    <a:pt x="106807" y="779487"/>
                  </a:lnTo>
                  <a:lnTo>
                    <a:pt x="114046" y="760044"/>
                  </a:lnTo>
                  <a:lnTo>
                    <a:pt x="115366" y="755764"/>
                  </a:lnTo>
                  <a:lnTo>
                    <a:pt x="120523" y="739203"/>
                  </a:lnTo>
                  <a:lnTo>
                    <a:pt x="121373" y="735660"/>
                  </a:lnTo>
                  <a:lnTo>
                    <a:pt x="125857" y="717219"/>
                  </a:lnTo>
                  <a:lnTo>
                    <a:pt x="130048" y="694118"/>
                  </a:lnTo>
                  <a:lnTo>
                    <a:pt x="130314" y="691984"/>
                  </a:lnTo>
                  <a:lnTo>
                    <a:pt x="133096" y="670064"/>
                  </a:lnTo>
                  <a:lnTo>
                    <a:pt x="135128" y="645172"/>
                  </a:lnTo>
                  <a:lnTo>
                    <a:pt x="135750" y="619671"/>
                  </a:lnTo>
                  <a:lnTo>
                    <a:pt x="135750" y="619340"/>
                  </a:lnTo>
                  <a:close/>
                </a:path>
                <a:path w="288289" h="867410">
                  <a:moveTo>
                    <a:pt x="288163" y="248412"/>
                  </a:moveTo>
                  <a:lnTo>
                    <a:pt x="287528" y="223139"/>
                  </a:lnTo>
                  <a:lnTo>
                    <a:pt x="287515" y="222631"/>
                  </a:lnTo>
                  <a:lnTo>
                    <a:pt x="285699" y="198894"/>
                  </a:lnTo>
                  <a:lnTo>
                    <a:pt x="285623" y="197739"/>
                  </a:lnTo>
                  <a:lnTo>
                    <a:pt x="282448" y="173609"/>
                  </a:lnTo>
                  <a:lnTo>
                    <a:pt x="278714" y="152908"/>
                  </a:lnTo>
                  <a:lnTo>
                    <a:pt x="278257" y="150368"/>
                  </a:lnTo>
                  <a:lnTo>
                    <a:pt x="272923" y="128397"/>
                  </a:lnTo>
                  <a:lnTo>
                    <a:pt x="267652" y="111379"/>
                  </a:lnTo>
                  <a:lnTo>
                    <a:pt x="266446" y="107442"/>
                  </a:lnTo>
                  <a:lnTo>
                    <a:pt x="260807" y="92583"/>
                  </a:lnTo>
                  <a:lnTo>
                    <a:pt x="259080" y="88011"/>
                  </a:lnTo>
                  <a:lnTo>
                    <a:pt x="250952" y="69977"/>
                  </a:lnTo>
                  <a:lnTo>
                    <a:pt x="245313" y="59817"/>
                  </a:lnTo>
                  <a:lnTo>
                    <a:pt x="241808" y="53467"/>
                  </a:lnTo>
                  <a:lnTo>
                    <a:pt x="237871" y="47625"/>
                  </a:lnTo>
                  <a:lnTo>
                    <a:pt x="236766" y="45974"/>
                  </a:lnTo>
                  <a:lnTo>
                    <a:pt x="231394" y="37973"/>
                  </a:lnTo>
                  <a:lnTo>
                    <a:pt x="225437" y="33578"/>
                  </a:lnTo>
                  <a:lnTo>
                    <a:pt x="229539" y="26416"/>
                  </a:lnTo>
                  <a:lnTo>
                    <a:pt x="241935" y="4826"/>
                  </a:lnTo>
                  <a:lnTo>
                    <a:pt x="156845" y="0"/>
                  </a:lnTo>
                  <a:lnTo>
                    <a:pt x="203962" y="70993"/>
                  </a:lnTo>
                  <a:lnTo>
                    <a:pt x="219036" y="44716"/>
                  </a:lnTo>
                  <a:lnTo>
                    <a:pt x="222186" y="47028"/>
                  </a:lnTo>
                  <a:lnTo>
                    <a:pt x="231140" y="60325"/>
                  </a:lnTo>
                  <a:lnTo>
                    <a:pt x="230886" y="59817"/>
                  </a:lnTo>
                  <a:lnTo>
                    <a:pt x="239649" y="75819"/>
                  </a:lnTo>
                  <a:lnTo>
                    <a:pt x="239395" y="75438"/>
                  </a:lnTo>
                  <a:lnTo>
                    <a:pt x="239560" y="75819"/>
                  </a:lnTo>
                  <a:lnTo>
                    <a:pt x="247396" y="92964"/>
                  </a:lnTo>
                  <a:lnTo>
                    <a:pt x="254457" y="111633"/>
                  </a:lnTo>
                  <a:lnTo>
                    <a:pt x="254495" y="111760"/>
                  </a:lnTo>
                  <a:lnTo>
                    <a:pt x="260731" y="131826"/>
                  </a:lnTo>
                  <a:lnTo>
                    <a:pt x="260591" y="131445"/>
                  </a:lnTo>
                  <a:lnTo>
                    <a:pt x="260692" y="131826"/>
                  </a:lnTo>
                  <a:lnTo>
                    <a:pt x="265811" y="153162"/>
                  </a:lnTo>
                  <a:lnTo>
                    <a:pt x="265811" y="152908"/>
                  </a:lnTo>
                  <a:lnTo>
                    <a:pt x="269989" y="175768"/>
                  </a:lnTo>
                  <a:lnTo>
                    <a:pt x="269875" y="175387"/>
                  </a:lnTo>
                  <a:lnTo>
                    <a:pt x="269913" y="175768"/>
                  </a:lnTo>
                  <a:lnTo>
                    <a:pt x="272923" y="199275"/>
                  </a:lnTo>
                  <a:lnTo>
                    <a:pt x="272923" y="198894"/>
                  </a:lnTo>
                  <a:lnTo>
                    <a:pt x="274815" y="223532"/>
                  </a:lnTo>
                  <a:lnTo>
                    <a:pt x="275450" y="248500"/>
                  </a:lnTo>
                  <a:lnTo>
                    <a:pt x="275336" y="258699"/>
                  </a:lnTo>
                  <a:lnTo>
                    <a:pt x="288036" y="258826"/>
                  </a:lnTo>
                  <a:lnTo>
                    <a:pt x="288163" y="248412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956048" y="4178808"/>
              <a:ext cx="2651760" cy="1026160"/>
            </a:xfrm>
            <a:custGeom>
              <a:avLst/>
              <a:gdLst/>
              <a:ahLst/>
              <a:cxnLst/>
              <a:rect l="l" t="t" r="r" b="b"/>
              <a:pathLst>
                <a:path w="2651759" h="1026160">
                  <a:moveTo>
                    <a:pt x="2557018" y="0"/>
                  </a:moveTo>
                  <a:lnTo>
                    <a:pt x="94741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2"/>
                  </a:lnTo>
                  <a:lnTo>
                    <a:pt x="0" y="930910"/>
                  </a:lnTo>
                  <a:lnTo>
                    <a:pt x="7445" y="967787"/>
                  </a:lnTo>
                  <a:lnTo>
                    <a:pt x="27749" y="997902"/>
                  </a:lnTo>
                  <a:lnTo>
                    <a:pt x="57864" y="1018206"/>
                  </a:lnTo>
                  <a:lnTo>
                    <a:pt x="94741" y="1025652"/>
                  </a:lnTo>
                  <a:lnTo>
                    <a:pt x="2557018" y="1025652"/>
                  </a:lnTo>
                  <a:lnTo>
                    <a:pt x="2593895" y="1018206"/>
                  </a:lnTo>
                  <a:lnTo>
                    <a:pt x="2624010" y="997902"/>
                  </a:lnTo>
                  <a:lnTo>
                    <a:pt x="2644314" y="967787"/>
                  </a:lnTo>
                  <a:lnTo>
                    <a:pt x="2651759" y="930910"/>
                  </a:lnTo>
                  <a:lnTo>
                    <a:pt x="2651759" y="94742"/>
                  </a:lnTo>
                  <a:lnTo>
                    <a:pt x="2644314" y="57864"/>
                  </a:lnTo>
                  <a:lnTo>
                    <a:pt x="2624010" y="27749"/>
                  </a:lnTo>
                  <a:lnTo>
                    <a:pt x="2593895" y="7445"/>
                  </a:lnTo>
                  <a:lnTo>
                    <a:pt x="255701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56048" y="4178808"/>
              <a:ext cx="2651760" cy="1026160"/>
            </a:xfrm>
            <a:custGeom>
              <a:avLst/>
              <a:gdLst/>
              <a:ahLst/>
              <a:cxnLst/>
              <a:rect l="l" t="t" r="r" b="b"/>
              <a:pathLst>
                <a:path w="2651759" h="1026160">
                  <a:moveTo>
                    <a:pt x="0" y="94742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1" y="0"/>
                  </a:lnTo>
                  <a:lnTo>
                    <a:pt x="2557018" y="0"/>
                  </a:lnTo>
                  <a:lnTo>
                    <a:pt x="2593895" y="7445"/>
                  </a:lnTo>
                  <a:lnTo>
                    <a:pt x="2624010" y="27749"/>
                  </a:lnTo>
                  <a:lnTo>
                    <a:pt x="2644314" y="57864"/>
                  </a:lnTo>
                  <a:lnTo>
                    <a:pt x="2651759" y="94742"/>
                  </a:lnTo>
                  <a:lnTo>
                    <a:pt x="2651759" y="930910"/>
                  </a:lnTo>
                  <a:lnTo>
                    <a:pt x="2644314" y="967787"/>
                  </a:lnTo>
                  <a:lnTo>
                    <a:pt x="2624010" y="997902"/>
                  </a:lnTo>
                  <a:lnTo>
                    <a:pt x="2593895" y="1018206"/>
                  </a:lnTo>
                  <a:lnTo>
                    <a:pt x="2557018" y="1025652"/>
                  </a:lnTo>
                  <a:lnTo>
                    <a:pt x="94741" y="1025652"/>
                  </a:lnTo>
                  <a:lnTo>
                    <a:pt x="57864" y="1018206"/>
                  </a:lnTo>
                  <a:lnTo>
                    <a:pt x="27749" y="997902"/>
                  </a:lnTo>
                  <a:lnTo>
                    <a:pt x="7445" y="967787"/>
                  </a:lnTo>
                  <a:lnTo>
                    <a:pt x="0" y="930910"/>
                  </a:lnTo>
                  <a:lnTo>
                    <a:pt x="0" y="9474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570226" y="5504789"/>
            <a:ext cx="12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90771" y="5504789"/>
            <a:ext cx="1206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50667" y="3932935"/>
            <a:ext cx="125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𝑦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35371" y="4381246"/>
            <a:ext cx="2292350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38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orm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orm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io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he 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252525"/>
                </a:solidFill>
                <a:latin typeface="Cambria Math"/>
                <a:cs typeface="Cambria Math"/>
              </a:rPr>
              <a:t>𝑏</a:t>
            </a:r>
            <a:r>
              <a:rPr dirty="0" sz="1300" spc="-5">
                <a:solidFill>
                  <a:srgbClr val="252525"/>
                </a:solidFill>
                <a:latin typeface="Cambria Math"/>
                <a:cs typeface="Cambria Math"/>
              </a:rPr>
              <a:t>𝑖</a:t>
            </a:r>
            <a:r>
              <a:rPr dirty="0" sz="1300" spc="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be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rot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d,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nla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d,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or  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du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u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riou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20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ri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12948" y="4331208"/>
            <a:ext cx="2156460" cy="1460500"/>
            <a:chOff x="3012948" y="4331208"/>
            <a:chExt cx="2156460" cy="1460500"/>
          </a:xfrm>
        </p:grpSpPr>
        <p:sp>
          <p:nvSpPr>
            <p:cNvPr id="32" name="object 32"/>
            <p:cNvSpPr/>
            <p:nvPr/>
          </p:nvSpPr>
          <p:spPr>
            <a:xfrm>
              <a:off x="3015996" y="4334256"/>
              <a:ext cx="459740" cy="685165"/>
            </a:xfrm>
            <a:custGeom>
              <a:avLst/>
              <a:gdLst/>
              <a:ahLst/>
              <a:cxnLst/>
              <a:rect l="l" t="t" r="r" b="b"/>
              <a:pathLst>
                <a:path w="459739" h="685164">
                  <a:moveTo>
                    <a:pt x="0" y="684784"/>
                  </a:moveTo>
                  <a:lnTo>
                    <a:pt x="459358" y="0"/>
                  </a:lnTo>
                </a:path>
              </a:pathLst>
            </a:custGeom>
            <a:ln w="6096">
              <a:solidFill>
                <a:srgbClr val="64A0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476244" y="4334256"/>
              <a:ext cx="1480820" cy="0"/>
            </a:xfrm>
            <a:custGeom>
              <a:avLst/>
              <a:gdLst/>
              <a:ahLst/>
              <a:cxnLst/>
              <a:rect l="l" t="t" r="r" b="b"/>
              <a:pathLst>
                <a:path w="1480820" h="0">
                  <a:moveTo>
                    <a:pt x="0" y="0"/>
                  </a:moveTo>
                  <a:lnTo>
                    <a:pt x="1480819" y="0"/>
                  </a:lnTo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76600" y="4736592"/>
              <a:ext cx="398145" cy="389255"/>
            </a:xfrm>
            <a:custGeom>
              <a:avLst/>
              <a:gdLst/>
              <a:ahLst/>
              <a:cxnLst/>
              <a:rect l="l" t="t" r="r" b="b"/>
              <a:pathLst>
                <a:path w="398145" h="389254">
                  <a:moveTo>
                    <a:pt x="0" y="389254"/>
                  </a:moveTo>
                  <a:lnTo>
                    <a:pt x="397763" y="0"/>
                  </a:lnTo>
                </a:path>
              </a:pathLst>
            </a:custGeom>
            <a:ln w="6096">
              <a:solidFill>
                <a:srgbClr val="64A0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21152" y="4736592"/>
              <a:ext cx="2045335" cy="1052830"/>
            </a:xfrm>
            <a:custGeom>
              <a:avLst/>
              <a:gdLst/>
              <a:ahLst/>
              <a:cxnLst/>
              <a:rect l="l" t="t" r="r" b="b"/>
              <a:pathLst>
                <a:path w="2045335" h="1052829">
                  <a:moveTo>
                    <a:pt x="553212" y="0"/>
                  </a:moveTo>
                  <a:lnTo>
                    <a:pt x="1835658" y="0"/>
                  </a:lnTo>
                </a:path>
                <a:path w="2045335" h="1052829">
                  <a:moveTo>
                    <a:pt x="0" y="1051559"/>
                  </a:moveTo>
                  <a:lnTo>
                    <a:pt x="2045081" y="1051559"/>
                  </a:lnTo>
                </a:path>
                <a:path w="2045335" h="1052829">
                  <a:moveTo>
                    <a:pt x="2045208" y="1052487"/>
                  </a:moveTo>
                  <a:lnTo>
                    <a:pt x="2045208" y="489203"/>
                  </a:lnTo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6609" y="6524434"/>
            <a:ext cx="5838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9555" y="3224771"/>
            <a:ext cx="6366510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896867"/>
            <a:ext cx="3100578" cy="144246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78636" y="2682239"/>
            <a:ext cx="1440180" cy="425450"/>
          </a:xfrm>
          <a:custGeom>
            <a:avLst/>
            <a:gdLst/>
            <a:ahLst/>
            <a:cxnLst/>
            <a:rect l="l" t="t" r="r" b="b"/>
            <a:pathLst>
              <a:path w="1440180" h="425450">
                <a:moveTo>
                  <a:pt x="1440180" y="0"/>
                </a:moveTo>
                <a:lnTo>
                  <a:pt x="0" y="0"/>
                </a:lnTo>
                <a:lnTo>
                  <a:pt x="0" y="425196"/>
                </a:lnTo>
                <a:lnTo>
                  <a:pt x="1440180" y="425196"/>
                </a:lnTo>
                <a:lnTo>
                  <a:pt x="14401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3177"/>
            <a:ext cx="3920490" cy="3025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293607"/>
            <a:ext cx="6904482" cy="12321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9683" y="1906523"/>
            <a:ext cx="2545841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412" y="1956816"/>
            <a:ext cx="8096250" cy="18234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248" y="1505711"/>
            <a:ext cx="596722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5100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3127" y="1911095"/>
            <a:ext cx="8504682" cy="3589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248" y="1491996"/>
            <a:ext cx="3560826" cy="2141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70959" y="2755392"/>
            <a:ext cx="2087880" cy="448309"/>
          </a:xfrm>
          <a:prstGeom prst="rect">
            <a:avLst/>
          </a:prstGeom>
          <a:solidFill>
            <a:srgbClr val="F1F1F1"/>
          </a:solidFill>
        </p:spPr>
        <p:txBody>
          <a:bodyPr wrap="square" lIns="0" tIns="93345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735"/>
              </a:spcBef>
            </a:pP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𝐴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600" spc="1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𝜆𝑥</a:t>
            </a:r>
            <a:r>
              <a:rPr dirty="0" sz="1600" spc="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(𝑏𝑢</a:t>
            </a:r>
            <a:r>
              <a:rPr dirty="0" sz="1600" spc="30">
                <a:solidFill>
                  <a:srgbClr val="252525"/>
                </a:solidFill>
                <a:latin typeface="Cambria Math"/>
                <a:cs typeface="Cambria Math"/>
              </a:rPr>
              <a:t>𝑡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-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600" spc="1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≠</a:t>
            </a:r>
            <a:r>
              <a:rPr dirty="0" sz="1600" spc="1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0)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80644" y="2049779"/>
            <a:ext cx="7164070" cy="1625600"/>
            <a:chOff x="580644" y="2049779"/>
            <a:chExt cx="7164070" cy="1625600"/>
          </a:xfrm>
        </p:grpSpPr>
        <p:sp>
          <p:nvSpPr>
            <p:cNvPr id="6" name="object 6"/>
            <p:cNvSpPr/>
            <p:nvPr/>
          </p:nvSpPr>
          <p:spPr>
            <a:xfrm>
              <a:off x="1350263" y="2510027"/>
              <a:ext cx="3150235" cy="680085"/>
            </a:xfrm>
            <a:custGeom>
              <a:avLst/>
              <a:gdLst/>
              <a:ahLst/>
              <a:cxnLst/>
              <a:rect l="l" t="t" r="r" b="b"/>
              <a:pathLst>
                <a:path w="3150235" h="680085">
                  <a:moveTo>
                    <a:pt x="3150108" y="0"/>
                  </a:moveTo>
                  <a:lnTo>
                    <a:pt x="0" y="0"/>
                  </a:lnTo>
                  <a:lnTo>
                    <a:pt x="0" y="679703"/>
                  </a:lnTo>
                  <a:lnTo>
                    <a:pt x="3150108" y="679703"/>
                  </a:lnTo>
                  <a:lnTo>
                    <a:pt x="31501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" y="2049779"/>
              <a:ext cx="7163561" cy="162534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248" y="1507210"/>
            <a:ext cx="3448050" cy="336067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15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4.4.</a:t>
            </a:r>
            <a:r>
              <a:rPr dirty="0" spc="-20"/>
              <a:t> </a:t>
            </a:r>
            <a:r>
              <a:rPr dirty="0" spc="-5"/>
              <a:t>Eigenvalues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Eigenvectors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34083"/>
            <a:ext cx="2861310" cy="1897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1123" y="1815083"/>
            <a:ext cx="8269985" cy="32956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88664" y="2022348"/>
            <a:ext cx="2087880" cy="33528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0640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320"/>
              </a:spcBef>
            </a:pP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𝐴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600" spc="15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𝜆𝑥</a:t>
            </a:r>
            <a:r>
              <a:rPr dirty="0" sz="1600" spc="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(𝑏𝑢</a:t>
            </a:r>
            <a:r>
              <a:rPr dirty="0" sz="1600" spc="30">
                <a:solidFill>
                  <a:srgbClr val="252525"/>
                </a:solidFill>
                <a:latin typeface="Cambria Math"/>
                <a:cs typeface="Cambria Math"/>
              </a:rPr>
              <a:t>𝑡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600" spc="-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600" spc="1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≠</a:t>
            </a:r>
            <a:r>
              <a:rPr dirty="0" sz="1600" spc="9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63823" y="3482340"/>
            <a:ext cx="3279775" cy="3581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2159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170"/>
              </a:spcBef>
            </a:pPr>
            <a:r>
              <a:rPr dirty="0" sz="1600" spc="-5">
                <a:latin typeface="Cambria Math"/>
                <a:cs typeface="Cambria Math"/>
              </a:rPr>
              <a:t>(A</a:t>
            </a:r>
            <a:r>
              <a:rPr dirty="0" sz="16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10">
                <a:latin typeface="Cambria Math"/>
                <a:cs typeface="Cambria Math"/>
              </a:rPr>
              <a:t>𝜆E)</a:t>
            </a:r>
            <a:r>
              <a:rPr dirty="0" baseline="28985" sz="1725" spc="15">
                <a:latin typeface="Cambria Math"/>
                <a:cs typeface="Cambria Math"/>
              </a:rPr>
              <a:t>−1</a:t>
            </a:r>
            <a:r>
              <a:rPr dirty="0" sz="1600" spc="10">
                <a:latin typeface="Cambria Math"/>
                <a:cs typeface="Cambria Math"/>
              </a:rPr>
              <a:t>(A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𝜆E)x=(A</a:t>
            </a:r>
            <a:r>
              <a:rPr dirty="0" sz="16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15">
                <a:latin typeface="Cambria Math"/>
                <a:cs typeface="Cambria Math"/>
              </a:rPr>
              <a:t>𝜆E)</a:t>
            </a:r>
            <a:r>
              <a:rPr dirty="0" baseline="28985" sz="1725" spc="22">
                <a:latin typeface="Cambria Math"/>
                <a:cs typeface="Cambria Math"/>
              </a:rPr>
              <a:t>−1</a:t>
            </a:r>
            <a:r>
              <a:rPr dirty="0" sz="1600" spc="15"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2400" y="2699004"/>
            <a:ext cx="1734820" cy="3251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81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30"/>
              </a:spcBef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(𝐴</a:t>
            </a: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 spc="3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10">
                <a:solidFill>
                  <a:srgbClr val="252525"/>
                </a:solidFill>
                <a:latin typeface="Cambria Math"/>
                <a:cs typeface="Cambria Math"/>
              </a:rPr>
              <a:t>𝜆𝐸)𝑥 </a:t>
            </a:r>
            <a:r>
              <a:rPr dirty="0" sz="1600" spc="10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05071" y="5815584"/>
            <a:ext cx="1871980" cy="36766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50800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400"/>
              </a:spcBef>
            </a:pPr>
            <a:r>
              <a:rPr dirty="0" sz="1600" spc="-5">
                <a:latin typeface="Cambria Math"/>
                <a:cs typeface="Cambria Math"/>
              </a:rPr>
              <a:t>det(A</a:t>
            </a:r>
            <a:r>
              <a:rPr dirty="0" sz="1600" spc="33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33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𝜆E)</a:t>
            </a:r>
            <a:r>
              <a:rPr dirty="0" sz="1600" spc="7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763" y="6524434"/>
            <a:ext cx="813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11123" y="1888235"/>
            <a:ext cx="8624570" cy="1315720"/>
            <a:chOff x="611123" y="1888235"/>
            <a:chExt cx="8624570" cy="1315720"/>
          </a:xfrm>
        </p:grpSpPr>
        <p:sp>
          <p:nvSpPr>
            <p:cNvPr id="6" name="object 6"/>
            <p:cNvSpPr/>
            <p:nvPr/>
          </p:nvSpPr>
          <p:spPr>
            <a:xfrm>
              <a:off x="761999" y="2164079"/>
              <a:ext cx="8473440" cy="1039494"/>
            </a:xfrm>
            <a:custGeom>
              <a:avLst/>
              <a:gdLst/>
              <a:ahLst/>
              <a:cxnLst/>
              <a:rect l="l" t="t" r="r" b="b"/>
              <a:pathLst>
                <a:path w="8473440" h="1039494">
                  <a:moveTo>
                    <a:pt x="8473440" y="0"/>
                  </a:moveTo>
                  <a:lnTo>
                    <a:pt x="0" y="0"/>
                  </a:lnTo>
                  <a:lnTo>
                    <a:pt x="0" y="1039368"/>
                  </a:lnTo>
                  <a:lnTo>
                    <a:pt x="8473440" y="1039368"/>
                  </a:lnTo>
                  <a:lnTo>
                    <a:pt x="84734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123" y="1888235"/>
              <a:ext cx="5321046" cy="115443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248" y="1434083"/>
            <a:ext cx="234010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39" y="2833116"/>
            <a:ext cx="5436235" cy="1027430"/>
          </a:xfrm>
          <a:custGeom>
            <a:avLst/>
            <a:gdLst/>
            <a:ahLst/>
            <a:cxnLst/>
            <a:rect l="l" t="t" r="r" b="b"/>
            <a:pathLst>
              <a:path w="5436234" h="1027429">
                <a:moveTo>
                  <a:pt x="5436108" y="0"/>
                </a:moveTo>
                <a:lnTo>
                  <a:pt x="0" y="0"/>
                </a:lnTo>
                <a:lnTo>
                  <a:pt x="0" y="1027175"/>
                </a:lnTo>
                <a:lnTo>
                  <a:pt x="5436108" y="1027175"/>
                </a:lnTo>
                <a:lnTo>
                  <a:pt x="543610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17804" y="1780032"/>
            <a:ext cx="5513070" cy="2642235"/>
            <a:chOff x="717804" y="1780032"/>
            <a:chExt cx="5513070" cy="2642235"/>
          </a:xfrm>
        </p:grpSpPr>
        <p:sp>
          <p:nvSpPr>
            <p:cNvPr id="7" name="object 7"/>
            <p:cNvSpPr/>
            <p:nvPr/>
          </p:nvSpPr>
          <p:spPr>
            <a:xfrm>
              <a:off x="1463040" y="1780032"/>
              <a:ext cx="1504315" cy="628015"/>
            </a:xfrm>
            <a:custGeom>
              <a:avLst/>
              <a:gdLst/>
              <a:ahLst/>
              <a:cxnLst/>
              <a:rect l="l" t="t" r="r" b="b"/>
              <a:pathLst>
                <a:path w="1504314" h="628014">
                  <a:moveTo>
                    <a:pt x="1504187" y="0"/>
                  </a:moveTo>
                  <a:lnTo>
                    <a:pt x="0" y="0"/>
                  </a:lnTo>
                  <a:lnTo>
                    <a:pt x="0" y="627888"/>
                  </a:lnTo>
                  <a:lnTo>
                    <a:pt x="1504187" y="627888"/>
                  </a:lnTo>
                  <a:lnTo>
                    <a:pt x="150418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804" y="1869948"/>
              <a:ext cx="5513070" cy="25519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1434083"/>
            <a:ext cx="4456938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23416" y="2753867"/>
            <a:ext cx="5415280" cy="1056640"/>
          </a:xfrm>
          <a:custGeom>
            <a:avLst/>
            <a:gdLst/>
            <a:ahLst/>
            <a:cxnLst/>
            <a:rect l="l" t="t" r="r" b="b"/>
            <a:pathLst>
              <a:path w="5415280" h="1056639">
                <a:moveTo>
                  <a:pt x="5414772" y="0"/>
                </a:moveTo>
                <a:lnTo>
                  <a:pt x="0" y="0"/>
                </a:lnTo>
                <a:lnTo>
                  <a:pt x="0" y="1056131"/>
                </a:lnTo>
                <a:lnTo>
                  <a:pt x="5414772" y="1056131"/>
                </a:lnTo>
                <a:lnTo>
                  <a:pt x="54147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17804" y="1772411"/>
            <a:ext cx="6063615" cy="2649855"/>
            <a:chOff x="717804" y="1772411"/>
            <a:chExt cx="6063615" cy="2649855"/>
          </a:xfrm>
        </p:grpSpPr>
        <p:sp>
          <p:nvSpPr>
            <p:cNvPr id="7" name="object 7"/>
            <p:cNvSpPr/>
            <p:nvPr/>
          </p:nvSpPr>
          <p:spPr>
            <a:xfrm>
              <a:off x="1423416" y="1772411"/>
              <a:ext cx="1472565" cy="574675"/>
            </a:xfrm>
            <a:custGeom>
              <a:avLst/>
              <a:gdLst/>
              <a:ahLst/>
              <a:cxnLst/>
              <a:rect l="l" t="t" r="r" b="b"/>
              <a:pathLst>
                <a:path w="1472564" h="574675">
                  <a:moveTo>
                    <a:pt x="1472184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1472184" y="574548"/>
                  </a:lnTo>
                  <a:lnTo>
                    <a:pt x="1472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804" y="1869947"/>
              <a:ext cx="6063234" cy="25519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1434083"/>
            <a:ext cx="4117086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128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00555" y="2781300"/>
            <a:ext cx="5134610" cy="2036445"/>
          </a:xfrm>
          <a:custGeom>
            <a:avLst/>
            <a:gdLst/>
            <a:ahLst/>
            <a:cxnLst/>
            <a:rect l="l" t="t" r="r" b="b"/>
            <a:pathLst>
              <a:path w="5134609" h="2036445">
                <a:moveTo>
                  <a:pt x="5134356" y="0"/>
                </a:moveTo>
                <a:lnTo>
                  <a:pt x="0" y="0"/>
                </a:lnTo>
                <a:lnTo>
                  <a:pt x="0" y="2036064"/>
                </a:lnTo>
                <a:lnTo>
                  <a:pt x="5134356" y="2036064"/>
                </a:lnTo>
                <a:lnTo>
                  <a:pt x="513435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17804" y="1772411"/>
            <a:ext cx="5182870" cy="2925445"/>
            <a:chOff x="717804" y="1772411"/>
            <a:chExt cx="5182870" cy="2925445"/>
          </a:xfrm>
        </p:grpSpPr>
        <p:sp>
          <p:nvSpPr>
            <p:cNvPr id="7" name="object 7"/>
            <p:cNvSpPr/>
            <p:nvPr/>
          </p:nvSpPr>
          <p:spPr>
            <a:xfrm>
              <a:off x="1423416" y="1772411"/>
              <a:ext cx="1472565" cy="574675"/>
            </a:xfrm>
            <a:custGeom>
              <a:avLst/>
              <a:gdLst/>
              <a:ahLst/>
              <a:cxnLst/>
              <a:rect l="l" t="t" r="r" b="b"/>
              <a:pathLst>
                <a:path w="1472564" h="574675">
                  <a:moveTo>
                    <a:pt x="1472184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1472184" y="574548"/>
                  </a:lnTo>
                  <a:lnTo>
                    <a:pt x="1472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804" y="1869947"/>
              <a:ext cx="5182362" cy="282778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1434083"/>
            <a:ext cx="4117086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00555" y="2781300"/>
            <a:ext cx="5419725" cy="2807335"/>
          </a:xfrm>
          <a:custGeom>
            <a:avLst/>
            <a:gdLst/>
            <a:ahLst/>
            <a:cxnLst/>
            <a:rect l="l" t="t" r="r" b="b"/>
            <a:pathLst>
              <a:path w="5419725" h="2807335">
                <a:moveTo>
                  <a:pt x="5419344" y="0"/>
                </a:moveTo>
                <a:lnTo>
                  <a:pt x="0" y="0"/>
                </a:lnTo>
                <a:lnTo>
                  <a:pt x="0" y="2807208"/>
                </a:lnTo>
                <a:lnTo>
                  <a:pt x="5419344" y="2807208"/>
                </a:lnTo>
                <a:lnTo>
                  <a:pt x="541934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17804" y="1772411"/>
            <a:ext cx="5443220" cy="3644900"/>
            <a:chOff x="717804" y="1772411"/>
            <a:chExt cx="5443220" cy="3644900"/>
          </a:xfrm>
        </p:grpSpPr>
        <p:sp>
          <p:nvSpPr>
            <p:cNvPr id="7" name="object 7"/>
            <p:cNvSpPr/>
            <p:nvPr/>
          </p:nvSpPr>
          <p:spPr>
            <a:xfrm>
              <a:off x="1423416" y="1772411"/>
              <a:ext cx="1472565" cy="574675"/>
            </a:xfrm>
            <a:custGeom>
              <a:avLst/>
              <a:gdLst/>
              <a:ahLst/>
              <a:cxnLst/>
              <a:rect l="l" t="t" r="r" b="b"/>
              <a:pathLst>
                <a:path w="1472564" h="574675">
                  <a:moveTo>
                    <a:pt x="1472184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1472184" y="574548"/>
                  </a:lnTo>
                  <a:lnTo>
                    <a:pt x="1472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804" y="1869947"/>
              <a:ext cx="5442966" cy="354711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7489" y="431419"/>
            <a:ext cx="339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Eigenvalues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Eigenvectors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1434083"/>
            <a:ext cx="4086605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7643" y="6524434"/>
            <a:ext cx="10734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8032" y="3218688"/>
            <a:ext cx="7020306" cy="3771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01440"/>
            <a:ext cx="3943350" cy="14409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61788" y="3895344"/>
            <a:ext cx="3812286" cy="1043177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91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6237"/>
            <a:ext cx="749058" cy="2309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023619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5.1.</a:t>
            </a:r>
            <a:r>
              <a:rPr dirty="0" spc="-80"/>
              <a:t> </a:t>
            </a:r>
            <a:r>
              <a:rPr dirty="0"/>
              <a:t>Limits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127" y="2153399"/>
            <a:ext cx="3534917" cy="2888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16452" y="2779776"/>
            <a:ext cx="5575554" cy="145770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680" y="1882139"/>
            <a:ext cx="4776978" cy="18973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84022" y="2807080"/>
            <a:ext cx="2343150" cy="1664335"/>
            <a:chOff x="684022" y="2807080"/>
            <a:chExt cx="2343150" cy="1664335"/>
          </a:xfrm>
        </p:grpSpPr>
        <p:sp>
          <p:nvSpPr>
            <p:cNvPr id="12" name="object 12"/>
            <p:cNvSpPr/>
            <p:nvPr/>
          </p:nvSpPr>
          <p:spPr>
            <a:xfrm>
              <a:off x="1058418" y="2821685"/>
              <a:ext cx="1953895" cy="1596390"/>
            </a:xfrm>
            <a:custGeom>
              <a:avLst/>
              <a:gdLst/>
              <a:ahLst/>
              <a:cxnLst/>
              <a:rect l="l" t="t" r="r" b="b"/>
              <a:pathLst>
                <a:path w="1953895" h="1596389">
                  <a:moveTo>
                    <a:pt x="0" y="1595627"/>
                  </a:moveTo>
                  <a:lnTo>
                    <a:pt x="1953895" y="1595627"/>
                  </a:lnTo>
                </a:path>
                <a:path w="1953895" h="1596389">
                  <a:moveTo>
                    <a:pt x="0" y="1596136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4182" y="3126485"/>
              <a:ext cx="2099310" cy="1334770"/>
            </a:xfrm>
            <a:custGeom>
              <a:avLst/>
              <a:gdLst/>
              <a:ahLst/>
              <a:cxnLst/>
              <a:rect l="l" t="t" r="r" b="b"/>
              <a:pathLst>
                <a:path w="2099310" h="1334770">
                  <a:moveTo>
                    <a:pt x="0" y="1334389"/>
                  </a:moveTo>
                  <a:lnTo>
                    <a:pt x="2099183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7700" y="2708148"/>
            <a:ext cx="2757170" cy="2060575"/>
          </a:xfrm>
          <a:prstGeom prst="rect">
            <a:avLst/>
          </a:prstGeom>
          <a:ln w="12192">
            <a:solidFill>
              <a:srgbClr val="D9D9D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marL="1790700">
              <a:lnSpc>
                <a:spcPct val="100000"/>
              </a:lnSpc>
            </a:pPr>
            <a:r>
              <a:rPr dirty="0" sz="1400">
                <a:latin typeface="Cambria Math"/>
                <a:cs typeface="Cambria Math"/>
              </a:rPr>
              <a:t>𝑦</a:t>
            </a:r>
            <a:r>
              <a:rPr dirty="0" sz="1400" spc="7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50">
                <a:latin typeface="Cambria Math"/>
                <a:cs typeface="Cambria Math"/>
              </a:rPr>
              <a:t> </a:t>
            </a:r>
            <a:r>
              <a:rPr dirty="0" sz="1400" spc="20">
                <a:latin typeface="Cambria Math"/>
                <a:cs typeface="Cambria Math"/>
              </a:rPr>
              <a:t>𝑓(𝑥)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Cambria Math"/>
              <a:cs typeface="Cambria Math"/>
            </a:endParaRPr>
          </a:p>
          <a:p>
            <a:pPr algn="ctr" marR="214629">
              <a:lnSpc>
                <a:spcPct val="100000"/>
              </a:lnSpc>
            </a:pPr>
            <a:r>
              <a:rPr dirty="0" sz="140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87424" y="3253104"/>
            <a:ext cx="875030" cy="1313180"/>
            <a:chOff x="1487424" y="3253104"/>
            <a:chExt cx="875030" cy="1313180"/>
          </a:xfrm>
        </p:grpSpPr>
        <p:sp>
          <p:nvSpPr>
            <p:cNvPr id="16" name="object 16"/>
            <p:cNvSpPr/>
            <p:nvPr/>
          </p:nvSpPr>
          <p:spPr>
            <a:xfrm>
              <a:off x="1487424" y="4489703"/>
              <a:ext cx="808990" cy="76200"/>
            </a:xfrm>
            <a:custGeom>
              <a:avLst/>
              <a:gdLst/>
              <a:ahLst/>
              <a:cxnLst/>
              <a:rect l="l" t="t" r="r" b="b"/>
              <a:pathLst>
                <a:path w="808989" h="76200">
                  <a:moveTo>
                    <a:pt x="255270" y="38100"/>
                  </a:moveTo>
                  <a:lnTo>
                    <a:pt x="242570" y="31750"/>
                  </a:lnTo>
                  <a:lnTo>
                    <a:pt x="179070" y="0"/>
                  </a:lnTo>
                  <a:lnTo>
                    <a:pt x="17907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79070" y="44450"/>
                  </a:lnTo>
                  <a:lnTo>
                    <a:pt x="179070" y="76200"/>
                  </a:lnTo>
                  <a:lnTo>
                    <a:pt x="242570" y="44450"/>
                  </a:lnTo>
                  <a:lnTo>
                    <a:pt x="255270" y="38100"/>
                  </a:lnTo>
                  <a:close/>
                </a:path>
                <a:path w="808989" h="76200">
                  <a:moveTo>
                    <a:pt x="808482" y="31750"/>
                  </a:moveTo>
                  <a:lnTo>
                    <a:pt x="629412" y="31750"/>
                  </a:lnTo>
                  <a:lnTo>
                    <a:pt x="629412" y="0"/>
                  </a:lnTo>
                  <a:lnTo>
                    <a:pt x="553212" y="38100"/>
                  </a:lnTo>
                  <a:lnTo>
                    <a:pt x="629412" y="76200"/>
                  </a:lnTo>
                  <a:lnTo>
                    <a:pt x="629412" y="44450"/>
                  </a:lnTo>
                  <a:lnTo>
                    <a:pt x="808482" y="44450"/>
                  </a:lnTo>
                  <a:lnTo>
                    <a:pt x="808482" y="3175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3911" y="3617975"/>
              <a:ext cx="234441" cy="15113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65020" y="3253104"/>
              <a:ext cx="297180" cy="207645"/>
            </a:xfrm>
            <a:custGeom>
              <a:avLst/>
              <a:gdLst/>
              <a:ahLst/>
              <a:cxnLst/>
              <a:rect l="l" t="t" r="r" b="b"/>
              <a:pathLst>
                <a:path w="297180" h="207645">
                  <a:moveTo>
                    <a:pt x="41021" y="132969"/>
                  </a:moveTo>
                  <a:lnTo>
                    <a:pt x="0" y="207518"/>
                  </a:lnTo>
                  <a:lnTo>
                    <a:pt x="84328" y="195707"/>
                  </a:lnTo>
                  <a:lnTo>
                    <a:pt x="71265" y="176784"/>
                  </a:lnTo>
                  <a:lnTo>
                    <a:pt x="55880" y="176784"/>
                  </a:lnTo>
                  <a:lnTo>
                    <a:pt x="48641" y="166243"/>
                  </a:lnTo>
                  <a:lnTo>
                    <a:pt x="59039" y="159071"/>
                  </a:lnTo>
                  <a:lnTo>
                    <a:pt x="41021" y="132969"/>
                  </a:lnTo>
                  <a:close/>
                </a:path>
                <a:path w="297180" h="207645">
                  <a:moveTo>
                    <a:pt x="59039" y="159071"/>
                  </a:moveTo>
                  <a:lnTo>
                    <a:pt x="48641" y="166243"/>
                  </a:lnTo>
                  <a:lnTo>
                    <a:pt x="55880" y="176784"/>
                  </a:lnTo>
                  <a:lnTo>
                    <a:pt x="66300" y="169591"/>
                  </a:lnTo>
                  <a:lnTo>
                    <a:pt x="59039" y="159071"/>
                  </a:lnTo>
                  <a:close/>
                </a:path>
                <a:path w="297180" h="207645">
                  <a:moveTo>
                    <a:pt x="66300" y="169591"/>
                  </a:moveTo>
                  <a:lnTo>
                    <a:pt x="55880" y="176784"/>
                  </a:lnTo>
                  <a:lnTo>
                    <a:pt x="71265" y="176784"/>
                  </a:lnTo>
                  <a:lnTo>
                    <a:pt x="66300" y="169591"/>
                  </a:lnTo>
                  <a:close/>
                </a:path>
                <a:path w="297180" h="207645">
                  <a:moveTo>
                    <a:pt x="289687" y="0"/>
                  </a:moveTo>
                  <a:lnTo>
                    <a:pt x="59039" y="159071"/>
                  </a:lnTo>
                  <a:lnTo>
                    <a:pt x="66300" y="169591"/>
                  </a:lnTo>
                  <a:lnTo>
                    <a:pt x="296925" y="10414"/>
                  </a:lnTo>
                  <a:lnTo>
                    <a:pt x="28968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63852" y="3531107"/>
              <a:ext cx="224027" cy="22402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710940" y="4800600"/>
            <a:ext cx="4099560" cy="1346200"/>
            <a:chOff x="3710940" y="4800600"/>
            <a:chExt cx="4099560" cy="1346200"/>
          </a:xfrm>
        </p:grpSpPr>
        <p:sp>
          <p:nvSpPr>
            <p:cNvPr id="21" name="object 21"/>
            <p:cNvSpPr/>
            <p:nvPr/>
          </p:nvSpPr>
          <p:spPr>
            <a:xfrm>
              <a:off x="3710940" y="4800600"/>
              <a:ext cx="4099560" cy="1346200"/>
            </a:xfrm>
            <a:custGeom>
              <a:avLst/>
              <a:gdLst/>
              <a:ahLst/>
              <a:cxnLst/>
              <a:rect l="l" t="t" r="r" b="b"/>
              <a:pathLst>
                <a:path w="4099559" h="1346200">
                  <a:moveTo>
                    <a:pt x="4099560" y="0"/>
                  </a:moveTo>
                  <a:lnTo>
                    <a:pt x="0" y="0"/>
                  </a:lnTo>
                  <a:lnTo>
                    <a:pt x="0" y="1345692"/>
                  </a:lnTo>
                  <a:lnTo>
                    <a:pt x="4099560" y="1345692"/>
                  </a:lnTo>
                  <a:lnTo>
                    <a:pt x="40995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7690" y="4928235"/>
              <a:ext cx="246634" cy="18783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891026" y="4864734"/>
            <a:ext cx="1151255" cy="381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ts val="1670"/>
              </a:lnSpc>
              <a:spcBef>
                <a:spcPts val="95"/>
              </a:spcBef>
              <a:tabLst>
                <a:tab pos="807085" algn="l"/>
              </a:tabLst>
            </a:pP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lim</a:t>
            </a:r>
            <a:r>
              <a:rPr dirty="0" sz="1600" spc="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𝑓</a:t>
            </a:r>
            <a:r>
              <a:rPr dirty="0" sz="1600" spc="36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	=</a:t>
            </a:r>
            <a:r>
              <a:rPr dirty="0" sz="1600" spc="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𝛼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ts val="1130"/>
              </a:lnSpc>
            </a:pPr>
            <a:r>
              <a:rPr dirty="0" sz="1150" spc="65">
                <a:solidFill>
                  <a:srgbClr val="252525"/>
                </a:solidFill>
                <a:latin typeface="Cambria Math"/>
                <a:cs typeface="Cambria Math"/>
              </a:rPr>
              <a:t>𝑥→𝛼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33059" y="4889068"/>
            <a:ext cx="20193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13299F"/>
                </a:solidFill>
                <a:latin typeface="Cambria Math"/>
                <a:cs typeface="Cambria Math"/>
              </a:rPr>
              <a:t>𝒇</a:t>
            </a:r>
            <a:r>
              <a:rPr dirty="0" sz="1400">
                <a:solidFill>
                  <a:srgbClr val="13299F"/>
                </a:solidFill>
                <a:latin typeface="Cambria Math"/>
                <a:cs typeface="Cambria Math"/>
              </a:rPr>
              <a:t>(</a:t>
            </a:r>
            <a:r>
              <a:rPr dirty="0" sz="1400" spc="-5">
                <a:solidFill>
                  <a:srgbClr val="13299F"/>
                </a:solidFill>
                <a:latin typeface="Cambria Math"/>
                <a:cs typeface="Cambria Math"/>
              </a:rPr>
              <a:t>𝒙</a:t>
            </a:r>
            <a:r>
              <a:rPr dirty="0" sz="1400">
                <a:solidFill>
                  <a:srgbClr val="13299F"/>
                </a:solidFill>
                <a:latin typeface="Cambria Math"/>
                <a:cs typeface="Cambria Math"/>
              </a:rPr>
              <a:t>)</a:t>
            </a:r>
            <a:r>
              <a:rPr dirty="0" sz="1400" spc="65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400" spc="5">
                <a:solidFill>
                  <a:srgbClr val="13299F"/>
                </a:solidFill>
                <a:latin typeface="Cambria Math"/>
                <a:cs typeface="Cambria Math"/>
              </a:rPr>
              <a:t>→</a:t>
            </a:r>
            <a:r>
              <a:rPr dirty="0" sz="1400" spc="70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400" spc="290">
                <a:solidFill>
                  <a:srgbClr val="13299F"/>
                </a:solidFill>
                <a:latin typeface="Cambria Math"/>
                <a:cs typeface="Cambria Math"/>
              </a:rPr>
              <a:t>𝑎</a:t>
            </a:r>
            <a:r>
              <a:rPr dirty="0" sz="1400" spc="-10">
                <a:solidFill>
                  <a:srgbClr val="13299F"/>
                </a:solidFill>
                <a:latin typeface="Cambria Math"/>
                <a:cs typeface="Cambria Math"/>
              </a:rPr>
              <a:t>(</a:t>
            </a:r>
            <a:r>
              <a:rPr dirty="0" sz="1400" spc="5">
                <a:solidFill>
                  <a:srgbClr val="13299F"/>
                </a:solidFill>
                <a:latin typeface="Cambria Math"/>
                <a:cs typeface="Cambria Math"/>
              </a:rPr>
              <a:t>𝒙</a:t>
            </a:r>
            <a:r>
              <a:rPr dirty="0" sz="1400" spc="65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400" spc="-5">
                <a:solidFill>
                  <a:srgbClr val="13299F"/>
                </a:solidFill>
                <a:latin typeface="Cambria Math"/>
                <a:cs typeface="Cambria Math"/>
              </a:rPr>
              <a:t>→a</a:t>
            </a:r>
            <a:r>
              <a:rPr dirty="0" sz="1400">
                <a:solidFill>
                  <a:srgbClr val="13299F"/>
                </a:solidFill>
                <a:latin typeface="Cambria Math"/>
                <a:cs typeface="Cambria Math"/>
              </a:rPr>
              <a:t>)</a:t>
            </a:r>
            <a:r>
              <a:rPr dirty="0" sz="1400" spc="-30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400" spc="290">
                <a:solidFill>
                  <a:srgbClr val="13299F"/>
                </a:solidFill>
                <a:latin typeface="Cambria Math"/>
                <a:cs typeface="Cambria Math"/>
              </a:rPr>
              <a:t>𝑎</a:t>
            </a:r>
            <a:r>
              <a:rPr dirty="0" sz="1400" spc="-65">
                <a:solidFill>
                  <a:srgbClr val="13299F"/>
                </a:solidFill>
                <a:latin typeface="Cambria Math"/>
                <a:cs typeface="Cambria Math"/>
              </a:rPr>
              <a:t> </a:t>
            </a:r>
            <a:r>
              <a:rPr dirty="0" sz="1200" spc="-14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200" spc="-15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200" spc="-10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200" spc="-18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200" spc="-270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200" spc="-245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200" spc="-11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200" spc="-140" b="1">
                <a:solidFill>
                  <a:srgbClr val="13299F"/>
                </a:solidFill>
                <a:latin typeface="Tahoma"/>
                <a:cs typeface="Tahoma"/>
              </a:rPr>
              <a:t>li</a:t>
            </a:r>
            <a:r>
              <a:rPr dirty="0" sz="1200" spc="-395" b="1">
                <a:solidFill>
                  <a:srgbClr val="13299F"/>
                </a:solidFill>
                <a:latin typeface="Tahoma"/>
                <a:cs typeface="Tahoma"/>
              </a:rPr>
              <a:t>m</a:t>
            </a:r>
            <a:r>
              <a:rPr dirty="0" sz="1200" spc="-14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200" spc="-18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200" spc="-155" b="1">
                <a:solidFill>
                  <a:srgbClr val="13299F"/>
                </a:solidFill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09314" y="5649264"/>
            <a:ext cx="2927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lim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33290" y="5799264"/>
            <a:ext cx="538480" cy="13970"/>
          </a:xfrm>
          <a:custGeom>
            <a:avLst/>
            <a:gdLst/>
            <a:ahLst/>
            <a:cxnLst/>
            <a:rect l="l" t="t" r="r" b="b"/>
            <a:pathLst>
              <a:path w="538479" h="13970">
                <a:moveTo>
                  <a:pt x="537972" y="0"/>
                </a:moveTo>
                <a:lnTo>
                  <a:pt x="0" y="0"/>
                </a:lnTo>
                <a:lnTo>
                  <a:pt x="0" y="13716"/>
                </a:lnTo>
                <a:lnTo>
                  <a:pt x="537972" y="13716"/>
                </a:lnTo>
                <a:lnTo>
                  <a:pt x="53797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900170" y="5784596"/>
            <a:ext cx="850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baseline="4830" sz="1725" spc="67">
                <a:solidFill>
                  <a:srgbClr val="252525"/>
                </a:solidFill>
                <a:latin typeface="Cambria Math"/>
                <a:cs typeface="Cambria Math"/>
              </a:rPr>
              <a:t>𝑥→1</a:t>
            </a:r>
            <a:r>
              <a:rPr dirty="0" baseline="4830" sz="1725" spc="367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600" spc="3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− 1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08526" y="5495340"/>
            <a:ext cx="2183765" cy="535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565"/>
              </a:lnSpc>
              <a:spcBef>
                <a:spcPts val="95"/>
              </a:spcBef>
            </a:pPr>
            <a:r>
              <a:rPr dirty="0" sz="16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baseline="26455" sz="157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r>
              <a:rPr dirty="0" baseline="26455" sz="1575" spc="142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dirty="0" sz="1600" spc="-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619760">
              <a:lnSpc>
                <a:spcPts val="1315"/>
              </a:lnSpc>
            </a:pP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15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15">
                <a:solidFill>
                  <a:srgbClr val="252525"/>
                </a:solidFill>
                <a:latin typeface="Cambria Math"/>
                <a:cs typeface="Cambria Math"/>
              </a:rPr>
              <a:t>lim(𝑥</a:t>
            </a:r>
            <a:r>
              <a:rPr dirty="0" sz="1600" spc="4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600" spc="-1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1)</a:t>
            </a:r>
            <a:r>
              <a:rPr dirty="0" sz="1600" spc="7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600" spc="8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252525"/>
                </a:solidFill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  <a:p>
            <a:pPr algn="ctr" marR="216535">
              <a:lnSpc>
                <a:spcPts val="1130"/>
              </a:lnSpc>
            </a:pPr>
            <a:r>
              <a:rPr dirty="0" sz="1150" spc="50">
                <a:solidFill>
                  <a:srgbClr val="252525"/>
                </a:solidFill>
                <a:latin typeface="Cambria Math"/>
                <a:cs typeface="Cambria Math"/>
              </a:rPr>
              <a:t>𝑥→1</a:t>
            </a:r>
            <a:endParaRPr sz="11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036" y="3896867"/>
            <a:ext cx="3943350" cy="14455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61788" y="3895344"/>
            <a:ext cx="3812286" cy="10431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8032" y="3218688"/>
            <a:ext cx="7020306" cy="377189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30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2678430" cy="23700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28434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5.2.</a:t>
            </a:r>
            <a:r>
              <a:rPr dirty="0" spc="-20"/>
              <a:t> </a:t>
            </a:r>
            <a:r>
              <a:rPr dirty="0" spc="-5"/>
              <a:t>Differential</a:t>
            </a:r>
            <a:r>
              <a:rPr dirty="0" spc="-20"/>
              <a:t> </a:t>
            </a:r>
            <a:r>
              <a:rPr dirty="0" spc="-5"/>
              <a:t>Coefficient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Derivatives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8180" y="2229611"/>
            <a:ext cx="6342126" cy="231114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04672" y="5085588"/>
            <a:ext cx="4200525" cy="763905"/>
            <a:chOff x="804672" y="5085588"/>
            <a:chExt cx="4200525" cy="763905"/>
          </a:xfrm>
        </p:grpSpPr>
        <p:sp>
          <p:nvSpPr>
            <p:cNvPr id="10" name="object 10"/>
            <p:cNvSpPr/>
            <p:nvPr/>
          </p:nvSpPr>
          <p:spPr>
            <a:xfrm>
              <a:off x="804672" y="5085588"/>
              <a:ext cx="4200525" cy="763905"/>
            </a:xfrm>
            <a:custGeom>
              <a:avLst/>
              <a:gdLst/>
              <a:ahLst/>
              <a:cxnLst/>
              <a:rect l="l" t="t" r="r" b="b"/>
              <a:pathLst>
                <a:path w="4200525" h="763904">
                  <a:moveTo>
                    <a:pt x="4200144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4200144" y="763524"/>
                  </a:lnTo>
                  <a:lnTo>
                    <a:pt x="42001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48575" y="5261482"/>
              <a:ext cx="1780539" cy="419734"/>
            </a:xfrm>
            <a:custGeom>
              <a:avLst/>
              <a:gdLst/>
              <a:ahLst/>
              <a:cxnLst/>
              <a:rect l="l" t="t" r="r" b="b"/>
              <a:pathLst>
                <a:path w="1780539" h="419735">
                  <a:moveTo>
                    <a:pt x="208775" y="211213"/>
                  </a:moveTo>
                  <a:lnTo>
                    <a:pt x="0" y="211213"/>
                  </a:lnTo>
                  <a:lnTo>
                    <a:pt x="0" y="223393"/>
                  </a:lnTo>
                  <a:lnTo>
                    <a:pt x="208775" y="223393"/>
                  </a:lnTo>
                  <a:lnTo>
                    <a:pt x="208775" y="211213"/>
                  </a:lnTo>
                  <a:close/>
                </a:path>
                <a:path w="1780539" h="419735">
                  <a:moveTo>
                    <a:pt x="616343" y="6731"/>
                  </a:moveTo>
                  <a:lnTo>
                    <a:pt x="613930" y="0"/>
                  </a:lnTo>
                  <a:lnTo>
                    <a:pt x="601980" y="4381"/>
                  </a:lnTo>
                  <a:lnTo>
                    <a:pt x="591477" y="10668"/>
                  </a:lnTo>
                  <a:lnTo>
                    <a:pt x="564654" y="53530"/>
                  </a:lnTo>
                  <a:lnTo>
                    <a:pt x="561225" y="82677"/>
                  </a:lnTo>
                  <a:lnTo>
                    <a:pt x="562076" y="97878"/>
                  </a:lnTo>
                  <a:lnTo>
                    <a:pt x="574814" y="136398"/>
                  </a:lnTo>
                  <a:lnTo>
                    <a:pt x="613930" y="165227"/>
                  </a:lnTo>
                  <a:lnTo>
                    <a:pt x="616089" y="158496"/>
                  </a:lnTo>
                  <a:lnTo>
                    <a:pt x="606628" y="154355"/>
                  </a:lnTo>
                  <a:lnTo>
                    <a:pt x="598474" y="148577"/>
                  </a:lnTo>
                  <a:lnTo>
                    <a:pt x="578789" y="109601"/>
                  </a:lnTo>
                  <a:lnTo>
                    <a:pt x="576338" y="81788"/>
                  </a:lnTo>
                  <a:lnTo>
                    <a:pt x="576948" y="67729"/>
                  </a:lnTo>
                  <a:lnTo>
                    <a:pt x="591654" y="23977"/>
                  </a:lnTo>
                  <a:lnTo>
                    <a:pt x="606793" y="10883"/>
                  </a:lnTo>
                  <a:lnTo>
                    <a:pt x="616343" y="6731"/>
                  </a:lnTo>
                  <a:close/>
                </a:path>
                <a:path w="1780539" h="419735">
                  <a:moveTo>
                    <a:pt x="689495" y="261239"/>
                  </a:moveTo>
                  <a:lnTo>
                    <a:pt x="687082" y="254508"/>
                  </a:lnTo>
                  <a:lnTo>
                    <a:pt x="675132" y="258889"/>
                  </a:lnTo>
                  <a:lnTo>
                    <a:pt x="664629" y="265176"/>
                  </a:lnTo>
                  <a:lnTo>
                    <a:pt x="637806" y="308051"/>
                  </a:lnTo>
                  <a:lnTo>
                    <a:pt x="634377" y="337197"/>
                  </a:lnTo>
                  <a:lnTo>
                    <a:pt x="635228" y="352374"/>
                  </a:lnTo>
                  <a:lnTo>
                    <a:pt x="647966" y="390867"/>
                  </a:lnTo>
                  <a:lnTo>
                    <a:pt x="687082" y="419735"/>
                  </a:lnTo>
                  <a:lnTo>
                    <a:pt x="689241" y="413029"/>
                  </a:lnTo>
                  <a:lnTo>
                    <a:pt x="679780" y="408863"/>
                  </a:lnTo>
                  <a:lnTo>
                    <a:pt x="671626" y="403059"/>
                  </a:lnTo>
                  <a:lnTo>
                    <a:pt x="651941" y="364121"/>
                  </a:lnTo>
                  <a:lnTo>
                    <a:pt x="649490" y="336321"/>
                  </a:lnTo>
                  <a:lnTo>
                    <a:pt x="650100" y="322249"/>
                  </a:lnTo>
                  <a:lnTo>
                    <a:pt x="664806" y="278485"/>
                  </a:lnTo>
                  <a:lnTo>
                    <a:pt x="679945" y="265391"/>
                  </a:lnTo>
                  <a:lnTo>
                    <a:pt x="689495" y="261239"/>
                  </a:lnTo>
                  <a:close/>
                </a:path>
                <a:path w="1780539" h="419735">
                  <a:moveTo>
                    <a:pt x="1199781" y="82677"/>
                  </a:moveTo>
                  <a:lnTo>
                    <a:pt x="1192110" y="40678"/>
                  </a:lnTo>
                  <a:lnTo>
                    <a:pt x="1159078" y="4381"/>
                  </a:lnTo>
                  <a:lnTo>
                    <a:pt x="1147076" y="0"/>
                  </a:lnTo>
                  <a:lnTo>
                    <a:pt x="1144790" y="6731"/>
                  </a:lnTo>
                  <a:lnTo>
                    <a:pt x="1154328" y="10883"/>
                  </a:lnTo>
                  <a:lnTo>
                    <a:pt x="1162570" y="16624"/>
                  </a:lnTo>
                  <a:lnTo>
                    <a:pt x="1182331" y="54864"/>
                  </a:lnTo>
                  <a:lnTo>
                    <a:pt x="1184795" y="81788"/>
                  </a:lnTo>
                  <a:lnTo>
                    <a:pt x="1184173" y="96367"/>
                  </a:lnTo>
                  <a:lnTo>
                    <a:pt x="1169428" y="141160"/>
                  </a:lnTo>
                  <a:lnTo>
                    <a:pt x="1145044" y="158496"/>
                  </a:lnTo>
                  <a:lnTo>
                    <a:pt x="1147076" y="165227"/>
                  </a:lnTo>
                  <a:lnTo>
                    <a:pt x="1186192" y="136398"/>
                  </a:lnTo>
                  <a:lnTo>
                    <a:pt x="1198943" y="97878"/>
                  </a:lnTo>
                  <a:lnTo>
                    <a:pt x="1199781" y="82677"/>
                  </a:lnTo>
                  <a:close/>
                </a:path>
                <a:path w="1780539" h="419735">
                  <a:moveTo>
                    <a:pt x="1272933" y="337197"/>
                  </a:moveTo>
                  <a:lnTo>
                    <a:pt x="1265262" y="295186"/>
                  </a:lnTo>
                  <a:lnTo>
                    <a:pt x="1232230" y="258889"/>
                  </a:lnTo>
                  <a:lnTo>
                    <a:pt x="1220228" y="254508"/>
                  </a:lnTo>
                  <a:lnTo>
                    <a:pt x="1217942" y="261239"/>
                  </a:lnTo>
                  <a:lnTo>
                    <a:pt x="1227480" y="265391"/>
                  </a:lnTo>
                  <a:lnTo>
                    <a:pt x="1235710" y="271132"/>
                  </a:lnTo>
                  <a:lnTo>
                    <a:pt x="1255483" y="309384"/>
                  </a:lnTo>
                  <a:lnTo>
                    <a:pt x="1257947" y="336321"/>
                  </a:lnTo>
                  <a:lnTo>
                    <a:pt x="1257325" y="350901"/>
                  </a:lnTo>
                  <a:lnTo>
                    <a:pt x="1242580" y="395630"/>
                  </a:lnTo>
                  <a:lnTo>
                    <a:pt x="1218196" y="413029"/>
                  </a:lnTo>
                  <a:lnTo>
                    <a:pt x="1220228" y="419735"/>
                  </a:lnTo>
                  <a:lnTo>
                    <a:pt x="1259344" y="390867"/>
                  </a:lnTo>
                  <a:lnTo>
                    <a:pt x="1272095" y="352374"/>
                  </a:lnTo>
                  <a:lnTo>
                    <a:pt x="1272933" y="337197"/>
                  </a:lnTo>
                  <a:close/>
                </a:path>
                <a:path w="1780539" h="419735">
                  <a:moveTo>
                    <a:pt x="1780044" y="211201"/>
                  </a:moveTo>
                  <a:lnTo>
                    <a:pt x="441972" y="211201"/>
                  </a:lnTo>
                  <a:lnTo>
                    <a:pt x="441972" y="223393"/>
                  </a:lnTo>
                  <a:lnTo>
                    <a:pt x="1780044" y="223393"/>
                  </a:lnTo>
                  <a:lnTo>
                    <a:pt x="1780044" y="211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112215" y="5162592"/>
            <a:ext cx="1856105" cy="5353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425"/>
              </a:spcBef>
              <a:tabLst>
                <a:tab pos="478155" algn="l"/>
              </a:tabLst>
            </a:pPr>
            <a:r>
              <a:rPr dirty="0" sz="1400">
                <a:latin typeface="Cambria Math"/>
                <a:cs typeface="Cambria Math"/>
              </a:rPr>
              <a:t>∆𝑦	𝑓</a:t>
            </a:r>
            <a:r>
              <a:rPr dirty="0" sz="1400" spc="30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𝑎</a:t>
            </a:r>
            <a:r>
              <a:rPr dirty="0" sz="1400" spc="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∆𝑥</a:t>
            </a:r>
            <a:r>
              <a:rPr dirty="0" sz="1400" spc="60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−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 spc="15">
                <a:latin typeface="Cambria Math"/>
                <a:cs typeface="Cambria Math"/>
              </a:rPr>
              <a:t>𝑓(𝑎)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  <a:tabLst>
                <a:tab pos="729615" algn="l"/>
              </a:tabLst>
            </a:pPr>
            <a:r>
              <a:rPr dirty="0" sz="1400">
                <a:latin typeface="Cambria Math"/>
                <a:cs typeface="Cambria Math"/>
              </a:rPr>
              <a:t>∆𝑥</a:t>
            </a:r>
            <a:r>
              <a:rPr dirty="0" sz="1400" spc="130">
                <a:latin typeface="Cambria Math"/>
                <a:cs typeface="Cambria Math"/>
              </a:rPr>
              <a:t> </a:t>
            </a:r>
            <a:r>
              <a:rPr dirty="0" baseline="37698" sz="2100">
                <a:latin typeface="Cambria Math"/>
                <a:cs typeface="Cambria Math"/>
              </a:rPr>
              <a:t>=	</a:t>
            </a:r>
            <a:r>
              <a:rPr dirty="0" sz="1400">
                <a:latin typeface="Cambria Math"/>
                <a:cs typeface="Cambria Math"/>
              </a:rPr>
              <a:t>𝑎 +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∆𝑥</a:t>
            </a:r>
            <a:r>
              <a:rPr dirty="0" sz="1400" spc="28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−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𝑎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60268" y="5261483"/>
            <a:ext cx="1338580" cy="223520"/>
          </a:xfrm>
          <a:custGeom>
            <a:avLst/>
            <a:gdLst/>
            <a:ahLst/>
            <a:cxnLst/>
            <a:rect l="l" t="t" r="r" b="b"/>
            <a:pathLst>
              <a:path w="1338579" h="223520">
                <a:moveTo>
                  <a:pt x="174371" y="6731"/>
                </a:moveTo>
                <a:lnTo>
                  <a:pt x="171958" y="0"/>
                </a:lnTo>
                <a:lnTo>
                  <a:pt x="160007" y="4381"/>
                </a:lnTo>
                <a:lnTo>
                  <a:pt x="149504" y="10668"/>
                </a:lnTo>
                <a:lnTo>
                  <a:pt x="122682" y="53530"/>
                </a:lnTo>
                <a:lnTo>
                  <a:pt x="119253" y="82677"/>
                </a:lnTo>
                <a:lnTo>
                  <a:pt x="120103" y="97878"/>
                </a:lnTo>
                <a:lnTo>
                  <a:pt x="132842" y="136398"/>
                </a:lnTo>
                <a:lnTo>
                  <a:pt x="171958" y="165227"/>
                </a:lnTo>
                <a:lnTo>
                  <a:pt x="174117" y="158496"/>
                </a:lnTo>
                <a:lnTo>
                  <a:pt x="164655" y="154355"/>
                </a:lnTo>
                <a:lnTo>
                  <a:pt x="156502" y="148577"/>
                </a:lnTo>
                <a:lnTo>
                  <a:pt x="136817" y="109601"/>
                </a:lnTo>
                <a:lnTo>
                  <a:pt x="134366" y="81788"/>
                </a:lnTo>
                <a:lnTo>
                  <a:pt x="134975" y="67729"/>
                </a:lnTo>
                <a:lnTo>
                  <a:pt x="149682" y="23977"/>
                </a:lnTo>
                <a:lnTo>
                  <a:pt x="164820" y="10883"/>
                </a:lnTo>
                <a:lnTo>
                  <a:pt x="174371" y="6731"/>
                </a:lnTo>
                <a:close/>
              </a:path>
              <a:path w="1338579" h="223520">
                <a:moveTo>
                  <a:pt x="757809" y="82677"/>
                </a:moveTo>
                <a:lnTo>
                  <a:pt x="750138" y="40678"/>
                </a:lnTo>
                <a:lnTo>
                  <a:pt x="717105" y="4381"/>
                </a:lnTo>
                <a:lnTo>
                  <a:pt x="705104" y="0"/>
                </a:lnTo>
                <a:lnTo>
                  <a:pt x="702818" y="6731"/>
                </a:lnTo>
                <a:lnTo>
                  <a:pt x="712355" y="10883"/>
                </a:lnTo>
                <a:lnTo>
                  <a:pt x="720598" y="16624"/>
                </a:lnTo>
                <a:lnTo>
                  <a:pt x="740359" y="54864"/>
                </a:lnTo>
                <a:lnTo>
                  <a:pt x="742823" y="81788"/>
                </a:lnTo>
                <a:lnTo>
                  <a:pt x="742200" y="96367"/>
                </a:lnTo>
                <a:lnTo>
                  <a:pt x="727456" y="141160"/>
                </a:lnTo>
                <a:lnTo>
                  <a:pt x="703072" y="158496"/>
                </a:lnTo>
                <a:lnTo>
                  <a:pt x="705104" y="165227"/>
                </a:lnTo>
                <a:lnTo>
                  <a:pt x="744220" y="136398"/>
                </a:lnTo>
                <a:lnTo>
                  <a:pt x="756970" y="97878"/>
                </a:lnTo>
                <a:lnTo>
                  <a:pt x="757809" y="82677"/>
                </a:lnTo>
                <a:close/>
              </a:path>
              <a:path w="1338579" h="223520">
                <a:moveTo>
                  <a:pt x="1338072" y="211201"/>
                </a:moveTo>
                <a:lnTo>
                  <a:pt x="0" y="211201"/>
                </a:lnTo>
                <a:lnTo>
                  <a:pt x="0" y="223393"/>
                </a:lnTo>
                <a:lnTo>
                  <a:pt x="1338072" y="223393"/>
                </a:lnTo>
                <a:lnTo>
                  <a:pt x="1338072" y="211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952495" y="5162592"/>
            <a:ext cx="1585595" cy="5353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425"/>
              </a:spcBef>
            </a:pPr>
            <a:r>
              <a:rPr dirty="0" sz="1400">
                <a:latin typeface="Cambria Math"/>
                <a:cs typeface="Cambria Math"/>
              </a:rPr>
              <a:t>𝑓</a:t>
            </a:r>
            <a:r>
              <a:rPr dirty="0" sz="1400" spc="30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𝑎</a:t>
            </a:r>
            <a:r>
              <a:rPr dirty="0" sz="1400" spc="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∆𝑥</a:t>
            </a:r>
            <a:r>
              <a:rPr dirty="0" sz="1400" spc="60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− </a:t>
            </a:r>
            <a:r>
              <a:rPr dirty="0" sz="1400" spc="10">
                <a:latin typeface="Cambria Math"/>
                <a:cs typeface="Cambria Math"/>
              </a:rPr>
              <a:t>𝑓(𝑎)</a:t>
            </a:r>
            <a:endParaRPr sz="1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325"/>
              </a:spcBef>
              <a:tabLst>
                <a:tab pos="773430" algn="l"/>
              </a:tabLst>
            </a:pPr>
            <a:r>
              <a:rPr dirty="0" baseline="37698" sz="2100">
                <a:latin typeface="Cambria Math"/>
                <a:cs typeface="Cambria Math"/>
              </a:rPr>
              <a:t>=	</a:t>
            </a:r>
            <a:r>
              <a:rPr dirty="0" sz="1400">
                <a:latin typeface="Cambria Math"/>
                <a:cs typeface="Cambria Math"/>
              </a:rPr>
              <a:t>∆𝑥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882139"/>
            <a:ext cx="960882" cy="18973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38416" y="2199132"/>
            <a:ext cx="2276855" cy="1517903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67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430779" y="2997707"/>
            <a:ext cx="4653280" cy="693420"/>
            <a:chOff x="2430779" y="2997707"/>
            <a:chExt cx="4653280" cy="693420"/>
          </a:xfrm>
        </p:grpSpPr>
        <p:sp>
          <p:nvSpPr>
            <p:cNvPr id="6" name="object 6"/>
            <p:cNvSpPr/>
            <p:nvPr/>
          </p:nvSpPr>
          <p:spPr>
            <a:xfrm>
              <a:off x="2430779" y="2997707"/>
              <a:ext cx="4653280" cy="693420"/>
            </a:xfrm>
            <a:custGeom>
              <a:avLst/>
              <a:gdLst/>
              <a:ahLst/>
              <a:cxnLst/>
              <a:rect l="l" t="t" r="r" b="b"/>
              <a:pathLst>
                <a:path w="4653280" h="693420">
                  <a:moveTo>
                    <a:pt x="4652772" y="0"/>
                  </a:moveTo>
                  <a:lnTo>
                    <a:pt x="0" y="0"/>
                  </a:lnTo>
                  <a:lnTo>
                    <a:pt x="0" y="693420"/>
                  </a:lnTo>
                  <a:lnTo>
                    <a:pt x="4652772" y="693420"/>
                  </a:lnTo>
                  <a:lnTo>
                    <a:pt x="46527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7052" y="3298951"/>
              <a:ext cx="220980" cy="1651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20645" y="3240786"/>
            <a:ext cx="6731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spc="90">
                <a:latin typeface="Cambria Math"/>
                <a:cs typeface="Cambria Math"/>
              </a:rPr>
              <a:t>𝑓</a:t>
            </a:r>
            <a:r>
              <a:rPr dirty="0" baseline="27777" sz="1500" spc="135">
                <a:latin typeface="Cambria Math"/>
                <a:cs typeface="Cambria Math"/>
              </a:rPr>
              <a:t>′ </a:t>
            </a:r>
            <a:r>
              <a:rPr dirty="0" baseline="27777" sz="1500" spc="142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𝑎  </a:t>
            </a:r>
            <a:r>
              <a:rPr dirty="0" sz="1400" spc="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31845" y="3397757"/>
            <a:ext cx="36766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10">
                <a:latin typeface="Cambria Math"/>
                <a:cs typeface="Cambria Math"/>
              </a:rPr>
              <a:t>∆</a:t>
            </a:r>
            <a:r>
              <a:rPr dirty="0" sz="1000" spc="150">
                <a:latin typeface="Cambria Math"/>
                <a:cs typeface="Cambria Math"/>
              </a:rPr>
              <a:t>𝑥</a:t>
            </a:r>
            <a:r>
              <a:rPr dirty="0" sz="1000" spc="20">
                <a:latin typeface="Cambria Math"/>
                <a:cs typeface="Cambria Math"/>
              </a:rPr>
              <a:t>→</a:t>
            </a:r>
            <a:r>
              <a:rPr dirty="0" sz="1000" spc="35"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14369" y="3163315"/>
            <a:ext cx="1338580" cy="223520"/>
          </a:xfrm>
          <a:custGeom>
            <a:avLst/>
            <a:gdLst/>
            <a:ahLst/>
            <a:cxnLst/>
            <a:rect l="l" t="t" r="r" b="b"/>
            <a:pathLst>
              <a:path w="1338579" h="223520">
                <a:moveTo>
                  <a:pt x="174371" y="6604"/>
                </a:moveTo>
                <a:lnTo>
                  <a:pt x="172085" y="0"/>
                </a:lnTo>
                <a:lnTo>
                  <a:pt x="160070" y="4318"/>
                </a:lnTo>
                <a:lnTo>
                  <a:pt x="149567" y="10579"/>
                </a:lnTo>
                <a:lnTo>
                  <a:pt x="122783" y="53428"/>
                </a:lnTo>
                <a:lnTo>
                  <a:pt x="119380" y="82550"/>
                </a:lnTo>
                <a:lnTo>
                  <a:pt x="120205" y="97777"/>
                </a:lnTo>
                <a:lnTo>
                  <a:pt x="132969" y="136271"/>
                </a:lnTo>
                <a:lnTo>
                  <a:pt x="172085" y="165100"/>
                </a:lnTo>
                <a:lnTo>
                  <a:pt x="174117" y="158369"/>
                </a:lnTo>
                <a:lnTo>
                  <a:pt x="164680" y="154228"/>
                </a:lnTo>
                <a:lnTo>
                  <a:pt x="156565" y="148450"/>
                </a:lnTo>
                <a:lnTo>
                  <a:pt x="136842" y="109486"/>
                </a:lnTo>
                <a:lnTo>
                  <a:pt x="134366" y="81661"/>
                </a:lnTo>
                <a:lnTo>
                  <a:pt x="134975" y="67614"/>
                </a:lnTo>
                <a:lnTo>
                  <a:pt x="149796" y="23863"/>
                </a:lnTo>
                <a:lnTo>
                  <a:pt x="164846" y="10807"/>
                </a:lnTo>
                <a:lnTo>
                  <a:pt x="174371" y="6604"/>
                </a:lnTo>
                <a:close/>
              </a:path>
              <a:path w="1338579" h="223520">
                <a:moveTo>
                  <a:pt x="757936" y="82550"/>
                </a:moveTo>
                <a:lnTo>
                  <a:pt x="750214" y="40601"/>
                </a:lnTo>
                <a:lnTo>
                  <a:pt x="717169" y="4318"/>
                </a:lnTo>
                <a:lnTo>
                  <a:pt x="705231" y="0"/>
                </a:lnTo>
                <a:lnTo>
                  <a:pt x="702818" y="6604"/>
                </a:lnTo>
                <a:lnTo>
                  <a:pt x="712406" y="10807"/>
                </a:lnTo>
                <a:lnTo>
                  <a:pt x="720636" y="16548"/>
                </a:lnTo>
                <a:lnTo>
                  <a:pt x="740410" y="54787"/>
                </a:lnTo>
                <a:lnTo>
                  <a:pt x="742823" y="81661"/>
                </a:lnTo>
                <a:lnTo>
                  <a:pt x="742200" y="96240"/>
                </a:lnTo>
                <a:lnTo>
                  <a:pt x="727519" y="141033"/>
                </a:lnTo>
                <a:lnTo>
                  <a:pt x="703199" y="158369"/>
                </a:lnTo>
                <a:lnTo>
                  <a:pt x="705231" y="165100"/>
                </a:lnTo>
                <a:lnTo>
                  <a:pt x="744347" y="136271"/>
                </a:lnTo>
                <a:lnTo>
                  <a:pt x="757072" y="97777"/>
                </a:lnTo>
                <a:lnTo>
                  <a:pt x="757936" y="82550"/>
                </a:lnTo>
                <a:close/>
              </a:path>
              <a:path w="1338579" h="223520">
                <a:moveTo>
                  <a:pt x="1338072" y="211074"/>
                </a:moveTo>
                <a:lnTo>
                  <a:pt x="0" y="211074"/>
                </a:lnTo>
                <a:lnTo>
                  <a:pt x="0" y="223266"/>
                </a:lnTo>
                <a:lnTo>
                  <a:pt x="1338072" y="223266"/>
                </a:lnTo>
                <a:lnTo>
                  <a:pt x="1338072" y="211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73802" y="3397757"/>
            <a:ext cx="29400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100">
                <a:latin typeface="Cambria Math"/>
                <a:cs typeface="Cambria Math"/>
              </a:rPr>
              <a:t>ℎ</a:t>
            </a:r>
            <a:r>
              <a:rPr dirty="0" sz="1000" spc="20">
                <a:latin typeface="Cambria Math"/>
                <a:cs typeface="Cambria Math"/>
              </a:rPr>
              <a:t>→</a:t>
            </a:r>
            <a:r>
              <a:rPr dirty="0" sz="1000" spc="35"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82793" y="3163315"/>
            <a:ext cx="1233170" cy="223520"/>
          </a:xfrm>
          <a:custGeom>
            <a:avLst/>
            <a:gdLst/>
            <a:ahLst/>
            <a:cxnLst/>
            <a:rect l="l" t="t" r="r" b="b"/>
            <a:pathLst>
              <a:path w="1233170" h="223520">
                <a:moveTo>
                  <a:pt x="174371" y="6604"/>
                </a:moveTo>
                <a:lnTo>
                  <a:pt x="172085" y="0"/>
                </a:lnTo>
                <a:lnTo>
                  <a:pt x="160070" y="4318"/>
                </a:lnTo>
                <a:lnTo>
                  <a:pt x="149567" y="10579"/>
                </a:lnTo>
                <a:lnTo>
                  <a:pt x="122783" y="53428"/>
                </a:lnTo>
                <a:lnTo>
                  <a:pt x="119380" y="82550"/>
                </a:lnTo>
                <a:lnTo>
                  <a:pt x="120205" y="97777"/>
                </a:lnTo>
                <a:lnTo>
                  <a:pt x="132969" y="136271"/>
                </a:lnTo>
                <a:lnTo>
                  <a:pt x="172085" y="165100"/>
                </a:lnTo>
                <a:lnTo>
                  <a:pt x="174117" y="158369"/>
                </a:lnTo>
                <a:lnTo>
                  <a:pt x="164680" y="154228"/>
                </a:lnTo>
                <a:lnTo>
                  <a:pt x="156565" y="148450"/>
                </a:lnTo>
                <a:lnTo>
                  <a:pt x="136842" y="109486"/>
                </a:lnTo>
                <a:lnTo>
                  <a:pt x="134366" y="81661"/>
                </a:lnTo>
                <a:lnTo>
                  <a:pt x="134975" y="67614"/>
                </a:lnTo>
                <a:lnTo>
                  <a:pt x="149796" y="23863"/>
                </a:lnTo>
                <a:lnTo>
                  <a:pt x="164846" y="10807"/>
                </a:lnTo>
                <a:lnTo>
                  <a:pt x="174371" y="6604"/>
                </a:lnTo>
                <a:close/>
              </a:path>
              <a:path w="1233170" h="223520">
                <a:moveTo>
                  <a:pt x="652780" y="82550"/>
                </a:moveTo>
                <a:lnTo>
                  <a:pt x="645058" y="40601"/>
                </a:lnTo>
                <a:lnTo>
                  <a:pt x="612013" y="4318"/>
                </a:lnTo>
                <a:lnTo>
                  <a:pt x="600075" y="0"/>
                </a:lnTo>
                <a:lnTo>
                  <a:pt x="597662" y="6604"/>
                </a:lnTo>
                <a:lnTo>
                  <a:pt x="607250" y="10807"/>
                </a:lnTo>
                <a:lnTo>
                  <a:pt x="615480" y="16548"/>
                </a:lnTo>
                <a:lnTo>
                  <a:pt x="635254" y="54787"/>
                </a:lnTo>
                <a:lnTo>
                  <a:pt x="637667" y="81661"/>
                </a:lnTo>
                <a:lnTo>
                  <a:pt x="637044" y="96240"/>
                </a:lnTo>
                <a:lnTo>
                  <a:pt x="622363" y="141033"/>
                </a:lnTo>
                <a:lnTo>
                  <a:pt x="598043" y="158369"/>
                </a:lnTo>
                <a:lnTo>
                  <a:pt x="600075" y="165100"/>
                </a:lnTo>
                <a:lnTo>
                  <a:pt x="639191" y="136271"/>
                </a:lnTo>
                <a:lnTo>
                  <a:pt x="651916" y="97777"/>
                </a:lnTo>
                <a:lnTo>
                  <a:pt x="652780" y="82550"/>
                </a:lnTo>
                <a:close/>
              </a:path>
              <a:path w="1233170" h="223520">
                <a:moveTo>
                  <a:pt x="1232916" y="211074"/>
                </a:moveTo>
                <a:lnTo>
                  <a:pt x="0" y="211074"/>
                </a:lnTo>
                <a:lnTo>
                  <a:pt x="0" y="223266"/>
                </a:lnTo>
                <a:lnTo>
                  <a:pt x="1232916" y="223266"/>
                </a:lnTo>
                <a:lnTo>
                  <a:pt x="1232916" y="211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380613" y="3105150"/>
            <a:ext cx="2807335" cy="37528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 marR="5080" indent="321310">
              <a:lnSpc>
                <a:spcPct val="63600"/>
              </a:lnSpc>
              <a:spcBef>
                <a:spcPts val="715"/>
              </a:spcBef>
              <a:tabLst>
                <a:tab pos="1722755" algn="l"/>
                <a:tab pos="2202815" algn="l"/>
              </a:tabLst>
            </a:pPr>
            <a:r>
              <a:rPr dirty="0" sz="1400">
                <a:latin typeface="Cambria Math"/>
                <a:cs typeface="Cambria Math"/>
              </a:rPr>
              <a:t>𝑓</a:t>
            </a:r>
            <a:r>
              <a:rPr dirty="0" sz="1400" spc="3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𝑎</a:t>
            </a:r>
            <a:r>
              <a:rPr dirty="0" sz="1400" spc="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 ∆𝑥  </a:t>
            </a:r>
            <a:r>
              <a:rPr dirty="0" sz="1400" spc="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−</a:t>
            </a:r>
            <a:r>
              <a:rPr dirty="0" sz="1400" spc="5">
                <a:latin typeface="Cambria Math"/>
                <a:cs typeface="Cambria Math"/>
              </a:rPr>
              <a:t> </a:t>
            </a:r>
            <a:r>
              <a:rPr dirty="0" sz="1400" spc="10">
                <a:latin typeface="Cambria Math"/>
                <a:cs typeface="Cambria Math"/>
              </a:rPr>
              <a:t>𝑓(𝑎)		</a:t>
            </a:r>
            <a:r>
              <a:rPr dirty="0" sz="1400">
                <a:latin typeface="Cambria Math"/>
                <a:cs typeface="Cambria Math"/>
              </a:rPr>
              <a:t>𝑓</a:t>
            </a:r>
            <a:r>
              <a:rPr dirty="0" sz="1400" spc="28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𝑎 +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ℎ </a:t>
            </a:r>
            <a:r>
              <a:rPr dirty="0" sz="1400" spc="-295">
                <a:latin typeface="Cambria Math"/>
                <a:cs typeface="Cambria Math"/>
              </a:rPr>
              <a:t> </a:t>
            </a:r>
            <a:r>
              <a:rPr dirty="0" sz="1400" spc="-5">
                <a:latin typeface="Cambria Math"/>
                <a:cs typeface="Cambria Math"/>
              </a:rPr>
              <a:t>lim	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170">
                <a:latin typeface="Cambria Math"/>
                <a:cs typeface="Cambria Math"/>
              </a:rPr>
              <a:t> </a:t>
            </a:r>
            <a:r>
              <a:rPr dirty="0" sz="1400" spc="-5">
                <a:latin typeface="Cambria Math"/>
                <a:cs typeface="Cambria Math"/>
              </a:rPr>
              <a:t>lim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8117" y="3105150"/>
            <a:ext cx="5524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mbria Math"/>
                <a:cs typeface="Cambria Math"/>
              </a:rPr>
              <a:t>−</a:t>
            </a:r>
            <a:r>
              <a:rPr dirty="0" sz="1400" spc="-50">
                <a:latin typeface="Cambria Math"/>
                <a:cs typeface="Cambria Math"/>
              </a:rPr>
              <a:t> </a:t>
            </a:r>
            <a:r>
              <a:rPr dirty="0" sz="1400" spc="10">
                <a:latin typeface="Cambria Math"/>
                <a:cs typeface="Cambria Math"/>
              </a:rPr>
              <a:t>𝑓(𝑎)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67580" y="3359657"/>
            <a:ext cx="199326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80870" algn="l"/>
              </a:tabLst>
            </a:pPr>
            <a:r>
              <a:rPr dirty="0" sz="1400">
                <a:latin typeface="Cambria Math"/>
                <a:cs typeface="Cambria Math"/>
              </a:rPr>
              <a:t>∆𝑥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>
                <a:latin typeface="Cambria Math"/>
                <a:cs typeface="Cambria Math"/>
              </a:rPr>
              <a:t>ℎ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127" y="1793748"/>
            <a:ext cx="6927342" cy="205968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28434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5.2.</a:t>
            </a:r>
            <a:r>
              <a:rPr dirty="0" spc="-20"/>
              <a:t> </a:t>
            </a:r>
            <a:r>
              <a:rPr dirty="0" spc="-5"/>
              <a:t>Differential</a:t>
            </a:r>
            <a:r>
              <a:rPr dirty="0" spc="-20"/>
              <a:t> </a:t>
            </a:r>
            <a:r>
              <a:rPr dirty="0" spc="-5"/>
              <a:t>Coefficient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Derivatives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423416"/>
            <a:ext cx="2282190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3127" y="1831848"/>
            <a:ext cx="5602605" cy="1438275"/>
            <a:chOff x="643127" y="1831848"/>
            <a:chExt cx="5602605" cy="1438275"/>
          </a:xfrm>
        </p:grpSpPr>
        <p:sp>
          <p:nvSpPr>
            <p:cNvPr id="6" name="object 6"/>
            <p:cNvSpPr/>
            <p:nvPr/>
          </p:nvSpPr>
          <p:spPr>
            <a:xfrm>
              <a:off x="3582923" y="2133600"/>
              <a:ext cx="2662555" cy="791210"/>
            </a:xfrm>
            <a:custGeom>
              <a:avLst/>
              <a:gdLst/>
              <a:ahLst/>
              <a:cxnLst/>
              <a:rect l="l" t="t" r="r" b="b"/>
              <a:pathLst>
                <a:path w="2662554" h="791210">
                  <a:moveTo>
                    <a:pt x="2662428" y="0"/>
                  </a:moveTo>
                  <a:lnTo>
                    <a:pt x="0" y="0"/>
                  </a:lnTo>
                  <a:lnTo>
                    <a:pt x="0" y="790955"/>
                  </a:lnTo>
                  <a:lnTo>
                    <a:pt x="2662428" y="790955"/>
                  </a:lnTo>
                  <a:lnTo>
                    <a:pt x="26624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127" y="1831848"/>
              <a:ext cx="5510022" cy="143789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28434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5.2.</a:t>
            </a:r>
            <a:r>
              <a:rPr dirty="0" spc="-20"/>
              <a:t> </a:t>
            </a:r>
            <a:r>
              <a:rPr dirty="0" spc="-5"/>
              <a:t>Differential</a:t>
            </a:r>
            <a:r>
              <a:rPr dirty="0" spc="-20"/>
              <a:t> </a:t>
            </a:r>
            <a:r>
              <a:rPr dirty="0" spc="-5"/>
              <a:t>Coefficient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Derivatives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680" y="1423416"/>
            <a:ext cx="2282190" cy="15773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152394" y="3440429"/>
            <a:ext cx="2633980" cy="2833370"/>
            <a:chOff x="3152394" y="3440429"/>
            <a:chExt cx="2633980" cy="2833370"/>
          </a:xfrm>
        </p:grpSpPr>
        <p:sp>
          <p:nvSpPr>
            <p:cNvPr id="12" name="object 12"/>
            <p:cNvSpPr/>
            <p:nvPr/>
          </p:nvSpPr>
          <p:spPr>
            <a:xfrm>
              <a:off x="4216146" y="5737097"/>
              <a:ext cx="894715" cy="134620"/>
            </a:xfrm>
            <a:custGeom>
              <a:avLst/>
              <a:gdLst/>
              <a:ahLst/>
              <a:cxnLst/>
              <a:rect l="l" t="t" r="r" b="b"/>
              <a:pathLst>
                <a:path w="894714" h="134620">
                  <a:moveTo>
                    <a:pt x="0" y="0"/>
                  </a:moveTo>
                  <a:lnTo>
                    <a:pt x="46888" y="27522"/>
                  </a:lnTo>
                  <a:lnTo>
                    <a:pt x="93472" y="53899"/>
                  </a:lnTo>
                  <a:lnTo>
                    <a:pt x="139446" y="77981"/>
                  </a:lnTo>
                  <a:lnTo>
                    <a:pt x="184505" y="98624"/>
                  </a:lnTo>
                  <a:lnTo>
                    <a:pt x="228345" y="114680"/>
                  </a:lnTo>
                  <a:lnTo>
                    <a:pt x="280935" y="126927"/>
                  </a:lnTo>
                  <a:lnTo>
                    <a:pt x="331501" y="132205"/>
                  </a:lnTo>
                  <a:lnTo>
                    <a:pt x="381257" y="133499"/>
                  </a:lnTo>
                  <a:lnTo>
                    <a:pt x="431418" y="133794"/>
                  </a:lnTo>
                  <a:lnTo>
                    <a:pt x="482633" y="134045"/>
                  </a:lnTo>
                  <a:lnTo>
                    <a:pt x="534146" y="132602"/>
                  </a:lnTo>
                  <a:lnTo>
                    <a:pt x="585063" y="128570"/>
                  </a:lnTo>
                  <a:lnTo>
                    <a:pt x="634491" y="121056"/>
                  </a:lnTo>
                  <a:lnTo>
                    <a:pt x="684355" y="108414"/>
                  </a:lnTo>
                  <a:lnTo>
                    <a:pt x="734409" y="91589"/>
                  </a:lnTo>
                  <a:lnTo>
                    <a:pt x="780510" y="73568"/>
                  </a:lnTo>
                  <a:lnTo>
                    <a:pt x="818514" y="57340"/>
                  </a:lnTo>
                  <a:lnTo>
                    <a:pt x="872791" y="24690"/>
                  </a:lnTo>
                  <a:lnTo>
                    <a:pt x="894588" y="6375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52394" y="3440429"/>
              <a:ext cx="2633980" cy="2833370"/>
            </a:xfrm>
            <a:custGeom>
              <a:avLst/>
              <a:gdLst/>
              <a:ahLst/>
              <a:cxnLst/>
              <a:rect l="l" t="t" r="r" b="b"/>
              <a:pathLst>
                <a:path w="2633979" h="2833370">
                  <a:moveTo>
                    <a:pt x="2633599" y="2292096"/>
                  </a:moveTo>
                  <a:lnTo>
                    <a:pt x="2604643" y="2277618"/>
                  </a:lnTo>
                  <a:lnTo>
                    <a:pt x="2546731" y="2248662"/>
                  </a:lnTo>
                  <a:lnTo>
                    <a:pt x="2546731" y="2277618"/>
                  </a:lnTo>
                  <a:lnTo>
                    <a:pt x="415290" y="2277618"/>
                  </a:lnTo>
                  <a:lnTo>
                    <a:pt x="415290" y="86868"/>
                  </a:lnTo>
                  <a:lnTo>
                    <a:pt x="444246" y="86868"/>
                  </a:lnTo>
                  <a:lnTo>
                    <a:pt x="437007" y="72390"/>
                  </a:lnTo>
                  <a:lnTo>
                    <a:pt x="400812" y="0"/>
                  </a:lnTo>
                  <a:lnTo>
                    <a:pt x="357378" y="86868"/>
                  </a:lnTo>
                  <a:lnTo>
                    <a:pt x="386334" y="86868"/>
                  </a:lnTo>
                  <a:lnTo>
                    <a:pt x="386334" y="2277618"/>
                  </a:lnTo>
                  <a:lnTo>
                    <a:pt x="0" y="2277618"/>
                  </a:lnTo>
                  <a:lnTo>
                    <a:pt x="0" y="2306574"/>
                  </a:lnTo>
                  <a:lnTo>
                    <a:pt x="386334" y="2306574"/>
                  </a:lnTo>
                  <a:lnTo>
                    <a:pt x="386334" y="2832900"/>
                  </a:lnTo>
                  <a:lnTo>
                    <a:pt x="415290" y="2832900"/>
                  </a:lnTo>
                  <a:lnTo>
                    <a:pt x="415290" y="2306574"/>
                  </a:lnTo>
                  <a:lnTo>
                    <a:pt x="2546731" y="2306574"/>
                  </a:lnTo>
                  <a:lnTo>
                    <a:pt x="2546731" y="2335530"/>
                  </a:lnTo>
                  <a:lnTo>
                    <a:pt x="2604643" y="2306574"/>
                  </a:lnTo>
                  <a:lnTo>
                    <a:pt x="2633599" y="2292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356609" y="3452240"/>
            <a:ext cx="1257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mbria Math"/>
                <a:cs typeface="Cambria Math"/>
              </a:rPr>
              <a:t>𝑦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9365" y="5729427"/>
            <a:ext cx="1435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3395" y="5708396"/>
            <a:ext cx="1206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2529" y="5761126"/>
            <a:ext cx="467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+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∆𝑥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58284" y="5777484"/>
            <a:ext cx="189230" cy="184785"/>
          </a:xfrm>
          <a:custGeom>
            <a:avLst/>
            <a:gdLst/>
            <a:ahLst/>
            <a:cxnLst/>
            <a:rect l="l" t="t" r="r" b="b"/>
            <a:pathLst>
              <a:path w="189229" h="184785">
                <a:moveTo>
                  <a:pt x="188975" y="0"/>
                </a:moveTo>
                <a:lnTo>
                  <a:pt x="0" y="0"/>
                </a:lnTo>
                <a:lnTo>
                  <a:pt x="0" y="184403"/>
                </a:lnTo>
                <a:lnTo>
                  <a:pt x="188975" y="184403"/>
                </a:lnTo>
                <a:lnTo>
                  <a:pt x="1889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553203" y="5761735"/>
            <a:ext cx="1981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latin typeface="Cambria Math"/>
                <a:cs typeface="Cambria Math"/>
              </a:rPr>
              <a:t>∆</a:t>
            </a:r>
            <a:r>
              <a:rPr dirty="0" sz="120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19498" y="5730951"/>
            <a:ext cx="1250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𝑎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15130" y="3831335"/>
            <a:ext cx="1794256" cy="187722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656457" y="4706873"/>
            <a:ext cx="602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latin typeface="Cambria Math"/>
                <a:cs typeface="Cambria Math"/>
              </a:rPr>
              <a:t>(</a:t>
            </a:r>
            <a:r>
              <a:rPr dirty="0" sz="1200" spc="15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,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𝑓 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𝑎  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64607" y="3663772"/>
            <a:ext cx="6134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𝑦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=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 spc="15">
                <a:latin typeface="Cambria Math"/>
                <a:cs typeface="Cambria Math"/>
              </a:rPr>
              <a:t>𝑓(𝑥)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65165" y="4089654"/>
            <a:ext cx="1350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(𝑎 +</a:t>
            </a:r>
            <a:r>
              <a:rPr dirty="0" sz="1200" spc="5">
                <a:latin typeface="Cambria Math"/>
                <a:cs typeface="Cambria Math"/>
              </a:rPr>
              <a:t> ∆𝑥,</a:t>
            </a:r>
            <a:r>
              <a:rPr dirty="0" sz="1200" spc="-65">
                <a:latin typeface="Cambria Math"/>
                <a:cs typeface="Cambria Math"/>
              </a:rPr>
              <a:t> </a:t>
            </a:r>
            <a:r>
              <a:rPr dirty="0" sz="1200" spc="10">
                <a:latin typeface="Cambria Math"/>
                <a:cs typeface="Cambria Math"/>
              </a:rPr>
              <a:t>𝑓(𝑎</a:t>
            </a:r>
            <a:r>
              <a:rPr dirty="0" sz="1200">
                <a:latin typeface="Cambria Math"/>
                <a:cs typeface="Cambria Math"/>
              </a:rPr>
              <a:t> +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 spc="10">
                <a:latin typeface="Cambria Math"/>
                <a:cs typeface="Cambria Math"/>
              </a:rPr>
              <a:t>∆𝑥))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30088" y="4751959"/>
            <a:ext cx="14973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8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dirty="0" sz="1300" spc="-204">
                <a:solidFill>
                  <a:srgbClr val="FF0000"/>
                </a:solidFill>
                <a:latin typeface="Trebuchet MS"/>
                <a:cs typeface="Trebuchet MS"/>
              </a:rPr>
              <a:t>lop</a:t>
            </a:r>
            <a:r>
              <a:rPr dirty="0" sz="1300" spc="-235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dirty="0" sz="1300" spc="-1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FF0000"/>
                </a:solidFill>
                <a:latin typeface="Trebuchet MS"/>
                <a:cs typeface="Trebuchet MS"/>
              </a:rPr>
              <a:t>he</a:t>
            </a:r>
            <a:r>
              <a:rPr dirty="0" sz="1300" spc="-14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300" spc="-33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dirty="0" sz="1300" spc="-195">
                <a:solidFill>
                  <a:srgbClr val="FF0000"/>
                </a:solidFill>
                <a:latin typeface="Trebuchet MS"/>
                <a:cs typeface="Trebuchet MS"/>
              </a:rPr>
              <a:t>ng</a:t>
            </a:r>
            <a:r>
              <a:rPr dirty="0" sz="1300" spc="-225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dirty="0" sz="1300" spc="-17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dirty="0" sz="1300" spc="-265">
                <a:solidFill>
                  <a:srgbClr val="FF0000"/>
                </a:solidFill>
                <a:latin typeface="Trebuchet MS"/>
                <a:cs typeface="Trebuchet MS"/>
              </a:rPr>
              <a:t>:</a:t>
            </a:r>
            <a:r>
              <a:rPr dirty="0" sz="1300" spc="-1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0000"/>
                </a:solidFill>
                <a:latin typeface="Cambria Math"/>
                <a:cs typeface="Cambria Math"/>
              </a:rPr>
              <a:t>𝑓</a:t>
            </a:r>
            <a:r>
              <a:rPr dirty="0" sz="1300" spc="5">
                <a:solidFill>
                  <a:srgbClr val="FF0000"/>
                </a:solidFill>
                <a:latin typeface="Cambria Math"/>
                <a:cs typeface="Cambria Math"/>
              </a:rPr>
              <a:t>’</a:t>
            </a:r>
            <a:r>
              <a:rPr dirty="0" sz="1300" spc="-5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r>
              <a:rPr dirty="0" sz="1300" spc="15">
                <a:solidFill>
                  <a:srgbClr val="FF0000"/>
                </a:solidFill>
                <a:latin typeface="Cambria Math"/>
                <a:cs typeface="Cambria Math"/>
              </a:rPr>
              <a:t>𝑎</a:t>
            </a:r>
            <a:r>
              <a:rPr dirty="0" sz="1300" spc="-5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02811" y="3698607"/>
            <a:ext cx="1172845" cy="73723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560"/>
              </a:spcBef>
            </a:pPr>
            <a:r>
              <a:rPr dirty="0" sz="1300" spc="-10">
                <a:latin typeface="Calibri"/>
                <a:cs typeface="Calibri"/>
              </a:rPr>
              <a:t>S</a:t>
            </a:r>
            <a:r>
              <a:rPr dirty="0" sz="1300" spc="-10">
                <a:latin typeface="Cambria Math"/>
                <a:cs typeface="Cambria Math"/>
              </a:rPr>
              <a:t>lope</a:t>
            </a:r>
            <a:r>
              <a:rPr dirty="0" sz="1300" spc="50">
                <a:latin typeface="Cambria Math"/>
                <a:cs typeface="Cambria Math"/>
              </a:rPr>
              <a:t> </a:t>
            </a:r>
            <a:r>
              <a:rPr dirty="0" sz="1300" spc="-5">
                <a:latin typeface="Cambria Math"/>
                <a:cs typeface="Cambria Math"/>
              </a:rPr>
              <a:t>∶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latin typeface="Cambria Math"/>
                <a:cs typeface="Cambria Math"/>
              </a:rPr>
              <a:t>𝑓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𝑎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+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∆𝑥</a:t>
            </a:r>
            <a:r>
              <a:rPr dirty="0" sz="1200" spc="4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−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15">
                <a:latin typeface="Cambria Math"/>
                <a:cs typeface="Cambria Math"/>
              </a:rPr>
              <a:t>𝑓(𝑎)</a:t>
            </a:r>
            <a:endParaRPr sz="1200">
              <a:latin typeface="Cambria Math"/>
              <a:cs typeface="Cambria Math"/>
            </a:endParaRPr>
          </a:p>
          <a:p>
            <a:pPr marL="497205">
              <a:lnSpc>
                <a:spcPct val="100000"/>
              </a:lnSpc>
              <a:spcBef>
                <a:spcPts val="275"/>
              </a:spcBef>
            </a:pPr>
            <a:r>
              <a:rPr dirty="0" sz="1200">
                <a:latin typeface="Cambria Math"/>
                <a:cs typeface="Cambria Math"/>
              </a:rPr>
              <a:t>∆𝑥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67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32459" y="1805939"/>
            <a:ext cx="5831205" cy="1530350"/>
            <a:chOff x="632459" y="1805939"/>
            <a:chExt cx="5831205" cy="1530350"/>
          </a:xfrm>
        </p:grpSpPr>
        <p:sp>
          <p:nvSpPr>
            <p:cNvPr id="6" name="object 6"/>
            <p:cNvSpPr/>
            <p:nvPr/>
          </p:nvSpPr>
          <p:spPr>
            <a:xfrm>
              <a:off x="3294887" y="2555747"/>
              <a:ext cx="3168650" cy="780415"/>
            </a:xfrm>
            <a:custGeom>
              <a:avLst/>
              <a:gdLst/>
              <a:ahLst/>
              <a:cxnLst/>
              <a:rect l="l" t="t" r="r" b="b"/>
              <a:pathLst>
                <a:path w="3168650" h="780414">
                  <a:moveTo>
                    <a:pt x="3168395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3168395" y="780288"/>
                  </a:lnTo>
                  <a:lnTo>
                    <a:pt x="31683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59" y="1805939"/>
              <a:ext cx="5596890" cy="134035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4284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5.2.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Differential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Coefficient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Derivatives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680" y="1423416"/>
            <a:ext cx="2282190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3067" y="6524434"/>
            <a:ext cx="1119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036" y="3896867"/>
            <a:ext cx="3943350" cy="14455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61788" y="3895344"/>
            <a:ext cx="3812286" cy="10431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8032" y="3218688"/>
            <a:ext cx="7020306" cy="377189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40663" y="3154679"/>
            <a:ext cx="4898390" cy="1687195"/>
          </a:xfrm>
          <a:custGeom>
            <a:avLst/>
            <a:gdLst/>
            <a:ahLst/>
            <a:cxnLst/>
            <a:rect l="l" t="t" r="r" b="b"/>
            <a:pathLst>
              <a:path w="4898390" h="1687195">
                <a:moveTo>
                  <a:pt x="4898136" y="0"/>
                </a:moveTo>
                <a:lnTo>
                  <a:pt x="0" y="0"/>
                </a:lnTo>
                <a:lnTo>
                  <a:pt x="0" y="1687068"/>
                </a:lnTo>
                <a:lnTo>
                  <a:pt x="4898136" y="1687068"/>
                </a:lnTo>
                <a:lnTo>
                  <a:pt x="489813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2588514" cy="23700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404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5.3.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Differential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Method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555" y="2513076"/>
            <a:ext cx="5863590" cy="20932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871472"/>
            <a:ext cx="868756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3127" y="1804403"/>
            <a:ext cx="4308475" cy="1283335"/>
            <a:chOff x="643127" y="1804403"/>
            <a:chExt cx="4308475" cy="1283335"/>
          </a:xfrm>
        </p:grpSpPr>
        <p:sp>
          <p:nvSpPr>
            <p:cNvPr id="6" name="object 6"/>
            <p:cNvSpPr/>
            <p:nvPr/>
          </p:nvSpPr>
          <p:spPr>
            <a:xfrm>
              <a:off x="783335" y="2133599"/>
              <a:ext cx="4168140" cy="954405"/>
            </a:xfrm>
            <a:custGeom>
              <a:avLst/>
              <a:gdLst/>
              <a:ahLst/>
              <a:cxnLst/>
              <a:rect l="l" t="t" r="r" b="b"/>
              <a:pathLst>
                <a:path w="4168140" h="954405">
                  <a:moveTo>
                    <a:pt x="4168140" y="0"/>
                  </a:moveTo>
                  <a:lnTo>
                    <a:pt x="0" y="0"/>
                  </a:lnTo>
                  <a:lnTo>
                    <a:pt x="0" y="954024"/>
                  </a:lnTo>
                  <a:lnTo>
                    <a:pt x="4168140" y="954024"/>
                  </a:lnTo>
                  <a:lnTo>
                    <a:pt x="41681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127" y="1804403"/>
              <a:ext cx="3175254" cy="113920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2404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5.3.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Differential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Method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680" y="1423416"/>
            <a:ext cx="2346198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65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7031" y="1827276"/>
            <a:ext cx="2265426" cy="22021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2404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5.3.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Differential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Method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680" y="1423416"/>
            <a:ext cx="2541270" cy="15773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73023" y="2208276"/>
            <a:ext cx="8780145" cy="2562225"/>
            <a:chOff x="573023" y="2208276"/>
            <a:chExt cx="8780145" cy="256222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7258" y="2324085"/>
              <a:ext cx="8556385" cy="234663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7595" y="2212848"/>
              <a:ext cx="8770620" cy="2552700"/>
            </a:xfrm>
            <a:custGeom>
              <a:avLst/>
              <a:gdLst/>
              <a:ahLst/>
              <a:cxnLst/>
              <a:rect l="l" t="t" r="r" b="b"/>
              <a:pathLst>
                <a:path w="8770620" h="2552700">
                  <a:moveTo>
                    <a:pt x="0" y="2552700"/>
                  </a:moveTo>
                  <a:lnTo>
                    <a:pt x="8770620" y="2552700"/>
                  </a:lnTo>
                  <a:lnTo>
                    <a:pt x="877062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006851" y="2758439"/>
            <a:ext cx="2470785" cy="2000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50" spc="-35" i="1">
                <a:solidFill>
                  <a:srgbClr val="037394"/>
                </a:solidFill>
                <a:latin typeface="Trebuchet MS"/>
                <a:cs typeface="Trebuchet MS"/>
              </a:rPr>
              <a:t>#</a:t>
            </a:r>
            <a:r>
              <a:rPr dirty="0" sz="1350" spc="-160" i="1">
                <a:solidFill>
                  <a:srgbClr val="037394"/>
                </a:solidFill>
                <a:latin typeface="Trebuchet MS"/>
                <a:cs typeface="Trebuchet MS"/>
              </a:rPr>
              <a:t> </a:t>
            </a:r>
            <a:r>
              <a:rPr dirty="0" sz="1350" spc="-330" i="1">
                <a:solidFill>
                  <a:srgbClr val="037394"/>
                </a:solidFill>
                <a:latin typeface="Trebuchet MS"/>
                <a:cs typeface="Trebuchet MS"/>
              </a:rPr>
              <a:t>U</a:t>
            </a:r>
            <a:r>
              <a:rPr dirty="0" sz="1350" spc="-60" i="1">
                <a:solidFill>
                  <a:srgbClr val="037394"/>
                </a:solidFill>
                <a:latin typeface="Trebuchet MS"/>
                <a:cs typeface="Trebuchet MS"/>
              </a:rPr>
              <a:t>s</a:t>
            </a:r>
            <a:r>
              <a:rPr dirty="0" sz="1350" spc="-245" i="1">
                <a:solidFill>
                  <a:srgbClr val="037394"/>
                </a:solidFill>
                <a:latin typeface="Trebuchet MS"/>
                <a:cs typeface="Trebuchet MS"/>
              </a:rPr>
              <a:t>e</a:t>
            </a:r>
            <a:r>
              <a:rPr dirty="0" sz="1350" spc="-160" i="1">
                <a:solidFill>
                  <a:srgbClr val="037394"/>
                </a:solidFill>
                <a:latin typeface="Trebuchet MS"/>
                <a:cs typeface="Trebuchet MS"/>
              </a:rPr>
              <a:t> </a:t>
            </a:r>
            <a:r>
              <a:rPr dirty="0" sz="1350" spc="-250" i="1">
                <a:solidFill>
                  <a:srgbClr val="037394"/>
                </a:solidFill>
                <a:latin typeface="Trebuchet MS"/>
                <a:cs typeface="Trebuchet MS"/>
              </a:rPr>
              <a:t>t</a:t>
            </a:r>
            <a:r>
              <a:rPr dirty="0" sz="1350" spc="-254" i="1">
                <a:solidFill>
                  <a:srgbClr val="037394"/>
                </a:solidFill>
                <a:latin typeface="Trebuchet MS"/>
                <a:cs typeface="Trebuchet MS"/>
              </a:rPr>
              <a:t>he</a:t>
            </a:r>
            <a:r>
              <a:rPr dirty="0" sz="1350" spc="-160" i="1">
                <a:solidFill>
                  <a:srgbClr val="037394"/>
                </a:solidFill>
                <a:latin typeface="Trebuchet MS"/>
                <a:cs typeface="Trebuchet MS"/>
              </a:rPr>
              <a:t> </a:t>
            </a:r>
            <a:r>
              <a:rPr dirty="0" sz="1350" spc="-175" i="1">
                <a:solidFill>
                  <a:srgbClr val="037394"/>
                </a:solidFill>
                <a:latin typeface="Trebuchet MS"/>
                <a:cs typeface="Trebuchet MS"/>
              </a:rPr>
              <a:t>l</a:t>
            </a:r>
            <a:r>
              <a:rPr dirty="0" sz="1350" spc="-280" i="1">
                <a:solidFill>
                  <a:srgbClr val="037394"/>
                </a:solidFill>
                <a:latin typeface="Trebuchet MS"/>
                <a:cs typeface="Trebuchet MS"/>
              </a:rPr>
              <a:t>e</a:t>
            </a:r>
            <a:r>
              <a:rPr dirty="0" sz="1350" spc="-250" i="1">
                <a:solidFill>
                  <a:srgbClr val="037394"/>
                </a:solidFill>
                <a:latin typeface="Trebuchet MS"/>
                <a:cs typeface="Trebuchet MS"/>
              </a:rPr>
              <a:t>tt</a:t>
            </a:r>
            <a:r>
              <a:rPr dirty="0" sz="1350" spc="-240" i="1">
                <a:solidFill>
                  <a:srgbClr val="037394"/>
                </a:solidFill>
                <a:latin typeface="Trebuchet MS"/>
                <a:cs typeface="Trebuchet MS"/>
              </a:rPr>
              <a:t>e</a:t>
            </a:r>
            <a:r>
              <a:rPr dirty="0" sz="1350" spc="-135" i="1">
                <a:solidFill>
                  <a:srgbClr val="037394"/>
                </a:solidFill>
                <a:latin typeface="Trebuchet MS"/>
                <a:cs typeface="Trebuchet MS"/>
              </a:rPr>
              <a:t>r</a:t>
            </a:r>
            <a:r>
              <a:rPr dirty="0" sz="1350" spc="-155" i="1">
                <a:solidFill>
                  <a:srgbClr val="037394"/>
                </a:solidFill>
                <a:latin typeface="Trebuchet MS"/>
                <a:cs typeface="Trebuchet MS"/>
              </a:rPr>
              <a:t> </a:t>
            </a:r>
            <a:r>
              <a:rPr dirty="0" sz="1350" spc="-250" i="1">
                <a:solidFill>
                  <a:srgbClr val="037394"/>
                </a:solidFill>
                <a:latin typeface="Trebuchet MS"/>
                <a:cs typeface="Trebuchet MS"/>
              </a:rPr>
              <a:t>x</a:t>
            </a:r>
            <a:r>
              <a:rPr dirty="0" sz="1350" spc="-165" i="1">
                <a:solidFill>
                  <a:srgbClr val="037394"/>
                </a:solidFill>
                <a:latin typeface="Trebuchet MS"/>
                <a:cs typeface="Trebuchet MS"/>
              </a:rPr>
              <a:t> </a:t>
            </a:r>
            <a:r>
              <a:rPr dirty="0" sz="1350" spc="-225" i="1">
                <a:solidFill>
                  <a:srgbClr val="037394"/>
                </a:solidFill>
                <a:latin typeface="Trebuchet MS"/>
                <a:cs typeface="Trebuchet MS"/>
              </a:rPr>
              <a:t>a</a:t>
            </a:r>
            <a:r>
              <a:rPr dirty="0" sz="1350" spc="-85" i="1">
                <a:solidFill>
                  <a:srgbClr val="037394"/>
                </a:solidFill>
                <a:latin typeface="Trebuchet MS"/>
                <a:cs typeface="Trebuchet MS"/>
              </a:rPr>
              <a:t>s</a:t>
            </a:r>
            <a:r>
              <a:rPr dirty="0" sz="1350" spc="-165" i="1">
                <a:solidFill>
                  <a:srgbClr val="037394"/>
                </a:solidFill>
                <a:latin typeface="Trebuchet MS"/>
                <a:cs typeface="Trebuchet MS"/>
              </a:rPr>
              <a:t> </a:t>
            </a:r>
            <a:r>
              <a:rPr dirty="0" sz="1350" spc="-225" i="1">
                <a:solidFill>
                  <a:srgbClr val="037394"/>
                </a:solidFill>
                <a:latin typeface="Trebuchet MS"/>
                <a:cs typeface="Trebuchet MS"/>
              </a:rPr>
              <a:t>a</a:t>
            </a:r>
            <a:r>
              <a:rPr dirty="0" sz="1350" spc="-165" i="1">
                <a:solidFill>
                  <a:srgbClr val="037394"/>
                </a:solidFill>
                <a:latin typeface="Trebuchet MS"/>
                <a:cs typeface="Trebuchet MS"/>
              </a:rPr>
              <a:t> </a:t>
            </a:r>
            <a:r>
              <a:rPr dirty="0" sz="1350" spc="-60" i="1">
                <a:solidFill>
                  <a:srgbClr val="037394"/>
                </a:solidFill>
                <a:latin typeface="Trebuchet MS"/>
                <a:cs typeface="Trebuchet MS"/>
              </a:rPr>
              <a:t>s</a:t>
            </a:r>
            <a:r>
              <a:rPr dirty="0" sz="1350" spc="-229" i="1">
                <a:solidFill>
                  <a:srgbClr val="037394"/>
                </a:solidFill>
                <a:latin typeface="Trebuchet MS"/>
                <a:cs typeface="Trebuchet MS"/>
              </a:rPr>
              <a:t>y</a:t>
            </a:r>
            <a:r>
              <a:rPr dirty="0" sz="1350" spc="-270" i="1">
                <a:solidFill>
                  <a:srgbClr val="037394"/>
                </a:solidFill>
                <a:latin typeface="Trebuchet MS"/>
                <a:cs typeface="Trebuchet MS"/>
              </a:rPr>
              <a:t>mbol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0080" y="1813547"/>
            <a:ext cx="4347210" cy="8435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2404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5.3.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Differential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Method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6363" y="2875788"/>
            <a:ext cx="8851900" cy="1498600"/>
            <a:chOff x="626363" y="2875788"/>
            <a:chExt cx="8851900" cy="149860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0944" y="3061499"/>
              <a:ext cx="8597655" cy="11434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0935" y="2880360"/>
              <a:ext cx="8842375" cy="1489075"/>
            </a:xfrm>
            <a:custGeom>
              <a:avLst/>
              <a:gdLst/>
              <a:ahLst/>
              <a:cxnLst/>
              <a:rect l="l" t="t" r="r" b="b"/>
              <a:pathLst>
                <a:path w="8842375" h="1489075">
                  <a:moveTo>
                    <a:pt x="0" y="1488947"/>
                  </a:moveTo>
                  <a:lnTo>
                    <a:pt x="8842248" y="1488947"/>
                  </a:lnTo>
                  <a:lnTo>
                    <a:pt x="8842248" y="0"/>
                  </a:lnTo>
                  <a:lnTo>
                    <a:pt x="0" y="0"/>
                  </a:lnTo>
                  <a:lnTo>
                    <a:pt x="0" y="1488947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423416"/>
            <a:ext cx="2541270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036" y="3896867"/>
            <a:ext cx="3667505" cy="171678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61788" y="3895344"/>
            <a:ext cx="3812286" cy="10431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8032" y="3218688"/>
            <a:ext cx="7020306" cy="377189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9976" y="2244851"/>
            <a:ext cx="2903220" cy="2382520"/>
          </a:xfrm>
          <a:custGeom>
            <a:avLst/>
            <a:gdLst/>
            <a:ahLst/>
            <a:cxnLst/>
            <a:rect l="l" t="t" r="r" b="b"/>
            <a:pathLst>
              <a:path w="2903220" h="2382520">
                <a:moveTo>
                  <a:pt x="2903220" y="0"/>
                </a:moveTo>
                <a:lnTo>
                  <a:pt x="0" y="0"/>
                </a:lnTo>
                <a:lnTo>
                  <a:pt x="0" y="2382012"/>
                </a:lnTo>
                <a:lnTo>
                  <a:pt x="2903220" y="2382012"/>
                </a:lnTo>
                <a:lnTo>
                  <a:pt x="29032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6476238" cy="3055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31368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5.4.</a:t>
            </a:r>
            <a:r>
              <a:rPr dirty="0" spc="-15"/>
              <a:t> </a:t>
            </a:r>
            <a:r>
              <a:rPr dirty="0" spc="-5"/>
              <a:t>Difference</a:t>
            </a:r>
            <a:r>
              <a:rPr dirty="0" spc="-10"/>
              <a:t> </a:t>
            </a:r>
            <a:r>
              <a:rPr dirty="0" spc="-5"/>
              <a:t>Between</a:t>
            </a:r>
            <a:r>
              <a:rPr dirty="0" spc="10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Exponential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8680" y="2464307"/>
            <a:ext cx="2050542" cy="18920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5404" y="1906523"/>
            <a:ext cx="5313426" cy="19278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7031" y="1798320"/>
            <a:ext cx="4063746" cy="85572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31368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5.4.</a:t>
            </a:r>
            <a:r>
              <a:rPr dirty="0" spc="-15"/>
              <a:t> </a:t>
            </a:r>
            <a:r>
              <a:rPr dirty="0" spc="-5"/>
              <a:t>Difference</a:t>
            </a:r>
            <a:r>
              <a:rPr dirty="0" spc="-10"/>
              <a:t> </a:t>
            </a:r>
            <a:r>
              <a:rPr dirty="0" spc="-5"/>
              <a:t>Between</a:t>
            </a:r>
            <a:r>
              <a:rPr dirty="0" spc="10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Exponential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3316" y="2811779"/>
            <a:ext cx="8854440" cy="1778635"/>
            <a:chOff x="623316" y="2811779"/>
            <a:chExt cx="8854440" cy="177863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0210" y="3018412"/>
              <a:ext cx="8618388" cy="137383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7888" y="2816351"/>
              <a:ext cx="8845550" cy="1769745"/>
            </a:xfrm>
            <a:custGeom>
              <a:avLst/>
              <a:gdLst/>
              <a:ahLst/>
              <a:cxnLst/>
              <a:rect l="l" t="t" r="r" b="b"/>
              <a:pathLst>
                <a:path w="8845550" h="1769745">
                  <a:moveTo>
                    <a:pt x="0" y="1769364"/>
                  </a:moveTo>
                  <a:lnTo>
                    <a:pt x="8845296" y="1769364"/>
                  </a:lnTo>
                  <a:lnTo>
                    <a:pt x="8845296" y="0"/>
                  </a:lnTo>
                  <a:lnTo>
                    <a:pt x="0" y="0"/>
                  </a:lnTo>
                  <a:lnTo>
                    <a:pt x="0" y="1769364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423416"/>
            <a:ext cx="1178814" cy="15773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07895" y="1797557"/>
            <a:ext cx="9010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(𝑏𝑢𝑡</a:t>
            </a:r>
            <a:r>
              <a:rPr dirty="0" sz="1400" spc="-1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x</a:t>
            </a:r>
            <a:r>
              <a:rPr dirty="0" sz="1400" spc="5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≠</a:t>
            </a:r>
            <a:r>
              <a:rPr dirty="0" sz="1400" spc="5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0)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7031" y="1802892"/>
            <a:ext cx="4609338" cy="136169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31368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5.4.</a:t>
            </a:r>
            <a:r>
              <a:rPr dirty="0" spc="-15"/>
              <a:t> </a:t>
            </a:r>
            <a:r>
              <a:rPr dirty="0" spc="-5"/>
              <a:t>Difference</a:t>
            </a:r>
            <a:r>
              <a:rPr dirty="0" spc="-10"/>
              <a:t> </a:t>
            </a:r>
            <a:r>
              <a:rPr dirty="0" spc="-5"/>
              <a:t>Between</a:t>
            </a:r>
            <a:r>
              <a:rPr dirty="0" spc="10"/>
              <a:t> </a:t>
            </a:r>
            <a:r>
              <a:rPr dirty="0" spc="-5"/>
              <a:t>Logarithmic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Exponential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3316" y="3395471"/>
            <a:ext cx="8854440" cy="1554480"/>
            <a:chOff x="623316" y="3395471"/>
            <a:chExt cx="8854440" cy="155448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625" y="3545874"/>
              <a:ext cx="8588986" cy="11918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7888" y="3400043"/>
              <a:ext cx="8845550" cy="1545590"/>
            </a:xfrm>
            <a:custGeom>
              <a:avLst/>
              <a:gdLst/>
              <a:ahLst/>
              <a:cxnLst/>
              <a:rect l="l" t="t" r="r" b="b"/>
              <a:pathLst>
                <a:path w="8845550" h="1545589">
                  <a:moveTo>
                    <a:pt x="0" y="1545335"/>
                  </a:moveTo>
                  <a:lnTo>
                    <a:pt x="8845296" y="1545335"/>
                  </a:lnTo>
                  <a:lnTo>
                    <a:pt x="8845296" y="0"/>
                  </a:lnTo>
                  <a:lnTo>
                    <a:pt x="0" y="0"/>
                  </a:lnTo>
                  <a:lnTo>
                    <a:pt x="0" y="1545335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423416"/>
            <a:ext cx="1178814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036" y="3896867"/>
            <a:ext cx="3943350" cy="14455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61788" y="3899915"/>
            <a:ext cx="3812286" cy="103860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8032" y="3218688"/>
            <a:ext cx="7020306" cy="377189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80"/>
            <a:ext cx="4703826" cy="3040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9782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5.5.</a:t>
            </a:r>
            <a:r>
              <a:rPr dirty="0" spc="-25"/>
              <a:t> </a:t>
            </a:r>
            <a:r>
              <a:rPr dirty="0" spc="-5"/>
              <a:t>Derivatives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5"/>
              <a:t>Composite</a:t>
            </a:r>
            <a:r>
              <a:rPr dirty="0" spc="-30"/>
              <a:t> </a:t>
            </a:r>
            <a:r>
              <a:rPr dirty="0" spc="-5"/>
              <a:t>Functions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3730752"/>
            <a:ext cx="5566410" cy="14028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5404" y="1918716"/>
            <a:ext cx="4496562" cy="1897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8180" y="2221992"/>
            <a:ext cx="3629025" cy="129286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72085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355"/>
              </a:spcBef>
            </a:pPr>
            <a:r>
              <a:rPr dirty="0" sz="1500" spc="-5">
                <a:latin typeface="Cambria Math"/>
                <a:cs typeface="Cambria Math"/>
              </a:rPr>
              <a:t>f(x)=10</a:t>
            </a:r>
            <a:r>
              <a:rPr dirty="0" sz="1500" spc="-30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+</a:t>
            </a:r>
            <a:r>
              <a:rPr dirty="0" sz="1500" spc="-20">
                <a:latin typeface="Cambria Math"/>
                <a:cs typeface="Cambria Math"/>
              </a:rPr>
              <a:t> </a:t>
            </a:r>
            <a:r>
              <a:rPr dirty="0" sz="1500" spc="50">
                <a:latin typeface="Cambria Math"/>
                <a:cs typeface="Cambria Math"/>
              </a:rPr>
              <a:t>𝑥</a:t>
            </a:r>
            <a:r>
              <a:rPr dirty="0" baseline="27777" sz="1650" spc="75">
                <a:latin typeface="Cambria Math"/>
                <a:cs typeface="Cambria Math"/>
              </a:rPr>
              <a:t>2</a:t>
            </a:r>
            <a:endParaRPr baseline="27777" sz="1650">
              <a:latin typeface="Cambria Math"/>
              <a:cs typeface="Cambria Math"/>
            </a:endParaRPr>
          </a:p>
          <a:p>
            <a:pPr marL="274320">
              <a:lnSpc>
                <a:spcPct val="100000"/>
              </a:lnSpc>
              <a:spcBef>
                <a:spcPts val="994"/>
              </a:spcBef>
            </a:pPr>
            <a:r>
              <a:rPr dirty="0" sz="1500" spc="-5">
                <a:latin typeface="Cambria Math"/>
                <a:cs typeface="Cambria Math"/>
              </a:rPr>
              <a:t>g(x)</a:t>
            </a:r>
            <a:r>
              <a:rPr dirty="0" sz="1500" spc="-30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=</a:t>
            </a:r>
            <a:r>
              <a:rPr dirty="0" sz="1500" spc="-20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3</a:t>
            </a:r>
            <a:r>
              <a:rPr dirty="0" sz="1500" spc="-30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+</a:t>
            </a:r>
            <a:r>
              <a:rPr dirty="0" sz="1500" spc="-20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x</a:t>
            </a:r>
            <a:endParaRPr sz="1500">
              <a:latin typeface="Cambria Math"/>
              <a:cs typeface="Cambria Math"/>
            </a:endParaRPr>
          </a:p>
          <a:p>
            <a:pPr marL="274320">
              <a:lnSpc>
                <a:spcPct val="100000"/>
              </a:lnSpc>
              <a:spcBef>
                <a:spcPts val="960"/>
              </a:spcBef>
            </a:pPr>
            <a:r>
              <a:rPr dirty="0" sz="1500">
                <a:latin typeface="Cambria Math"/>
                <a:cs typeface="Cambria Math"/>
              </a:rPr>
              <a:t>f(g(x))</a:t>
            </a:r>
            <a:r>
              <a:rPr dirty="0" sz="1500" spc="-15">
                <a:latin typeface="Cambria Math"/>
                <a:cs typeface="Cambria Math"/>
              </a:rPr>
              <a:t> </a:t>
            </a:r>
            <a:r>
              <a:rPr dirty="0" sz="1500" spc="-5">
                <a:latin typeface="Cambria Math"/>
                <a:cs typeface="Cambria Math"/>
              </a:rPr>
              <a:t>=10</a:t>
            </a:r>
            <a:r>
              <a:rPr dirty="0" sz="1500" spc="-20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+</a:t>
            </a:r>
            <a:r>
              <a:rPr dirty="0" sz="1500" spc="-15">
                <a:latin typeface="Cambria Math"/>
                <a:cs typeface="Cambria Math"/>
              </a:rPr>
              <a:t> </a:t>
            </a:r>
            <a:r>
              <a:rPr dirty="0" sz="1500" spc="15">
                <a:latin typeface="Cambria Math"/>
                <a:cs typeface="Cambria Math"/>
              </a:rPr>
              <a:t>𝑔(𝑥)</a:t>
            </a:r>
            <a:r>
              <a:rPr dirty="0" baseline="27777" sz="1650" spc="22">
                <a:latin typeface="Cambria Math"/>
                <a:cs typeface="Cambria Math"/>
              </a:rPr>
              <a:t>2</a:t>
            </a:r>
            <a:r>
              <a:rPr dirty="0" baseline="27777" sz="1650" spc="345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=</a:t>
            </a:r>
            <a:r>
              <a:rPr dirty="0" sz="1500" spc="75">
                <a:latin typeface="Cambria Math"/>
                <a:cs typeface="Cambria Math"/>
              </a:rPr>
              <a:t> </a:t>
            </a:r>
            <a:r>
              <a:rPr dirty="0" sz="1500" spc="-5">
                <a:latin typeface="Cambria Math"/>
                <a:cs typeface="Cambria Math"/>
              </a:rPr>
              <a:t>10 </a:t>
            </a:r>
            <a:r>
              <a:rPr dirty="0" sz="1500">
                <a:latin typeface="Cambria Math"/>
                <a:cs typeface="Cambria Math"/>
              </a:rPr>
              <a:t>+</a:t>
            </a:r>
            <a:r>
              <a:rPr dirty="0" sz="1500" spc="-5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(3</a:t>
            </a:r>
            <a:r>
              <a:rPr dirty="0" sz="1500" spc="-5">
                <a:latin typeface="Cambria Math"/>
                <a:cs typeface="Cambria Math"/>
              </a:rPr>
              <a:t> </a:t>
            </a:r>
            <a:r>
              <a:rPr dirty="0" sz="1500">
                <a:latin typeface="Cambria Math"/>
                <a:cs typeface="Cambria Math"/>
              </a:rPr>
              <a:t>+</a:t>
            </a:r>
            <a:r>
              <a:rPr dirty="0" sz="1500" spc="-10">
                <a:latin typeface="Cambria Math"/>
                <a:cs typeface="Cambria Math"/>
              </a:rPr>
              <a:t> </a:t>
            </a:r>
            <a:r>
              <a:rPr dirty="0" sz="1500" spc="25">
                <a:latin typeface="Cambria Math"/>
                <a:cs typeface="Cambria Math"/>
              </a:rPr>
              <a:t>𝑥)</a:t>
            </a:r>
            <a:r>
              <a:rPr dirty="0" baseline="27777" sz="1650" spc="37">
                <a:latin typeface="Cambria Math"/>
                <a:cs typeface="Cambria Math"/>
              </a:rPr>
              <a:t>2</a:t>
            </a:r>
            <a:endParaRPr baseline="27777"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8680" y="3980688"/>
            <a:ext cx="1490980" cy="83058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4139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819"/>
              </a:spcBef>
            </a:pPr>
            <a:r>
              <a:rPr dirty="0" sz="1600" spc="-5">
                <a:latin typeface="Cambria Math"/>
                <a:cs typeface="Cambria Math"/>
              </a:rPr>
              <a:t>y</a:t>
            </a:r>
            <a:r>
              <a:rPr dirty="0" sz="1600" spc="-30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=f(u)</a:t>
            </a:r>
            <a:endParaRPr sz="1600">
              <a:latin typeface="Cambria Math"/>
              <a:cs typeface="Cambria Math"/>
            </a:endParaRPr>
          </a:p>
          <a:p>
            <a:pPr marL="274320">
              <a:lnSpc>
                <a:spcPct val="100000"/>
              </a:lnSpc>
              <a:spcBef>
                <a:spcPts val="994"/>
              </a:spcBef>
            </a:pPr>
            <a:r>
              <a:rPr dirty="0" sz="1600" spc="-5">
                <a:latin typeface="Cambria Math"/>
                <a:cs typeface="Cambria Math"/>
              </a:rPr>
              <a:t>u</a:t>
            </a:r>
            <a:r>
              <a:rPr dirty="0" sz="1600" spc="-35">
                <a:latin typeface="Cambria Math"/>
                <a:cs typeface="Cambria Math"/>
              </a:rPr>
              <a:t> </a:t>
            </a:r>
            <a:r>
              <a:rPr dirty="0" sz="1600" spc="-10">
                <a:latin typeface="Cambria Math"/>
                <a:cs typeface="Cambria Math"/>
              </a:rPr>
              <a:t>=g(x)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8200" y="5276088"/>
            <a:ext cx="1731645" cy="830580"/>
            <a:chOff x="838200" y="5276088"/>
            <a:chExt cx="1731645" cy="830580"/>
          </a:xfrm>
        </p:grpSpPr>
        <p:sp>
          <p:nvSpPr>
            <p:cNvPr id="13" name="object 13"/>
            <p:cNvSpPr/>
            <p:nvPr/>
          </p:nvSpPr>
          <p:spPr>
            <a:xfrm>
              <a:off x="838200" y="5276088"/>
              <a:ext cx="1731645" cy="830580"/>
            </a:xfrm>
            <a:custGeom>
              <a:avLst/>
              <a:gdLst/>
              <a:ahLst/>
              <a:cxnLst/>
              <a:rect l="l" t="t" r="r" b="b"/>
              <a:pathLst>
                <a:path w="1731645" h="830579">
                  <a:moveTo>
                    <a:pt x="1731264" y="0"/>
                  </a:moveTo>
                  <a:lnTo>
                    <a:pt x="0" y="0"/>
                  </a:lnTo>
                  <a:lnTo>
                    <a:pt x="0" y="830580"/>
                  </a:lnTo>
                  <a:lnTo>
                    <a:pt x="1731264" y="830580"/>
                  </a:lnTo>
                  <a:lnTo>
                    <a:pt x="173126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2100" y="5671032"/>
              <a:ext cx="780415" cy="13970"/>
            </a:xfrm>
            <a:custGeom>
              <a:avLst/>
              <a:gdLst/>
              <a:ahLst/>
              <a:cxnLst/>
              <a:rect l="l" t="t" r="r" b="b"/>
              <a:pathLst>
                <a:path w="780414" h="13970">
                  <a:moveTo>
                    <a:pt x="234696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34696" y="13716"/>
                  </a:lnTo>
                  <a:lnTo>
                    <a:pt x="234696" y="0"/>
                  </a:lnTo>
                  <a:close/>
                </a:path>
                <a:path w="780414" h="13970">
                  <a:moveTo>
                    <a:pt x="780326" y="0"/>
                  </a:moveTo>
                  <a:lnTo>
                    <a:pt x="545630" y="0"/>
                  </a:lnTo>
                  <a:lnTo>
                    <a:pt x="545630" y="13716"/>
                  </a:lnTo>
                  <a:lnTo>
                    <a:pt x="780326" y="13716"/>
                  </a:lnTo>
                  <a:lnTo>
                    <a:pt x="780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982723" y="5520639"/>
            <a:ext cx="704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55">
                <a:latin typeface="Cambria Math"/>
                <a:cs typeface="Cambria Math"/>
              </a:rPr>
              <a:t>∙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84451" y="5671032"/>
            <a:ext cx="234950" cy="13970"/>
          </a:xfrm>
          <a:custGeom>
            <a:avLst/>
            <a:gdLst/>
            <a:ahLst/>
            <a:cxnLst/>
            <a:rect l="l" t="t" r="r" b="b"/>
            <a:pathLst>
              <a:path w="234950" h="13970">
                <a:moveTo>
                  <a:pt x="234695" y="0"/>
                </a:moveTo>
                <a:lnTo>
                  <a:pt x="0" y="0"/>
                </a:lnTo>
                <a:lnTo>
                  <a:pt x="0" y="13715"/>
                </a:lnTo>
                <a:lnTo>
                  <a:pt x="234695" y="13715"/>
                </a:lnTo>
                <a:lnTo>
                  <a:pt x="234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12215" y="5367020"/>
            <a:ext cx="1214120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565"/>
              </a:lnSpc>
              <a:spcBef>
                <a:spcPts val="95"/>
              </a:spcBef>
              <a:tabLst>
                <a:tab pos="545465" algn="l"/>
                <a:tab pos="972185" algn="l"/>
              </a:tabLst>
            </a:pPr>
            <a:r>
              <a:rPr dirty="0" sz="1600" spc="-10">
                <a:latin typeface="Cambria Math"/>
                <a:cs typeface="Cambria Math"/>
              </a:rPr>
              <a:t>𝑑</a:t>
            </a:r>
            <a:r>
              <a:rPr dirty="0" sz="1600" spc="-5">
                <a:latin typeface="Cambria Math"/>
                <a:cs typeface="Cambria Math"/>
              </a:rPr>
              <a:t>𝑦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10">
                <a:latin typeface="Cambria Math"/>
                <a:cs typeface="Cambria Math"/>
              </a:rPr>
              <a:t>𝑑</a:t>
            </a:r>
            <a:r>
              <a:rPr dirty="0" sz="1600" spc="-5">
                <a:latin typeface="Cambria Math"/>
                <a:cs typeface="Cambria Math"/>
              </a:rPr>
              <a:t>𝑦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10">
                <a:latin typeface="Cambria Math"/>
                <a:cs typeface="Cambria Math"/>
              </a:rPr>
              <a:t>𝑑</a:t>
            </a:r>
            <a:r>
              <a:rPr dirty="0" sz="1600" spc="-5">
                <a:latin typeface="Cambria Math"/>
                <a:cs typeface="Cambria Math"/>
              </a:rPr>
              <a:t>𝜇</a:t>
            </a:r>
            <a:endParaRPr sz="1600">
              <a:latin typeface="Cambria Math"/>
              <a:cs typeface="Cambria Math"/>
            </a:endParaRPr>
          </a:p>
          <a:p>
            <a:pPr marL="290830">
              <a:lnSpc>
                <a:spcPts val="1140"/>
              </a:lnSpc>
            </a:pP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  <a:p>
            <a:pPr marL="1270">
              <a:lnSpc>
                <a:spcPts val="1495"/>
              </a:lnSpc>
              <a:tabLst>
                <a:tab pos="545465" algn="l"/>
                <a:tab pos="973455" algn="l"/>
              </a:tabLst>
            </a:pPr>
            <a:r>
              <a:rPr dirty="0" sz="1600" spc="-10">
                <a:latin typeface="Cambria Math"/>
                <a:cs typeface="Cambria Math"/>
              </a:rPr>
              <a:t>𝑑</a:t>
            </a:r>
            <a:r>
              <a:rPr dirty="0" sz="1600" spc="-5">
                <a:latin typeface="Cambria Math"/>
                <a:cs typeface="Cambria Math"/>
              </a:rPr>
              <a:t>𝑥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10">
                <a:latin typeface="Cambria Math"/>
                <a:cs typeface="Cambria Math"/>
              </a:rPr>
              <a:t>𝑑</a:t>
            </a:r>
            <a:r>
              <a:rPr dirty="0" sz="1600" spc="-5">
                <a:latin typeface="Cambria Math"/>
                <a:cs typeface="Cambria Math"/>
              </a:rPr>
              <a:t>𝜇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10">
                <a:latin typeface="Cambria Math"/>
                <a:cs typeface="Cambria Math"/>
              </a:rPr>
              <a:t>𝑑𝑥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43" y="6524434"/>
            <a:ext cx="10734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9782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5.5.</a:t>
            </a:r>
            <a:r>
              <a:rPr dirty="0" spc="-25"/>
              <a:t> </a:t>
            </a:r>
            <a:r>
              <a:rPr dirty="0" spc="-5"/>
              <a:t>Derivatives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5"/>
              <a:t>Composite</a:t>
            </a:r>
            <a:r>
              <a:rPr dirty="0" spc="-30"/>
              <a:t> </a:t>
            </a:r>
            <a:r>
              <a:rPr dirty="0" spc="-5"/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80" y="1423416"/>
            <a:ext cx="4496562" cy="18973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73608" y="1778507"/>
            <a:ext cx="6304280" cy="4384675"/>
            <a:chOff x="673608" y="1778507"/>
            <a:chExt cx="6304280" cy="4384675"/>
          </a:xfrm>
        </p:grpSpPr>
        <p:sp>
          <p:nvSpPr>
            <p:cNvPr id="9" name="object 9"/>
            <p:cNvSpPr/>
            <p:nvPr/>
          </p:nvSpPr>
          <p:spPr>
            <a:xfrm>
              <a:off x="1853183" y="5257799"/>
              <a:ext cx="2545080" cy="905510"/>
            </a:xfrm>
            <a:custGeom>
              <a:avLst/>
              <a:gdLst/>
              <a:ahLst/>
              <a:cxnLst/>
              <a:rect l="l" t="t" r="r" b="b"/>
              <a:pathLst>
                <a:path w="2545079" h="905510">
                  <a:moveTo>
                    <a:pt x="2545080" y="0"/>
                  </a:moveTo>
                  <a:lnTo>
                    <a:pt x="0" y="0"/>
                  </a:lnTo>
                  <a:lnTo>
                    <a:pt x="0" y="905256"/>
                  </a:lnTo>
                  <a:lnTo>
                    <a:pt x="2545080" y="905256"/>
                  </a:lnTo>
                  <a:lnTo>
                    <a:pt x="254508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608" y="1778507"/>
              <a:ext cx="6304025" cy="40987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53183" y="2206751"/>
              <a:ext cx="2573020" cy="1080770"/>
            </a:xfrm>
            <a:custGeom>
              <a:avLst/>
              <a:gdLst/>
              <a:ahLst/>
              <a:cxnLst/>
              <a:rect l="l" t="t" r="r" b="b"/>
              <a:pathLst>
                <a:path w="2573020" h="1080770">
                  <a:moveTo>
                    <a:pt x="2572512" y="0"/>
                  </a:moveTo>
                  <a:lnTo>
                    <a:pt x="0" y="0"/>
                  </a:lnTo>
                  <a:lnTo>
                    <a:pt x="0" y="1080515"/>
                  </a:lnTo>
                  <a:lnTo>
                    <a:pt x="2572512" y="1080515"/>
                  </a:lnTo>
                  <a:lnTo>
                    <a:pt x="25725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28139" y="2462542"/>
              <a:ext cx="788035" cy="15240"/>
            </a:xfrm>
            <a:custGeom>
              <a:avLst/>
              <a:gdLst/>
              <a:ahLst/>
              <a:cxnLst/>
              <a:rect l="l" t="t" r="r" b="b"/>
              <a:pathLst>
                <a:path w="788035" h="15239">
                  <a:moveTo>
                    <a:pt x="219456" y="0"/>
                  </a:moveTo>
                  <a:lnTo>
                    <a:pt x="0" y="0"/>
                  </a:lnTo>
                  <a:lnTo>
                    <a:pt x="0" y="15227"/>
                  </a:lnTo>
                  <a:lnTo>
                    <a:pt x="219456" y="15227"/>
                  </a:lnTo>
                  <a:lnTo>
                    <a:pt x="219456" y="0"/>
                  </a:lnTo>
                  <a:close/>
                </a:path>
                <a:path w="788035" h="15239">
                  <a:moveTo>
                    <a:pt x="787908" y="0"/>
                  </a:moveTo>
                  <a:lnTo>
                    <a:pt x="568452" y="0"/>
                  </a:lnTo>
                  <a:lnTo>
                    <a:pt x="568452" y="15227"/>
                  </a:lnTo>
                  <a:lnTo>
                    <a:pt x="787908" y="15227"/>
                  </a:lnTo>
                  <a:lnTo>
                    <a:pt x="787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091817" y="2113481"/>
            <a:ext cx="859155" cy="58356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70"/>
              </a:spcBef>
              <a:tabLst>
                <a:tab pos="658495" algn="l"/>
              </a:tabLst>
            </a:pPr>
            <a:r>
              <a:rPr dirty="0" sz="1300" spc="95">
                <a:latin typeface="Cambria Math"/>
                <a:cs typeface="Cambria Math"/>
              </a:rPr>
              <a:t>𝑑𝑦</a:t>
            </a:r>
            <a:r>
              <a:rPr dirty="0" sz="1300" spc="245">
                <a:latin typeface="Cambria Math"/>
                <a:cs typeface="Cambria Math"/>
              </a:rPr>
              <a:t> </a:t>
            </a:r>
            <a:r>
              <a:rPr dirty="0" baseline="-32407" sz="2700">
                <a:latin typeface="Cambria Math"/>
                <a:cs typeface="Cambria Math"/>
              </a:rPr>
              <a:t>=	</a:t>
            </a:r>
            <a:r>
              <a:rPr dirty="0" sz="1300" spc="90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  <a:p>
            <a:pPr marL="36195">
              <a:lnSpc>
                <a:spcPct val="100000"/>
              </a:lnSpc>
              <a:spcBef>
                <a:spcPts val="295"/>
              </a:spcBef>
              <a:tabLst>
                <a:tab pos="605155" algn="l"/>
              </a:tabLst>
            </a:pPr>
            <a:r>
              <a:rPr dirty="0" sz="1300" spc="110">
                <a:latin typeface="Cambria Math"/>
                <a:cs typeface="Cambria Math"/>
              </a:rPr>
              <a:t>𝑑𝜇	𝑑𝜇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65450" y="2320798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mbria Math"/>
                <a:cs typeface="Cambria Math"/>
              </a:rPr>
              <a:t>f(</a:t>
            </a:r>
            <a:r>
              <a:rPr dirty="0" sz="1600" spc="40">
                <a:latin typeface="Cambria Math"/>
                <a:cs typeface="Cambria Math"/>
              </a:rPr>
              <a:t>𝜇</a:t>
            </a:r>
            <a:r>
              <a:rPr dirty="0" sz="1600" spc="-5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77719" y="3015742"/>
            <a:ext cx="219710" cy="15240"/>
          </a:xfrm>
          <a:custGeom>
            <a:avLst/>
            <a:gdLst/>
            <a:ahLst/>
            <a:cxnLst/>
            <a:rect l="l" t="t" r="r" b="b"/>
            <a:pathLst>
              <a:path w="219710" h="15239">
                <a:moveTo>
                  <a:pt x="219456" y="0"/>
                </a:moveTo>
                <a:lnTo>
                  <a:pt x="0" y="0"/>
                </a:lnTo>
                <a:lnTo>
                  <a:pt x="0" y="15239"/>
                </a:lnTo>
                <a:lnTo>
                  <a:pt x="219456" y="15239"/>
                </a:lnTo>
                <a:lnTo>
                  <a:pt x="219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631313" y="2775331"/>
            <a:ext cx="120014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300" spc="155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77973" y="3023743"/>
            <a:ext cx="2286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300" spc="150">
                <a:latin typeface="Cambria Math"/>
                <a:cs typeface="Cambria Math"/>
              </a:rPr>
              <a:t>𝑑</a:t>
            </a:r>
            <a:r>
              <a:rPr dirty="0" sz="1300" spc="254">
                <a:latin typeface="Cambria Math"/>
                <a:cs typeface="Cambria Math"/>
              </a:rPr>
              <a:t>𝜇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55976" y="2874391"/>
            <a:ext cx="18427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493395" algn="l"/>
              </a:tabLst>
            </a:pPr>
            <a:r>
              <a:rPr dirty="0" sz="1600" spc="-5">
                <a:latin typeface="Cambria Math"/>
                <a:cs typeface="Cambria Math"/>
              </a:rPr>
              <a:t>=	</a:t>
            </a:r>
            <a:r>
              <a:rPr dirty="0" sz="1600" spc="-10">
                <a:latin typeface="Cambria Math"/>
                <a:cs typeface="Cambria Math"/>
              </a:rPr>
              <a:t>(10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+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40">
                <a:latin typeface="Cambria Math"/>
                <a:cs typeface="Cambria Math"/>
              </a:rPr>
              <a:t>𝜇</a:t>
            </a:r>
            <a:r>
              <a:rPr dirty="0" baseline="28985" sz="1725" spc="60">
                <a:latin typeface="Cambria Math"/>
                <a:cs typeface="Cambria Math"/>
              </a:rPr>
              <a:t>2</a:t>
            </a:r>
            <a:r>
              <a:rPr dirty="0" sz="1600" spc="40">
                <a:latin typeface="Cambria Math"/>
                <a:cs typeface="Cambria Math"/>
              </a:rPr>
              <a:t>)</a:t>
            </a:r>
            <a:r>
              <a:rPr dirty="0" sz="1600" spc="-2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 </a:t>
            </a:r>
            <a:r>
              <a:rPr dirty="0" sz="1600">
                <a:latin typeface="Cambria Math"/>
                <a:cs typeface="Cambria Math"/>
              </a:rPr>
              <a:t>2𝜇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53183" y="3395471"/>
            <a:ext cx="2573020" cy="1080770"/>
            <a:chOff x="1853183" y="3395471"/>
            <a:chExt cx="2573020" cy="1080770"/>
          </a:xfrm>
        </p:grpSpPr>
        <p:sp>
          <p:nvSpPr>
            <p:cNvPr id="20" name="object 20"/>
            <p:cNvSpPr/>
            <p:nvPr/>
          </p:nvSpPr>
          <p:spPr>
            <a:xfrm>
              <a:off x="1853183" y="3395471"/>
              <a:ext cx="2573020" cy="1080770"/>
            </a:xfrm>
            <a:custGeom>
              <a:avLst/>
              <a:gdLst/>
              <a:ahLst/>
              <a:cxnLst/>
              <a:rect l="l" t="t" r="r" b="b"/>
              <a:pathLst>
                <a:path w="2573020" h="1080770">
                  <a:moveTo>
                    <a:pt x="2572512" y="0"/>
                  </a:moveTo>
                  <a:lnTo>
                    <a:pt x="0" y="0"/>
                  </a:lnTo>
                  <a:lnTo>
                    <a:pt x="0" y="1080515"/>
                  </a:lnTo>
                  <a:lnTo>
                    <a:pt x="2572512" y="1080515"/>
                  </a:lnTo>
                  <a:lnTo>
                    <a:pt x="25725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128138" y="3705732"/>
              <a:ext cx="234950" cy="13970"/>
            </a:xfrm>
            <a:custGeom>
              <a:avLst/>
              <a:gdLst/>
              <a:ahLst/>
              <a:cxnLst/>
              <a:rect l="l" t="t" r="r" b="b"/>
              <a:pathLst>
                <a:path w="234950" h="13970">
                  <a:moveTo>
                    <a:pt x="23469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34695" y="13716"/>
                  </a:lnTo>
                  <a:lnTo>
                    <a:pt x="2346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419476" y="3555238"/>
            <a:ext cx="164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28010" y="3705733"/>
            <a:ext cx="231775" cy="13970"/>
          </a:xfrm>
          <a:custGeom>
            <a:avLst/>
            <a:gdLst/>
            <a:ahLst/>
            <a:cxnLst/>
            <a:rect l="l" t="t" r="r" b="b"/>
            <a:pathLst>
              <a:path w="231775" h="13970">
                <a:moveTo>
                  <a:pt x="231648" y="0"/>
                </a:moveTo>
                <a:lnTo>
                  <a:pt x="0" y="0"/>
                </a:lnTo>
                <a:lnTo>
                  <a:pt x="0" y="13716"/>
                </a:lnTo>
                <a:lnTo>
                  <a:pt x="231648" y="13716"/>
                </a:lnTo>
                <a:lnTo>
                  <a:pt x="2316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128392" y="3401314"/>
            <a:ext cx="6838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3085" algn="l"/>
              </a:tabLst>
            </a:pPr>
            <a:r>
              <a:rPr dirty="0" sz="1600" spc="-10">
                <a:latin typeface="Cambria Math"/>
                <a:cs typeface="Cambria Math"/>
              </a:rPr>
              <a:t>𝑑</a:t>
            </a:r>
            <a:r>
              <a:rPr dirty="0" sz="1600" spc="-5">
                <a:latin typeface="Cambria Math"/>
                <a:cs typeface="Cambria Math"/>
              </a:rPr>
              <a:t>𝜇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𝑑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29917" y="3690873"/>
            <a:ext cx="7372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97840" algn="l"/>
              </a:tabLst>
            </a:pPr>
            <a:r>
              <a:rPr dirty="0" sz="1600" spc="-10">
                <a:latin typeface="Cambria Math"/>
                <a:cs typeface="Cambria Math"/>
              </a:rPr>
              <a:t>𝑑</a:t>
            </a:r>
            <a:r>
              <a:rPr dirty="0" sz="1600" spc="-5">
                <a:latin typeface="Cambria Math"/>
                <a:cs typeface="Cambria Math"/>
              </a:rPr>
              <a:t>𝑥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00" spc="-5">
                <a:latin typeface="Cambria Math"/>
                <a:cs typeface="Cambria Math"/>
              </a:rPr>
              <a:t>𝑑𝑥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38017" y="3555238"/>
            <a:ext cx="4235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25">
                <a:latin typeface="Cambria Math"/>
                <a:cs typeface="Cambria Math"/>
              </a:rPr>
              <a:t>𝑔</a:t>
            </a:r>
            <a:r>
              <a:rPr dirty="0" sz="1600" spc="-10">
                <a:latin typeface="Cambria Math"/>
                <a:cs typeface="Cambria Math"/>
              </a:rPr>
              <a:t>(</a:t>
            </a:r>
            <a:r>
              <a:rPr dirty="0" sz="1600" spc="45">
                <a:latin typeface="Cambria Math"/>
                <a:cs typeface="Cambria Math"/>
              </a:rPr>
              <a:t>𝑥</a:t>
            </a:r>
            <a:r>
              <a:rPr dirty="0" sz="1600" spc="-5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30145" y="4098163"/>
            <a:ext cx="164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631058" y="4239133"/>
            <a:ext cx="208915" cy="15240"/>
          </a:xfrm>
          <a:custGeom>
            <a:avLst/>
            <a:gdLst/>
            <a:ahLst/>
            <a:cxnLst/>
            <a:rect l="l" t="t" r="r" b="b"/>
            <a:pathLst>
              <a:path w="208914" h="15239">
                <a:moveTo>
                  <a:pt x="208787" y="0"/>
                </a:moveTo>
                <a:lnTo>
                  <a:pt x="0" y="0"/>
                </a:lnTo>
                <a:lnTo>
                  <a:pt x="0" y="15239"/>
                </a:lnTo>
                <a:lnTo>
                  <a:pt x="208787" y="15239"/>
                </a:lnTo>
                <a:lnTo>
                  <a:pt x="2087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631313" y="3950766"/>
            <a:ext cx="219075" cy="52387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495"/>
              </a:spcBef>
            </a:pPr>
            <a:r>
              <a:rPr dirty="0" sz="1300" spc="90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dirty="0" sz="1300" spc="150">
                <a:latin typeface="Cambria Math"/>
                <a:cs typeface="Cambria Math"/>
              </a:rPr>
              <a:t>𝑑</a:t>
            </a:r>
            <a:r>
              <a:rPr dirty="0" sz="1300" spc="160">
                <a:latin typeface="Cambria Math"/>
                <a:cs typeface="Cambria Math"/>
              </a:rPr>
              <a:t>𝑥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99664" y="4141851"/>
            <a:ext cx="678180" cy="212090"/>
          </a:xfrm>
          <a:custGeom>
            <a:avLst/>
            <a:gdLst/>
            <a:ahLst/>
            <a:cxnLst/>
            <a:rect l="l" t="t" r="r" b="b"/>
            <a:pathLst>
              <a:path w="678179" h="212089">
                <a:moveTo>
                  <a:pt x="610488" y="0"/>
                </a:moveTo>
                <a:lnTo>
                  <a:pt x="607440" y="8636"/>
                </a:lnTo>
                <a:lnTo>
                  <a:pt x="619708" y="13946"/>
                </a:lnTo>
                <a:lnTo>
                  <a:pt x="630237" y="21304"/>
                </a:lnTo>
                <a:lnTo>
                  <a:pt x="651603" y="55431"/>
                </a:lnTo>
                <a:lnTo>
                  <a:pt x="658622" y="104901"/>
                </a:lnTo>
                <a:lnTo>
                  <a:pt x="657836" y="123570"/>
                </a:lnTo>
                <a:lnTo>
                  <a:pt x="646049" y="169291"/>
                </a:lnTo>
                <a:lnTo>
                  <a:pt x="619795" y="197866"/>
                </a:lnTo>
                <a:lnTo>
                  <a:pt x="607695" y="203200"/>
                </a:lnTo>
                <a:lnTo>
                  <a:pt x="610488" y="211836"/>
                </a:lnTo>
                <a:lnTo>
                  <a:pt x="650886" y="187707"/>
                </a:lnTo>
                <a:lnTo>
                  <a:pt x="673608" y="143335"/>
                </a:lnTo>
                <a:lnTo>
                  <a:pt x="677926" y="105918"/>
                </a:lnTo>
                <a:lnTo>
                  <a:pt x="676832" y="86536"/>
                </a:lnTo>
                <a:lnTo>
                  <a:pt x="660526" y="37084"/>
                </a:lnTo>
                <a:lnTo>
                  <a:pt x="625826" y="5544"/>
                </a:lnTo>
                <a:lnTo>
                  <a:pt x="610488" y="0"/>
                </a:lnTo>
                <a:close/>
              </a:path>
              <a:path w="678179" h="212089">
                <a:moveTo>
                  <a:pt x="67437" y="0"/>
                </a:moveTo>
                <a:lnTo>
                  <a:pt x="27092" y="24110"/>
                </a:lnTo>
                <a:lnTo>
                  <a:pt x="4365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238"/>
                </a:lnTo>
                <a:lnTo>
                  <a:pt x="67437" y="211836"/>
                </a:lnTo>
                <a:lnTo>
                  <a:pt x="70104" y="203200"/>
                </a:lnTo>
                <a:lnTo>
                  <a:pt x="58058" y="197866"/>
                </a:lnTo>
                <a:lnTo>
                  <a:pt x="47656" y="190436"/>
                </a:lnTo>
                <a:lnTo>
                  <a:pt x="26376" y="155765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7" y="42163"/>
                </a:lnTo>
                <a:lnTo>
                  <a:pt x="58273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974594" y="4072254"/>
            <a:ext cx="1061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87070" algn="l"/>
              </a:tabLst>
            </a:pPr>
            <a:r>
              <a:rPr dirty="0" sz="1800">
                <a:latin typeface="Cambria Math"/>
                <a:cs typeface="Cambria Math"/>
              </a:rPr>
              <a:t>3</a:t>
            </a:r>
            <a:r>
              <a:rPr dirty="0" sz="1800" spc="-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𝑥	=</a:t>
            </a:r>
            <a:r>
              <a:rPr dirty="0" sz="1800" spc="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5106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311652" y="2465832"/>
            <a:ext cx="2651760" cy="532130"/>
          </a:xfrm>
          <a:custGeom>
            <a:avLst/>
            <a:gdLst/>
            <a:ahLst/>
            <a:cxnLst/>
            <a:rect l="l" t="t" r="r" b="b"/>
            <a:pathLst>
              <a:path w="2651760" h="532130">
                <a:moveTo>
                  <a:pt x="2651760" y="0"/>
                </a:moveTo>
                <a:lnTo>
                  <a:pt x="0" y="0"/>
                </a:lnTo>
                <a:lnTo>
                  <a:pt x="0" y="531876"/>
                </a:lnTo>
                <a:lnTo>
                  <a:pt x="2651760" y="531876"/>
                </a:lnTo>
                <a:lnTo>
                  <a:pt x="265176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555" y="1831822"/>
            <a:ext cx="6931914" cy="44122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3978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5.5.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Derivatives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Composite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16046" y="2626867"/>
            <a:ext cx="847725" cy="245110"/>
            <a:chOff x="3416046" y="2626867"/>
            <a:chExt cx="847725" cy="245110"/>
          </a:xfrm>
        </p:grpSpPr>
        <p:sp>
          <p:nvSpPr>
            <p:cNvPr id="10" name="object 10"/>
            <p:cNvSpPr/>
            <p:nvPr/>
          </p:nvSpPr>
          <p:spPr>
            <a:xfrm>
              <a:off x="3416046" y="2626867"/>
              <a:ext cx="847725" cy="245110"/>
            </a:xfrm>
            <a:custGeom>
              <a:avLst/>
              <a:gdLst/>
              <a:ahLst/>
              <a:cxnLst/>
              <a:rect l="l" t="t" r="r" b="b"/>
              <a:pathLst>
                <a:path w="847725" h="245110">
                  <a:moveTo>
                    <a:pt x="63119" y="635"/>
                  </a:moveTo>
                  <a:lnTo>
                    <a:pt x="60579" y="635"/>
                  </a:lnTo>
                  <a:lnTo>
                    <a:pt x="49669" y="1638"/>
                  </a:lnTo>
                  <a:lnTo>
                    <a:pt x="17094" y="31305"/>
                  </a:lnTo>
                  <a:lnTo>
                    <a:pt x="14224" y="56007"/>
                  </a:lnTo>
                  <a:lnTo>
                    <a:pt x="14224" y="63119"/>
                  </a:lnTo>
                  <a:lnTo>
                    <a:pt x="14986" y="71120"/>
                  </a:lnTo>
                  <a:lnTo>
                    <a:pt x="18084" y="89408"/>
                  </a:lnTo>
                  <a:lnTo>
                    <a:pt x="18923" y="95123"/>
                  </a:lnTo>
                  <a:lnTo>
                    <a:pt x="18923" y="104013"/>
                  </a:lnTo>
                  <a:lnTo>
                    <a:pt x="17272" y="108712"/>
                  </a:lnTo>
                  <a:lnTo>
                    <a:pt x="14224" y="112395"/>
                  </a:lnTo>
                  <a:lnTo>
                    <a:pt x="11049" y="116078"/>
                  </a:lnTo>
                  <a:lnTo>
                    <a:pt x="6350" y="117983"/>
                  </a:lnTo>
                  <a:lnTo>
                    <a:pt x="0" y="118237"/>
                  </a:lnTo>
                  <a:lnTo>
                    <a:pt x="0" y="126365"/>
                  </a:lnTo>
                  <a:lnTo>
                    <a:pt x="18923" y="140589"/>
                  </a:lnTo>
                  <a:lnTo>
                    <a:pt x="18923" y="149479"/>
                  </a:lnTo>
                  <a:lnTo>
                    <a:pt x="18034" y="155448"/>
                  </a:lnTo>
                  <a:lnTo>
                    <a:pt x="14986" y="173101"/>
                  </a:lnTo>
                  <a:lnTo>
                    <a:pt x="14224" y="181102"/>
                  </a:lnTo>
                  <a:lnTo>
                    <a:pt x="14224" y="188087"/>
                  </a:lnTo>
                  <a:lnTo>
                    <a:pt x="14935" y="201904"/>
                  </a:lnTo>
                  <a:lnTo>
                    <a:pt x="32245" y="236474"/>
                  </a:lnTo>
                  <a:lnTo>
                    <a:pt x="60579" y="244348"/>
                  </a:lnTo>
                  <a:lnTo>
                    <a:pt x="63119" y="244348"/>
                  </a:lnTo>
                  <a:lnTo>
                    <a:pt x="63119" y="236728"/>
                  </a:lnTo>
                  <a:lnTo>
                    <a:pt x="52070" y="236728"/>
                  </a:lnTo>
                  <a:lnTo>
                    <a:pt x="44577" y="233553"/>
                  </a:lnTo>
                  <a:lnTo>
                    <a:pt x="30988" y="191770"/>
                  </a:lnTo>
                  <a:lnTo>
                    <a:pt x="30988" y="185928"/>
                  </a:lnTo>
                  <a:lnTo>
                    <a:pt x="31750" y="178689"/>
                  </a:lnTo>
                  <a:lnTo>
                    <a:pt x="34290" y="161163"/>
                  </a:lnTo>
                  <a:lnTo>
                    <a:pt x="34988" y="155448"/>
                  </a:lnTo>
                  <a:lnTo>
                    <a:pt x="35052" y="144018"/>
                  </a:lnTo>
                  <a:lnTo>
                    <a:pt x="33401" y="138049"/>
                  </a:lnTo>
                  <a:lnTo>
                    <a:pt x="30099" y="133477"/>
                  </a:lnTo>
                  <a:lnTo>
                    <a:pt x="26797" y="128778"/>
                  </a:lnTo>
                  <a:lnTo>
                    <a:pt x="22860" y="125476"/>
                  </a:lnTo>
                  <a:lnTo>
                    <a:pt x="18288" y="123190"/>
                  </a:lnTo>
                  <a:lnTo>
                    <a:pt x="18288" y="121412"/>
                  </a:lnTo>
                  <a:lnTo>
                    <a:pt x="22860" y="119253"/>
                  </a:lnTo>
                  <a:lnTo>
                    <a:pt x="26797" y="115824"/>
                  </a:lnTo>
                  <a:lnTo>
                    <a:pt x="33401" y="106426"/>
                  </a:lnTo>
                  <a:lnTo>
                    <a:pt x="35052" y="100457"/>
                  </a:lnTo>
                  <a:lnTo>
                    <a:pt x="35001" y="89027"/>
                  </a:lnTo>
                  <a:lnTo>
                    <a:pt x="34290" y="83058"/>
                  </a:lnTo>
                  <a:lnTo>
                    <a:pt x="31750" y="65532"/>
                  </a:lnTo>
                  <a:lnTo>
                    <a:pt x="30988" y="58039"/>
                  </a:lnTo>
                  <a:lnTo>
                    <a:pt x="30988" y="52070"/>
                  </a:lnTo>
                  <a:lnTo>
                    <a:pt x="31496" y="40716"/>
                  </a:lnTo>
                  <a:lnTo>
                    <a:pt x="52070" y="8128"/>
                  </a:lnTo>
                  <a:lnTo>
                    <a:pt x="63119" y="8128"/>
                  </a:lnTo>
                  <a:lnTo>
                    <a:pt x="63119" y="635"/>
                  </a:lnTo>
                  <a:close/>
                </a:path>
                <a:path w="847725" h="245110">
                  <a:moveTo>
                    <a:pt x="270256" y="8128"/>
                  </a:moveTo>
                  <a:lnTo>
                    <a:pt x="267716" y="0"/>
                  </a:lnTo>
                  <a:lnTo>
                    <a:pt x="253161" y="5702"/>
                  </a:lnTo>
                  <a:lnTo>
                    <a:pt x="240385" y="14592"/>
                  </a:lnTo>
                  <a:lnTo>
                    <a:pt x="212877" y="59855"/>
                  </a:lnTo>
                  <a:lnTo>
                    <a:pt x="204495" y="100050"/>
                  </a:lnTo>
                  <a:lnTo>
                    <a:pt x="203454" y="122555"/>
                  </a:lnTo>
                  <a:lnTo>
                    <a:pt x="204495" y="144894"/>
                  </a:lnTo>
                  <a:lnTo>
                    <a:pt x="212877" y="185089"/>
                  </a:lnTo>
                  <a:lnTo>
                    <a:pt x="240385" y="230314"/>
                  </a:lnTo>
                  <a:lnTo>
                    <a:pt x="267716" y="244856"/>
                  </a:lnTo>
                  <a:lnTo>
                    <a:pt x="270256" y="236728"/>
                  </a:lnTo>
                  <a:lnTo>
                    <a:pt x="258978" y="230924"/>
                  </a:lnTo>
                  <a:lnTo>
                    <a:pt x="249186" y="222440"/>
                  </a:lnTo>
                  <a:lnTo>
                    <a:pt x="228574" y="181521"/>
                  </a:lnTo>
                  <a:lnTo>
                    <a:pt x="221615" y="122428"/>
                  </a:lnTo>
                  <a:lnTo>
                    <a:pt x="222389" y="101066"/>
                  </a:lnTo>
                  <a:lnTo>
                    <a:pt x="228574" y="63449"/>
                  </a:lnTo>
                  <a:lnTo>
                    <a:pt x="249186" y="22466"/>
                  </a:lnTo>
                  <a:lnTo>
                    <a:pt x="258978" y="13957"/>
                  </a:lnTo>
                  <a:lnTo>
                    <a:pt x="270256" y="8128"/>
                  </a:lnTo>
                  <a:close/>
                </a:path>
                <a:path w="847725" h="245110">
                  <a:moveTo>
                    <a:pt x="760222" y="122428"/>
                  </a:moveTo>
                  <a:lnTo>
                    <a:pt x="756043" y="79197"/>
                  </a:lnTo>
                  <a:lnTo>
                    <a:pt x="743585" y="42037"/>
                  </a:lnTo>
                  <a:lnTo>
                    <a:pt x="710501" y="5702"/>
                  </a:lnTo>
                  <a:lnTo>
                    <a:pt x="695960" y="0"/>
                  </a:lnTo>
                  <a:lnTo>
                    <a:pt x="693420" y="8128"/>
                  </a:lnTo>
                  <a:lnTo>
                    <a:pt x="704684" y="13957"/>
                  </a:lnTo>
                  <a:lnTo>
                    <a:pt x="714476" y="22466"/>
                  </a:lnTo>
                  <a:lnTo>
                    <a:pt x="735139" y="63449"/>
                  </a:lnTo>
                  <a:lnTo>
                    <a:pt x="741286" y="101066"/>
                  </a:lnTo>
                  <a:lnTo>
                    <a:pt x="742061" y="122555"/>
                  </a:lnTo>
                  <a:lnTo>
                    <a:pt x="741286" y="144043"/>
                  </a:lnTo>
                  <a:lnTo>
                    <a:pt x="729742" y="197485"/>
                  </a:lnTo>
                  <a:lnTo>
                    <a:pt x="704684" y="230924"/>
                  </a:lnTo>
                  <a:lnTo>
                    <a:pt x="693420" y="236728"/>
                  </a:lnTo>
                  <a:lnTo>
                    <a:pt x="695960" y="244856"/>
                  </a:lnTo>
                  <a:lnTo>
                    <a:pt x="734314" y="218186"/>
                  </a:lnTo>
                  <a:lnTo>
                    <a:pt x="756043" y="165773"/>
                  </a:lnTo>
                  <a:lnTo>
                    <a:pt x="759167" y="144894"/>
                  </a:lnTo>
                  <a:lnTo>
                    <a:pt x="760222" y="122428"/>
                  </a:lnTo>
                  <a:close/>
                </a:path>
                <a:path w="847725" h="245110">
                  <a:moveTo>
                    <a:pt x="847598" y="118237"/>
                  </a:moveTo>
                  <a:lnTo>
                    <a:pt x="841248" y="117983"/>
                  </a:lnTo>
                  <a:lnTo>
                    <a:pt x="836422" y="116078"/>
                  </a:lnTo>
                  <a:lnTo>
                    <a:pt x="833374" y="112395"/>
                  </a:lnTo>
                  <a:lnTo>
                    <a:pt x="830199" y="108712"/>
                  </a:lnTo>
                  <a:lnTo>
                    <a:pt x="828675" y="104013"/>
                  </a:lnTo>
                  <a:lnTo>
                    <a:pt x="828675" y="95123"/>
                  </a:lnTo>
                  <a:lnTo>
                    <a:pt x="829437" y="89027"/>
                  </a:lnTo>
                  <a:lnTo>
                    <a:pt x="832485" y="71120"/>
                  </a:lnTo>
                  <a:lnTo>
                    <a:pt x="833247" y="63119"/>
                  </a:lnTo>
                  <a:lnTo>
                    <a:pt x="833247" y="56007"/>
                  </a:lnTo>
                  <a:lnTo>
                    <a:pt x="832523" y="42697"/>
                  </a:lnTo>
                  <a:lnTo>
                    <a:pt x="815289" y="8445"/>
                  </a:lnTo>
                  <a:lnTo>
                    <a:pt x="787019" y="635"/>
                  </a:lnTo>
                  <a:lnTo>
                    <a:pt x="784352" y="635"/>
                  </a:lnTo>
                  <a:lnTo>
                    <a:pt x="784352" y="8128"/>
                  </a:lnTo>
                  <a:lnTo>
                    <a:pt x="795401" y="8128"/>
                  </a:lnTo>
                  <a:lnTo>
                    <a:pt x="802894" y="11430"/>
                  </a:lnTo>
                  <a:lnTo>
                    <a:pt x="816483" y="52070"/>
                  </a:lnTo>
                  <a:lnTo>
                    <a:pt x="816483" y="58039"/>
                  </a:lnTo>
                  <a:lnTo>
                    <a:pt x="815848" y="65532"/>
                  </a:lnTo>
                  <a:lnTo>
                    <a:pt x="814451" y="74295"/>
                  </a:lnTo>
                  <a:lnTo>
                    <a:pt x="813181" y="83058"/>
                  </a:lnTo>
                  <a:lnTo>
                    <a:pt x="812571" y="89027"/>
                  </a:lnTo>
                  <a:lnTo>
                    <a:pt x="812546" y="100457"/>
                  </a:lnTo>
                  <a:lnTo>
                    <a:pt x="814197" y="106426"/>
                  </a:lnTo>
                  <a:lnTo>
                    <a:pt x="820801" y="115824"/>
                  </a:lnTo>
                  <a:lnTo>
                    <a:pt x="824738" y="119253"/>
                  </a:lnTo>
                  <a:lnTo>
                    <a:pt x="829183" y="121412"/>
                  </a:lnTo>
                  <a:lnTo>
                    <a:pt x="829183" y="123190"/>
                  </a:lnTo>
                  <a:lnTo>
                    <a:pt x="824738" y="125476"/>
                  </a:lnTo>
                  <a:lnTo>
                    <a:pt x="820801" y="128778"/>
                  </a:lnTo>
                  <a:lnTo>
                    <a:pt x="817499" y="133477"/>
                  </a:lnTo>
                  <a:lnTo>
                    <a:pt x="814197" y="138049"/>
                  </a:lnTo>
                  <a:lnTo>
                    <a:pt x="812546" y="144018"/>
                  </a:lnTo>
                  <a:lnTo>
                    <a:pt x="812596" y="155448"/>
                  </a:lnTo>
                  <a:lnTo>
                    <a:pt x="813181" y="161163"/>
                  </a:lnTo>
                  <a:lnTo>
                    <a:pt x="814451" y="169926"/>
                  </a:lnTo>
                  <a:lnTo>
                    <a:pt x="815848" y="178689"/>
                  </a:lnTo>
                  <a:lnTo>
                    <a:pt x="816483" y="185928"/>
                  </a:lnTo>
                  <a:lnTo>
                    <a:pt x="816483" y="191770"/>
                  </a:lnTo>
                  <a:lnTo>
                    <a:pt x="815975" y="203682"/>
                  </a:lnTo>
                  <a:lnTo>
                    <a:pt x="795401" y="236728"/>
                  </a:lnTo>
                  <a:lnTo>
                    <a:pt x="784352" y="236728"/>
                  </a:lnTo>
                  <a:lnTo>
                    <a:pt x="784352" y="244348"/>
                  </a:lnTo>
                  <a:lnTo>
                    <a:pt x="787019" y="244348"/>
                  </a:lnTo>
                  <a:lnTo>
                    <a:pt x="797902" y="243281"/>
                  </a:lnTo>
                  <a:lnTo>
                    <a:pt x="830389" y="213614"/>
                  </a:lnTo>
                  <a:lnTo>
                    <a:pt x="833247" y="188087"/>
                  </a:lnTo>
                  <a:lnTo>
                    <a:pt x="833247" y="181102"/>
                  </a:lnTo>
                  <a:lnTo>
                    <a:pt x="832485" y="173101"/>
                  </a:lnTo>
                  <a:lnTo>
                    <a:pt x="829437" y="155448"/>
                  </a:lnTo>
                  <a:lnTo>
                    <a:pt x="828675" y="149479"/>
                  </a:lnTo>
                  <a:lnTo>
                    <a:pt x="828675" y="140589"/>
                  </a:lnTo>
                  <a:lnTo>
                    <a:pt x="830199" y="135890"/>
                  </a:lnTo>
                  <a:lnTo>
                    <a:pt x="836422" y="128651"/>
                  </a:lnTo>
                  <a:lnTo>
                    <a:pt x="841248" y="126619"/>
                  </a:lnTo>
                  <a:lnTo>
                    <a:pt x="847598" y="126365"/>
                  </a:lnTo>
                  <a:lnTo>
                    <a:pt x="847598" y="1182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8956" y="2656585"/>
              <a:ext cx="246634" cy="18770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486277" y="2592146"/>
            <a:ext cx="540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𝑓</a:t>
            </a:r>
            <a:r>
              <a:rPr dirty="0" sz="1600" spc="35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𝑔</a:t>
            </a:r>
            <a:r>
              <a:rPr dirty="0" sz="1600" spc="30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4184" y="2513202"/>
            <a:ext cx="6540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114">
                <a:latin typeface="Cambria Math"/>
                <a:cs typeface="Cambria Math"/>
              </a:rPr>
              <a:t>′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03654" y="2626867"/>
            <a:ext cx="555625" cy="245110"/>
            <a:chOff x="4803654" y="2626867"/>
            <a:chExt cx="555625" cy="245110"/>
          </a:xfrm>
        </p:grpSpPr>
        <p:sp>
          <p:nvSpPr>
            <p:cNvPr id="15" name="object 15"/>
            <p:cNvSpPr/>
            <p:nvPr/>
          </p:nvSpPr>
          <p:spPr>
            <a:xfrm>
              <a:off x="4803654" y="2626867"/>
              <a:ext cx="555625" cy="245110"/>
            </a:xfrm>
            <a:custGeom>
              <a:avLst/>
              <a:gdLst/>
              <a:ahLst/>
              <a:cxnLst/>
              <a:rect l="l" t="t" r="r" b="b"/>
              <a:pathLst>
                <a:path w="555625" h="245110">
                  <a:moveTo>
                    <a:pt x="490976" y="0"/>
                  </a:moveTo>
                  <a:lnTo>
                    <a:pt x="488436" y="8128"/>
                  </a:lnTo>
                  <a:lnTo>
                    <a:pt x="499701" y="13956"/>
                  </a:lnTo>
                  <a:lnTo>
                    <a:pt x="509502" y="22463"/>
                  </a:lnTo>
                  <a:lnTo>
                    <a:pt x="530165" y="63440"/>
                  </a:lnTo>
                  <a:lnTo>
                    <a:pt x="536313" y="101056"/>
                  </a:lnTo>
                  <a:lnTo>
                    <a:pt x="537077" y="122555"/>
                  </a:lnTo>
                  <a:lnTo>
                    <a:pt x="536313" y="144031"/>
                  </a:lnTo>
                  <a:lnTo>
                    <a:pt x="524758" y="197485"/>
                  </a:lnTo>
                  <a:lnTo>
                    <a:pt x="499701" y="230917"/>
                  </a:lnTo>
                  <a:lnTo>
                    <a:pt x="488436" y="236728"/>
                  </a:lnTo>
                  <a:lnTo>
                    <a:pt x="490976" y="244856"/>
                  </a:lnTo>
                  <a:lnTo>
                    <a:pt x="529338" y="218174"/>
                  </a:lnTo>
                  <a:lnTo>
                    <a:pt x="551062" y="165766"/>
                  </a:lnTo>
                  <a:lnTo>
                    <a:pt x="555238" y="122428"/>
                  </a:lnTo>
                  <a:lnTo>
                    <a:pt x="554192" y="100044"/>
                  </a:lnTo>
                  <a:lnTo>
                    <a:pt x="545861" y="59848"/>
                  </a:lnTo>
                  <a:lnTo>
                    <a:pt x="518312" y="14589"/>
                  </a:lnTo>
                  <a:lnTo>
                    <a:pt x="505525" y="5693"/>
                  </a:lnTo>
                  <a:lnTo>
                    <a:pt x="490976" y="0"/>
                  </a:lnTo>
                  <a:close/>
                </a:path>
                <a:path w="555625" h="245110">
                  <a:moveTo>
                    <a:pt x="64256" y="0"/>
                  </a:moveTo>
                  <a:lnTo>
                    <a:pt x="25947" y="26699"/>
                  </a:lnTo>
                  <a:lnTo>
                    <a:pt x="4185" y="79184"/>
                  </a:lnTo>
                  <a:lnTo>
                    <a:pt x="0" y="122555"/>
                  </a:lnTo>
                  <a:lnTo>
                    <a:pt x="1041" y="144883"/>
                  </a:lnTo>
                  <a:lnTo>
                    <a:pt x="9423" y="185078"/>
                  </a:lnTo>
                  <a:lnTo>
                    <a:pt x="36935" y="230314"/>
                  </a:lnTo>
                  <a:lnTo>
                    <a:pt x="64256" y="244856"/>
                  </a:lnTo>
                  <a:lnTo>
                    <a:pt x="66796" y="236728"/>
                  </a:lnTo>
                  <a:lnTo>
                    <a:pt x="55530" y="230917"/>
                  </a:lnTo>
                  <a:lnTo>
                    <a:pt x="45729" y="222440"/>
                  </a:lnTo>
                  <a:lnTo>
                    <a:pt x="25120" y="181508"/>
                  </a:lnTo>
                  <a:lnTo>
                    <a:pt x="18159" y="122428"/>
                  </a:lnTo>
                  <a:lnTo>
                    <a:pt x="18936" y="101056"/>
                  </a:lnTo>
                  <a:lnTo>
                    <a:pt x="25120" y="63440"/>
                  </a:lnTo>
                  <a:lnTo>
                    <a:pt x="45729" y="22463"/>
                  </a:lnTo>
                  <a:lnTo>
                    <a:pt x="66796" y="8128"/>
                  </a:lnTo>
                  <a:lnTo>
                    <a:pt x="642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0056" y="2656585"/>
              <a:ext cx="246634" cy="18770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366514" y="2592146"/>
            <a:ext cx="866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75">
                <a:latin typeface="Cambria Math"/>
                <a:cs typeface="Cambria Math"/>
              </a:rPr>
              <a:t> </a:t>
            </a:r>
            <a:r>
              <a:rPr dirty="0" sz="1600" spc="100">
                <a:latin typeface="Cambria Math"/>
                <a:cs typeface="Cambria Math"/>
              </a:rPr>
              <a:t>𝑓</a:t>
            </a:r>
            <a:r>
              <a:rPr dirty="0" baseline="28985" sz="1725" spc="150">
                <a:latin typeface="Cambria Math"/>
                <a:cs typeface="Cambria Math"/>
              </a:rPr>
              <a:t>′ </a:t>
            </a:r>
            <a:r>
              <a:rPr dirty="0" baseline="28985" sz="1725" spc="2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𝑔</a:t>
            </a:r>
            <a:r>
              <a:rPr dirty="0" sz="1600" spc="29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2541" y="2517470"/>
            <a:ext cx="2432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97">
                <a:latin typeface="Cambria Math"/>
                <a:cs typeface="Cambria Math"/>
              </a:rPr>
              <a:t>𝑔</a:t>
            </a:r>
            <a:r>
              <a:rPr dirty="0" sz="1150" spc="65">
                <a:latin typeface="Cambria Math"/>
                <a:cs typeface="Cambria Math"/>
              </a:rPr>
              <a:t>′</a:t>
            </a:r>
            <a:endParaRPr sz="1150">
              <a:latin typeface="Cambria Math"/>
              <a:cs typeface="Cambria Math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83935" y="2656585"/>
            <a:ext cx="246634" cy="18770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650738" y="2592146"/>
            <a:ext cx="121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423416"/>
            <a:ext cx="208102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713" y="6524434"/>
            <a:ext cx="10422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968" y="1816607"/>
            <a:ext cx="3374909" cy="128854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01980" y="3779520"/>
            <a:ext cx="8822690" cy="1963420"/>
            <a:chOff x="601980" y="3779520"/>
            <a:chExt cx="8822690" cy="196342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132" y="3928817"/>
              <a:ext cx="8585139" cy="166431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6552" y="3784092"/>
              <a:ext cx="8813800" cy="1953895"/>
            </a:xfrm>
            <a:custGeom>
              <a:avLst/>
              <a:gdLst/>
              <a:ahLst/>
              <a:cxnLst/>
              <a:rect l="l" t="t" r="r" b="b"/>
              <a:pathLst>
                <a:path w="8813800" h="1953895">
                  <a:moveTo>
                    <a:pt x="0" y="1953768"/>
                  </a:moveTo>
                  <a:lnTo>
                    <a:pt x="8813292" y="1953768"/>
                  </a:lnTo>
                  <a:lnTo>
                    <a:pt x="8813292" y="0"/>
                  </a:lnTo>
                  <a:lnTo>
                    <a:pt x="0" y="0"/>
                  </a:lnTo>
                  <a:lnTo>
                    <a:pt x="0" y="1953768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9782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5.5.</a:t>
            </a:r>
            <a:r>
              <a:rPr dirty="0" spc="-25"/>
              <a:t> </a:t>
            </a:r>
            <a:r>
              <a:rPr dirty="0" spc="-5"/>
              <a:t>Derivatives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5"/>
              <a:t>Composite</a:t>
            </a:r>
            <a:r>
              <a:rPr dirty="0" spc="-30"/>
              <a:t> </a:t>
            </a:r>
            <a:r>
              <a:rPr dirty="0" spc="-5"/>
              <a:t>Functions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423416"/>
            <a:ext cx="2082545" cy="15773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83336" y="3211067"/>
            <a:ext cx="4456430" cy="4089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9398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740"/>
              </a:spcBef>
            </a:pPr>
            <a:r>
              <a:rPr dirty="0" sz="1400" spc="5">
                <a:latin typeface="Cambria Math"/>
                <a:cs typeface="Cambria Math"/>
              </a:rPr>
              <a:t>𝑓′(𝑥)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 spc="5">
                <a:latin typeface="Cambria Math"/>
                <a:cs typeface="Cambria Math"/>
              </a:rPr>
              <a:t>{𝑓(𝜇)}’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𝑓′(𝜇)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 spc="50">
                <a:latin typeface="Cambria Math"/>
                <a:cs typeface="Cambria Math"/>
              </a:rPr>
              <a:t>∙</a:t>
            </a:r>
            <a:r>
              <a:rPr dirty="0" sz="1400">
                <a:latin typeface="Cambria Math"/>
                <a:cs typeface="Cambria Math"/>
              </a:rPr>
              <a:t> </a:t>
            </a:r>
            <a:r>
              <a:rPr dirty="0" sz="1400" spc="65">
                <a:latin typeface="Cambria Math"/>
                <a:cs typeface="Cambria Math"/>
              </a:rPr>
              <a:t>𝑢</a:t>
            </a:r>
            <a:r>
              <a:rPr dirty="0" baseline="27777" sz="1500" spc="97">
                <a:latin typeface="Cambria Math"/>
                <a:cs typeface="Cambria Math"/>
              </a:rPr>
              <a:t>′</a:t>
            </a:r>
            <a:r>
              <a:rPr dirty="0" baseline="27777" sz="1500" spc="217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 3</a:t>
            </a:r>
            <a:r>
              <a:rPr dirty="0" sz="1400" spc="5">
                <a:latin typeface="Cambria Math"/>
                <a:cs typeface="Cambria Math"/>
              </a:rPr>
              <a:t> </a:t>
            </a:r>
            <a:r>
              <a:rPr dirty="0" sz="1400" spc="30">
                <a:latin typeface="Cambria Math"/>
                <a:cs typeface="Cambria Math"/>
              </a:rPr>
              <a:t>𝑢</a:t>
            </a:r>
            <a:r>
              <a:rPr dirty="0" baseline="27777" sz="1500" spc="44">
                <a:latin typeface="Cambria Math"/>
                <a:cs typeface="Cambria Math"/>
              </a:rPr>
              <a:t>2</a:t>
            </a:r>
            <a:r>
              <a:rPr dirty="0" baseline="27777" sz="1500" spc="217">
                <a:latin typeface="Cambria Math"/>
                <a:cs typeface="Cambria Math"/>
              </a:rPr>
              <a:t> </a:t>
            </a:r>
            <a:r>
              <a:rPr dirty="0" sz="1400" spc="50">
                <a:latin typeface="Cambria Math"/>
                <a:cs typeface="Cambria Math"/>
              </a:rPr>
              <a:t>∙</a:t>
            </a:r>
            <a:r>
              <a:rPr dirty="0" sz="1400" spc="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(2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 spc="20">
                <a:latin typeface="Cambria Math"/>
                <a:cs typeface="Cambria Math"/>
              </a:rPr>
              <a:t>𝑥)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r>
              <a:rPr dirty="0" sz="1400" spc="10">
                <a:latin typeface="Cambria Math"/>
                <a:cs typeface="Cambria Math"/>
              </a:rPr>
              <a:t> </a:t>
            </a:r>
            <a:r>
              <a:rPr dirty="0" sz="1400" spc="30">
                <a:latin typeface="Cambria Math"/>
                <a:cs typeface="Cambria Math"/>
              </a:rPr>
              <a:t>6(𝑥</a:t>
            </a:r>
            <a:r>
              <a:rPr dirty="0" baseline="27777" sz="1500" spc="44">
                <a:latin typeface="Cambria Math"/>
                <a:cs typeface="Cambria Math"/>
              </a:rPr>
              <a:t>2</a:t>
            </a:r>
            <a:r>
              <a:rPr dirty="0" baseline="27777" sz="1500" spc="209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 </a:t>
            </a:r>
            <a:r>
              <a:rPr dirty="0" sz="1400" spc="10">
                <a:latin typeface="Cambria Math"/>
                <a:cs typeface="Cambria Math"/>
              </a:rPr>
              <a:t>2)</a:t>
            </a:r>
            <a:r>
              <a:rPr dirty="0" baseline="27777" sz="1500" spc="15">
                <a:latin typeface="Cambria Math"/>
                <a:cs typeface="Cambria Math"/>
              </a:rPr>
              <a:t>2</a:t>
            </a:r>
            <a:endParaRPr baseline="27777" sz="15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4172" y="1799844"/>
            <a:ext cx="3371850" cy="133121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9782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5.5.</a:t>
            </a:r>
            <a:r>
              <a:rPr dirty="0" spc="-25"/>
              <a:t> </a:t>
            </a:r>
            <a:r>
              <a:rPr dirty="0" spc="-5"/>
              <a:t>Derivatives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5"/>
              <a:t>Composite</a:t>
            </a:r>
            <a:r>
              <a:rPr dirty="0" spc="-30"/>
              <a:t> </a:t>
            </a:r>
            <a:r>
              <a:rPr dirty="0" spc="-5"/>
              <a:t>Functions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1687" y="3924300"/>
            <a:ext cx="8926195" cy="1809114"/>
            <a:chOff x="551687" y="3924300"/>
            <a:chExt cx="8926195" cy="1809114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6269" y="4073085"/>
              <a:ext cx="8702342" cy="14539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6259" y="3928872"/>
              <a:ext cx="8917305" cy="1800225"/>
            </a:xfrm>
            <a:custGeom>
              <a:avLst/>
              <a:gdLst/>
              <a:ahLst/>
              <a:cxnLst/>
              <a:rect l="l" t="t" r="r" b="b"/>
              <a:pathLst>
                <a:path w="8917305" h="1800225">
                  <a:moveTo>
                    <a:pt x="0" y="1799843"/>
                  </a:moveTo>
                  <a:lnTo>
                    <a:pt x="8916924" y="1799843"/>
                  </a:lnTo>
                  <a:lnTo>
                    <a:pt x="8916924" y="0"/>
                  </a:lnTo>
                  <a:lnTo>
                    <a:pt x="0" y="0"/>
                  </a:lnTo>
                  <a:lnTo>
                    <a:pt x="0" y="1799843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423416"/>
            <a:ext cx="2082545" cy="15773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74191" y="3258311"/>
            <a:ext cx="4525010" cy="502920"/>
            <a:chOff x="774191" y="3258311"/>
            <a:chExt cx="4525010" cy="502920"/>
          </a:xfrm>
        </p:grpSpPr>
        <p:sp>
          <p:nvSpPr>
            <p:cNvPr id="13" name="object 13"/>
            <p:cNvSpPr/>
            <p:nvPr/>
          </p:nvSpPr>
          <p:spPr>
            <a:xfrm>
              <a:off x="774191" y="3258311"/>
              <a:ext cx="4525010" cy="502920"/>
            </a:xfrm>
            <a:custGeom>
              <a:avLst/>
              <a:gdLst/>
              <a:ahLst/>
              <a:cxnLst/>
              <a:rect l="l" t="t" r="r" b="b"/>
              <a:pathLst>
                <a:path w="4525010" h="502920">
                  <a:moveTo>
                    <a:pt x="4524756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4524756" y="502919"/>
                  </a:lnTo>
                  <a:lnTo>
                    <a:pt x="45247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50665" y="3517391"/>
              <a:ext cx="178435" cy="13970"/>
            </a:xfrm>
            <a:custGeom>
              <a:avLst/>
              <a:gdLst/>
              <a:ahLst/>
              <a:cxnLst/>
              <a:rect l="l" t="t" r="r" b="b"/>
              <a:pathLst>
                <a:path w="178435" h="13970">
                  <a:moveTo>
                    <a:pt x="178308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78308" y="13715"/>
                  </a:lnTo>
                  <a:lnTo>
                    <a:pt x="178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596894" y="3302888"/>
            <a:ext cx="984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35"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5773" y="3479672"/>
            <a:ext cx="23558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dirty="0" baseline="-16908" sz="1725" spc="120">
                <a:latin typeface="Cambria Math"/>
                <a:cs typeface="Cambria Math"/>
              </a:rPr>
              <a:t>𝑢</a:t>
            </a:r>
            <a:r>
              <a:rPr dirty="0" sz="950" spc="80">
                <a:latin typeface="Cambria Math"/>
                <a:cs typeface="Cambria Math"/>
              </a:rPr>
              <a:t>3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6808" y="3366897"/>
            <a:ext cx="37185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898140" algn="l"/>
              </a:tabLst>
            </a:pPr>
            <a:r>
              <a:rPr dirty="0" sz="1600" spc="5">
                <a:latin typeface="Cambria Math"/>
                <a:cs typeface="Cambria Math"/>
              </a:rPr>
              <a:t>𝑔′(𝑥)</a:t>
            </a:r>
            <a:r>
              <a:rPr dirty="0" sz="1600" spc="-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1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{g(𝜇)}’ </a:t>
            </a:r>
            <a:r>
              <a:rPr dirty="0" sz="1600" spc="-5">
                <a:latin typeface="Cambria Math"/>
                <a:cs typeface="Cambria Math"/>
              </a:rPr>
              <a:t>= </a:t>
            </a:r>
            <a:r>
              <a:rPr dirty="0" sz="1600" spc="5">
                <a:latin typeface="Cambria Math"/>
                <a:cs typeface="Cambria Math"/>
              </a:rPr>
              <a:t>g′(𝜇)</a:t>
            </a:r>
            <a:r>
              <a:rPr dirty="0" sz="1600" spc="10">
                <a:latin typeface="Cambria Math"/>
                <a:cs typeface="Cambria Math"/>
              </a:rPr>
              <a:t> </a:t>
            </a:r>
            <a:r>
              <a:rPr dirty="0" sz="1600" spc="55">
                <a:latin typeface="Cambria Math"/>
                <a:cs typeface="Cambria Math"/>
              </a:rPr>
              <a:t>∙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70">
                <a:latin typeface="Cambria Math"/>
                <a:cs typeface="Cambria Math"/>
              </a:rPr>
              <a:t>𝑢</a:t>
            </a:r>
            <a:r>
              <a:rPr dirty="0" baseline="28985" sz="1725" spc="104">
                <a:latin typeface="Cambria Math"/>
                <a:cs typeface="Cambria Math"/>
              </a:rPr>
              <a:t>′</a:t>
            </a:r>
            <a:r>
              <a:rPr dirty="0" baseline="28985" sz="1725" spc="24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</a:t>
            </a:r>
            <a:r>
              <a:rPr dirty="0" sz="1600" spc="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-	</a:t>
            </a:r>
            <a:r>
              <a:rPr dirty="0" sz="1600" spc="55">
                <a:latin typeface="Cambria Math"/>
                <a:cs typeface="Cambria Math"/>
              </a:rPr>
              <a:t>∙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4</a:t>
            </a:r>
            <a:r>
              <a:rPr dirty="0" sz="1600" spc="-20">
                <a:latin typeface="Cambria Math"/>
                <a:cs typeface="Cambria Math"/>
              </a:rPr>
              <a:t> </a:t>
            </a:r>
            <a:r>
              <a:rPr dirty="0" sz="1600" spc="55">
                <a:latin typeface="Cambria Math"/>
                <a:cs typeface="Cambria Math"/>
              </a:rPr>
              <a:t>𝑥</a:t>
            </a:r>
            <a:r>
              <a:rPr dirty="0" baseline="28985" sz="1725" spc="82">
                <a:latin typeface="Cambria Math"/>
                <a:cs typeface="Cambria Math"/>
              </a:rPr>
              <a:t>3</a:t>
            </a:r>
            <a:r>
              <a:rPr dirty="0" baseline="28985" sz="1725" spc="217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= -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02226" y="3517391"/>
            <a:ext cx="570230" cy="13970"/>
          </a:xfrm>
          <a:custGeom>
            <a:avLst/>
            <a:gdLst/>
            <a:ahLst/>
            <a:cxnLst/>
            <a:rect l="l" t="t" r="r" b="b"/>
            <a:pathLst>
              <a:path w="570229" h="13970">
                <a:moveTo>
                  <a:pt x="569976" y="0"/>
                </a:moveTo>
                <a:lnTo>
                  <a:pt x="0" y="0"/>
                </a:lnTo>
                <a:lnTo>
                  <a:pt x="0" y="13715"/>
                </a:lnTo>
                <a:lnTo>
                  <a:pt x="569976" y="13715"/>
                </a:lnTo>
                <a:lnTo>
                  <a:pt x="569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58182" y="3302888"/>
            <a:ext cx="18542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30">
                <a:latin typeface="Cambria Math"/>
                <a:cs typeface="Cambria Math"/>
              </a:rPr>
              <a:t>8</a:t>
            </a:r>
            <a:r>
              <a:rPr dirty="0" sz="1150" spc="140">
                <a:latin typeface="Cambria Math"/>
                <a:cs typeface="Cambria Math"/>
              </a:rPr>
              <a:t>𝑥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38014" y="3273933"/>
            <a:ext cx="8572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950" spc="40">
                <a:latin typeface="Cambria Math"/>
                <a:cs typeface="Cambria Math"/>
              </a:rPr>
              <a:t>3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77334" y="3523869"/>
            <a:ext cx="62674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dirty="0" sz="1150" spc="40">
                <a:latin typeface="Cambria Math"/>
                <a:cs typeface="Cambria Math"/>
              </a:rPr>
              <a:t>(𝑥</a:t>
            </a:r>
            <a:r>
              <a:rPr dirty="0" baseline="20467" sz="1425" spc="60">
                <a:latin typeface="Cambria Math"/>
                <a:cs typeface="Cambria Math"/>
              </a:rPr>
              <a:t>4</a:t>
            </a:r>
            <a:r>
              <a:rPr dirty="0" sz="1150" spc="40">
                <a:latin typeface="Cambria Math"/>
                <a:cs typeface="Cambria Math"/>
              </a:rPr>
              <a:t>+1)</a:t>
            </a:r>
            <a:r>
              <a:rPr dirty="0" baseline="20467" sz="1425" spc="60">
                <a:latin typeface="Cambria Math"/>
                <a:cs typeface="Cambria Math"/>
              </a:rPr>
              <a:t>3</a:t>
            </a:r>
            <a:endParaRPr baseline="20467" sz="14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3675" y="6524434"/>
            <a:ext cx="105886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036" y="3896867"/>
            <a:ext cx="3943350" cy="14455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61788" y="3895344"/>
            <a:ext cx="3573017" cy="13174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8032" y="3218688"/>
            <a:ext cx="7020306" cy="377189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713" y="6524434"/>
            <a:ext cx="10422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05127" y="3140964"/>
            <a:ext cx="5690870" cy="969644"/>
          </a:xfrm>
          <a:custGeom>
            <a:avLst/>
            <a:gdLst/>
            <a:ahLst/>
            <a:cxnLst/>
            <a:rect l="l" t="t" r="r" b="b"/>
            <a:pathLst>
              <a:path w="5690870" h="969645">
                <a:moveTo>
                  <a:pt x="5690616" y="0"/>
                </a:moveTo>
                <a:lnTo>
                  <a:pt x="0" y="0"/>
                </a:lnTo>
                <a:lnTo>
                  <a:pt x="0" y="969263"/>
                </a:lnTo>
                <a:lnTo>
                  <a:pt x="5690616" y="969263"/>
                </a:lnTo>
                <a:lnTo>
                  <a:pt x="56906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3177"/>
            <a:ext cx="6092190" cy="3025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5013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5.6.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High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Order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Derivatives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Partial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Derivatives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7887" y="2441448"/>
            <a:ext cx="8434577" cy="21602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" y="1900427"/>
            <a:ext cx="7218426" cy="18973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233422" y="5098541"/>
            <a:ext cx="1152525" cy="936625"/>
          </a:xfrm>
          <a:custGeom>
            <a:avLst/>
            <a:gdLst/>
            <a:ahLst/>
            <a:cxnLst/>
            <a:rect l="l" t="t" r="r" b="b"/>
            <a:pathLst>
              <a:path w="1152525" h="936625">
                <a:moveTo>
                  <a:pt x="0" y="0"/>
                </a:moveTo>
                <a:lnTo>
                  <a:pt x="0" y="936104"/>
                </a:lnTo>
              </a:path>
              <a:path w="1152525" h="936625">
                <a:moveTo>
                  <a:pt x="0" y="935735"/>
                </a:moveTo>
                <a:lnTo>
                  <a:pt x="1152143" y="935735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81276" y="4989957"/>
            <a:ext cx="111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1097" y="5876035"/>
            <a:ext cx="106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2438" y="5985764"/>
            <a:ext cx="106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32660" y="5559552"/>
            <a:ext cx="793115" cy="474980"/>
            <a:chOff x="2232660" y="5559552"/>
            <a:chExt cx="793115" cy="474980"/>
          </a:xfrm>
        </p:grpSpPr>
        <p:sp>
          <p:nvSpPr>
            <p:cNvPr id="16" name="object 16"/>
            <p:cNvSpPr/>
            <p:nvPr/>
          </p:nvSpPr>
          <p:spPr>
            <a:xfrm>
              <a:off x="2592324" y="5599176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435178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32660" y="5599176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4" h="0">
                  <a:moveTo>
                    <a:pt x="36004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2700" y="5559552"/>
              <a:ext cx="83819" cy="838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663952" y="5561076"/>
              <a:ext cx="361950" cy="76200"/>
            </a:xfrm>
            <a:custGeom>
              <a:avLst/>
              <a:gdLst/>
              <a:ahLst/>
              <a:cxnLst/>
              <a:rect l="l" t="t" r="r" b="b"/>
              <a:pathLst>
                <a:path w="3619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36195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361950" h="76200">
                  <a:moveTo>
                    <a:pt x="361442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361442" y="44450"/>
                  </a:lnTo>
                  <a:lnTo>
                    <a:pt x="361442" y="3175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4405121" y="5098541"/>
            <a:ext cx="1152525" cy="936625"/>
          </a:xfrm>
          <a:custGeom>
            <a:avLst/>
            <a:gdLst/>
            <a:ahLst/>
            <a:cxnLst/>
            <a:rect l="l" t="t" r="r" b="b"/>
            <a:pathLst>
              <a:path w="1152525" h="936625">
                <a:moveTo>
                  <a:pt x="0" y="0"/>
                </a:moveTo>
                <a:lnTo>
                  <a:pt x="0" y="936104"/>
                </a:lnTo>
              </a:path>
              <a:path w="1152525" h="936625">
                <a:moveTo>
                  <a:pt x="0" y="935735"/>
                </a:moveTo>
                <a:lnTo>
                  <a:pt x="1152143" y="935735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253610" y="4989957"/>
            <a:ext cx="111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23305" y="5876035"/>
            <a:ext cx="106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14646" y="5985764"/>
            <a:ext cx="106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404359" y="5181600"/>
            <a:ext cx="403860" cy="852805"/>
            <a:chOff x="4404359" y="5181600"/>
            <a:chExt cx="403860" cy="852805"/>
          </a:xfrm>
        </p:grpSpPr>
        <p:sp>
          <p:nvSpPr>
            <p:cNvPr id="25" name="object 25"/>
            <p:cNvSpPr/>
            <p:nvPr/>
          </p:nvSpPr>
          <p:spPr>
            <a:xfrm>
              <a:off x="4764023" y="5599176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435178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04359" y="5599176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36004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4399" y="5559552"/>
              <a:ext cx="83820" cy="8382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725923" y="5181600"/>
              <a:ext cx="76200" cy="361950"/>
            </a:xfrm>
            <a:custGeom>
              <a:avLst/>
              <a:gdLst/>
              <a:ahLst/>
              <a:cxnLst/>
              <a:rect l="l" t="t" r="r" b="b"/>
              <a:pathLst>
                <a:path w="76200" h="361950">
                  <a:moveTo>
                    <a:pt x="31750" y="285241"/>
                  </a:moveTo>
                  <a:lnTo>
                    <a:pt x="0" y="285241"/>
                  </a:lnTo>
                  <a:lnTo>
                    <a:pt x="38100" y="361441"/>
                  </a:lnTo>
                  <a:lnTo>
                    <a:pt x="69850" y="297941"/>
                  </a:lnTo>
                  <a:lnTo>
                    <a:pt x="31750" y="297941"/>
                  </a:lnTo>
                  <a:lnTo>
                    <a:pt x="31750" y="285241"/>
                  </a:lnTo>
                  <a:close/>
                </a:path>
                <a:path w="76200" h="361950">
                  <a:moveTo>
                    <a:pt x="44450" y="0"/>
                  </a:moveTo>
                  <a:lnTo>
                    <a:pt x="31750" y="0"/>
                  </a:lnTo>
                  <a:lnTo>
                    <a:pt x="31750" y="297941"/>
                  </a:lnTo>
                  <a:lnTo>
                    <a:pt x="44450" y="297941"/>
                  </a:lnTo>
                  <a:lnTo>
                    <a:pt x="44450" y="0"/>
                  </a:lnTo>
                  <a:close/>
                </a:path>
                <a:path w="76200" h="361950">
                  <a:moveTo>
                    <a:pt x="76200" y="285241"/>
                  </a:moveTo>
                  <a:lnTo>
                    <a:pt x="44450" y="285241"/>
                  </a:lnTo>
                  <a:lnTo>
                    <a:pt x="44450" y="297941"/>
                  </a:lnTo>
                  <a:lnTo>
                    <a:pt x="69850" y="297941"/>
                  </a:lnTo>
                  <a:lnTo>
                    <a:pt x="76200" y="28524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6531102" y="5098541"/>
            <a:ext cx="1152525" cy="936625"/>
          </a:xfrm>
          <a:custGeom>
            <a:avLst/>
            <a:gdLst/>
            <a:ahLst/>
            <a:cxnLst/>
            <a:rect l="l" t="t" r="r" b="b"/>
            <a:pathLst>
              <a:path w="1152525" h="936625">
                <a:moveTo>
                  <a:pt x="0" y="0"/>
                </a:moveTo>
                <a:lnTo>
                  <a:pt x="0" y="936104"/>
                </a:lnTo>
              </a:path>
              <a:path w="1152525" h="936625">
                <a:moveTo>
                  <a:pt x="0" y="935735"/>
                </a:moveTo>
                <a:lnTo>
                  <a:pt x="1152144" y="935735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380226" y="4989957"/>
            <a:ext cx="111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49920" y="5876035"/>
            <a:ext cx="106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1260" y="5985764"/>
            <a:ext cx="106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530340" y="5234940"/>
            <a:ext cx="685800" cy="799465"/>
            <a:chOff x="6530340" y="5234940"/>
            <a:chExt cx="685800" cy="799465"/>
          </a:xfrm>
        </p:grpSpPr>
        <p:sp>
          <p:nvSpPr>
            <p:cNvPr id="34" name="object 34"/>
            <p:cNvSpPr/>
            <p:nvPr/>
          </p:nvSpPr>
          <p:spPr>
            <a:xfrm>
              <a:off x="6891528" y="5599176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435178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530340" y="5599176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36004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0380" y="5559552"/>
              <a:ext cx="85344" cy="8382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606770" y="5237988"/>
              <a:ext cx="606425" cy="661670"/>
            </a:xfrm>
            <a:custGeom>
              <a:avLst/>
              <a:gdLst/>
              <a:ahLst/>
              <a:cxnLst/>
              <a:rect l="l" t="t" r="r" b="b"/>
              <a:pathLst>
                <a:path w="606425" h="661670">
                  <a:moveTo>
                    <a:pt x="316253" y="289941"/>
                  </a:moveTo>
                  <a:lnTo>
                    <a:pt x="321780" y="267930"/>
                  </a:lnTo>
                  <a:lnTo>
                    <a:pt x="328937" y="248634"/>
                  </a:lnTo>
                  <a:lnTo>
                    <a:pt x="339310" y="234719"/>
                  </a:lnTo>
                  <a:lnTo>
                    <a:pt x="354480" y="228853"/>
                  </a:lnTo>
                  <a:lnTo>
                    <a:pt x="379741" y="232189"/>
                  </a:lnTo>
                  <a:lnTo>
                    <a:pt x="412646" y="243157"/>
                  </a:lnTo>
                  <a:lnTo>
                    <a:pt x="443170" y="260340"/>
                  </a:lnTo>
                  <a:lnTo>
                    <a:pt x="461287" y="282321"/>
                  </a:lnTo>
                  <a:lnTo>
                    <a:pt x="462478" y="311978"/>
                  </a:lnTo>
                  <a:lnTo>
                    <a:pt x="452715" y="349032"/>
                  </a:lnTo>
                  <a:lnTo>
                    <a:pt x="437713" y="387046"/>
                  </a:lnTo>
                  <a:lnTo>
                    <a:pt x="423187" y="419582"/>
                  </a:lnTo>
                  <a:lnTo>
                    <a:pt x="411803" y="446280"/>
                  </a:lnTo>
                  <a:lnTo>
                    <a:pt x="384843" y="489671"/>
                  </a:lnTo>
                  <a:lnTo>
                    <a:pt x="327253" y="512442"/>
                  </a:lnTo>
                  <a:lnTo>
                    <a:pt x="283440" y="516853"/>
                  </a:lnTo>
                  <a:lnTo>
                    <a:pt x="238888" y="514589"/>
                  </a:lnTo>
                  <a:lnTo>
                    <a:pt x="201826" y="503504"/>
                  </a:lnTo>
                  <a:lnTo>
                    <a:pt x="150328" y="441996"/>
                  </a:lnTo>
                  <a:lnTo>
                    <a:pt x="131710" y="403911"/>
                  </a:lnTo>
                  <a:lnTo>
                    <a:pt x="117879" y="373811"/>
                  </a:lnTo>
                  <a:lnTo>
                    <a:pt x="108831" y="356879"/>
                  </a:lnTo>
                  <a:lnTo>
                    <a:pt x="104544" y="347106"/>
                  </a:lnTo>
                  <a:lnTo>
                    <a:pt x="105021" y="337339"/>
                  </a:lnTo>
                  <a:lnTo>
                    <a:pt x="110259" y="320421"/>
                  </a:lnTo>
                  <a:lnTo>
                    <a:pt x="140327" y="256063"/>
                  </a:lnTo>
                  <a:lnTo>
                    <a:pt x="160551" y="220122"/>
                  </a:lnTo>
                  <a:lnTo>
                    <a:pt x="194565" y="169904"/>
                  </a:lnTo>
                  <a:lnTo>
                    <a:pt x="224383" y="141158"/>
                  </a:lnTo>
                  <a:lnTo>
                    <a:pt x="255948" y="119189"/>
                  </a:lnTo>
                  <a:lnTo>
                    <a:pt x="308633" y="99187"/>
                  </a:lnTo>
                  <a:lnTo>
                    <a:pt x="358274" y="96805"/>
                  </a:lnTo>
                  <a:lnTo>
                    <a:pt x="384482" y="97936"/>
                  </a:lnTo>
                  <a:lnTo>
                    <a:pt x="407820" y="99187"/>
                  </a:lnTo>
                  <a:lnTo>
                    <a:pt x="426825" y="98413"/>
                  </a:lnTo>
                  <a:lnTo>
                    <a:pt x="443174" y="96805"/>
                  </a:lnTo>
                  <a:lnTo>
                    <a:pt x="459023" y="98294"/>
                  </a:lnTo>
                  <a:lnTo>
                    <a:pt x="476527" y="106806"/>
                  </a:lnTo>
                  <a:lnTo>
                    <a:pt x="519930" y="148304"/>
                  </a:lnTo>
                  <a:lnTo>
                    <a:pt x="560474" y="205994"/>
                  </a:lnTo>
                  <a:lnTo>
                    <a:pt x="591970" y="272256"/>
                  </a:lnTo>
                  <a:lnTo>
                    <a:pt x="606321" y="343281"/>
                  </a:lnTo>
                  <a:lnTo>
                    <a:pt x="600646" y="377975"/>
                  </a:lnTo>
                  <a:lnTo>
                    <a:pt x="587684" y="412907"/>
                  </a:lnTo>
                  <a:lnTo>
                    <a:pt x="570674" y="447360"/>
                  </a:lnTo>
                  <a:lnTo>
                    <a:pt x="552854" y="480618"/>
                  </a:lnTo>
                  <a:lnTo>
                    <a:pt x="535291" y="513815"/>
                  </a:lnTo>
                  <a:lnTo>
                    <a:pt x="516167" y="546892"/>
                  </a:lnTo>
                  <a:lnTo>
                    <a:pt x="468907" y="602678"/>
                  </a:lnTo>
                  <a:lnTo>
                    <a:pt x="401216" y="637005"/>
                  </a:lnTo>
                  <a:lnTo>
                    <a:pt x="364501" y="648093"/>
                  </a:lnTo>
                  <a:lnTo>
                    <a:pt x="304101" y="660546"/>
                  </a:lnTo>
                  <a:lnTo>
                    <a:pt x="279582" y="661320"/>
                  </a:lnTo>
                  <a:lnTo>
                    <a:pt x="256254" y="659475"/>
                  </a:lnTo>
                  <a:lnTo>
                    <a:pt x="207004" y="651488"/>
                  </a:lnTo>
                  <a:lnTo>
                    <a:pt x="156350" y="636586"/>
                  </a:lnTo>
                  <a:lnTo>
                    <a:pt x="111926" y="612866"/>
                  </a:lnTo>
                  <a:lnTo>
                    <a:pt x="73826" y="580327"/>
                  </a:lnTo>
                  <a:lnTo>
                    <a:pt x="40475" y="527103"/>
                  </a:lnTo>
                  <a:lnTo>
                    <a:pt x="24899" y="492058"/>
                  </a:lnTo>
                  <a:lnTo>
                    <a:pt x="11967" y="453198"/>
                  </a:lnTo>
                  <a:lnTo>
                    <a:pt x="3452" y="411949"/>
                  </a:lnTo>
                  <a:lnTo>
                    <a:pt x="0" y="365335"/>
                  </a:lnTo>
                  <a:lnTo>
                    <a:pt x="595" y="313710"/>
                  </a:lnTo>
                  <a:lnTo>
                    <a:pt x="4524" y="263525"/>
                  </a:lnTo>
                  <a:lnTo>
                    <a:pt x="11072" y="221234"/>
                  </a:lnTo>
                  <a:lnTo>
                    <a:pt x="32996" y="164496"/>
                  </a:lnTo>
                  <a:lnTo>
                    <a:pt x="64539" y="122047"/>
                  </a:lnTo>
                  <a:lnTo>
                    <a:pt x="105513" y="80597"/>
                  </a:lnTo>
                  <a:lnTo>
                    <a:pt x="148486" y="45720"/>
                  </a:lnTo>
                  <a:lnTo>
                    <a:pt x="184205" y="20002"/>
                  </a:lnTo>
                  <a:lnTo>
                    <a:pt x="200814" y="9644"/>
                  </a:lnTo>
                  <a:lnTo>
                    <a:pt x="217066" y="0"/>
                  </a:lnTo>
                </a:path>
              </a:pathLst>
            </a:custGeom>
            <a:ln w="60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01332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5.6.</a:t>
            </a:r>
            <a:r>
              <a:rPr dirty="0" spc="-15"/>
              <a:t> </a:t>
            </a:r>
            <a:r>
              <a:rPr dirty="0" spc="-10"/>
              <a:t>High</a:t>
            </a:r>
            <a:r>
              <a:rPr dirty="0"/>
              <a:t> </a:t>
            </a:r>
            <a:r>
              <a:rPr dirty="0" spc="-5"/>
              <a:t>Order</a:t>
            </a:r>
            <a:r>
              <a:rPr dirty="0" spc="5"/>
              <a:t> </a:t>
            </a:r>
            <a:r>
              <a:rPr dirty="0" spc="-5"/>
              <a:t>Derivatives </a:t>
            </a:r>
            <a:r>
              <a:rPr dirty="0"/>
              <a:t>and </a:t>
            </a:r>
            <a:r>
              <a:rPr dirty="0" spc="-5"/>
              <a:t>Partial</a:t>
            </a:r>
            <a:r>
              <a:rPr dirty="0"/>
              <a:t> </a:t>
            </a:r>
            <a:r>
              <a:rPr dirty="0" spc="-5"/>
              <a:t>Derivatives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0183" y="3311652"/>
            <a:ext cx="5971540" cy="1715770"/>
            <a:chOff x="710183" y="3311652"/>
            <a:chExt cx="5971540" cy="171577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183" y="3311652"/>
              <a:ext cx="5785866" cy="1715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33827" y="4148328"/>
              <a:ext cx="4247515" cy="596265"/>
            </a:xfrm>
            <a:custGeom>
              <a:avLst/>
              <a:gdLst/>
              <a:ahLst/>
              <a:cxnLst/>
              <a:rect l="l" t="t" r="r" b="b"/>
              <a:pathLst>
                <a:path w="4247515" h="596264">
                  <a:moveTo>
                    <a:pt x="4247387" y="0"/>
                  </a:moveTo>
                  <a:lnTo>
                    <a:pt x="0" y="0"/>
                  </a:lnTo>
                  <a:lnTo>
                    <a:pt x="0" y="595884"/>
                  </a:lnTo>
                  <a:lnTo>
                    <a:pt x="4247387" y="595884"/>
                  </a:lnTo>
                  <a:lnTo>
                    <a:pt x="424738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53842" y="4442206"/>
              <a:ext cx="619125" cy="12700"/>
            </a:xfrm>
            <a:custGeom>
              <a:avLst/>
              <a:gdLst/>
              <a:ahLst/>
              <a:cxnLst/>
              <a:rect l="l" t="t" r="r" b="b"/>
              <a:pathLst>
                <a:path w="619125" h="12700">
                  <a:moveTo>
                    <a:pt x="618744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618744" y="12191"/>
                  </a:lnTo>
                  <a:lnTo>
                    <a:pt x="61874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680" y="1423416"/>
            <a:ext cx="2699766" cy="18973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600072" y="1769236"/>
            <a:ext cx="6703059" cy="1297305"/>
            <a:chOff x="1600072" y="1769236"/>
            <a:chExt cx="6703059" cy="1297305"/>
          </a:xfrm>
        </p:grpSpPr>
        <p:sp>
          <p:nvSpPr>
            <p:cNvPr id="13" name="object 13"/>
            <p:cNvSpPr/>
            <p:nvPr/>
          </p:nvSpPr>
          <p:spPr>
            <a:xfrm>
              <a:off x="1603247" y="1772411"/>
              <a:ext cx="6696709" cy="1290955"/>
            </a:xfrm>
            <a:custGeom>
              <a:avLst/>
              <a:gdLst/>
              <a:ahLst/>
              <a:cxnLst/>
              <a:rect l="l" t="t" r="r" b="b"/>
              <a:pathLst>
                <a:path w="6696709" h="1290955">
                  <a:moveTo>
                    <a:pt x="0" y="1290827"/>
                  </a:moveTo>
                  <a:lnTo>
                    <a:pt x="6696456" y="1290827"/>
                  </a:lnTo>
                  <a:lnTo>
                    <a:pt x="6696456" y="0"/>
                  </a:lnTo>
                  <a:lnTo>
                    <a:pt x="0" y="0"/>
                  </a:lnTo>
                  <a:lnTo>
                    <a:pt x="0" y="129082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08453" y="1917953"/>
              <a:ext cx="1152525" cy="936625"/>
            </a:xfrm>
            <a:custGeom>
              <a:avLst/>
              <a:gdLst/>
              <a:ahLst/>
              <a:cxnLst/>
              <a:rect l="l" t="t" r="r" b="b"/>
              <a:pathLst>
                <a:path w="1152525" h="936625">
                  <a:moveTo>
                    <a:pt x="0" y="0"/>
                  </a:moveTo>
                  <a:lnTo>
                    <a:pt x="0" y="936117"/>
                  </a:lnTo>
                </a:path>
                <a:path w="1152525" h="936625">
                  <a:moveTo>
                    <a:pt x="0" y="935736"/>
                  </a:moveTo>
                  <a:lnTo>
                    <a:pt x="1152144" y="935736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968754" y="1807845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8448" y="2693923"/>
            <a:ext cx="93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9789" y="2803347"/>
            <a:ext cx="939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04517" y="1907794"/>
            <a:ext cx="3338195" cy="956944"/>
            <a:chOff x="2104517" y="1907794"/>
            <a:chExt cx="3338195" cy="956944"/>
          </a:xfrm>
        </p:grpSpPr>
        <p:sp>
          <p:nvSpPr>
            <p:cNvPr id="19" name="object 19"/>
            <p:cNvSpPr/>
            <p:nvPr/>
          </p:nvSpPr>
          <p:spPr>
            <a:xfrm>
              <a:off x="2467356" y="2417063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435228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07692" y="2417063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4" h="0">
                  <a:moveTo>
                    <a:pt x="36004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7732" y="2378963"/>
              <a:ext cx="83819" cy="8382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37460" y="2378963"/>
              <a:ext cx="361950" cy="76200"/>
            </a:xfrm>
            <a:custGeom>
              <a:avLst/>
              <a:gdLst/>
              <a:ahLst/>
              <a:cxnLst/>
              <a:rect l="l" t="t" r="r" b="b"/>
              <a:pathLst>
                <a:path w="3619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36195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361950" h="76200">
                  <a:moveTo>
                    <a:pt x="361441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361441" y="44450"/>
                  </a:lnTo>
                  <a:lnTo>
                    <a:pt x="361441" y="3175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80154" y="1917954"/>
              <a:ext cx="1152525" cy="936625"/>
            </a:xfrm>
            <a:custGeom>
              <a:avLst/>
              <a:gdLst/>
              <a:ahLst/>
              <a:cxnLst/>
              <a:rect l="l" t="t" r="r" b="b"/>
              <a:pathLst>
                <a:path w="1152525" h="936625">
                  <a:moveTo>
                    <a:pt x="0" y="0"/>
                  </a:moveTo>
                  <a:lnTo>
                    <a:pt x="0" y="936117"/>
                  </a:lnTo>
                </a:path>
                <a:path w="1152525" h="936625">
                  <a:moveTo>
                    <a:pt x="0" y="935736"/>
                  </a:moveTo>
                  <a:lnTo>
                    <a:pt x="1152144" y="935736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140961" y="1807845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10784" y="2693923"/>
            <a:ext cx="93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02123" y="2803347"/>
            <a:ext cx="939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76216" y="1907794"/>
            <a:ext cx="3292475" cy="956944"/>
            <a:chOff x="4276216" y="1907794"/>
            <a:chExt cx="3292475" cy="956944"/>
          </a:xfrm>
        </p:grpSpPr>
        <p:sp>
          <p:nvSpPr>
            <p:cNvPr id="28" name="object 28"/>
            <p:cNvSpPr/>
            <p:nvPr/>
          </p:nvSpPr>
          <p:spPr>
            <a:xfrm>
              <a:off x="4639055" y="2417063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435228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279391" y="2417063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36004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9431" y="2378963"/>
              <a:ext cx="83820" cy="8382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00955" y="2001012"/>
              <a:ext cx="76200" cy="361950"/>
            </a:xfrm>
            <a:custGeom>
              <a:avLst/>
              <a:gdLst/>
              <a:ahLst/>
              <a:cxnLst/>
              <a:rect l="l" t="t" r="r" b="b"/>
              <a:pathLst>
                <a:path w="76200" h="361950">
                  <a:moveTo>
                    <a:pt x="31750" y="285241"/>
                  </a:moveTo>
                  <a:lnTo>
                    <a:pt x="0" y="285241"/>
                  </a:lnTo>
                  <a:lnTo>
                    <a:pt x="38100" y="361441"/>
                  </a:lnTo>
                  <a:lnTo>
                    <a:pt x="69850" y="297941"/>
                  </a:lnTo>
                  <a:lnTo>
                    <a:pt x="31750" y="297941"/>
                  </a:lnTo>
                  <a:lnTo>
                    <a:pt x="31750" y="285241"/>
                  </a:lnTo>
                  <a:close/>
                </a:path>
                <a:path w="76200" h="361950">
                  <a:moveTo>
                    <a:pt x="44450" y="0"/>
                  </a:moveTo>
                  <a:lnTo>
                    <a:pt x="31750" y="0"/>
                  </a:lnTo>
                  <a:lnTo>
                    <a:pt x="31750" y="297941"/>
                  </a:lnTo>
                  <a:lnTo>
                    <a:pt x="44450" y="297941"/>
                  </a:lnTo>
                  <a:lnTo>
                    <a:pt x="44450" y="0"/>
                  </a:lnTo>
                  <a:close/>
                </a:path>
                <a:path w="76200" h="361950">
                  <a:moveTo>
                    <a:pt x="76200" y="285241"/>
                  </a:moveTo>
                  <a:lnTo>
                    <a:pt x="44450" y="285241"/>
                  </a:lnTo>
                  <a:lnTo>
                    <a:pt x="44450" y="297941"/>
                  </a:lnTo>
                  <a:lnTo>
                    <a:pt x="69850" y="297941"/>
                  </a:lnTo>
                  <a:lnTo>
                    <a:pt x="76200" y="28524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06133" y="1917954"/>
              <a:ext cx="1152525" cy="936625"/>
            </a:xfrm>
            <a:custGeom>
              <a:avLst/>
              <a:gdLst/>
              <a:ahLst/>
              <a:cxnLst/>
              <a:rect l="l" t="t" r="r" b="b"/>
              <a:pathLst>
                <a:path w="1152525" h="936625">
                  <a:moveTo>
                    <a:pt x="0" y="0"/>
                  </a:moveTo>
                  <a:lnTo>
                    <a:pt x="0" y="936117"/>
                  </a:lnTo>
                </a:path>
                <a:path w="1152525" h="936625">
                  <a:moveTo>
                    <a:pt x="0" y="935736"/>
                  </a:moveTo>
                  <a:lnTo>
                    <a:pt x="1152143" y="935736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267322" y="1807845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37398" y="2693923"/>
            <a:ext cx="93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28739" y="2803347"/>
            <a:ext cx="939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405371" y="2054351"/>
            <a:ext cx="684530" cy="798195"/>
            <a:chOff x="6405371" y="2054351"/>
            <a:chExt cx="684530" cy="798195"/>
          </a:xfrm>
        </p:grpSpPr>
        <p:sp>
          <p:nvSpPr>
            <p:cNvPr id="37" name="object 37"/>
            <p:cNvSpPr/>
            <p:nvPr/>
          </p:nvSpPr>
          <p:spPr>
            <a:xfrm>
              <a:off x="6765035" y="2417063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435228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405371" y="2417063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36004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25411" y="2378963"/>
              <a:ext cx="83820" cy="8382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481802" y="2057399"/>
              <a:ext cx="605155" cy="660400"/>
            </a:xfrm>
            <a:custGeom>
              <a:avLst/>
              <a:gdLst/>
              <a:ahLst/>
              <a:cxnLst/>
              <a:rect l="l" t="t" r="r" b="b"/>
              <a:pathLst>
                <a:path w="605154" h="660400">
                  <a:moveTo>
                    <a:pt x="315491" y="289178"/>
                  </a:moveTo>
                  <a:lnTo>
                    <a:pt x="320998" y="267315"/>
                  </a:lnTo>
                  <a:lnTo>
                    <a:pt x="328112" y="248094"/>
                  </a:lnTo>
                  <a:lnTo>
                    <a:pt x="338441" y="234207"/>
                  </a:lnTo>
                  <a:lnTo>
                    <a:pt x="353591" y="228346"/>
                  </a:lnTo>
                  <a:lnTo>
                    <a:pt x="378813" y="231677"/>
                  </a:lnTo>
                  <a:lnTo>
                    <a:pt x="411630" y="242617"/>
                  </a:lnTo>
                  <a:lnTo>
                    <a:pt x="442067" y="259724"/>
                  </a:lnTo>
                  <a:lnTo>
                    <a:pt x="460144" y="281559"/>
                  </a:lnTo>
                  <a:lnTo>
                    <a:pt x="461335" y="311203"/>
                  </a:lnTo>
                  <a:lnTo>
                    <a:pt x="451572" y="348218"/>
                  </a:lnTo>
                  <a:lnTo>
                    <a:pt x="436570" y="386161"/>
                  </a:lnTo>
                  <a:lnTo>
                    <a:pt x="422044" y="418591"/>
                  </a:lnTo>
                  <a:lnTo>
                    <a:pt x="410735" y="445260"/>
                  </a:lnTo>
                  <a:lnTo>
                    <a:pt x="383879" y="488547"/>
                  </a:lnTo>
                  <a:lnTo>
                    <a:pt x="326405" y="511214"/>
                  </a:lnTo>
                  <a:lnTo>
                    <a:pt x="282694" y="515620"/>
                  </a:lnTo>
                  <a:lnTo>
                    <a:pt x="238267" y="513357"/>
                  </a:lnTo>
                  <a:lnTo>
                    <a:pt x="201318" y="502285"/>
                  </a:lnTo>
                  <a:lnTo>
                    <a:pt x="149947" y="440975"/>
                  </a:lnTo>
                  <a:lnTo>
                    <a:pt x="131417" y="402986"/>
                  </a:lnTo>
                  <a:lnTo>
                    <a:pt x="117625" y="372999"/>
                  </a:lnTo>
                  <a:lnTo>
                    <a:pt x="108577" y="356092"/>
                  </a:lnTo>
                  <a:lnTo>
                    <a:pt x="104290" y="346328"/>
                  </a:lnTo>
                  <a:lnTo>
                    <a:pt x="104767" y="336565"/>
                  </a:lnTo>
                  <a:lnTo>
                    <a:pt x="110005" y="319659"/>
                  </a:lnTo>
                  <a:lnTo>
                    <a:pt x="139993" y="255428"/>
                  </a:lnTo>
                  <a:lnTo>
                    <a:pt x="160137" y="219575"/>
                  </a:lnTo>
                  <a:lnTo>
                    <a:pt x="194055" y="169543"/>
                  </a:lnTo>
                  <a:lnTo>
                    <a:pt x="223821" y="140900"/>
                  </a:lnTo>
                  <a:lnTo>
                    <a:pt x="255293" y="118935"/>
                  </a:lnTo>
                  <a:lnTo>
                    <a:pt x="307871" y="98933"/>
                  </a:lnTo>
                  <a:lnTo>
                    <a:pt x="357385" y="96551"/>
                  </a:lnTo>
                  <a:lnTo>
                    <a:pt x="383541" y="97682"/>
                  </a:lnTo>
                  <a:lnTo>
                    <a:pt x="406804" y="98933"/>
                  </a:lnTo>
                  <a:lnTo>
                    <a:pt x="425735" y="98159"/>
                  </a:lnTo>
                  <a:lnTo>
                    <a:pt x="442047" y="96551"/>
                  </a:lnTo>
                  <a:lnTo>
                    <a:pt x="457882" y="98040"/>
                  </a:lnTo>
                  <a:lnTo>
                    <a:pt x="475384" y="106552"/>
                  </a:lnTo>
                  <a:lnTo>
                    <a:pt x="518660" y="147923"/>
                  </a:lnTo>
                  <a:lnTo>
                    <a:pt x="559077" y="205486"/>
                  </a:lnTo>
                  <a:lnTo>
                    <a:pt x="590510" y="271621"/>
                  </a:lnTo>
                  <a:lnTo>
                    <a:pt x="604797" y="342519"/>
                  </a:lnTo>
                  <a:lnTo>
                    <a:pt x="599142" y="377092"/>
                  </a:lnTo>
                  <a:lnTo>
                    <a:pt x="586224" y="411940"/>
                  </a:lnTo>
                  <a:lnTo>
                    <a:pt x="569257" y="446335"/>
                  </a:lnTo>
                  <a:lnTo>
                    <a:pt x="551457" y="479551"/>
                  </a:lnTo>
                  <a:lnTo>
                    <a:pt x="533915" y="512637"/>
                  </a:lnTo>
                  <a:lnTo>
                    <a:pt x="514850" y="545639"/>
                  </a:lnTo>
                  <a:lnTo>
                    <a:pt x="467764" y="601345"/>
                  </a:lnTo>
                  <a:lnTo>
                    <a:pt x="400200" y="635523"/>
                  </a:lnTo>
                  <a:lnTo>
                    <a:pt x="363573" y="646582"/>
                  </a:lnTo>
                  <a:lnTo>
                    <a:pt x="303307" y="659022"/>
                  </a:lnTo>
                  <a:lnTo>
                    <a:pt x="278884" y="659796"/>
                  </a:lnTo>
                  <a:lnTo>
                    <a:pt x="255650" y="657951"/>
                  </a:lnTo>
                  <a:lnTo>
                    <a:pt x="206500" y="649974"/>
                  </a:lnTo>
                  <a:lnTo>
                    <a:pt x="155950" y="635091"/>
                  </a:lnTo>
                  <a:lnTo>
                    <a:pt x="111672" y="611417"/>
                  </a:lnTo>
                  <a:lnTo>
                    <a:pt x="73572" y="579000"/>
                  </a:lnTo>
                  <a:lnTo>
                    <a:pt x="40368" y="525879"/>
                  </a:lnTo>
                  <a:lnTo>
                    <a:pt x="24868" y="490918"/>
                  </a:lnTo>
                  <a:lnTo>
                    <a:pt x="11963" y="452147"/>
                  </a:lnTo>
                  <a:lnTo>
                    <a:pt x="3452" y="410972"/>
                  </a:lnTo>
                  <a:lnTo>
                    <a:pt x="0" y="364511"/>
                  </a:lnTo>
                  <a:lnTo>
                    <a:pt x="595" y="313039"/>
                  </a:lnTo>
                  <a:lnTo>
                    <a:pt x="4524" y="262971"/>
                  </a:lnTo>
                  <a:lnTo>
                    <a:pt x="11072" y="220725"/>
                  </a:lnTo>
                  <a:lnTo>
                    <a:pt x="32964" y="164115"/>
                  </a:lnTo>
                  <a:lnTo>
                    <a:pt x="64285" y="121792"/>
                  </a:lnTo>
                  <a:lnTo>
                    <a:pt x="105243" y="80375"/>
                  </a:lnTo>
                  <a:lnTo>
                    <a:pt x="148105" y="45720"/>
                  </a:lnTo>
                  <a:lnTo>
                    <a:pt x="183713" y="20002"/>
                  </a:lnTo>
                  <a:lnTo>
                    <a:pt x="200308" y="9644"/>
                  </a:lnTo>
                  <a:lnTo>
                    <a:pt x="216558" y="0"/>
                  </a:lnTo>
                </a:path>
              </a:pathLst>
            </a:custGeom>
            <a:ln w="60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2554223" y="4132554"/>
            <a:ext cx="631190" cy="5346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420"/>
              </a:spcBef>
            </a:pPr>
            <a:r>
              <a:rPr dirty="0" sz="1400" spc="-5">
                <a:solidFill>
                  <a:srgbClr val="252525"/>
                </a:solidFill>
                <a:latin typeface="Cambria Math"/>
                <a:cs typeface="Cambria Math"/>
              </a:rPr>
              <a:t>𝜕</a:t>
            </a:r>
            <a:r>
              <a:rPr dirty="0" sz="1400" spc="30">
                <a:solidFill>
                  <a:srgbClr val="252525"/>
                </a:solidFill>
                <a:latin typeface="Cambria Math"/>
                <a:cs typeface="Cambria Math"/>
              </a:rPr>
              <a:t>𝑓</a:t>
            </a:r>
            <a:r>
              <a:rPr dirty="0" sz="1400" spc="5">
                <a:solidFill>
                  <a:srgbClr val="252525"/>
                </a:solidFill>
                <a:latin typeface="Cambria Math"/>
                <a:cs typeface="Cambria Math"/>
              </a:rPr>
              <a:t>(</a:t>
            </a:r>
            <a:r>
              <a:rPr dirty="0" sz="1400" spc="3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400" spc="-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30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)</a:t>
            </a:r>
            <a:endParaRPr sz="1400">
              <a:latin typeface="Cambria Math"/>
              <a:cs typeface="Cambria Math"/>
            </a:endParaRPr>
          </a:p>
          <a:p>
            <a:pPr algn="ctr" marR="11430">
              <a:lnSpc>
                <a:spcPct val="100000"/>
              </a:lnSpc>
              <a:spcBef>
                <a:spcPts val="325"/>
              </a:spcBef>
            </a:pPr>
            <a:r>
              <a:rPr dirty="0" sz="1400" spc="-5">
                <a:solidFill>
                  <a:srgbClr val="252525"/>
                </a:solidFill>
                <a:latin typeface="Cambria Math"/>
                <a:cs typeface="Cambria Math"/>
              </a:rPr>
              <a:t>𝜕𝑥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774566" y="4442205"/>
            <a:ext cx="207645" cy="12700"/>
          </a:xfrm>
          <a:custGeom>
            <a:avLst/>
            <a:gdLst/>
            <a:ahLst/>
            <a:cxnLst/>
            <a:rect l="l" t="t" r="r" b="b"/>
            <a:pathLst>
              <a:path w="207645" h="12700">
                <a:moveTo>
                  <a:pt x="207263" y="0"/>
                </a:moveTo>
                <a:lnTo>
                  <a:pt x="0" y="0"/>
                </a:lnTo>
                <a:lnTo>
                  <a:pt x="0" y="12191"/>
                </a:lnTo>
                <a:lnTo>
                  <a:pt x="207263" y="12191"/>
                </a:lnTo>
                <a:lnTo>
                  <a:pt x="20726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781297" y="4173092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∆𝑧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03091" y="4465701"/>
            <a:ext cx="116586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810895" algn="l"/>
              </a:tabLst>
            </a:pPr>
            <a:r>
              <a:rPr dirty="0" sz="1000" spc="10">
                <a:latin typeface="Cambria Math"/>
                <a:cs typeface="Cambria Math"/>
              </a:rPr>
              <a:t>∆</a:t>
            </a:r>
            <a:r>
              <a:rPr dirty="0" sz="1000" spc="165">
                <a:latin typeface="Cambria Math"/>
                <a:cs typeface="Cambria Math"/>
              </a:rPr>
              <a:t>𝑥</a:t>
            </a:r>
            <a:r>
              <a:rPr dirty="0" sz="1000" spc="20">
                <a:solidFill>
                  <a:srgbClr val="252525"/>
                </a:solidFill>
                <a:latin typeface="Cambria Math"/>
                <a:cs typeface="Cambria Math"/>
              </a:rPr>
              <a:t>→</a:t>
            </a:r>
            <a:r>
              <a:rPr dirty="0" sz="1000" spc="35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r>
              <a:rPr dirty="0" sz="1000">
                <a:solidFill>
                  <a:srgbClr val="252525"/>
                </a:solidFill>
                <a:latin typeface="Cambria Math"/>
                <a:cs typeface="Cambria Math"/>
              </a:rPr>
              <a:t>	</a:t>
            </a:r>
            <a:r>
              <a:rPr dirty="0" sz="1000" spc="10">
                <a:latin typeface="Cambria Math"/>
                <a:cs typeface="Cambria Math"/>
              </a:rPr>
              <a:t>∆</a:t>
            </a:r>
            <a:r>
              <a:rPr dirty="0" sz="1000" spc="150">
                <a:latin typeface="Cambria Math"/>
                <a:cs typeface="Cambria Math"/>
              </a:rPr>
              <a:t>𝑥</a:t>
            </a:r>
            <a:r>
              <a:rPr dirty="0" sz="1000" spc="20">
                <a:solidFill>
                  <a:srgbClr val="252525"/>
                </a:solidFill>
                <a:latin typeface="Cambria Math"/>
                <a:cs typeface="Cambria Math"/>
              </a:rPr>
              <a:t>→</a:t>
            </a:r>
            <a:r>
              <a:rPr dirty="0" sz="1000" spc="35">
                <a:solidFill>
                  <a:srgbClr val="252525"/>
                </a:solidFill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94811" y="4308728"/>
            <a:ext cx="34029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459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lim</a:t>
            </a:r>
            <a:r>
              <a:rPr dirty="0" sz="1400" spc="2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baseline="-37698" sz="2100">
                <a:latin typeface="Cambria Math"/>
                <a:cs typeface="Cambria Math"/>
              </a:rPr>
              <a:t>∆𝑥</a:t>
            </a:r>
            <a:r>
              <a:rPr dirty="0" baseline="-37698" sz="2100" spc="172"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459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lim</a:t>
            </a:r>
            <a:r>
              <a:rPr dirty="0" sz="1400" spc="28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6𝑥</a:t>
            </a:r>
            <a:r>
              <a:rPr dirty="0" sz="1400" spc="3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400" spc="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2𝑦</a:t>
            </a:r>
            <a:r>
              <a:rPr dirty="0" sz="1400" spc="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400" spc="-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3∆</a:t>
            </a:r>
            <a:r>
              <a:rPr dirty="0" sz="1400">
                <a:latin typeface="Cambria Math"/>
                <a:cs typeface="Cambria Math"/>
              </a:rPr>
              <a:t>𝑥</a:t>
            </a:r>
            <a:r>
              <a:rPr dirty="0" sz="1400" spc="114"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7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6𝑥</a:t>
            </a:r>
            <a:r>
              <a:rPr dirty="0" sz="1400" spc="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400" spc="-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2𝑦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582923" y="5209032"/>
            <a:ext cx="1945005" cy="596265"/>
            <a:chOff x="3582923" y="5209032"/>
            <a:chExt cx="1945005" cy="596265"/>
          </a:xfrm>
        </p:grpSpPr>
        <p:sp>
          <p:nvSpPr>
            <p:cNvPr id="47" name="object 47"/>
            <p:cNvSpPr/>
            <p:nvPr/>
          </p:nvSpPr>
          <p:spPr>
            <a:xfrm>
              <a:off x="3582923" y="5209032"/>
              <a:ext cx="1945005" cy="596265"/>
            </a:xfrm>
            <a:custGeom>
              <a:avLst/>
              <a:gdLst/>
              <a:ahLst/>
              <a:cxnLst/>
              <a:rect l="l" t="t" r="r" b="b"/>
              <a:pathLst>
                <a:path w="1945004" h="596264">
                  <a:moveTo>
                    <a:pt x="1944624" y="0"/>
                  </a:moveTo>
                  <a:lnTo>
                    <a:pt x="0" y="0"/>
                  </a:lnTo>
                  <a:lnTo>
                    <a:pt x="0" y="595884"/>
                  </a:lnTo>
                  <a:lnTo>
                    <a:pt x="1944624" y="595884"/>
                  </a:lnTo>
                  <a:lnTo>
                    <a:pt x="194462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824096" y="5484368"/>
              <a:ext cx="619125" cy="12700"/>
            </a:xfrm>
            <a:custGeom>
              <a:avLst/>
              <a:gdLst/>
              <a:ahLst/>
              <a:cxnLst/>
              <a:rect l="l" t="t" r="r" b="b"/>
              <a:pathLst>
                <a:path w="619125" h="12700">
                  <a:moveTo>
                    <a:pt x="618743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618743" y="12191"/>
                  </a:lnTo>
                  <a:lnTo>
                    <a:pt x="618743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582923" y="5209032"/>
            <a:ext cx="1945005" cy="59626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41300">
              <a:lnSpc>
                <a:spcPts val="1375"/>
              </a:lnSpc>
              <a:spcBef>
                <a:spcPts val="155"/>
              </a:spcBef>
            </a:pPr>
            <a:r>
              <a:rPr dirty="0" sz="1400" spc="-5">
                <a:solidFill>
                  <a:srgbClr val="252525"/>
                </a:solidFill>
                <a:latin typeface="Cambria Math"/>
                <a:cs typeface="Cambria Math"/>
              </a:rPr>
              <a:t>𝜕</a:t>
            </a:r>
            <a:r>
              <a:rPr dirty="0" sz="1400" spc="30">
                <a:solidFill>
                  <a:srgbClr val="252525"/>
                </a:solidFill>
                <a:latin typeface="Cambria Math"/>
                <a:cs typeface="Cambria Math"/>
              </a:rPr>
              <a:t>𝑓</a:t>
            </a:r>
            <a:r>
              <a:rPr dirty="0" sz="1400" spc="5">
                <a:solidFill>
                  <a:srgbClr val="252525"/>
                </a:solidFill>
                <a:latin typeface="Cambria Math"/>
                <a:cs typeface="Cambria Math"/>
              </a:rPr>
              <a:t>(</a:t>
            </a:r>
            <a:r>
              <a:rPr dirty="0" sz="1400" spc="30">
                <a:solidFill>
                  <a:srgbClr val="252525"/>
                </a:solidFill>
                <a:latin typeface="Cambria Math"/>
                <a:cs typeface="Cambria Math"/>
              </a:rPr>
              <a:t>𝑥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,</a:t>
            </a:r>
            <a:r>
              <a:rPr dirty="0" sz="1400" spc="-7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 spc="15">
                <a:solidFill>
                  <a:srgbClr val="252525"/>
                </a:solidFill>
                <a:latin typeface="Cambria Math"/>
                <a:cs typeface="Cambria Math"/>
              </a:rPr>
              <a:t>𝑦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)</a:t>
            </a:r>
            <a:endParaRPr sz="1400">
              <a:latin typeface="Cambria Math"/>
              <a:cs typeface="Cambria Math"/>
            </a:endParaRPr>
          </a:p>
          <a:p>
            <a:pPr marL="450215">
              <a:lnSpc>
                <a:spcPts val="1375"/>
              </a:lnSpc>
              <a:tabLst>
                <a:tab pos="908685" algn="l"/>
              </a:tabLst>
            </a:pPr>
            <a:r>
              <a:rPr dirty="0" baseline="-37698" sz="2100" spc="-7">
                <a:solidFill>
                  <a:srgbClr val="252525"/>
                </a:solidFill>
                <a:latin typeface="Cambria Math"/>
                <a:cs typeface="Cambria Math"/>
              </a:rPr>
              <a:t>𝜕𝑦	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=</a:t>
            </a:r>
            <a:r>
              <a:rPr dirty="0" sz="1400" spc="4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2𝑥</a:t>
            </a:r>
            <a:r>
              <a:rPr dirty="0" sz="1400" spc="25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dirty="0" sz="1400" spc="-2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252525"/>
                </a:solidFill>
                <a:latin typeface="Cambria Math"/>
                <a:cs typeface="Cambria Math"/>
              </a:rPr>
              <a:t>4𝑦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8315" y="6524434"/>
            <a:ext cx="10277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036" y="3896867"/>
            <a:ext cx="3943350" cy="14455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61788" y="3895344"/>
            <a:ext cx="3812286" cy="104013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8032" y="3218688"/>
            <a:ext cx="7020306" cy="377189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4613910" cy="3055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3916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5.7.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Derivative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Sigmoid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8555" y="2231123"/>
            <a:ext cx="6094095" cy="1036955"/>
            <a:chOff x="638555" y="2231123"/>
            <a:chExt cx="6094095" cy="1036955"/>
          </a:xfrm>
        </p:grpSpPr>
        <p:sp>
          <p:nvSpPr>
            <p:cNvPr id="9" name="object 9"/>
            <p:cNvSpPr/>
            <p:nvPr/>
          </p:nvSpPr>
          <p:spPr>
            <a:xfrm>
              <a:off x="3390900" y="2636520"/>
              <a:ext cx="2586355" cy="631190"/>
            </a:xfrm>
            <a:custGeom>
              <a:avLst/>
              <a:gdLst/>
              <a:ahLst/>
              <a:cxnLst/>
              <a:rect l="l" t="t" r="r" b="b"/>
              <a:pathLst>
                <a:path w="2586354" h="631189">
                  <a:moveTo>
                    <a:pt x="2586228" y="0"/>
                  </a:moveTo>
                  <a:lnTo>
                    <a:pt x="0" y="0"/>
                  </a:lnTo>
                  <a:lnTo>
                    <a:pt x="0" y="630936"/>
                  </a:lnTo>
                  <a:lnTo>
                    <a:pt x="2586228" y="630936"/>
                  </a:lnTo>
                  <a:lnTo>
                    <a:pt x="25862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555" y="2231123"/>
              <a:ext cx="6093714" cy="92279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0727" y="1920239"/>
            <a:ext cx="2021586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0083" y="6519671"/>
            <a:ext cx="1664970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88417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3916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5.7.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Derivative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Sigmoid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Function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39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730" y="1967630"/>
            <a:ext cx="833119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505">
                <a:latin typeface="Trebuchet MS"/>
                <a:cs typeface="Trebuchet MS"/>
              </a:rPr>
              <a:t>W</a:t>
            </a:r>
            <a:r>
              <a:rPr dirty="0" sz="1600" spc="-270">
                <a:latin typeface="Trebuchet MS"/>
                <a:cs typeface="Trebuchet MS"/>
              </a:rPr>
              <a:t>h</a:t>
            </a:r>
            <a:r>
              <a:rPr dirty="0" sz="1600" spc="-290">
                <a:latin typeface="Trebuchet MS"/>
                <a:cs typeface="Trebuchet MS"/>
              </a:rPr>
              <a:t>e</a:t>
            </a:r>
            <a:r>
              <a:rPr dirty="0" sz="1600" spc="-275">
                <a:latin typeface="Trebuchet MS"/>
                <a:cs typeface="Trebuchet MS"/>
              </a:rPr>
              <a:t>n</a:t>
            </a:r>
            <a:r>
              <a:rPr dirty="0" sz="1600" spc="-165">
                <a:latin typeface="Trebuchet MS"/>
                <a:cs typeface="Trebuchet MS"/>
              </a:rPr>
              <a:t> </a:t>
            </a:r>
            <a:r>
              <a:rPr dirty="0" sz="1600" spc="30">
                <a:latin typeface="Cambria Math"/>
                <a:cs typeface="Cambria Math"/>
              </a:rPr>
              <a:t>𝜎</a:t>
            </a:r>
            <a:r>
              <a:rPr dirty="0" sz="1650" spc="-210" i="1">
                <a:latin typeface="Trebuchet MS"/>
                <a:cs typeface="Trebuchet MS"/>
              </a:rPr>
              <a:t>(</a:t>
            </a:r>
            <a:r>
              <a:rPr dirty="0" sz="1650" spc="-275" i="1">
                <a:latin typeface="Trebuchet MS"/>
                <a:cs typeface="Trebuchet MS"/>
              </a:rPr>
              <a:t>x</a:t>
            </a:r>
            <a:r>
              <a:rPr dirty="0" sz="1650" spc="-190" i="1">
                <a:latin typeface="Trebuchet MS"/>
                <a:cs typeface="Trebuchet MS"/>
              </a:rPr>
              <a:t>)</a:t>
            </a:r>
            <a:r>
              <a:rPr dirty="0" sz="1650" spc="-185" i="1">
                <a:latin typeface="Trebuchet MS"/>
                <a:cs typeface="Trebuchet MS"/>
              </a:rPr>
              <a:t> </a:t>
            </a:r>
            <a:r>
              <a:rPr dirty="0" sz="1650" spc="-165" i="1">
                <a:latin typeface="Trebuchet MS"/>
                <a:cs typeface="Trebuchet MS"/>
              </a:rPr>
              <a:t>=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46225" y="2113026"/>
            <a:ext cx="516890" cy="17145"/>
          </a:xfrm>
          <a:custGeom>
            <a:avLst/>
            <a:gdLst/>
            <a:ahLst/>
            <a:cxnLst/>
            <a:rect l="l" t="t" r="r" b="b"/>
            <a:pathLst>
              <a:path w="516889" h="17144">
                <a:moveTo>
                  <a:pt x="516636" y="0"/>
                </a:moveTo>
                <a:lnTo>
                  <a:pt x="0" y="0"/>
                </a:lnTo>
                <a:lnTo>
                  <a:pt x="0" y="16763"/>
                </a:lnTo>
                <a:lnTo>
                  <a:pt x="516636" y="16763"/>
                </a:lnTo>
                <a:lnTo>
                  <a:pt x="5166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738122" y="1846325"/>
            <a:ext cx="13335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4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3905" y="2123388"/>
            <a:ext cx="370840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45">
                <a:latin typeface="Cambria Math"/>
                <a:cs typeface="Cambria Math"/>
              </a:rPr>
              <a:t>1</a:t>
            </a:r>
            <a:r>
              <a:rPr dirty="0" sz="1450" spc="-20">
                <a:latin typeface="Cambria Math"/>
                <a:cs typeface="Cambria Math"/>
              </a:rPr>
              <a:t>+</a:t>
            </a:r>
            <a:r>
              <a:rPr dirty="0" sz="1450" spc="150">
                <a:latin typeface="Cambria Math"/>
                <a:cs typeface="Cambria Math"/>
              </a:rPr>
              <a:t>𝑒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7501" y="2033472"/>
            <a:ext cx="23939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950" spc="30">
                <a:latin typeface="Cambria Math"/>
                <a:cs typeface="Cambria Math"/>
              </a:rPr>
              <a:t>−</a:t>
            </a:r>
            <a:r>
              <a:rPr dirty="0" baseline="-35087" sz="1425" spc="44">
                <a:latin typeface="Cambria Math"/>
                <a:cs typeface="Cambria Math"/>
              </a:rPr>
              <a:t>𝑥</a:t>
            </a:r>
            <a:endParaRPr baseline="-35087" sz="1425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0405" y="2620517"/>
            <a:ext cx="186055" cy="13970"/>
          </a:xfrm>
          <a:custGeom>
            <a:avLst/>
            <a:gdLst/>
            <a:ahLst/>
            <a:cxnLst/>
            <a:rect l="l" t="t" r="r" b="b"/>
            <a:pathLst>
              <a:path w="186055" h="13969">
                <a:moveTo>
                  <a:pt x="185927" y="0"/>
                </a:moveTo>
                <a:lnTo>
                  <a:pt x="0" y="0"/>
                </a:lnTo>
                <a:lnTo>
                  <a:pt x="0" y="13715"/>
                </a:lnTo>
                <a:lnTo>
                  <a:pt x="185927" y="13715"/>
                </a:lnTo>
                <a:lnTo>
                  <a:pt x="1859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7730" y="2362301"/>
            <a:ext cx="207645" cy="467359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55"/>
              </a:spcBef>
            </a:pPr>
            <a:r>
              <a:rPr dirty="0" sz="1150" spc="75">
                <a:latin typeface="Cambria Math"/>
                <a:cs typeface="Cambria Math"/>
              </a:rPr>
              <a:t>𝑑</a:t>
            </a:r>
            <a:endParaRPr sz="11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50" spc="135">
                <a:latin typeface="Cambria Math"/>
                <a:cs typeface="Cambria Math"/>
              </a:rPr>
              <a:t>𝑑𝑥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3282" y="2431624"/>
            <a:ext cx="46545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30">
                <a:latin typeface="Cambria Math"/>
                <a:cs typeface="Cambria Math"/>
              </a:rPr>
              <a:t>𝜎</a:t>
            </a:r>
            <a:r>
              <a:rPr dirty="0" sz="1650" spc="-210" i="1">
                <a:latin typeface="Trebuchet MS"/>
                <a:cs typeface="Trebuchet MS"/>
              </a:rPr>
              <a:t>(</a:t>
            </a:r>
            <a:r>
              <a:rPr dirty="0" sz="1650" spc="-270" i="1">
                <a:latin typeface="Trebuchet MS"/>
                <a:cs typeface="Trebuchet MS"/>
              </a:rPr>
              <a:t>x</a:t>
            </a:r>
            <a:r>
              <a:rPr dirty="0" sz="1650" spc="-190" i="1">
                <a:latin typeface="Trebuchet MS"/>
                <a:cs typeface="Trebuchet MS"/>
              </a:rPr>
              <a:t>)</a:t>
            </a:r>
            <a:r>
              <a:rPr dirty="0" sz="1650" spc="-185" i="1">
                <a:latin typeface="Trebuchet MS"/>
                <a:cs typeface="Trebuchet MS"/>
              </a:rPr>
              <a:t> </a:t>
            </a:r>
            <a:r>
              <a:rPr dirty="0" sz="1900" spc="-204" i="1">
                <a:latin typeface="Trebuchet MS"/>
                <a:cs typeface="Trebuchet MS"/>
              </a:rPr>
              <a:t>=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07541" y="2611373"/>
            <a:ext cx="208915" cy="15240"/>
          </a:xfrm>
          <a:custGeom>
            <a:avLst/>
            <a:gdLst/>
            <a:ahLst/>
            <a:cxnLst/>
            <a:rect l="l" t="t" r="r" b="b"/>
            <a:pathLst>
              <a:path w="208915" h="15239">
                <a:moveTo>
                  <a:pt x="208787" y="0"/>
                </a:moveTo>
                <a:lnTo>
                  <a:pt x="0" y="0"/>
                </a:lnTo>
                <a:lnTo>
                  <a:pt x="0" y="15239"/>
                </a:lnTo>
                <a:lnTo>
                  <a:pt x="208787" y="15239"/>
                </a:lnTo>
                <a:lnTo>
                  <a:pt x="2087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14245" y="2432049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39" h="374650">
                <a:moveTo>
                  <a:pt x="53086" y="0"/>
                </a:moveTo>
                <a:lnTo>
                  <a:pt x="0" y="0"/>
                </a:lnTo>
                <a:lnTo>
                  <a:pt x="0" y="8890"/>
                </a:lnTo>
                <a:lnTo>
                  <a:pt x="32385" y="8890"/>
                </a:lnTo>
                <a:lnTo>
                  <a:pt x="32385" y="364490"/>
                </a:lnTo>
                <a:lnTo>
                  <a:pt x="0" y="36449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4490"/>
                </a:lnTo>
                <a:lnTo>
                  <a:pt x="53086" y="889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87449" y="2432049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39" h="374650">
                <a:moveTo>
                  <a:pt x="53086" y="0"/>
                </a:moveTo>
                <a:lnTo>
                  <a:pt x="0" y="0"/>
                </a:lnTo>
                <a:lnTo>
                  <a:pt x="0" y="8890"/>
                </a:lnTo>
                <a:lnTo>
                  <a:pt x="0" y="36449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4490"/>
                </a:lnTo>
                <a:lnTo>
                  <a:pt x="20574" y="364490"/>
                </a:lnTo>
                <a:lnTo>
                  <a:pt x="20574" y="8890"/>
                </a:lnTo>
                <a:lnTo>
                  <a:pt x="53086" y="889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16429" y="2370836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4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33169" y="2538476"/>
            <a:ext cx="48895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5120" algn="l"/>
              </a:tabLst>
            </a:pPr>
            <a:r>
              <a:rPr dirty="0" sz="850" spc="5" strike="sngStrike">
                <a:latin typeface="Times New Roman"/>
                <a:cs typeface="Times New Roman"/>
              </a:rPr>
              <a:t> </a:t>
            </a:r>
            <a:r>
              <a:rPr dirty="0" sz="850" spc="5" strike="sngStrike">
                <a:latin typeface="Times New Roman"/>
                <a:cs typeface="Times New Roman"/>
              </a:rPr>
              <a:t>	</a:t>
            </a:r>
            <a:r>
              <a:rPr dirty="0" sz="850" strike="sngStrike">
                <a:latin typeface="Cambria Math"/>
                <a:cs typeface="Cambria Math"/>
              </a:rPr>
              <a:t>−</a:t>
            </a:r>
            <a:r>
              <a:rPr dirty="0" sz="850" spc="-15" strike="sngStrike">
                <a:latin typeface="Cambria Math"/>
                <a:cs typeface="Cambria Math"/>
              </a:rPr>
              <a:t> 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9822" y="2323592"/>
            <a:ext cx="886460" cy="52260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490"/>
              </a:spcBef>
            </a:pPr>
            <a:r>
              <a:rPr dirty="0" sz="1300" spc="90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95"/>
              </a:spcBef>
              <a:tabLst>
                <a:tab pos="375920" algn="l"/>
              </a:tabLst>
            </a:pPr>
            <a:r>
              <a:rPr dirty="0" sz="1300" spc="85">
                <a:latin typeface="Cambria Math"/>
                <a:cs typeface="Cambria Math"/>
              </a:rPr>
              <a:t>𝑑𝑥	</a:t>
            </a:r>
            <a:r>
              <a:rPr dirty="0" sz="1300" spc="25">
                <a:latin typeface="Cambria Math"/>
                <a:cs typeface="Cambria Math"/>
              </a:rPr>
              <a:t>1+𝑒</a:t>
            </a:r>
            <a:r>
              <a:rPr dirty="0" sz="1300" spc="320">
                <a:latin typeface="Cambria Math"/>
                <a:cs typeface="Cambria Math"/>
              </a:rPr>
              <a:t> </a:t>
            </a:r>
            <a:r>
              <a:rPr dirty="0" baseline="35947" sz="1275" spc="97">
                <a:latin typeface="Cambria Math"/>
                <a:cs typeface="Cambria Math"/>
              </a:rPr>
              <a:t>𝑥</a:t>
            </a:r>
            <a:endParaRPr baseline="35947" sz="1275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22780" y="3088385"/>
            <a:ext cx="208915" cy="15240"/>
          </a:xfrm>
          <a:custGeom>
            <a:avLst/>
            <a:gdLst/>
            <a:ahLst/>
            <a:cxnLst/>
            <a:rect l="l" t="t" r="r" b="b"/>
            <a:pathLst>
              <a:path w="208914" h="15239">
                <a:moveTo>
                  <a:pt x="208787" y="0"/>
                </a:moveTo>
                <a:lnTo>
                  <a:pt x="0" y="0"/>
                </a:lnTo>
                <a:lnTo>
                  <a:pt x="0" y="15239"/>
                </a:lnTo>
                <a:lnTo>
                  <a:pt x="208787" y="15239"/>
                </a:lnTo>
                <a:lnTo>
                  <a:pt x="2087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240282" y="2774524"/>
            <a:ext cx="37719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0701" sz="2850" spc="-307" i="1">
                <a:latin typeface="Trebuchet MS"/>
                <a:cs typeface="Trebuchet MS"/>
              </a:rPr>
              <a:t>=</a:t>
            </a:r>
            <a:r>
              <a:rPr dirty="0" baseline="-30701" sz="2850" spc="127" i="1">
                <a:latin typeface="Trebuchet MS"/>
                <a:cs typeface="Trebuchet MS"/>
              </a:rPr>
              <a:t> </a:t>
            </a:r>
            <a:r>
              <a:rPr dirty="0" sz="1300" spc="90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0461" y="3096260"/>
            <a:ext cx="23114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50">
                <a:latin typeface="Cambria Math"/>
                <a:cs typeface="Cambria Math"/>
              </a:rPr>
              <a:t>𝑑</a:t>
            </a:r>
            <a:r>
              <a:rPr dirty="0" sz="1300" spc="160">
                <a:latin typeface="Cambria Math"/>
                <a:cs typeface="Cambria Math"/>
              </a:rPr>
              <a:t>𝑥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38045" y="2908636"/>
            <a:ext cx="59055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900" spc="-290" i="1">
                <a:latin typeface="Trebuchet MS"/>
                <a:cs typeface="Trebuchet MS"/>
              </a:rPr>
              <a:t>(1+e</a:t>
            </a:r>
            <a:r>
              <a:rPr dirty="0" baseline="24444" sz="1875" spc="-434" i="1">
                <a:latin typeface="Trebuchet MS"/>
                <a:cs typeface="Trebuchet MS"/>
              </a:rPr>
              <a:t>-x</a:t>
            </a:r>
            <a:r>
              <a:rPr dirty="0" sz="1900" spc="-290" i="1">
                <a:latin typeface="Trebuchet MS"/>
                <a:cs typeface="Trebuchet MS"/>
              </a:rPr>
              <a:t>)</a:t>
            </a:r>
            <a:r>
              <a:rPr dirty="0" baseline="24444" sz="1875" spc="-434" i="1">
                <a:latin typeface="Trebuchet MS"/>
                <a:cs typeface="Trebuchet MS"/>
              </a:rPr>
              <a:t>-1</a:t>
            </a:r>
            <a:endParaRPr baseline="24444" sz="1875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5710" y="3325891"/>
            <a:ext cx="136525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900" spc="-220" i="1">
                <a:latin typeface="Trebuchet MS"/>
                <a:cs typeface="Trebuchet MS"/>
              </a:rPr>
              <a:t>=</a:t>
            </a:r>
            <a:r>
              <a:rPr dirty="0" sz="1800" spc="-220">
                <a:latin typeface="Cambria Math"/>
                <a:cs typeface="Cambria Math"/>
              </a:rPr>
              <a:t>−</a:t>
            </a:r>
            <a:r>
              <a:rPr dirty="0" sz="1900" spc="-220" i="1">
                <a:latin typeface="Trebuchet MS"/>
                <a:cs typeface="Trebuchet MS"/>
              </a:rPr>
              <a:t>(1+e</a:t>
            </a:r>
            <a:r>
              <a:rPr dirty="0" baseline="24444" sz="1875" spc="-330" i="1">
                <a:latin typeface="Trebuchet MS"/>
                <a:cs typeface="Trebuchet MS"/>
              </a:rPr>
              <a:t>-x</a:t>
            </a:r>
            <a:r>
              <a:rPr dirty="0" sz="1900" spc="-220" i="1">
                <a:latin typeface="Trebuchet MS"/>
                <a:cs typeface="Trebuchet MS"/>
              </a:rPr>
              <a:t>)</a:t>
            </a:r>
            <a:r>
              <a:rPr dirty="0" baseline="24444" sz="1875" spc="-330" i="1">
                <a:latin typeface="Trebuchet MS"/>
                <a:cs typeface="Trebuchet MS"/>
              </a:rPr>
              <a:t>-2</a:t>
            </a:r>
            <a:r>
              <a:rPr dirty="0" sz="1900" spc="-220" i="1">
                <a:latin typeface="Trebuchet MS"/>
                <a:cs typeface="Trebuchet MS"/>
              </a:rPr>
              <a:t>(</a:t>
            </a:r>
            <a:r>
              <a:rPr dirty="0" sz="1800" spc="-220">
                <a:latin typeface="Cambria Math"/>
                <a:cs typeface="Cambria Math"/>
              </a:rPr>
              <a:t>−</a:t>
            </a:r>
            <a:r>
              <a:rPr dirty="0" sz="1900" spc="-220" i="1">
                <a:latin typeface="Trebuchet MS"/>
                <a:cs typeface="Trebuchet MS"/>
              </a:rPr>
              <a:t>e</a:t>
            </a:r>
            <a:r>
              <a:rPr dirty="0" baseline="24444" sz="1875" spc="-330" i="1">
                <a:latin typeface="Trebuchet MS"/>
                <a:cs typeface="Trebuchet MS"/>
              </a:rPr>
              <a:t>-x</a:t>
            </a:r>
            <a:r>
              <a:rPr dirty="0" sz="1900" spc="-220" i="1">
                <a:latin typeface="Trebuchet MS"/>
                <a:cs typeface="Trebuchet MS"/>
              </a:rPr>
              <a:t>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65682" y="3702894"/>
            <a:ext cx="126364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204" i="1">
                <a:latin typeface="Trebuchet MS"/>
                <a:cs typeface="Trebuchet MS"/>
              </a:rPr>
              <a:t>=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22780" y="3882390"/>
            <a:ext cx="525780" cy="15240"/>
          </a:xfrm>
          <a:custGeom>
            <a:avLst/>
            <a:gdLst/>
            <a:ahLst/>
            <a:cxnLst/>
            <a:rect l="l" t="t" r="r" b="b"/>
            <a:pathLst>
              <a:path w="525780" h="15239">
                <a:moveTo>
                  <a:pt x="525780" y="0"/>
                </a:moveTo>
                <a:lnTo>
                  <a:pt x="0" y="0"/>
                </a:lnTo>
                <a:lnTo>
                  <a:pt x="0" y="15239"/>
                </a:lnTo>
                <a:lnTo>
                  <a:pt x="525780" y="15239"/>
                </a:lnTo>
                <a:lnTo>
                  <a:pt x="525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645157" y="3561333"/>
            <a:ext cx="10668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5269" y="3573526"/>
            <a:ext cx="3175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3504" sz="1950" spc="104">
                <a:latin typeface="Cambria Math"/>
                <a:cs typeface="Cambria Math"/>
              </a:rPr>
              <a:t>𝑒</a:t>
            </a:r>
            <a:r>
              <a:rPr dirty="0" baseline="-23504" sz="1950" spc="457">
                <a:latin typeface="Cambria Math"/>
                <a:cs typeface="Cambria Math"/>
              </a:rPr>
              <a:t> </a:t>
            </a:r>
            <a:r>
              <a:rPr dirty="0" sz="850" spc="65">
                <a:latin typeface="Cambria Math"/>
                <a:cs typeface="Cambria Math"/>
              </a:rPr>
              <a:t>𝑥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85061" y="3835482"/>
            <a:ext cx="6007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900" spc="-280" i="1">
                <a:latin typeface="Trebuchet MS"/>
                <a:cs typeface="Trebuchet MS"/>
              </a:rPr>
              <a:t>(1+e</a:t>
            </a:r>
            <a:r>
              <a:rPr dirty="0" baseline="24444" sz="1875" spc="-419" i="1">
                <a:latin typeface="Trebuchet MS"/>
                <a:cs typeface="Trebuchet MS"/>
              </a:rPr>
              <a:t>−x</a:t>
            </a:r>
            <a:r>
              <a:rPr dirty="0" sz="1900" spc="-280" i="1">
                <a:latin typeface="Trebuchet MS"/>
                <a:cs typeface="Trebuchet MS"/>
              </a:rPr>
              <a:t>)</a:t>
            </a:r>
            <a:r>
              <a:rPr dirty="0" baseline="24444" sz="1875" spc="-419" i="1">
                <a:latin typeface="Trebuchet MS"/>
                <a:cs typeface="Trebuchet MS"/>
              </a:rPr>
              <a:t>2</a:t>
            </a:r>
            <a:endParaRPr baseline="24444" sz="1875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40282" y="4071703"/>
            <a:ext cx="6375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0701" sz="2850" spc="-315" i="1">
                <a:latin typeface="Trebuchet MS"/>
                <a:cs typeface="Trebuchet MS"/>
              </a:rPr>
              <a:t>=</a:t>
            </a:r>
            <a:r>
              <a:rPr dirty="0" u="heavy" sz="1900" spc="36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3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   </a:t>
            </a:r>
            <a:r>
              <a:rPr dirty="0" sz="1300" spc="70">
                <a:latin typeface="Cambria Math"/>
                <a:cs typeface="Cambria Math"/>
              </a:rPr>
              <a:t> </a:t>
            </a:r>
            <a:r>
              <a:rPr dirty="0" baseline="-32407" sz="2700" spc="89">
                <a:latin typeface="Cambria Math"/>
                <a:cs typeface="Cambria Math"/>
              </a:rPr>
              <a:t>∙</a:t>
            </a:r>
            <a:endParaRPr baseline="-32407" sz="27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84552" y="4385309"/>
            <a:ext cx="346075" cy="15240"/>
          </a:xfrm>
          <a:custGeom>
            <a:avLst/>
            <a:gdLst/>
            <a:ahLst/>
            <a:cxnLst/>
            <a:rect l="l" t="t" r="r" b="b"/>
            <a:pathLst>
              <a:path w="346075" h="15239">
                <a:moveTo>
                  <a:pt x="345948" y="0"/>
                </a:moveTo>
                <a:lnTo>
                  <a:pt x="0" y="0"/>
                </a:lnTo>
                <a:lnTo>
                  <a:pt x="0" y="15239"/>
                </a:lnTo>
                <a:lnTo>
                  <a:pt x="345948" y="15239"/>
                </a:lnTo>
                <a:lnTo>
                  <a:pt x="345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018538" y="4064253"/>
            <a:ext cx="10668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97126" y="4076445"/>
            <a:ext cx="31877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3504" sz="1950" spc="104">
                <a:latin typeface="Cambria Math"/>
                <a:cs typeface="Cambria Math"/>
              </a:rPr>
              <a:t>𝑒</a:t>
            </a:r>
            <a:r>
              <a:rPr dirty="0" baseline="-23504" sz="1950" spc="472">
                <a:latin typeface="Cambria Math"/>
                <a:cs typeface="Cambria Math"/>
              </a:rPr>
              <a:t> </a:t>
            </a:r>
            <a:r>
              <a:rPr dirty="0" sz="850" spc="65">
                <a:latin typeface="Cambria Math"/>
                <a:cs typeface="Cambria Math"/>
              </a:rPr>
              <a:t>𝑥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40866" y="4338403"/>
            <a:ext cx="92710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43560" algn="l"/>
              </a:tabLst>
            </a:pPr>
            <a:r>
              <a:rPr dirty="0" sz="1900" spc="-320" i="1">
                <a:latin typeface="Trebuchet MS"/>
                <a:cs typeface="Trebuchet MS"/>
              </a:rPr>
              <a:t>1+e</a:t>
            </a:r>
            <a:r>
              <a:rPr dirty="0" baseline="24444" sz="1875" spc="-480" i="1">
                <a:latin typeface="Trebuchet MS"/>
                <a:cs typeface="Trebuchet MS"/>
              </a:rPr>
              <a:t>−x	</a:t>
            </a:r>
            <a:r>
              <a:rPr dirty="0" sz="1900" spc="-320" i="1">
                <a:latin typeface="Trebuchet MS"/>
                <a:cs typeface="Trebuchet MS"/>
              </a:rPr>
              <a:t>1+e</a:t>
            </a:r>
            <a:r>
              <a:rPr dirty="0" baseline="24444" sz="1875" spc="-480" i="1">
                <a:latin typeface="Trebuchet MS"/>
                <a:cs typeface="Trebuchet MS"/>
              </a:rPr>
              <a:t>−x</a:t>
            </a:r>
            <a:endParaRPr baseline="24444" sz="1875">
              <a:latin typeface="Trebuchet MS"/>
              <a:cs typeface="Trebuchet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84552" y="4879085"/>
            <a:ext cx="821690" cy="15240"/>
          </a:xfrm>
          <a:custGeom>
            <a:avLst/>
            <a:gdLst/>
            <a:ahLst/>
            <a:cxnLst/>
            <a:rect l="l" t="t" r="r" b="b"/>
            <a:pathLst>
              <a:path w="821689" h="15239">
                <a:moveTo>
                  <a:pt x="821436" y="0"/>
                </a:moveTo>
                <a:lnTo>
                  <a:pt x="0" y="0"/>
                </a:lnTo>
                <a:lnTo>
                  <a:pt x="0" y="15239"/>
                </a:lnTo>
                <a:lnTo>
                  <a:pt x="821436" y="15239"/>
                </a:lnTo>
                <a:lnTo>
                  <a:pt x="821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254757" y="4558029"/>
            <a:ext cx="10668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latin typeface="Cambria Math"/>
                <a:cs typeface="Cambria Math"/>
              </a:rPr>
              <a:t>−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40282" y="4565479"/>
            <a:ext cx="1505585" cy="31496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r" marR="323850">
              <a:lnSpc>
                <a:spcPts val="254"/>
              </a:lnSpc>
              <a:spcBef>
                <a:spcPts val="605"/>
              </a:spcBef>
            </a:pPr>
            <a:r>
              <a:rPr dirty="0" sz="850" spc="65">
                <a:latin typeface="Cambria Math"/>
                <a:cs typeface="Cambria Math"/>
              </a:rPr>
              <a:t>𝑥</a:t>
            </a:r>
            <a:endParaRPr sz="850">
              <a:latin typeface="Cambria Math"/>
              <a:cs typeface="Cambria Math"/>
            </a:endParaRPr>
          </a:p>
          <a:p>
            <a:pPr marL="38100">
              <a:lnSpc>
                <a:spcPts val="1515"/>
              </a:lnSpc>
              <a:tabLst>
                <a:tab pos="644525" algn="l"/>
                <a:tab pos="1177925" algn="l"/>
              </a:tabLst>
            </a:pPr>
            <a:r>
              <a:rPr dirty="0" baseline="-30701" sz="2850" spc="-315" i="1">
                <a:latin typeface="Trebuchet MS"/>
                <a:cs typeface="Trebuchet MS"/>
              </a:rPr>
              <a:t>=</a:t>
            </a:r>
            <a:r>
              <a:rPr dirty="0" u="heavy" sz="1900" spc="39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300" spc="4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sz="1300" spc="45">
                <a:latin typeface="Cambria Math"/>
                <a:cs typeface="Cambria Math"/>
              </a:rPr>
              <a:t>	</a:t>
            </a:r>
            <a:r>
              <a:rPr dirty="0" sz="1300" spc="25">
                <a:latin typeface="Cambria Math"/>
                <a:cs typeface="Cambria Math"/>
              </a:rPr>
              <a:t>(1+𝑒	</a:t>
            </a:r>
            <a:r>
              <a:rPr dirty="0" sz="1300" spc="10">
                <a:latin typeface="Cambria Math"/>
                <a:cs typeface="Cambria Math"/>
              </a:rPr>
              <a:t>)−1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40866" y="4832560"/>
            <a:ext cx="116459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81685" algn="l"/>
              </a:tabLst>
            </a:pPr>
            <a:r>
              <a:rPr dirty="0" sz="1900" spc="-320" i="1">
                <a:latin typeface="Trebuchet MS"/>
                <a:cs typeface="Trebuchet MS"/>
              </a:rPr>
              <a:t>1+e</a:t>
            </a:r>
            <a:r>
              <a:rPr dirty="0" baseline="24444" sz="1875" spc="-480" i="1">
                <a:latin typeface="Trebuchet MS"/>
                <a:cs typeface="Trebuchet MS"/>
              </a:rPr>
              <a:t>−x</a:t>
            </a:r>
            <a:r>
              <a:rPr dirty="0" baseline="24444" sz="1875" spc="44" i="1">
                <a:latin typeface="Trebuchet MS"/>
                <a:cs typeface="Trebuchet MS"/>
              </a:rPr>
              <a:t> </a:t>
            </a:r>
            <a:r>
              <a:rPr dirty="0" baseline="32407" sz="2700" spc="89">
                <a:latin typeface="Cambria Math"/>
                <a:cs typeface="Cambria Math"/>
              </a:rPr>
              <a:t>∙	</a:t>
            </a:r>
            <a:r>
              <a:rPr dirty="0" sz="1900" spc="-320" i="1">
                <a:latin typeface="Trebuchet MS"/>
                <a:cs typeface="Trebuchet MS"/>
              </a:rPr>
              <a:t>1+e</a:t>
            </a:r>
            <a:r>
              <a:rPr dirty="0" baseline="24444" sz="1875" spc="-480" i="1">
                <a:latin typeface="Trebuchet MS"/>
                <a:cs typeface="Trebuchet MS"/>
              </a:rPr>
              <a:t>−x</a:t>
            </a:r>
            <a:endParaRPr baseline="24444" sz="1875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04366" y="5176861"/>
            <a:ext cx="11493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165" i="1">
                <a:latin typeface="Trebuchet MS"/>
                <a:cs typeface="Trebuchet MS"/>
              </a:rPr>
              <a:t>=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345057" y="5337809"/>
            <a:ext cx="306705" cy="13970"/>
          </a:xfrm>
          <a:custGeom>
            <a:avLst/>
            <a:gdLst/>
            <a:ahLst/>
            <a:cxnLst/>
            <a:rect l="l" t="t" r="r" b="b"/>
            <a:pathLst>
              <a:path w="306705" h="13970">
                <a:moveTo>
                  <a:pt x="306324" y="0"/>
                </a:moveTo>
                <a:lnTo>
                  <a:pt x="0" y="0"/>
                </a:lnTo>
                <a:lnTo>
                  <a:pt x="0" y="13715"/>
                </a:lnTo>
                <a:lnTo>
                  <a:pt x="306324" y="13715"/>
                </a:lnTo>
                <a:lnTo>
                  <a:pt x="306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233548" y="5337809"/>
            <a:ext cx="306705" cy="13970"/>
          </a:xfrm>
          <a:custGeom>
            <a:avLst/>
            <a:gdLst/>
            <a:ahLst/>
            <a:cxnLst/>
            <a:rect l="l" t="t" r="r" b="b"/>
            <a:pathLst>
              <a:path w="306705" h="13970">
                <a:moveTo>
                  <a:pt x="306324" y="0"/>
                </a:moveTo>
                <a:lnTo>
                  <a:pt x="0" y="0"/>
                </a:lnTo>
                <a:lnTo>
                  <a:pt x="0" y="13715"/>
                </a:lnTo>
                <a:lnTo>
                  <a:pt x="306324" y="13715"/>
                </a:lnTo>
                <a:lnTo>
                  <a:pt x="306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330957" y="5123814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35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94638" y="5123814"/>
            <a:ext cx="129603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60020">
              <a:lnSpc>
                <a:spcPts val="1375"/>
              </a:lnSpc>
              <a:spcBef>
                <a:spcPts val="110"/>
              </a:spcBef>
            </a:pPr>
            <a:r>
              <a:rPr dirty="0" sz="1150" spc="35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  <a:p>
            <a:pPr marL="50800">
              <a:lnSpc>
                <a:spcPts val="1975"/>
              </a:lnSpc>
              <a:tabLst>
                <a:tab pos="939165" algn="l"/>
              </a:tabLst>
            </a:pPr>
            <a:r>
              <a:rPr dirty="0" sz="1650" spc="-275" i="1">
                <a:latin typeface="Trebuchet MS"/>
                <a:cs typeface="Trebuchet MS"/>
              </a:rPr>
              <a:t>1+e</a:t>
            </a:r>
            <a:r>
              <a:rPr dirty="0" baseline="25252" sz="1650" spc="-412" i="1">
                <a:latin typeface="Trebuchet MS"/>
                <a:cs typeface="Trebuchet MS"/>
              </a:rPr>
              <a:t>−x	</a:t>
            </a:r>
            <a:r>
              <a:rPr dirty="0" sz="1650" spc="-275" i="1">
                <a:latin typeface="Trebuchet MS"/>
                <a:cs typeface="Trebuchet MS"/>
              </a:rPr>
              <a:t>1+e</a:t>
            </a:r>
            <a:r>
              <a:rPr dirty="0" baseline="25252" sz="1650" spc="-412" i="1">
                <a:latin typeface="Trebuchet MS"/>
                <a:cs typeface="Trebuchet MS"/>
              </a:rPr>
              <a:t>−x</a:t>
            </a:r>
            <a:endParaRPr baseline="25252" sz="16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84782" y="5176861"/>
            <a:ext cx="92011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08585" indent="-96520">
              <a:lnSpc>
                <a:spcPct val="100000"/>
              </a:lnSpc>
              <a:spcBef>
                <a:spcPts val="130"/>
              </a:spcBef>
              <a:buChar char="∙"/>
              <a:tabLst>
                <a:tab pos="109220" algn="l"/>
                <a:tab pos="853440" algn="l"/>
              </a:tabLst>
            </a:pPr>
            <a:r>
              <a:rPr dirty="0" sz="1600" spc="-10">
                <a:latin typeface="Cambria Math"/>
                <a:cs typeface="Cambria Math"/>
              </a:rPr>
              <a:t>(</a:t>
            </a:r>
            <a:r>
              <a:rPr dirty="0" sz="1600" spc="-5">
                <a:latin typeface="Cambria Math"/>
                <a:cs typeface="Cambria Math"/>
              </a:rPr>
              <a:t>1</a:t>
            </a:r>
            <a:r>
              <a:rPr dirty="0" sz="1600" spc="10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>
                <a:latin typeface="Cambria Math"/>
                <a:cs typeface="Cambria Math"/>
              </a:rPr>
              <a:t>	</a:t>
            </a:r>
            <a:r>
              <a:rPr dirty="0" sz="1650" spc="-190" i="1">
                <a:latin typeface="Trebuchet MS"/>
                <a:cs typeface="Trebuchet MS"/>
              </a:rPr>
              <a:t>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04366" y="5568503"/>
            <a:ext cx="141414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165" i="1">
                <a:latin typeface="Trebuchet MS"/>
                <a:cs typeface="Trebuchet MS"/>
              </a:rPr>
              <a:t>=</a:t>
            </a:r>
            <a:r>
              <a:rPr dirty="0" sz="1650" spc="-190" i="1">
                <a:latin typeface="Trebuchet MS"/>
                <a:cs typeface="Trebuchet MS"/>
              </a:rPr>
              <a:t> </a:t>
            </a:r>
            <a:r>
              <a:rPr dirty="0" sz="1600" spc="30">
                <a:latin typeface="Cambria Math"/>
                <a:cs typeface="Cambria Math"/>
              </a:rPr>
              <a:t>𝜎</a:t>
            </a:r>
            <a:r>
              <a:rPr dirty="0" sz="1650" spc="-210" i="1">
                <a:latin typeface="Trebuchet MS"/>
                <a:cs typeface="Trebuchet MS"/>
              </a:rPr>
              <a:t>(</a:t>
            </a:r>
            <a:r>
              <a:rPr dirty="0" sz="1650" spc="-270" i="1">
                <a:latin typeface="Trebuchet MS"/>
                <a:cs typeface="Trebuchet MS"/>
              </a:rPr>
              <a:t>x</a:t>
            </a:r>
            <a:r>
              <a:rPr dirty="0" sz="1650" spc="-190" i="1">
                <a:latin typeface="Trebuchet MS"/>
                <a:cs typeface="Trebuchet MS"/>
              </a:rPr>
              <a:t>)</a:t>
            </a:r>
            <a:r>
              <a:rPr dirty="0" sz="1650" spc="-185" i="1">
                <a:latin typeface="Trebuchet MS"/>
                <a:cs typeface="Trebuchet MS"/>
              </a:rPr>
              <a:t> </a:t>
            </a:r>
            <a:r>
              <a:rPr dirty="0" sz="1600" spc="55">
                <a:latin typeface="Cambria Math"/>
                <a:cs typeface="Cambria Math"/>
              </a:rPr>
              <a:t>∙</a:t>
            </a:r>
            <a:r>
              <a:rPr dirty="0" sz="1600" spc="-3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(</a:t>
            </a:r>
            <a:r>
              <a:rPr dirty="0" sz="1600" spc="-5">
                <a:latin typeface="Cambria Math"/>
                <a:cs typeface="Cambria Math"/>
              </a:rPr>
              <a:t>1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">
                <a:latin typeface="Cambria Math"/>
                <a:cs typeface="Cambria Math"/>
              </a:rPr>
              <a:t>−</a:t>
            </a:r>
            <a:r>
              <a:rPr dirty="0" sz="1600" spc="-35">
                <a:latin typeface="Cambria Math"/>
                <a:cs typeface="Cambria Math"/>
              </a:rPr>
              <a:t> </a:t>
            </a:r>
            <a:r>
              <a:rPr dirty="0" sz="1600" spc="30">
                <a:latin typeface="Cambria Math"/>
                <a:cs typeface="Cambria Math"/>
              </a:rPr>
              <a:t>𝜎</a:t>
            </a:r>
            <a:r>
              <a:rPr dirty="0" sz="1650" spc="-210" i="1">
                <a:latin typeface="Trebuchet MS"/>
                <a:cs typeface="Trebuchet MS"/>
              </a:rPr>
              <a:t>(</a:t>
            </a:r>
            <a:r>
              <a:rPr dirty="0" sz="1650" spc="-270" i="1">
                <a:latin typeface="Trebuchet MS"/>
                <a:cs typeface="Trebuchet MS"/>
              </a:rPr>
              <a:t>x</a:t>
            </a:r>
            <a:r>
              <a:rPr dirty="0" sz="1650" spc="-190" i="1">
                <a:latin typeface="Trebuchet MS"/>
                <a:cs typeface="Trebuchet MS"/>
              </a:rPr>
              <a:t>)</a:t>
            </a:r>
            <a:r>
              <a:rPr dirty="0" sz="1650" spc="-200" i="1">
                <a:latin typeface="Trebuchet MS"/>
                <a:cs typeface="Trebuchet MS"/>
              </a:rPr>
              <a:t> </a:t>
            </a:r>
            <a:r>
              <a:rPr dirty="0" sz="1650" spc="-190" i="1">
                <a:latin typeface="Trebuchet MS"/>
                <a:cs typeface="Trebuchet MS"/>
              </a:rPr>
              <a:t>)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719577" y="2455164"/>
            <a:ext cx="6624320" cy="3339465"/>
            <a:chOff x="2719577" y="2455164"/>
            <a:chExt cx="6624320" cy="3339465"/>
          </a:xfrm>
        </p:grpSpPr>
        <p:sp>
          <p:nvSpPr>
            <p:cNvPr id="50" name="object 50"/>
            <p:cNvSpPr/>
            <p:nvPr/>
          </p:nvSpPr>
          <p:spPr>
            <a:xfrm>
              <a:off x="2719577" y="3052572"/>
              <a:ext cx="1296670" cy="86995"/>
            </a:xfrm>
            <a:custGeom>
              <a:avLst/>
              <a:gdLst/>
              <a:ahLst/>
              <a:cxnLst/>
              <a:rect l="l" t="t" r="r" b="b"/>
              <a:pathLst>
                <a:path w="1296670" h="86994">
                  <a:moveTo>
                    <a:pt x="86868" y="0"/>
                  </a:moveTo>
                  <a:lnTo>
                    <a:pt x="0" y="43433"/>
                  </a:lnTo>
                  <a:lnTo>
                    <a:pt x="86868" y="86867"/>
                  </a:lnTo>
                  <a:lnTo>
                    <a:pt x="86868" y="57912"/>
                  </a:lnTo>
                  <a:lnTo>
                    <a:pt x="72390" y="57912"/>
                  </a:lnTo>
                  <a:lnTo>
                    <a:pt x="72390" y="28955"/>
                  </a:lnTo>
                  <a:lnTo>
                    <a:pt x="86868" y="28955"/>
                  </a:lnTo>
                  <a:lnTo>
                    <a:pt x="86868" y="0"/>
                  </a:lnTo>
                  <a:close/>
                </a:path>
                <a:path w="1296670" h="86994">
                  <a:moveTo>
                    <a:pt x="86868" y="28955"/>
                  </a:moveTo>
                  <a:lnTo>
                    <a:pt x="72390" y="28955"/>
                  </a:lnTo>
                  <a:lnTo>
                    <a:pt x="72390" y="57912"/>
                  </a:lnTo>
                  <a:lnTo>
                    <a:pt x="86868" y="57912"/>
                  </a:lnTo>
                  <a:lnTo>
                    <a:pt x="86868" y="28955"/>
                  </a:lnTo>
                  <a:close/>
                </a:path>
                <a:path w="1296670" h="86994">
                  <a:moveTo>
                    <a:pt x="1296162" y="28955"/>
                  </a:moveTo>
                  <a:lnTo>
                    <a:pt x="86868" y="28955"/>
                  </a:lnTo>
                  <a:lnTo>
                    <a:pt x="86868" y="57912"/>
                  </a:lnTo>
                  <a:lnTo>
                    <a:pt x="1296162" y="57912"/>
                  </a:lnTo>
                  <a:lnTo>
                    <a:pt x="1296162" y="28955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043172" y="2455164"/>
              <a:ext cx="5300980" cy="3339465"/>
            </a:xfrm>
            <a:custGeom>
              <a:avLst/>
              <a:gdLst/>
              <a:ahLst/>
              <a:cxnLst/>
              <a:rect l="l" t="t" r="r" b="b"/>
              <a:pathLst>
                <a:path w="5300980" h="3339465">
                  <a:moveTo>
                    <a:pt x="5300472" y="0"/>
                  </a:moveTo>
                  <a:lnTo>
                    <a:pt x="0" y="0"/>
                  </a:lnTo>
                  <a:lnTo>
                    <a:pt x="0" y="3339084"/>
                  </a:lnTo>
                  <a:lnTo>
                    <a:pt x="5300472" y="3339084"/>
                  </a:lnTo>
                  <a:lnTo>
                    <a:pt x="53004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3755" y="2560320"/>
              <a:ext cx="4508754" cy="27957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5411" y="6374891"/>
            <a:ext cx="2029205" cy="1440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523"/>
            <a:ext cx="9903460" cy="6856730"/>
            <a:chOff x="0" y="1523"/>
            <a:chExt cx="9903460" cy="6856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8176" y="6374891"/>
              <a:ext cx="316229" cy="1135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3"/>
              <a:ext cx="9902951" cy="6856472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0"/>
            <a:ext cx="9903460" cy="6858000"/>
          </a:xfrm>
          <a:custGeom>
            <a:avLst/>
            <a:gdLst/>
            <a:ahLst/>
            <a:cxnLst/>
            <a:rect l="l" t="t" r="r" b="b"/>
            <a:pathLst>
              <a:path w="9903460" h="6858000">
                <a:moveTo>
                  <a:pt x="9902952" y="0"/>
                </a:moveTo>
                <a:lnTo>
                  <a:pt x="0" y="0"/>
                </a:lnTo>
                <a:lnTo>
                  <a:pt x="0" y="6858000"/>
                </a:lnTo>
                <a:lnTo>
                  <a:pt x="9902952" y="6858000"/>
                </a:lnTo>
                <a:lnTo>
                  <a:pt x="9902952" y="0"/>
                </a:lnTo>
                <a:close/>
              </a:path>
            </a:pathLst>
          </a:custGeom>
          <a:solidFill>
            <a:srgbClr val="000000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7605" y="2327910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599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5839" y="2628900"/>
            <a:ext cx="3137154" cy="137541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69976" y="6208776"/>
            <a:ext cx="8774430" cy="0"/>
          </a:xfrm>
          <a:custGeom>
            <a:avLst/>
            <a:gdLst/>
            <a:ahLst/>
            <a:cxnLst/>
            <a:rect l="l" t="t" r="r" b="b"/>
            <a:pathLst>
              <a:path w="8774430" h="0">
                <a:moveTo>
                  <a:pt x="0" y="0"/>
                </a:moveTo>
                <a:lnTo>
                  <a:pt x="8774303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119" y="6391655"/>
            <a:ext cx="2111502" cy="165354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0285" cy="6858000"/>
          </a:xfrm>
          <a:custGeom>
            <a:avLst/>
            <a:gdLst/>
            <a:ahLst/>
            <a:cxnLst/>
            <a:rect l="l" t="t" r="r" b="b"/>
            <a:pathLst>
              <a:path w="9900285" h="6858000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802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5692140"/>
            <a:ext cx="7820406" cy="704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2464" y="3023616"/>
            <a:ext cx="2474976" cy="8107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49580" y="449580"/>
            <a:ext cx="1290955" cy="198120"/>
          </a:xfrm>
          <a:custGeom>
            <a:avLst/>
            <a:gdLst/>
            <a:ahLst/>
            <a:cxnLst/>
            <a:rect l="l" t="t" r="r" b="b"/>
            <a:pathLst>
              <a:path w="1290955" h="198120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w="1290955" h="198120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w="1290955" h="198120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w="1290955" h="198120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w="1290955" h="198120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w="1290955" h="198120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w="1290955" h="198120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w="1290955" h="198120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w="1290955" h="198120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w="1290955" h="198120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w="1290955" h="198120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w="1290955" h="198120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w="1290955" h="198120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w="1290955" h="198120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w="1290955" h="198120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w="1290955" h="198120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w="1290955" h="198120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w="1290955" h="198120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w="1290955" h="198120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w="1290955" h="198120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sena.kim</dc:creator>
  <dc:title>PowerPoint 프레젠테이션</dc:title>
  <dcterms:created xsi:type="dcterms:W3CDTF">2023-08-11T06:35:50Z</dcterms:created>
  <dcterms:modified xsi:type="dcterms:W3CDTF">2023-08-11T06:35:50Z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2023-08-11T00:00:00Z</vt:filetime>
  </property>
</Properties>
</file>